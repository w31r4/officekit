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6f71afe91b8241e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4c5dc1c5897640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234E9C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4A0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CONSULTING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5253C"/>
                </a:solidFill>
                <a:latin typeface="Arial"/>
                <a:ea typeface="Arial"/>
              </a:rPr>
              <a:t>Indigo Verdict: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234E9C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The synthesis matters more than the inventory.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field"/>
          <p:cNvSpPr/>
          <p:nvPr/>
        </p:nvSpPr>
        <p:spPr>
          <a:xfrm xmlns:a="http://schemas.openxmlformats.org/drawingml/2006/main">
            <a:off x="11239500" y="1714500"/>
            <a:ext cx="24765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line"/>
          <p:cNvSpPr/>
          <p:nvPr/>
        </p:nvSpPr>
        <p:spPr>
          <a:xfrm xmlns:a="http://schemas.openxmlformats.org/drawingml/2006/main">
            <a:off x="11544300" y="3505200"/>
            <a:ext cx="1866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line-two"/>
          <p:cNvSpPr/>
          <p:nvPr/>
        </p:nvSpPr>
        <p:spPr>
          <a:xfrm xmlns:a="http://schemas.openxmlformats.org/drawingml/2006/main">
            <a:off x="11544300" y="3695700"/>
            <a:ext cx="1943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dot"/>
          <p:cNvSpPr/>
          <p:nvPr/>
        </p:nvSpPr>
        <p:spPr>
          <a:xfrm xmlns:a="http://schemas.openxmlformats.org/drawingml/2006/main">
            <a:off x="13030200" y="2228850"/>
            <a:ext cx="2667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One finding should reorganize the decision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Finding, implication, recommendation: evidence stays adjacent to the synthesis.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nding"/>
          <p:cNvSpPr txBox="1"/>
          <p:nvPr/>
        </p:nvSpPr>
        <p:spPr>
          <a:xfrm xmlns:a="http://schemas.openxmlformats.org/drawingml/2006/main">
            <a:off x="1104900" y="3314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9" name="finding-text"/>
          <p:cNvSpPr txBox="1"/>
          <p:nvPr/>
        </p:nvSpPr>
        <p:spPr>
          <a:xfrm xmlns:a="http://schemas.openxmlformats.org/drawingml/2006/main">
            <a:off x="1104900" y="3695700"/>
            <a:ext cx="5905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The constraint is concentration, not demand.</a:t>
            </a:r>
            <a:endParaRPr lang="en-US"/>
          </a:p>
        </p:txBody>
      </p:sp>
      <p:sp>
        <p:nvSpPr>
          <p:cNvPr id="10" name="finding-rule"/>
          <p:cNvSpPr/>
          <p:nvPr/>
        </p:nvSpPr>
        <p:spPr>
          <a:xfrm xmlns:a="http://schemas.openxmlformats.org/drawingml/2006/main">
            <a:off x="1104900" y="4552950"/>
            <a:ext cx="6705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implication"/>
          <p:cNvSpPr txBox="1"/>
          <p:nvPr/>
        </p:nvSpPr>
        <p:spPr>
          <a:xfrm xmlns:a="http://schemas.openxmlformats.org/drawingml/2006/main">
            <a:off x="1104900" y="49530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IMPLICATION</a:t>
            </a:r>
            <a:endParaRPr lang="en-US"/>
          </a:p>
        </p:txBody>
      </p:sp>
      <p:sp>
        <p:nvSpPr>
          <p:cNvPr id="12" name="implication-text"/>
          <p:cNvSpPr txBox="1"/>
          <p:nvPr/>
        </p:nvSpPr>
        <p:spPr>
          <a:xfrm xmlns:a="http://schemas.openxmlformats.org/drawingml/2006/main">
            <a:off x="1104900" y="53340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15253C"/>
                </a:solidFill>
                <a:latin typeface="Arial"/>
                <a:ea typeface="Arial"/>
              </a:rPr>
              <a:t>Protect the strongest channel before adding volume.</a:t>
            </a:r>
            <a:endParaRPr lang="en-US"/>
          </a:p>
        </p:txBody>
      </p:sp>
      <p:sp>
        <p:nvSpPr>
          <p:cNvPr id="13" name="pressure-label"/>
          <p:cNvSpPr txBox="1"/>
          <p:nvPr/>
        </p:nvSpPr>
        <p:spPr>
          <a:xfrm xmlns:a="http://schemas.openxmlformats.org/drawingml/2006/main">
            <a:off x="1104900" y="6153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234E9C"/>
                </a:solidFill>
                <a:latin typeface="Arial"/>
                <a:ea typeface="Arial"/>
              </a:rPr>
              <a:t>PRESSURE PROFILE · CURRENT CASE</a:t>
            </a:r>
            <a:endParaRPr lang="en-US"/>
          </a:p>
        </p:txBody>
      </p:sp>
      <p:sp>
        <p:nvSpPr>
          <p:cNvPr id="14" name="pressure-name-0"/>
          <p:cNvSpPr txBox="1"/>
          <p:nvPr/>
        </p:nvSpPr>
        <p:spPr>
          <a:xfrm xmlns:a="http://schemas.openxmlformats.org/drawingml/2006/main">
            <a:off x="1104900" y="6515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Concentration</a:t>
            </a:r>
            <a:endParaRPr lang="en-US"/>
          </a:p>
        </p:txBody>
      </p:sp>
      <p:sp>
        <p:nvSpPr>
          <p:cNvPr id="15" name="pressure-track-0"/>
          <p:cNvSpPr/>
          <p:nvPr/>
        </p:nvSpPr>
        <p:spPr>
          <a:xfrm xmlns:a="http://schemas.openxmlformats.org/drawingml/2006/main">
            <a:off x="3028950" y="65341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pressure-fill-0"/>
          <p:cNvSpPr/>
          <p:nvPr/>
        </p:nvSpPr>
        <p:spPr>
          <a:xfrm xmlns:a="http://schemas.openxmlformats.org/drawingml/2006/main">
            <a:off x="3028950" y="6534150"/>
            <a:ext cx="3590925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pressure-value-0"/>
          <p:cNvSpPr txBox="1"/>
          <p:nvPr/>
        </p:nvSpPr>
        <p:spPr>
          <a:xfrm xmlns:a="http://schemas.openxmlformats.org/drawingml/2006/main">
            <a:off x="7600950" y="64865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82%</a:t>
            </a:r>
            <a:endParaRPr lang="en-US"/>
          </a:p>
        </p:txBody>
      </p:sp>
      <p:sp>
        <p:nvSpPr>
          <p:cNvPr id="18" name="pressure-name-1"/>
          <p:cNvSpPr txBox="1"/>
          <p:nvPr/>
        </p:nvSpPr>
        <p:spPr>
          <a:xfrm xmlns:a="http://schemas.openxmlformats.org/drawingml/2006/main">
            <a:off x="1104900" y="68389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Price power</a:t>
            </a:r>
            <a:endParaRPr lang="en-US"/>
          </a:p>
        </p:txBody>
      </p:sp>
      <p:sp>
        <p:nvSpPr>
          <p:cNvPr id="19" name="pressure-track-1"/>
          <p:cNvSpPr/>
          <p:nvPr/>
        </p:nvSpPr>
        <p:spPr>
          <a:xfrm xmlns:a="http://schemas.openxmlformats.org/drawingml/2006/main">
            <a:off x="3028950" y="685800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essure-fill-1"/>
          <p:cNvSpPr/>
          <p:nvPr/>
        </p:nvSpPr>
        <p:spPr>
          <a:xfrm xmlns:a="http://schemas.openxmlformats.org/drawingml/2006/main">
            <a:off x="3028950" y="6858000"/>
            <a:ext cx="24574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essure-value-1"/>
          <p:cNvSpPr txBox="1"/>
          <p:nvPr/>
        </p:nvSpPr>
        <p:spPr>
          <a:xfrm xmlns:a="http://schemas.openxmlformats.org/drawingml/2006/main">
            <a:off x="7600950" y="681037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56%</a:t>
            </a:r>
            <a:endParaRPr lang="en-US"/>
          </a:p>
        </p:txBody>
      </p:sp>
      <p:sp>
        <p:nvSpPr>
          <p:cNvPr id="22" name="pressure-name-2"/>
          <p:cNvSpPr txBox="1"/>
          <p:nvPr/>
        </p:nvSpPr>
        <p:spPr>
          <a:xfrm xmlns:a="http://schemas.openxmlformats.org/drawingml/2006/main">
            <a:off x="1104900" y="7162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Operating friction</a:t>
            </a:r>
            <a:endParaRPr lang="en-US"/>
          </a:p>
        </p:txBody>
      </p:sp>
      <p:sp>
        <p:nvSpPr>
          <p:cNvPr id="23" name="pressure-track-2"/>
          <p:cNvSpPr/>
          <p:nvPr/>
        </p:nvSpPr>
        <p:spPr>
          <a:xfrm xmlns:a="http://schemas.openxmlformats.org/drawingml/2006/main">
            <a:off x="3028950" y="7181850"/>
            <a:ext cx="438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essure-fill-2"/>
          <p:cNvSpPr/>
          <p:nvPr/>
        </p:nvSpPr>
        <p:spPr>
          <a:xfrm xmlns:a="http://schemas.openxmlformats.org/drawingml/2006/main">
            <a:off x="3028950" y="7181850"/>
            <a:ext cx="14859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C94A0"/>
          </a:solidFill>
          <a:ln xmlns:a="http://schemas.openxmlformats.org/drawingml/2006/main" w="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essure-value-2"/>
          <p:cNvSpPr txBox="1"/>
          <p:nvPr/>
        </p:nvSpPr>
        <p:spPr>
          <a:xfrm xmlns:a="http://schemas.openxmlformats.org/drawingml/2006/main">
            <a:off x="7600950" y="7134225"/>
            <a:ext cx="66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 b="1">
                <a:solidFill>
                  <a:srgbClr val="15253C"/>
                </a:solidFill>
                <a:latin typeface="Arial"/>
                <a:ea typeface="Arial"/>
              </a:rPr>
              <a:t>34%</a:t>
            </a:r>
            <a:endParaRPr lang="en-US"/>
          </a:p>
        </p:txBody>
      </p:sp>
      <p:sp>
        <p:nvSpPr>
          <p:cNvPr id="26" name="recommendation"/>
          <p:cNvSpPr/>
          <p:nvPr/>
        </p:nvSpPr>
        <p:spPr>
          <a:xfrm xmlns:a="http://schemas.openxmlformats.org/drawingml/2006/main">
            <a:off x="9906000" y="3238500"/>
            <a:ext cx="4000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recommendation-label"/>
          <p:cNvSpPr txBox="1"/>
          <p:nvPr/>
        </p:nvSpPr>
        <p:spPr>
          <a:xfrm xmlns:a="http://schemas.openxmlformats.org/drawingml/2006/main">
            <a:off x="10287000" y="360045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RECOMMENDATION</a:t>
            </a:r>
            <a:endParaRPr lang="en-US"/>
          </a:p>
        </p:txBody>
      </p:sp>
      <p:sp>
        <p:nvSpPr>
          <p:cNvPr id="28" name="recommendation-text"/>
          <p:cNvSpPr txBox="1"/>
          <p:nvPr/>
        </p:nvSpPr>
        <p:spPr>
          <a:xfrm xmlns:a="http://schemas.openxmlformats.org/drawingml/2006/main">
            <a:off x="10287000" y="4095750"/>
            <a:ext cx="304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325" b="1">
                <a:solidFill>
                  <a:srgbClr val="FFFFFF"/>
                </a:solidFill>
                <a:latin typeface="Arial"/>
                <a:ea typeface="Arial"/>
              </a:rPr>
              <a:t>One constrained move</a:t>
            </a:r>
            <a:endParaRPr lang="en-US"/>
          </a:p>
        </p:txBody>
      </p:sp>
      <p:sp>
        <p:nvSpPr>
          <p:cNvPr id="29" name="recommendation-foot"/>
          <p:cNvSpPr txBox="1"/>
          <p:nvPr/>
        </p:nvSpPr>
        <p:spPr>
          <a:xfrm xmlns:a="http://schemas.openxmlformats.org/drawingml/2006/main">
            <a:off x="10287000" y="5067300"/>
            <a:ext cx="304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FFFFF"/>
                </a:solidFill>
                <a:latin typeface="Arial"/>
                <a:ea typeface="Arial"/>
              </a:rPr>
              <a:t>subject to the next evidence gate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evidence narrows the decision to one lever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Comparable cases · same basis · direct labels instead of a legend-only chart.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5dc1c589764063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234E9C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decision confidence · current case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The next question is which lever moves the constraint, not whether the signal exists.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5253C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A decision page needs a visible sequence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Finding → constraint → move · each line changes the choice.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234E9C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5253C"/>
                </a:solidFill>
                <a:latin typeface="Arial"/>
                <a:ea typeface="Arial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4A0"/>
                </a:solidFill>
                <a:latin typeface="Arial"/>
                <a:ea typeface="Arial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5253C"/>
                </a:solidFill>
                <a:latin typeface="Arial"/>
                <a:ea typeface="Arial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Make the choice legible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single visual cue can make the recommendation easier to remember.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Observe</a:t>
            </a:r>
            <a:endParaRPr lang="en-US"/>
          </a:p>
        </p:txBody>
      </p:sp>
      <p:sp>
        <p:nvSpPr>
          <p:cNvPr id="12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Find the signal</a:t>
            </a:r>
            <a:endParaRPr lang="en-US"/>
          </a:p>
        </p:txBody>
      </p:sp>
      <p:sp>
        <p:nvSpPr>
          <p:cNvPr id="13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Explain</a:t>
            </a:r>
            <a:endParaRPr lang="en-US"/>
          </a:p>
        </p:txBody>
      </p:sp>
      <p:sp>
        <p:nvSpPr>
          <p:cNvPr id="16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Name the mechanism</a:t>
            </a:r>
            <a:endParaRPr lang="en-US"/>
          </a:p>
        </p:txBody>
      </p:sp>
      <p:sp>
        <p:nvSpPr>
          <p:cNvPr id="17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38100">
            <a:solidFill>
              <a:srgbClr val="15253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Choose</a:t>
            </a:r>
            <a:endParaRPr lang="en-US"/>
          </a:p>
        </p:txBody>
      </p:sp>
      <p:sp>
        <p:nvSpPr>
          <p:cNvPr id="20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Set the condition</a:t>
            </a:r>
            <a:endParaRPr lang="en-US"/>
          </a:p>
        </p:txBody>
      </p:sp>
      <p:sp>
        <p:nvSpPr>
          <p:cNvPr id="21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Arial"/>
                <a:ea typeface="Arial"/>
              </a:rPr>
              <a:t>04</a:t>
            </a:r>
            <a:endParaRPr lang="en-US"/>
          </a:p>
        </p:txBody>
      </p:sp>
      <p:sp>
        <p:nvSpPr>
          <p:cNvPr id="23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Act</a:t>
            </a:r>
            <a:endParaRPr lang="en-US"/>
          </a:p>
        </p:txBody>
      </p:sp>
      <p:sp>
        <p:nvSpPr>
          <p:cNvPr id="24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Return with proof</a:t>
            </a:r>
            <a:endParaRPr lang="en-US"/>
          </a:p>
        </p:txBody>
      </p:sp>
      <p:sp>
        <p:nvSpPr>
          <p:cNvPr id="25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PROCESS CARRIER</a:t>
            </a:r>
            <a:endParaRPr lang="en-US"/>
          </a:p>
        </p:txBody>
      </p:sp>
      <p:sp>
        <p:nvSpPr>
          <p:cNvPr id="27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5253C"/>
                </a:solidFill>
                <a:latin typeface="Arial"/>
                <a:ea typeface="Arial"/>
              </a:rPr>
              <a:t>A relationship earns a line.</a:t>
            </a:r>
            <a:endParaRPr lang="en-US"/>
          </a:p>
        </p:txBody>
      </p:sp>
      <p:sp>
        <p:nvSpPr>
          <p:cNvPr id="28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4A0"/>
                </a:solidFill>
                <a:latin typeface="Arial"/>
                <a:ea typeface="Arial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2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234E9C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3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5253C"/>
                </a:solidFill>
                <a:latin typeface="Arial"/>
                <a:ea typeface="Arial"/>
              </a:rPr>
              <a:t>Choice before inventory</a:t>
            </a:r>
            <a:endParaRPr lang="en-US"/>
          </a:p>
        </p:txBody>
      </p:sp>
      <p:sp>
        <p:nvSpPr>
          <p:cNvPr id="3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4A0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3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3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D"/>
          </a:solidFill>
          <a:ln xmlns:a="http://schemas.openxmlformats.org/drawingml/2006/main" w="0">
            <a:solidFill>
              <a:srgbClr val="FAFBF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INDIGO VERDICT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234E9C"/>
                </a:solidFill>
                <a:latin typeface="Arial"/>
                <a:ea typeface="Arial"/>
              </a:rPr>
              <a:t>INDIGO VERDICT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5253C"/>
                </a:solidFill>
                <a:latin typeface="Arial"/>
                <a:ea typeface="Arial"/>
              </a:rPr>
              <a:t>The recommendation is narrow by design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4A0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Finding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Concentration drives the variance.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253C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4A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Choice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Protect the strongest channel first.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234E9C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5253C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5253C"/>
                </a:solidFill>
                <a:latin typeface="Arial"/>
                <a:ea typeface="Arial"/>
              </a:rPr>
              <a:t>Return with a gated decision.</a:t>
            </a:r>
            <a:endParaRPr lang="en-US"/>
          </a:p>
        </p:txBody>
      </p:sp>
      <p:sp>
        <p:nvSpPr>
          <p:cNvPr id="20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4E9C"/>
          </a:solidFill>
          <a:ln xmlns:a="http://schemas.openxmlformats.org/drawingml/2006/main" w="0">
            <a:solidFill>
              <a:srgbClr val="234E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Approve one lever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4A0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