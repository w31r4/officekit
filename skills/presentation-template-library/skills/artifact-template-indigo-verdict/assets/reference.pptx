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edc984d578d4e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03b2dd1bb78847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by cohort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234E9C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51</c:v>
              </c:pt>
              <c:pt idx="2">
                <c:v>58</c:v>
              </c:pt>
              <c:pt idx="3">
                <c:v>64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C94A0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43</c:v>
              </c:pt>
              <c:pt idx="2">
                <c:v>45</c:v>
              </c:pt>
              <c:pt idx="3">
                <c:v>47</c:v>
              </c:pt>
              <c:pt idx="4">
                <c:v>48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FAFB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34E9C"/>
                </a:solidFill>
                <a:latin typeface="Arial"/>
                <a:ea typeface="Arial"/>
              </a:rPr>
              <a:t>CONSULTING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5253C"/>
                </a:solidFill>
                <a:latin typeface="Arial"/>
                <a:ea typeface="Arial"/>
              </a:rPr>
              <a:t>Indigo Verdict: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234E9C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5253C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5253C"/>
                </a:solidFill>
                <a:latin typeface="Arial"/>
                <a:ea typeface="Arial"/>
              </a:rPr>
              <a:t>The synthesis matters more than the inventory.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9C"/>
          </a:solidFill>
          <a:ln xmlns:a="http://schemas.openxmlformats.org/drawingml/2006/main" w="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FAFB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INDIGO VERDICT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34E9C"/>
                </a:solidFill>
                <a:latin typeface="Arial"/>
                <a:ea typeface="Arial"/>
              </a:rPr>
              <a:t>INDIGO VERDICT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5253C"/>
                </a:solidFill>
                <a:latin typeface="Arial"/>
                <a:ea typeface="Arial"/>
              </a:rPr>
              <a:t>One finding should reorganize the decision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A0"/>
                </a:solidFill>
                <a:latin typeface="Arial"/>
                <a:ea typeface="Arial"/>
              </a:rPr>
              <a:t>Finding, implication, recommendation: evidence stays adjacent to the synthesis.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nding"/>
          <p:cNvSpPr txBox="1"/>
          <p:nvPr/>
        </p:nvSpPr>
        <p:spPr>
          <a:xfrm xmlns:a="http://schemas.openxmlformats.org/drawingml/2006/main">
            <a:off x="11049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34E9C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9" name="finding-text"/>
          <p:cNvSpPr txBox="1"/>
          <p:nvPr/>
        </p:nvSpPr>
        <p:spPr>
          <a:xfrm xmlns:a="http://schemas.openxmlformats.org/drawingml/2006/main">
            <a:off x="1104900" y="36957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5253C"/>
                </a:solidFill>
                <a:latin typeface="Arial"/>
                <a:ea typeface="Arial"/>
              </a:rPr>
              <a:t>The constraint is concentration, not demand.</a:t>
            </a:r>
            <a:endParaRPr lang="en-US"/>
          </a:p>
        </p:txBody>
      </p:sp>
      <p:sp>
        <p:nvSpPr>
          <p:cNvPr id="10" name="finding-rule"/>
          <p:cNvSpPr/>
          <p:nvPr/>
        </p:nvSpPr>
        <p:spPr>
          <a:xfrm xmlns:a="http://schemas.openxmlformats.org/drawingml/2006/main">
            <a:off x="1104900" y="45529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implication"/>
          <p:cNvSpPr txBox="1"/>
          <p:nvPr/>
        </p:nvSpPr>
        <p:spPr>
          <a:xfrm xmlns:a="http://schemas.openxmlformats.org/drawingml/2006/main">
            <a:off x="11049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34E9C"/>
                </a:solidFill>
                <a:latin typeface="Arial"/>
                <a:ea typeface="Arial"/>
              </a:rPr>
              <a:t>IMPLICATION</a:t>
            </a:r>
            <a:endParaRPr lang="en-US"/>
          </a:p>
        </p:txBody>
      </p:sp>
      <p:sp>
        <p:nvSpPr>
          <p:cNvPr id="12" name="implication-text"/>
          <p:cNvSpPr txBox="1"/>
          <p:nvPr/>
        </p:nvSpPr>
        <p:spPr>
          <a:xfrm xmlns:a="http://schemas.openxmlformats.org/drawingml/2006/main">
            <a:off x="1104900" y="5334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15253C"/>
                </a:solidFill>
                <a:latin typeface="Arial"/>
                <a:ea typeface="Arial"/>
              </a:rPr>
              <a:t>Protect the strongest channel before adding volume.</a:t>
            </a:r>
            <a:endParaRPr lang="en-US"/>
          </a:p>
        </p:txBody>
      </p:sp>
      <p:sp>
        <p:nvSpPr>
          <p:cNvPr id="13" name="pressure-label"/>
          <p:cNvSpPr txBox="1"/>
          <p:nvPr/>
        </p:nvSpPr>
        <p:spPr>
          <a:xfrm xmlns:a="http://schemas.openxmlformats.org/drawingml/2006/main">
            <a:off x="1104900" y="6153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34E9C"/>
                </a:solidFill>
                <a:latin typeface="Arial"/>
                <a:ea typeface="Arial"/>
              </a:rPr>
              <a:t>PRESSURE PROFILE · CURRENT CASE</a:t>
            </a:r>
            <a:endParaRPr lang="en-US"/>
          </a:p>
        </p:txBody>
      </p:sp>
      <p:sp>
        <p:nvSpPr>
          <p:cNvPr id="14" name="pressure-name-0"/>
          <p:cNvSpPr txBox="1"/>
          <p:nvPr/>
        </p:nvSpPr>
        <p:spPr>
          <a:xfrm xmlns:a="http://schemas.openxmlformats.org/drawingml/2006/main">
            <a:off x="1104900" y="651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Concentration</a:t>
            </a:r>
            <a:endParaRPr lang="en-US"/>
          </a:p>
        </p:txBody>
      </p:sp>
      <p:sp>
        <p:nvSpPr>
          <p:cNvPr id="15" name="pressure-track-0"/>
          <p:cNvSpPr/>
          <p:nvPr/>
        </p:nvSpPr>
        <p:spPr>
          <a:xfrm xmlns:a="http://schemas.openxmlformats.org/drawingml/2006/main">
            <a:off x="3028950" y="65341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pressure-fill-0"/>
          <p:cNvSpPr/>
          <p:nvPr/>
        </p:nvSpPr>
        <p:spPr>
          <a:xfrm xmlns:a="http://schemas.openxmlformats.org/drawingml/2006/main">
            <a:off x="3028950" y="6534150"/>
            <a:ext cx="3590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9C"/>
          </a:solidFill>
          <a:ln xmlns:a="http://schemas.openxmlformats.org/drawingml/2006/main" w="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pressure-value-0"/>
          <p:cNvSpPr txBox="1"/>
          <p:nvPr/>
        </p:nvSpPr>
        <p:spPr>
          <a:xfrm xmlns:a="http://schemas.openxmlformats.org/drawingml/2006/main">
            <a:off x="7600950" y="6486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253C"/>
                </a:solidFill>
                <a:latin typeface="Arial"/>
                <a:ea typeface="Arial"/>
              </a:rPr>
              <a:t>82%</a:t>
            </a:r>
            <a:endParaRPr lang="en-US"/>
          </a:p>
        </p:txBody>
      </p:sp>
      <p:sp>
        <p:nvSpPr>
          <p:cNvPr id="18" name="pressure-name-1"/>
          <p:cNvSpPr txBox="1"/>
          <p:nvPr/>
        </p:nvSpPr>
        <p:spPr>
          <a:xfrm xmlns:a="http://schemas.openxmlformats.org/drawingml/2006/main">
            <a:off x="1104900" y="6838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Price power</a:t>
            </a:r>
            <a:endParaRPr lang="en-US"/>
          </a:p>
        </p:txBody>
      </p:sp>
      <p:sp>
        <p:nvSpPr>
          <p:cNvPr id="19" name="pressure-track-1"/>
          <p:cNvSpPr/>
          <p:nvPr/>
        </p:nvSpPr>
        <p:spPr>
          <a:xfrm xmlns:a="http://schemas.openxmlformats.org/drawingml/2006/main">
            <a:off x="3028950" y="685800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essure-fill-1"/>
          <p:cNvSpPr/>
          <p:nvPr/>
        </p:nvSpPr>
        <p:spPr>
          <a:xfrm xmlns:a="http://schemas.openxmlformats.org/drawingml/2006/main">
            <a:off x="3028950" y="6858000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4A0"/>
          </a:solidFill>
          <a:ln xmlns:a="http://schemas.openxmlformats.org/drawingml/2006/main" w="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essure-value-1"/>
          <p:cNvSpPr txBox="1"/>
          <p:nvPr/>
        </p:nvSpPr>
        <p:spPr>
          <a:xfrm xmlns:a="http://schemas.openxmlformats.org/drawingml/2006/main">
            <a:off x="7600950" y="6810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253C"/>
                </a:solidFill>
                <a:latin typeface="Arial"/>
                <a:ea typeface="Arial"/>
              </a:rPr>
              <a:t>56%</a:t>
            </a:r>
            <a:endParaRPr lang="en-US"/>
          </a:p>
        </p:txBody>
      </p:sp>
      <p:sp>
        <p:nvSpPr>
          <p:cNvPr id="22" name="pressure-name-2"/>
          <p:cNvSpPr txBox="1"/>
          <p:nvPr/>
        </p:nvSpPr>
        <p:spPr>
          <a:xfrm xmlns:a="http://schemas.openxmlformats.org/drawingml/2006/main">
            <a:off x="1104900" y="7162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Operating friction</a:t>
            </a:r>
            <a:endParaRPr lang="en-US"/>
          </a:p>
        </p:txBody>
      </p:sp>
      <p:sp>
        <p:nvSpPr>
          <p:cNvPr id="23" name="pressure-track-2"/>
          <p:cNvSpPr/>
          <p:nvPr/>
        </p:nvSpPr>
        <p:spPr>
          <a:xfrm xmlns:a="http://schemas.openxmlformats.org/drawingml/2006/main">
            <a:off x="3028950" y="71818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essure-fill-2"/>
          <p:cNvSpPr/>
          <p:nvPr/>
        </p:nvSpPr>
        <p:spPr>
          <a:xfrm xmlns:a="http://schemas.openxmlformats.org/drawingml/2006/main">
            <a:off x="3028950" y="7181850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4A0"/>
          </a:solidFill>
          <a:ln xmlns:a="http://schemas.openxmlformats.org/drawingml/2006/main" w="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essure-value-2"/>
          <p:cNvSpPr txBox="1"/>
          <p:nvPr/>
        </p:nvSpPr>
        <p:spPr>
          <a:xfrm xmlns:a="http://schemas.openxmlformats.org/drawingml/2006/main">
            <a:off x="7600950" y="7134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253C"/>
                </a:solidFill>
                <a:latin typeface="Arial"/>
                <a:ea typeface="Arial"/>
              </a:rPr>
              <a:t>34%</a:t>
            </a:r>
            <a:endParaRPr lang="en-US"/>
          </a:p>
        </p:txBody>
      </p:sp>
      <p:sp>
        <p:nvSpPr>
          <p:cNvPr id="26" name="recommendation"/>
          <p:cNvSpPr/>
          <p:nvPr/>
        </p:nvSpPr>
        <p:spPr>
          <a:xfrm xmlns:a="http://schemas.openxmlformats.org/drawingml/2006/main">
            <a:off x="9906000" y="32385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9C"/>
          </a:solidFill>
          <a:ln xmlns:a="http://schemas.openxmlformats.org/drawingml/2006/main" w="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recommendation-label"/>
          <p:cNvSpPr txBox="1"/>
          <p:nvPr/>
        </p:nvSpPr>
        <p:spPr>
          <a:xfrm xmlns:a="http://schemas.openxmlformats.org/drawingml/2006/main">
            <a:off x="10287000" y="3600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RECOMMENDATION</a:t>
            </a:r>
            <a:endParaRPr lang="en-US"/>
          </a:p>
        </p:txBody>
      </p:sp>
      <p:sp>
        <p:nvSpPr>
          <p:cNvPr id="28" name="recommendation-text"/>
          <p:cNvSpPr txBox="1"/>
          <p:nvPr/>
        </p:nvSpPr>
        <p:spPr>
          <a:xfrm xmlns:a="http://schemas.openxmlformats.org/drawingml/2006/main">
            <a:off x="10287000" y="4095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325" b="1">
                <a:solidFill>
                  <a:srgbClr val="FFFFFF"/>
                </a:solidFill>
                <a:latin typeface="Arial"/>
                <a:ea typeface="Arial"/>
              </a:rPr>
              <a:t>One constrained move</a:t>
            </a:r>
            <a:endParaRPr lang="en-US"/>
          </a:p>
        </p:txBody>
      </p:sp>
      <p:sp>
        <p:nvSpPr>
          <p:cNvPr id="29" name="recommendation-foot"/>
          <p:cNvSpPr txBox="1"/>
          <p:nvPr/>
        </p:nvSpPr>
        <p:spPr>
          <a:xfrm xmlns:a="http://schemas.openxmlformats.org/drawingml/2006/main">
            <a:off x="102870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Arial"/>
                <a:ea typeface="Arial"/>
              </a:rPr>
              <a:t>subject to the next evidence gate</a:t>
            </a:r>
            <a:endParaRPr lang="en-US"/>
          </a:p>
        </p:txBody>
      </p:sp>
      <p:sp>
        <p:nvSpPr>
          <p:cNvPr id="30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FAFB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INDIGO VERDICT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34E9C"/>
                </a:solidFill>
                <a:latin typeface="Arial"/>
                <a:ea typeface="Arial"/>
              </a:rPr>
              <a:t>INDIGO VERDICT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5253C"/>
                </a:solidFill>
                <a:latin typeface="Arial"/>
                <a:ea typeface="Arial"/>
              </a:rPr>
              <a:t>The evidence narrows the decision to one lever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A0"/>
                </a:solidFill>
                <a:latin typeface="Arial"/>
                <a:ea typeface="Arial"/>
              </a:rPr>
              <a:t>Comparable cases · same basis · direct labels instead of a legend-only chart.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b2dd1bb78847e5"/>
          </a:graphicData>
        </a:graphic>
      </p:graphicFrame>
      <p:sp>
        <p:nvSpPr>
          <p:cNvPr id="9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234E9C"/>
                </a:solidFill>
                <a:latin typeface="Arial"/>
                <a:ea typeface="Arial"/>
              </a:rPr>
              <a:t>68</a:t>
            </a:r>
            <a:endParaRPr lang="en-US"/>
          </a:p>
        </p:txBody>
      </p:sp>
      <p:sp>
        <p:nvSpPr>
          <p:cNvPr id="10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A0"/>
                </a:solidFill>
                <a:latin typeface="Arial"/>
                <a:ea typeface="Arial"/>
              </a:rPr>
              <a:t>decision confidence · current case</a:t>
            </a:r>
            <a:endParaRPr lang="en-US"/>
          </a:p>
        </p:txBody>
      </p:sp>
      <p:sp>
        <p:nvSpPr>
          <p:cNvPr id="11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5253C"/>
                </a:solidFill>
                <a:latin typeface="Arial"/>
                <a:ea typeface="Arial"/>
              </a:rPr>
              <a:t>The next question is which lever moves the constraint, not whether the signal exists.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5253C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FAFB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INDIGO VERDICT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34E9C"/>
                </a:solidFill>
                <a:latin typeface="Arial"/>
                <a:ea typeface="Arial"/>
              </a:rPr>
              <a:t>INDIGO VERDICT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5253C"/>
                </a:solidFill>
                <a:latin typeface="Arial"/>
                <a:ea typeface="Arial"/>
              </a:rPr>
              <a:t>A decision page needs a visible sequence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A0"/>
                </a:solidFill>
                <a:latin typeface="Arial"/>
                <a:ea typeface="Arial"/>
              </a:rPr>
              <a:t>Finding → constraint → move · each line changes the choice.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38100">
            <a:solidFill>
              <a:srgbClr val="1525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34E9C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5253C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4A0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38100">
            <a:solidFill>
              <a:srgbClr val="1525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34E9C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5253C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4A0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38100">
            <a:solidFill>
              <a:srgbClr val="1525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34E9C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5253C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4A0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E9C"/>
          </a:solidFill>
          <a:ln xmlns:a="http://schemas.openxmlformats.org/drawingml/2006/main" w="381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34E9C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5253C"/>
                </a:solidFill>
                <a:latin typeface="Arial"/>
                <a:ea typeface="Arial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4A0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34E9C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5253C"/>
                </a:solidFill>
                <a:latin typeface="Arial"/>
                <a:ea typeface="Arial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4A0"/>
                </a:solidFill>
                <a:latin typeface="Arial"/>
                <a:ea typeface="Arial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FAFB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INDIGO VERDICT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34E9C"/>
                </a:solidFill>
                <a:latin typeface="Arial"/>
                <a:ea typeface="Arial"/>
              </a:rPr>
              <a:t>INDIGO VERDICT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5253C"/>
                </a:solidFill>
                <a:latin typeface="Arial"/>
                <a:ea typeface="Arial"/>
              </a:rPr>
              <a:t>Make the choice legible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A0"/>
                </a:solidFill>
                <a:latin typeface="Arial"/>
                <a:ea typeface="Arial"/>
              </a:rPr>
              <a:t>A single visual cue can make the recommendation easier to remember.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38100">
            <a:solidFill>
              <a:srgbClr val="1525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234E9C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5253C"/>
                </a:solidFill>
                <a:latin typeface="Arial"/>
                <a:ea typeface="Arial"/>
              </a:rPr>
              <a:t>Observe</a:t>
            </a:r>
            <a:endParaRPr lang="en-US"/>
          </a:p>
        </p:txBody>
      </p:sp>
      <p:sp>
        <p:nvSpPr>
          <p:cNvPr id="12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4A0"/>
                </a:solidFill>
                <a:latin typeface="Arial"/>
                <a:ea typeface="Arial"/>
              </a:rPr>
              <a:t>Find the signal</a:t>
            </a:r>
            <a:endParaRPr lang="en-US"/>
          </a:p>
        </p:txBody>
      </p:sp>
      <p:sp>
        <p:nvSpPr>
          <p:cNvPr id="13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38100">
            <a:solidFill>
              <a:srgbClr val="1525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234E9C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5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5253C"/>
                </a:solidFill>
                <a:latin typeface="Arial"/>
                <a:ea typeface="Arial"/>
              </a:rPr>
              <a:t>Explain</a:t>
            </a:r>
            <a:endParaRPr lang="en-US"/>
          </a:p>
        </p:txBody>
      </p:sp>
      <p:sp>
        <p:nvSpPr>
          <p:cNvPr id="16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4A0"/>
                </a:solidFill>
                <a:latin typeface="Arial"/>
                <a:ea typeface="Arial"/>
              </a:rPr>
              <a:t>Name the mechanism</a:t>
            </a:r>
            <a:endParaRPr lang="en-US"/>
          </a:p>
        </p:txBody>
      </p:sp>
      <p:sp>
        <p:nvSpPr>
          <p:cNvPr id="17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38100">
            <a:solidFill>
              <a:srgbClr val="1525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234E9C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9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5253C"/>
                </a:solidFill>
                <a:latin typeface="Arial"/>
                <a:ea typeface="Arial"/>
              </a:rPr>
              <a:t>Choose</a:t>
            </a:r>
            <a:endParaRPr lang="en-US"/>
          </a:p>
        </p:txBody>
      </p:sp>
      <p:sp>
        <p:nvSpPr>
          <p:cNvPr id="20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4A0"/>
                </a:solidFill>
                <a:latin typeface="Arial"/>
                <a:ea typeface="Arial"/>
              </a:rPr>
              <a:t>Set the condition</a:t>
            </a:r>
            <a:endParaRPr lang="en-US"/>
          </a:p>
        </p:txBody>
      </p:sp>
      <p:sp>
        <p:nvSpPr>
          <p:cNvPr id="21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E9C"/>
          </a:solidFill>
          <a:ln xmlns:a="http://schemas.openxmlformats.org/drawingml/2006/main" w="381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3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5253C"/>
                </a:solidFill>
                <a:latin typeface="Arial"/>
                <a:ea typeface="Arial"/>
              </a:rPr>
              <a:t>Act</a:t>
            </a:r>
            <a:endParaRPr lang="en-US"/>
          </a:p>
        </p:txBody>
      </p:sp>
      <p:sp>
        <p:nvSpPr>
          <p:cNvPr id="24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4A0"/>
                </a:solidFill>
                <a:latin typeface="Arial"/>
                <a:ea typeface="Arial"/>
              </a:rPr>
              <a:t>Return with proof</a:t>
            </a:r>
            <a:endParaRPr lang="en-US"/>
          </a:p>
        </p:txBody>
      </p:sp>
      <p:sp>
        <p:nvSpPr>
          <p:cNvPr id="25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34E9C"/>
                </a:solidFill>
                <a:latin typeface="Arial"/>
                <a:ea typeface="Arial"/>
              </a:rPr>
              <a:t>PROCESS CARRIER</a:t>
            </a:r>
            <a:endParaRPr lang="en-US"/>
          </a:p>
        </p:txBody>
      </p:sp>
      <p:sp>
        <p:nvSpPr>
          <p:cNvPr id="27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5253C"/>
                </a:solidFill>
                <a:latin typeface="Arial"/>
                <a:ea typeface="Arial"/>
              </a:rPr>
              <a:t>A relationship earns a line.</a:t>
            </a:r>
            <a:endParaRPr lang="en-US"/>
          </a:p>
        </p:txBody>
      </p:sp>
      <p:sp>
        <p:nvSpPr>
          <p:cNvPr id="28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4A0"/>
                </a:solidFill>
                <a:latin typeface="Arial"/>
                <a:ea typeface="Arial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29" name="visual-note"/>
          <p:cNvSpPr/>
          <p:nvPr/>
        </p:nvSpPr>
        <p:spPr>
          <a:xfrm xmlns:a="http://schemas.openxmlformats.org/drawingml/2006/main">
            <a:off x="8858250" y="3333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visual-note-label"/>
          <p:cNvSpPr txBox="1"/>
          <p:nvPr/>
        </p:nvSpPr>
        <p:spPr>
          <a:xfrm xmlns:a="http://schemas.openxmlformats.org/drawingml/2006/main">
            <a:off x="9239250" y="3695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34E9C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31" name="visual-note-text"/>
          <p:cNvSpPr txBox="1"/>
          <p:nvPr/>
        </p:nvSpPr>
        <p:spPr>
          <a:xfrm xmlns:a="http://schemas.openxmlformats.org/drawingml/2006/main">
            <a:off x="9239250" y="41719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5253C"/>
                </a:solidFill>
                <a:latin typeface="Arial"/>
                <a:ea typeface="Arial"/>
              </a:rPr>
              <a:t>Choice before inventory</a:t>
            </a:r>
            <a:endParaRPr lang="en-US"/>
          </a:p>
        </p:txBody>
      </p:sp>
      <p:sp>
        <p:nvSpPr>
          <p:cNvPr id="32" name="visual-note-foot"/>
          <p:cNvSpPr txBox="1"/>
          <p:nvPr/>
        </p:nvSpPr>
        <p:spPr>
          <a:xfrm xmlns:a="http://schemas.openxmlformats.org/drawingml/2006/main">
            <a:off x="92392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4A0"/>
                </a:solidFill>
                <a:latin typeface="Arial"/>
                <a:ea typeface="Arial"/>
              </a:rPr>
              <a:t>Crop, contrast and source role are reviewed before delivery.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FAFBF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INDIGO VERDICT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34E9C"/>
                </a:solidFill>
                <a:latin typeface="Arial"/>
                <a:ea typeface="Arial"/>
              </a:rPr>
              <a:t>INDIGO VERDICT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5253C"/>
                </a:solidFill>
                <a:latin typeface="Arial"/>
                <a:ea typeface="Arial"/>
              </a:rPr>
              <a:t>The recommendation is narrow by design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A0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34E9C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5253C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5253C"/>
                </a:solidFill>
                <a:latin typeface="Arial"/>
                <a:ea typeface="Arial"/>
              </a:rPr>
              <a:t>Concentration drives the variance.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5253C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A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5253C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5253C"/>
                </a:solidFill>
                <a:latin typeface="Arial"/>
                <a:ea typeface="Arial"/>
              </a:rPr>
              <a:t>Protect the strongest channel first.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34E9C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5253C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5253C"/>
                </a:solidFill>
                <a:latin typeface="Arial"/>
                <a:ea typeface="Arial"/>
              </a:rPr>
              <a:t>Return with a gated decision.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9C"/>
          </a:solidFill>
          <a:ln xmlns:a="http://schemas.openxmlformats.org/drawingml/2006/main" w="0">
            <a:solidFill>
              <a:srgbClr val="234E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A0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