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c0c417d1de143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aeb6f74d36d260d0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13db13f70d7843cc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7790b68b5d8fcd92_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31956823b229fb66_1" /><Relationship Type="http://schemas.openxmlformats.org/officeDocument/2006/relationships/image" Target="/ppt/media/image5.jpg" Id="rIdOfficeKitImagec7b73f8fac405495_1" /><Relationship Type="http://schemas.openxmlformats.org/officeDocument/2006/relationships/image" Target="/ppt/media/image6.jpg" Id="rIdOfficeKitImage59ee3aa5202fd02f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7.jpg" Id="rIdOfficeKitImagec237998db8bee20d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c7b73f8fac405495_1" /></Relationships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editorial-cover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aeb6f74d36d260d0_1"/>
          <a:srcRect xmlns:a="http://schemas.openxmlformats.org/drawingml/2006/main" l="0" t="34180" r="0" b="341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editorial-cover-scrim"/>
          <p:cNvSpPr/>
          <p:nvPr/>
        </p:nvSpPr>
        <p:spPr>
          <a:xfrm xmlns:a="http://schemas.openxmlformats.org/drawingml/2006/main">
            <a:off x="0" y="0"/>
            <a:ext cx="7239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84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001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7B91"/>
                </a:solidFill>
                <a:latin typeface="Arial"/>
                <a:ea typeface="Arial"/>
              </a:rPr>
              <a:t>PROMOTION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9621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FFFFF"/>
                </a:solidFill>
                <a:latin typeface="Arial"/>
                <a:ea typeface="Arial"/>
              </a:rPr>
              <a:t>River Handbook: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3638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F0F2F2"/>
                </a:solidFill>
                <a:latin typeface="Arial"/>
                <a:ea typeface="Arial"/>
              </a:rPr>
              <a:t>A clean-room reference for a visual proposition.</a:t>
            </a:r>
            <a:endParaRPr lang="en-US"/>
          </a:p>
        </p:txBody>
      </p:sp>
      <p:sp>
        <p:nvSpPr>
          <p:cNvPr id="7" name="cover-photo-rule"/>
          <p:cNvSpPr/>
          <p:nvPr/>
        </p:nvSpPr>
        <p:spPr>
          <a:xfrm xmlns:a="http://schemas.openxmlformats.org/drawingml/2006/main">
            <a:off x="914400" y="453390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thesis"/>
          <p:cNvSpPr txBox="1"/>
          <p:nvPr/>
        </p:nvSpPr>
        <p:spPr>
          <a:xfrm xmlns:a="http://schemas.openxmlformats.org/drawingml/2006/main">
            <a:off x="952500" y="48958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950" b="1">
                <a:solidFill>
                  <a:srgbClr val="FFFFFF"/>
                </a:solidFill>
                <a:latin typeface="Arial"/>
                <a:ea typeface="Arial"/>
              </a:rPr>
              <a:t>A proposition earns attention when it gives a next move.</a:t>
            </a:r>
            <a:endParaRPr lang="en-US"/>
          </a:p>
        </p:txBody>
      </p:sp>
      <p:sp>
        <p:nvSpPr>
          <p:cNvPr id="9" name="cover-source"/>
          <p:cNvSpPr txBox="1"/>
          <p:nvPr/>
        </p:nvSpPr>
        <p:spPr>
          <a:xfrm xmlns:a="http://schemas.openxmlformats.org/drawingml/2006/main">
            <a:off x="952500" y="7334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F0F2F2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0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F0F2F2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C"/>
          </a:solidFill>
          <a:ln xmlns:a="http://schemas.openxmlformats.org/drawingml/2006/main" w="0">
            <a:solidFill>
              <a:srgbClr val="EEE8D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argument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13db13f70d7843cc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 flipH="1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argument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62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argument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RIVER HANDBOOK · ARGUMENT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77B91"/>
                </a:solidFill>
                <a:latin typeface="Arial"/>
                <a:ea typeface="Arial"/>
              </a:rPr>
              <a:t>RIVER HANDBOOK · ARGUMENT</a:t>
            </a:r>
            <a:endParaRPr lang="en-US"/>
          </a:p>
        </p:txBody>
      </p:sp>
      <p:sp>
        <p:nvSpPr>
          <p:cNvPr id="7" name="argument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proposition is the page's visual center</a:t>
            </a:r>
            <a:endParaRPr lang="en-US"/>
          </a:p>
        </p:txBody>
      </p:sp>
      <p:sp>
        <p:nvSpPr>
          <p:cNvPr id="8" name="argument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Scale, crop, and color invite attention without hiding the evidence.</a:t>
            </a:r>
            <a:endParaRPr lang="en-US"/>
          </a:p>
        </p:txBody>
      </p:sp>
      <p:sp>
        <p:nvSpPr>
          <p:cNvPr id="9" name="promotion-kicker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7B91"/>
                </a:solidFill>
                <a:latin typeface="Arial"/>
                <a:ea typeface="Arial"/>
              </a:rPr>
              <a:t>ONE PROPOSITION</a:t>
            </a:r>
            <a:endParaRPr lang="en-US"/>
          </a:p>
        </p:txBody>
      </p:sp>
      <p:sp>
        <p:nvSpPr>
          <p:cNvPr id="10" name="promotion-headline"/>
          <p:cNvSpPr txBox="1"/>
          <p:nvPr/>
        </p:nvSpPr>
        <p:spPr>
          <a:xfrm xmlns:a="http://schemas.openxmlformats.org/drawingml/2006/main">
            <a:off x="1104900" y="37909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625" b="1">
                <a:solidFill>
                  <a:srgbClr val="243535"/>
                </a:solidFill>
                <a:latin typeface="Arial"/>
                <a:ea typeface="Arial"/>
              </a:rPr>
              <a:t>Make the next action visible.</a:t>
            </a:r>
            <a:endParaRPr lang="en-US"/>
          </a:p>
        </p:txBody>
      </p:sp>
      <p:sp>
        <p:nvSpPr>
          <p:cNvPr id="11" name="promotion-body"/>
          <p:cNvSpPr txBox="1"/>
          <p:nvPr/>
        </p:nvSpPr>
        <p:spPr>
          <a:xfrm xmlns:a="http://schemas.openxmlformats.org/drawingml/2006/main">
            <a:off x="1104900" y="4762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243535"/>
                </a:solidFill>
                <a:latin typeface="Arial"/>
                <a:ea typeface="Arial"/>
              </a:rPr>
              <a:t>A clear invitation earns attention when evidence and access arrive together.</a:t>
            </a:r>
            <a:endParaRPr lang="en-US"/>
          </a:p>
        </p:txBody>
      </p:sp>
      <p:pic>
        <p:nvPicPr>
          <p:cNvPr id="12" name="promotion-hero-fram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13db13f70d7843cc_1"/>
          <a:srcRect xmlns:a="http://schemas.openxmlformats.org/drawingml/2006/main" l="0" t="31920" r="0" b="31920"/>
          <a:stretch xmlns:a="http://schemas.openxmlformats.org/drawingml/2006/main">
            <a:fillRect/>
          </a:stretch>
        </p:blipFill>
        <p:spPr>
          <a:xfrm xmlns:a="http://schemas.openxmlformats.org/drawingml/2006/main" flipH="1">
            <a:off x="9525000" y="3143250"/>
            <a:ext cx="4000500" cy="2571750"/>
          </a:xfrm>
          <a:prstGeom xmlns:a="http://schemas.openxmlformats.org/drawingml/2006/main" prst="rect">
            <a:avLst/>
          </a:prstGeom>
        </p:spPr>
      </p:pic>
      <p:sp>
        <p:nvSpPr>
          <p:cNvPr id="13" name="promotion-image-rule"/>
          <p:cNvSpPr/>
          <p:nvPr/>
        </p:nvSpPr>
        <p:spPr>
          <a:xfrm xmlns:a="http://schemas.openxmlformats.org/drawingml/2006/main">
            <a:off x="9525000" y="5905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motion-image-label"/>
          <p:cNvSpPr txBox="1"/>
          <p:nvPr/>
        </p:nvSpPr>
        <p:spPr>
          <a:xfrm xmlns:a="http://schemas.openxmlformats.org/drawingml/2006/main">
            <a:off x="9525000" y="6153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77B91"/>
                </a:solidFill>
                <a:latin typeface="Arial"/>
                <a:ea typeface="Arial"/>
              </a:rPr>
              <a:t>INVITE · PROVE · MOVE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C"/>
          </a:solidFill>
          <a:ln xmlns:a="http://schemas.openxmlformats.org/drawingml/2006/main" w="0">
            <a:solidFill>
              <a:srgbClr val="EEE8D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evidenc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7790b68b5d8fcd92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evidenc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62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videnc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RIVER HANDBOOK · EVIDENC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77B91"/>
                </a:solidFill>
                <a:latin typeface="Arial"/>
                <a:ea typeface="Arial"/>
              </a:rPr>
              <a:t>RIVER HANDBOOK · EVIDENCE</a:t>
            </a:r>
            <a:endParaRPr lang="en-US"/>
          </a:p>
        </p:txBody>
      </p:sp>
      <p:sp>
        <p:nvSpPr>
          <p:cNvPr id="7" name="evidenc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signal grows when the invitation stays measurable</a:t>
            </a:r>
            <a:endParaRPr lang="en-US"/>
          </a:p>
        </p:txBody>
      </p:sp>
      <p:sp>
        <p:nvSpPr>
          <p:cNvPr id="8" name="evidenc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Illustrative reach and response · source and measurement convention remain attached.</a:t>
            </a:r>
            <a:endParaRPr lang="en-US"/>
          </a:p>
        </p:txBody>
      </p:sp>
      <p:pic>
        <p:nvPicPr>
          <p:cNvPr id="9" name="evidence-image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7790b68b5d8fcd92_1"/>
          <a:srcRect xmlns:a="http://schemas.openxmlformats.org/drawingml/2006/main" l="0" t="39326" r="0" b="393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47750" y="3048000"/>
            <a:ext cx="7905750" cy="3000375"/>
          </a:xfrm>
          <a:prstGeom xmlns:a="http://schemas.openxmlformats.org/drawingml/2006/main" prst="rect">
            <a:avLst/>
          </a:prstGeom>
        </p:spPr>
      </p:pic>
      <p:sp>
        <p:nvSpPr>
          <p:cNvPr id="10" name="evidence-image-caption"/>
          <p:cNvSpPr txBox="1"/>
          <p:nvPr/>
        </p:nvSpPr>
        <p:spPr>
          <a:xfrm xmlns:a="http://schemas.openxmlformats.org/drawingml/2006/main">
            <a:off x="1333500" y="3333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02124"/>
                </a:solidFill>
                <a:latin typeface="Arial"/>
                <a:ea typeface="Arial"/>
              </a:rPr>
              <a:t>ONE SUBJECT · THREE SIGNALS</a:t>
            </a:r>
            <a:endParaRPr lang="en-US"/>
          </a:p>
        </p:txBody>
      </p:sp>
      <p:sp>
        <p:nvSpPr>
          <p:cNvPr id="11" name="evidence-image-rule"/>
          <p:cNvSpPr/>
          <p:nvPr/>
        </p:nvSpPr>
        <p:spPr>
          <a:xfrm xmlns:a="http://schemas.openxmlformats.org/drawingml/2006/main">
            <a:off x="1333500" y="56197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21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evidence-image-note"/>
          <p:cNvSpPr txBox="1"/>
          <p:nvPr/>
        </p:nvSpPr>
        <p:spPr>
          <a:xfrm xmlns:a="http://schemas.openxmlformats.org/drawingml/2006/main">
            <a:off x="1333500" y="5810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02124"/>
                </a:solidFill>
                <a:latin typeface="Arial"/>
                <a:ea typeface="Arial"/>
              </a:rPr>
              <a:t>The image carries the story; the label carries the claim.</a:t>
            </a:r>
            <a:endParaRPr lang="en-US"/>
          </a:p>
        </p:txBody>
      </p:sp>
      <p:sp>
        <p:nvSpPr>
          <p:cNvPr id="13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277B91"/>
                </a:solidFill>
                <a:latin typeface="Arial"/>
                <a:ea typeface="Arial"/>
              </a:rPr>
              <a:t>68</a:t>
            </a:r>
            <a:endParaRPr lang="en-US"/>
          </a:p>
        </p:txBody>
      </p:sp>
      <p:sp>
        <p:nvSpPr>
          <p:cNvPr id="14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D928C"/>
                </a:solidFill>
                <a:latin typeface="Arial"/>
                <a:ea typeface="Arial"/>
              </a:rPr>
              <a:t>qualified response · campaign close</a:t>
            </a:r>
            <a:endParaRPr lang="en-US"/>
          </a:p>
        </p:txBody>
      </p:sp>
      <p:sp>
        <p:nvSpPr>
          <p:cNvPr id="15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43535"/>
                </a:solidFill>
                <a:latin typeface="Arial"/>
                <a:ea typeface="Arial"/>
              </a:rPr>
              <a:t>Reach is useful only when the audience can see and take the next step.</a:t>
            </a:r>
            <a:endParaRPr lang="en-US"/>
          </a:p>
        </p:txBody>
      </p:sp>
      <p:sp>
        <p:nvSpPr>
          <p:cNvPr id="17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43535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9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0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C"/>
          </a:solidFill>
          <a:ln xmlns:a="http://schemas.openxmlformats.org/drawingml/2006/main" w="0">
            <a:solidFill>
              <a:srgbClr val="EEE8D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detai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1956823b229fb66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detai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62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detai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RIVER HANDBOOK · DETAIL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77B91"/>
                </a:solidFill>
                <a:latin typeface="Arial"/>
                <a:ea typeface="Arial"/>
              </a:rPr>
              <a:t>RIVER HANDBOOK · DETAIL</a:t>
            </a:r>
            <a:endParaRPr lang="en-US"/>
          </a:p>
        </p:txBody>
      </p:sp>
      <p:sp>
        <p:nvSpPr>
          <p:cNvPr id="7" name="detai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same idea can hold several views</a:t>
            </a:r>
            <a:endParaRPr lang="en-US"/>
          </a:p>
        </p:txBody>
      </p:sp>
      <p:sp>
        <p:nvSpPr>
          <p:cNvPr id="8" name="detail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Unequal image frames · visual variety without decorative filler.</a:t>
            </a:r>
            <a:endParaRPr lang="en-US"/>
          </a:p>
        </p:txBody>
      </p:sp>
      <p:pic>
        <p:nvPicPr>
          <p:cNvPr id="9" name="image-evidence-0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1956823b229fb66_1"/>
          <a:srcRect xmlns:a="http://schemas.openxmlformats.org/drawingml/2006/main" l="0" t="28354" r="0" b="2835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90600" y="3162300"/>
            <a:ext cx="3714750" cy="2857500"/>
          </a:xfrm>
          <a:prstGeom xmlns:a="http://schemas.openxmlformats.org/drawingml/2006/main" prst="rect">
            <a:avLst/>
          </a:prstGeom>
        </p:spPr>
      </p:pic>
      <p:pic>
        <p:nvPicPr>
          <p:cNvPr id="10" name="image-evidence-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7b73f8fac405495_1"/>
          <a:srcRect xmlns:a="http://schemas.openxmlformats.org/drawingml/2006/main" l="0" t="39898" r="0" b="3989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3162300"/>
            <a:ext cx="3714750" cy="1333500"/>
          </a:xfrm>
          <a:prstGeom xmlns:a="http://schemas.openxmlformats.org/drawingml/2006/main" prst="rect">
            <a:avLst/>
          </a:prstGeom>
        </p:spPr>
      </p:pic>
      <p:pic>
        <p:nvPicPr>
          <p:cNvPr id="11" name="image-evidence-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59ee3aa5202fd02f_1"/>
          <a:srcRect xmlns:a="http://schemas.openxmlformats.org/drawingml/2006/main" l="0" t="39904" r="0" b="3990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4686300"/>
            <a:ext cx="3714750" cy="1333500"/>
          </a:xfrm>
          <a:prstGeom xmlns:a="http://schemas.openxmlformats.org/drawingml/2006/main" prst="rect">
            <a:avLst/>
          </a:prstGeom>
        </p:spPr>
      </p:pic>
      <p:sp>
        <p:nvSpPr>
          <p:cNvPr id="12" name="image-matrix-label"/>
          <p:cNvSpPr txBox="1"/>
          <p:nvPr/>
        </p:nvSpPr>
        <p:spPr>
          <a:xfrm xmlns:a="http://schemas.openxmlformats.org/drawingml/2006/main">
            <a:off x="9620250" y="3314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7B91"/>
                </a:solidFill>
                <a:latin typeface="Arial"/>
                <a:ea typeface="Arial"/>
              </a:rPr>
              <a:t>IMAGE MATRIX</a:t>
            </a:r>
            <a:endParaRPr lang="en-US"/>
          </a:p>
        </p:txBody>
      </p:sp>
      <p:sp>
        <p:nvSpPr>
          <p:cNvPr id="13" name="image-matrix-title"/>
          <p:cNvSpPr txBox="1"/>
          <p:nvPr/>
        </p:nvSpPr>
        <p:spPr>
          <a:xfrm xmlns:a="http://schemas.openxmlformats.org/drawingml/2006/main">
            <a:off x="9620250" y="37909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43535"/>
                </a:solidFill>
                <a:latin typeface="Arial"/>
                <a:ea typeface="Arial"/>
              </a:rPr>
              <a:t>One subject, three ways to notice it.</a:t>
            </a:r>
            <a:endParaRPr lang="en-US"/>
          </a:p>
        </p:txBody>
      </p:sp>
      <p:sp>
        <p:nvSpPr>
          <p:cNvPr id="14" name="image-matrix-body"/>
          <p:cNvSpPr txBox="1"/>
          <p:nvPr/>
        </p:nvSpPr>
        <p:spPr>
          <a:xfrm xmlns:a="http://schemas.openxmlformats.org/drawingml/2006/main">
            <a:off x="9620250" y="49530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D928C"/>
                </a:solidFill>
                <a:latin typeface="Arial"/>
                <a:ea typeface="Arial"/>
              </a:rPr>
              <a:t>Use unequal frames to show facets of one idea. The crop carries the mood; the label carries the claim.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C"/>
          </a:solidFill>
          <a:ln xmlns:a="http://schemas.openxmlformats.org/drawingml/2006/main" w="0">
            <a:solidFill>
              <a:srgbClr val="EEE8D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visua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237998db8bee20d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visua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62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visua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RIVER HANDBOOK · VISUAL CARRIER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77B91"/>
                </a:solidFill>
                <a:latin typeface="Arial"/>
                <a:ea typeface="Arial"/>
              </a:rPr>
              <a:t>RIVER HANDBOOK · VISUAL CARRIER</a:t>
            </a:r>
            <a:endParaRPr lang="en-US"/>
          </a:p>
        </p:txBody>
      </p:sp>
      <p:sp>
        <p:nvSpPr>
          <p:cNvPr id="7" name="visua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Let the subject do the work</a:t>
            </a:r>
            <a:endParaRPr lang="en-US"/>
          </a:p>
        </p:txBody>
      </p:sp>
      <p:sp>
        <p:nvSpPr>
          <p:cNvPr id="8" name="visual-body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A strong crop gives the proposition a place to live.</a:t>
            </a:r>
            <a:endParaRPr lang="en-US"/>
          </a:p>
        </p:txBody>
      </p:sp>
      <p:sp>
        <p:nvSpPr>
          <p:cNvPr id="9" name="native-carrier-baseline"/>
          <p:cNvSpPr/>
          <p:nvPr/>
        </p:nvSpPr>
        <p:spPr>
          <a:xfrm xmlns:a="http://schemas.openxmlformats.org/drawingml/2006/main">
            <a:off x="1143000" y="6057900"/>
            <a:ext cx="697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native-carrier-bar-0"/>
          <p:cNvSpPr/>
          <p:nvPr/>
        </p:nvSpPr>
        <p:spPr>
          <a:xfrm xmlns:a="http://schemas.openxmlformats.org/drawingml/2006/main">
            <a:off x="1371600" y="5343525"/>
            <a:ext cx="514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28C"/>
          </a:solidFill>
          <a:ln xmlns:a="http://schemas.openxmlformats.org/drawingml/2006/main" w="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native-carrier-value-0"/>
          <p:cNvSpPr txBox="1"/>
          <p:nvPr/>
        </p:nvSpPr>
        <p:spPr>
          <a:xfrm xmlns:a="http://schemas.openxmlformats.org/drawingml/2006/main">
            <a:off x="1333500" y="50958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25" b="1">
                <a:solidFill>
                  <a:srgbClr val="243535"/>
                </a:solidFill>
                <a:latin typeface="Arial"/>
                <a:ea typeface="Arial"/>
              </a:rPr>
              <a:t>34</a:t>
            </a:r>
            <a:endParaRPr lang="en-US"/>
          </a:p>
        </p:txBody>
      </p:sp>
      <p:sp>
        <p:nvSpPr>
          <p:cNvPr id="12" name="native-carrier-label-0"/>
          <p:cNvSpPr txBox="1"/>
          <p:nvPr/>
        </p:nvSpPr>
        <p:spPr>
          <a:xfrm xmlns:a="http://schemas.openxmlformats.org/drawingml/2006/main">
            <a:off x="1181100" y="62103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750" b="1">
                <a:solidFill>
                  <a:srgbClr val="8D928C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13" name="native-carrier-bar-1"/>
          <p:cNvSpPr/>
          <p:nvPr/>
        </p:nvSpPr>
        <p:spPr>
          <a:xfrm xmlns:a="http://schemas.openxmlformats.org/drawingml/2006/main">
            <a:off x="3114675" y="4876800"/>
            <a:ext cx="5143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552"/>
          </a:solidFill>
          <a:ln xmlns:a="http://schemas.openxmlformats.org/drawingml/2006/main" w="0">
            <a:solidFill>
              <a:srgbClr val="D6655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native-carrier-value-1"/>
          <p:cNvSpPr txBox="1"/>
          <p:nvPr/>
        </p:nvSpPr>
        <p:spPr>
          <a:xfrm xmlns:a="http://schemas.openxmlformats.org/drawingml/2006/main">
            <a:off x="3076575" y="4629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25" b="1">
                <a:solidFill>
                  <a:srgbClr val="243535"/>
                </a:solidFill>
                <a:latin typeface="Arial"/>
                <a:ea typeface="Arial"/>
              </a:rPr>
              <a:t>56</a:t>
            </a:r>
            <a:endParaRPr lang="en-US"/>
          </a:p>
        </p:txBody>
      </p:sp>
      <p:sp>
        <p:nvSpPr>
          <p:cNvPr id="15" name="native-carrier-label-1"/>
          <p:cNvSpPr txBox="1"/>
          <p:nvPr/>
        </p:nvSpPr>
        <p:spPr>
          <a:xfrm xmlns:a="http://schemas.openxmlformats.org/drawingml/2006/main">
            <a:off x="2924175" y="62103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750" b="1">
                <a:solidFill>
                  <a:srgbClr val="8D928C"/>
                </a:solidFill>
                <a:latin typeface="Arial"/>
                <a:ea typeface="Arial"/>
              </a:rPr>
              <a:t>CONTEXT</a:t>
            </a:r>
            <a:endParaRPr lang="en-US"/>
          </a:p>
        </p:txBody>
      </p:sp>
      <p:sp>
        <p:nvSpPr>
          <p:cNvPr id="16" name="native-carrier-bar-2"/>
          <p:cNvSpPr/>
          <p:nvPr/>
        </p:nvSpPr>
        <p:spPr>
          <a:xfrm xmlns:a="http://schemas.openxmlformats.org/drawingml/2006/main">
            <a:off x="4857750" y="4410075"/>
            <a:ext cx="5143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28C"/>
          </a:solidFill>
          <a:ln xmlns:a="http://schemas.openxmlformats.org/drawingml/2006/main" w="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native-carrier-value-2"/>
          <p:cNvSpPr txBox="1"/>
          <p:nvPr/>
        </p:nvSpPr>
        <p:spPr>
          <a:xfrm xmlns:a="http://schemas.openxmlformats.org/drawingml/2006/main">
            <a:off x="4819650" y="416242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25" b="1">
                <a:solidFill>
                  <a:srgbClr val="243535"/>
                </a:solidFill>
                <a:latin typeface="Arial"/>
                <a:ea typeface="Arial"/>
              </a:rPr>
              <a:t>78</a:t>
            </a:r>
            <a:endParaRPr lang="en-US"/>
          </a:p>
        </p:txBody>
      </p:sp>
      <p:sp>
        <p:nvSpPr>
          <p:cNvPr id="18" name="native-carrier-label-2"/>
          <p:cNvSpPr txBox="1"/>
          <p:nvPr/>
        </p:nvSpPr>
        <p:spPr>
          <a:xfrm xmlns:a="http://schemas.openxmlformats.org/drawingml/2006/main">
            <a:off x="4667250" y="62103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750" b="1">
                <a:solidFill>
                  <a:srgbClr val="8D928C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9" name="native-carrier-bar-3"/>
          <p:cNvSpPr/>
          <p:nvPr/>
        </p:nvSpPr>
        <p:spPr>
          <a:xfrm xmlns:a="http://schemas.openxmlformats.org/drawingml/2006/main">
            <a:off x="6600825" y="4114800"/>
            <a:ext cx="5143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B91"/>
          </a:solidFill>
          <a:ln xmlns:a="http://schemas.openxmlformats.org/drawingml/2006/main" w="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native-carrier-value-3"/>
          <p:cNvSpPr txBox="1"/>
          <p:nvPr/>
        </p:nvSpPr>
        <p:spPr>
          <a:xfrm xmlns:a="http://schemas.openxmlformats.org/drawingml/2006/main">
            <a:off x="6562725" y="3867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25" b="1">
                <a:solidFill>
                  <a:srgbClr val="243535"/>
                </a:solidFill>
                <a:latin typeface="Arial"/>
                <a:ea typeface="Arial"/>
              </a:rPr>
              <a:t>92</a:t>
            </a:r>
            <a:endParaRPr lang="en-US"/>
          </a:p>
        </p:txBody>
      </p:sp>
      <p:sp>
        <p:nvSpPr>
          <p:cNvPr id="21" name="native-carrier-label-3"/>
          <p:cNvSpPr txBox="1"/>
          <p:nvPr/>
        </p:nvSpPr>
        <p:spPr>
          <a:xfrm xmlns:a="http://schemas.openxmlformats.org/drawingml/2006/main">
            <a:off x="6410325" y="62103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750" b="1">
                <a:solidFill>
                  <a:srgbClr val="8D928C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22" name="native-carrier-trend"/>
          <p:cNvSpPr/>
          <p:nvPr/>
        </p:nvSpPr>
        <p:spPr>
          <a:xfrm xmlns:a="http://schemas.openxmlformats.org/drawingml/2006/main">
            <a:off x="1333500" y="4076700"/>
            <a:ext cx="661035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native-carrier-note"/>
          <p:cNvSpPr txBox="1"/>
          <p:nvPr/>
        </p:nvSpPr>
        <p:spPr>
          <a:xfrm xmlns:a="http://schemas.openxmlformats.org/drawingml/2006/main">
            <a:off x="1314450" y="3390900"/>
            <a:ext cx="662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43535"/>
                </a:solidFill>
                <a:latin typeface="Arial"/>
                <a:ea typeface="Arial"/>
              </a:rPr>
              <a:t>The visual is a relationship, not a decoration.</a:t>
            </a:r>
            <a:endParaRPr lang="en-US"/>
          </a:p>
        </p:txBody>
      </p:sp>
      <p:sp>
        <p:nvSpPr>
          <p:cNvPr id="24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7B91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26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43535"/>
                </a:solidFill>
                <a:latin typeface="Arial"/>
                <a:ea typeface="Arial"/>
              </a:rPr>
              <a:t>Subject before slogan</a:t>
            </a:r>
            <a:endParaRPr lang="en-US"/>
          </a:p>
        </p:txBody>
      </p:sp>
      <p:sp>
        <p:nvSpPr>
          <p:cNvPr id="27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D928C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28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9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C"/>
          </a:solidFill>
          <a:ln xmlns:a="http://schemas.openxmlformats.org/drawingml/2006/main" w="0">
            <a:solidFill>
              <a:srgbClr val="EEE8D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clos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7b73f8fac405495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clos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35">
              <a:alpha val="62000"/>
            </a:srgbClr>
          </a:solidFill>
          <a:ln xmlns:a="http://schemas.openxmlformats.org/drawingml/2006/main" w="0">
            <a:solidFill>
              <a:srgbClr val="24353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los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RIVER HANDBOOK · CLOS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77B91"/>
                </a:solidFill>
                <a:latin typeface="Arial"/>
                <a:ea typeface="Arial"/>
              </a:rPr>
              <a:t>RIVER HANDBOOK · CLOSE</a:t>
            </a:r>
            <a:endParaRPr lang="en-US"/>
          </a:p>
        </p:txBody>
      </p:sp>
      <p:sp>
        <p:nvSpPr>
          <p:cNvPr id="7" name="clos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Turn the shared invitation into an action plan</a:t>
            </a:r>
            <a:endParaRPr lang="en-US"/>
          </a:p>
        </p:txBody>
      </p:sp>
      <p:sp>
        <p:nvSpPr>
          <p:cNvPr id="8" name="clos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77B91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43535"/>
                </a:solidFill>
                <a:latin typeface="Arial"/>
                <a:ea typeface="Arial"/>
              </a:rPr>
              <a:t>Promise</a:t>
            </a:r>
            <a:endParaRPr lang="en-US"/>
          </a:p>
        </p:txBody>
      </p:sp>
      <p:sp>
        <p:nvSpPr>
          <p:cNvPr id="1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43535"/>
                </a:solidFill>
                <a:latin typeface="Arial"/>
                <a:ea typeface="Arial"/>
              </a:rPr>
              <a:t>The proposition is legible.</a:t>
            </a:r>
            <a:endParaRPr lang="en-US"/>
          </a:p>
        </p:txBody>
      </p:sp>
      <p:sp>
        <p:nvSpPr>
          <p:cNvPr id="1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43535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D928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43535"/>
                </a:solidFill>
                <a:latin typeface="Arial"/>
                <a:ea typeface="Arial"/>
              </a:rPr>
              <a:t>Proof</a:t>
            </a:r>
            <a:endParaRPr lang="en-US"/>
          </a:p>
        </p:txBody>
      </p:sp>
      <p:sp>
        <p:nvSpPr>
          <p:cNvPr id="1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43535"/>
                </a:solidFill>
                <a:latin typeface="Arial"/>
                <a:ea typeface="Arial"/>
              </a:rPr>
              <a:t>The response is measurable.</a:t>
            </a:r>
            <a:endParaRPr lang="en-US"/>
          </a:p>
        </p:txBody>
      </p:sp>
      <p:sp>
        <p:nvSpPr>
          <p:cNvPr id="1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77B91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43535"/>
                </a:solidFill>
                <a:latin typeface="Arial"/>
                <a:ea typeface="Arial"/>
              </a:rPr>
              <a:t>Move</a:t>
            </a:r>
            <a:endParaRPr lang="en-US"/>
          </a:p>
        </p:txBody>
      </p:sp>
      <p:sp>
        <p:nvSpPr>
          <p:cNvPr id="2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43535"/>
                </a:solidFill>
                <a:latin typeface="Arial"/>
                <a:ea typeface="Arial"/>
              </a:rPr>
              <a:t>Give the audience one action.</a:t>
            </a:r>
            <a:endParaRPr lang="en-US"/>
          </a:p>
        </p:txBody>
      </p:sp>
      <p:sp>
        <p:nvSpPr>
          <p:cNvPr id="21" name="next-rule"/>
          <p:cNvSpPr/>
          <p:nvPr/>
        </p:nvSpPr>
        <p:spPr>
          <a:xfrm xmlns:a="http://schemas.openxmlformats.org/drawingml/2006/main">
            <a:off x="10668000" y="3714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77B9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next-label"/>
          <p:cNvSpPr txBox="1"/>
          <p:nvPr/>
        </p:nvSpPr>
        <p:spPr>
          <a:xfrm xmlns:a="http://schemas.openxmlformats.org/drawingml/2006/main">
            <a:off x="10668000" y="403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77B91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3" name="next-text"/>
          <p:cNvSpPr txBox="1"/>
          <p:nvPr/>
        </p:nvSpPr>
        <p:spPr>
          <a:xfrm xmlns:a="http://schemas.openxmlformats.org/drawingml/2006/main">
            <a:off x="10668000" y="45148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243535"/>
                </a:solidFill>
                <a:latin typeface="Arial"/>
                <a:ea typeface="Arial"/>
              </a:rPr>
              <a:t>Publish the invitation</a:t>
            </a:r>
            <a:endParaRPr lang="en-US"/>
          </a:p>
        </p:txBody>
      </p:sp>
      <p:sp>
        <p:nvSpPr>
          <p:cNvPr id="24" name="next-foot"/>
          <p:cNvSpPr txBox="1"/>
          <p:nvPr/>
        </p:nvSpPr>
        <p:spPr>
          <a:xfrm xmlns:a="http://schemas.openxmlformats.org/drawingml/2006/main">
            <a:off x="10668000" y="560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D928C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D928C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