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f1781205047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13db13f70d7843cc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Relationship Type="http://schemas.openxmlformats.org/officeDocument/2006/relationships/image" Target="/ppt/media/image2.jpg" Id="rIdOfficeKitImageaeb6f74d36d260d0_1" /><Relationship Type="http://schemas.openxmlformats.org/officeDocument/2006/relationships/image" Target="/ppt/media/image3.jpg" Id="rIdOfficeKitImage13db13f70d7843c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VER HANDBOOK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43535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VER HANDBOOK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43535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9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ONE SUBJECT · THREE SIGNALS</a:t>
            </a:r>
            <a:endParaRPr lang="en-US"/>
          </a:p>
        </p:txBody>
      </p:sp>
      <p:sp>
        <p:nvSpPr>
          <p:cNvPr id="10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1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The image carries the story; the label carries the claim.</a:t>
            </a:r>
            <a:endParaRPr lang="en-US"/>
          </a:p>
        </p:txBody>
      </p:sp>
      <p:sp>
        <p:nvSpPr>
          <p:cNvPr id="12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77B91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3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4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VER HANDBOOK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43535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28365" r="0" b="283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928C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VER HANDBOOK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native-carrier-baseline"/>
          <p:cNvSpPr/>
          <p:nvPr/>
        </p:nvSpPr>
        <p:spPr>
          <a:xfrm xmlns:a="http://schemas.openxmlformats.org/drawingml/2006/main">
            <a:off x="1143000" y="60579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native-carrier-bar-0"/>
          <p:cNvSpPr/>
          <p:nvPr/>
        </p:nvSpPr>
        <p:spPr>
          <a:xfrm xmlns:a="http://schemas.openxmlformats.org/drawingml/2006/main">
            <a:off x="1371600" y="5343525"/>
            <a:ext cx="5143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8C"/>
          </a:solidFill>
          <a:ln xmlns:a="http://schemas.openxmlformats.org/drawingml/2006/main" w="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native-carrier-value-0"/>
          <p:cNvSpPr txBox="1"/>
          <p:nvPr/>
        </p:nvSpPr>
        <p:spPr>
          <a:xfrm xmlns:a="http://schemas.openxmlformats.org/drawingml/2006/main">
            <a:off x="1333500" y="50958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34</a:t>
            </a:r>
            <a:endParaRPr lang="en-US"/>
          </a:p>
        </p:txBody>
      </p:sp>
      <p:sp>
        <p:nvSpPr>
          <p:cNvPr id="11" name="native-carrier-label-0"/>
          <p:cNvSpPr txBox="1"/>
          <p:nvPr/>
        </p:nvSpPr>
        <p:spPr>
          <a:xfrm xmlns:a="http://schemas.openxmlformats.org/drawingml/2006/main">
            <a:off x="1181100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native-carrier-bar-1"/>
          <p:cNvSpPr/>
          <p:nvPr/>
        </p:nvSpPr>
        <p:spPr>
          <a:xfrm xmlns:a="http://schemas.openxmlformats.org/drawingml/2006/main">
            <a:off x="3114675" y="4876800"/>
            <a:ext cx="514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6552"/>
          </a:solidFill>
          <a:ln xmlns:a="http://schemas.openxmlformats.org/drawingml/2006/main" w="0">
            <a:solidFill>
              <a:srgbClr val="D6655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native-carrier-value-1"/>
          <p:cNvSpPr txBox="1"/>
          <p:nvPr/>
        </p:nvSpPr>
        <p:spPr>
          <a:xfrm xmlns:a="http://schemas.openxmlformats.org/drawingml/2006/main">
            <a:off x="3076575" y="46291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56</a:t>
            </a:r>
            <a:endParaRPr lang="en-US"/>
          </a:p>
        </p:txBody>
      </p:sp>
      <p:sp>
        <p:nvSpPr>
          <p:cNvPr id="14" name="native-carrier-label-1"/>
          <p:cNvSpPr txBox="1"/>
          <p:nvPr/>
        </p:nvSpPr>
        <p:spPr>
          <a:xfrm xmlns:a="http://schemas.openxmlformats.org/drawingml/2006/main">
            <a:off x="2924175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CONTEXT</a:t>
            </a:r>
            <a:endParaRPr lang="en-US"/>
          </a:p>
        </p:txBody>
      </p:sp>
      <p:sp>
        <p:nvSpPr>
          <p:cNvPr id="15" name="native-carrier-bar-2"/>
          <p:cNvSpPr/>
          <p:nvPr/>
        </p:nvSpPr>
        <p:spPr>
          <a:xfrm xmlns:a="http://schemas.openxmlformats.org/drawingml/2006/main">
            <a:off x="4857750" y="4410075"/>
            <a:ext cx="5143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8C"/>
          </a:solidFill>
          <a:ln xmlns:a="http://schemas.openxmlformats.org/drawingml/2006/main" w="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native-carrier-value-2"/>
          <p:cNvSpPr txBox="1"/>
          <p:nvPr/>
        </p:nvSpPr>
        <p:spPr>
          <a:xfrm xmlns:a="http://schemas.openxmlformats.org/drawingml/2006/main">
            <a:off x="4819650" y="416242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78</a:t>
            </a:r>
            <a:endParaRPr lang="en-US"/>
          </a:p>
        </p:txBody>
      </p:sp>
      <p:sp>
        <p:nvSpPr>
          <p:cNvPr id="17" name="native-carrier-label-2"/>
          <p:cNvSpPr txBox="1"/>
          <p:nvPr/>
        </p:nvSpPr>
        <p:spPr>
          <a:xfrm xmlns:a="http://schemas.openxmlformats.org/drawingml/2006/main">
            <a:off x="4667250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8" name="native-carrier-bar-3"/>
          <p:cNvSpPr/>
          <p:nvPr/>
        </p:nvSpPr>
        <p:spPr>
          <a:xfrm xmlns:a="http://schemas.openxmlformats.org/drawingml/2006/main">
            <a:off x="6600825" y="4114800"/>
            <a:ext cx="5143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B91"/>
          </a:solidFill>
          <a:ln xmlns:a="http://schemas.openxmlformats.org/drawingml/2006/main" w="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native-carrier-value-3"/>
          <p:cNvSpPr txBox="1"/>
          <p:nvPr/>
        </p:nvSpPr>
        <p:spPr>
          <a:xfrm xmlns:a="http://schemas.openxmlformats.org/drawingml/2006/main">
            <a:off x="6562725" y="38671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92</a:t>
            </a:r>
            <a:endParaRPr lang="en-US"/>
          </a:p>
        </p:txBody>
      </p:sp>
      <p:sp>
        <p:nvSpPr>
          <p:cNvPr id="20" name="native-carrier-label-3"/>
          <p:cNvSpPr txBox="1"/>
          <p:nvPr/>
        </p:nvSpPr>
        <p:spPr>
          <a:xfrm xmlns:a="http://schemas.openxmlformats.org/drawingml/2006/main">
            <a:off x="6410325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1" name="native-carrier-trend"/>
          <p:cNvSpPr/>
          <p:nvPr/>
        </p:nvSpPr>
        <p:spPr>
          <a:xfrm xmlns:a="http://schemas.openxmlformats.org/drawingml/2006/main">
            <a:off x="1333500" y="4076700"/>
            <a:ext cx="661035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ative-carrier-note"/>
          <p:cNvSpPr txBox="1"/>
          <p:nvPr/>
        </p:nvSpPr>
        <p:spPr>
          <a:xfrm xmlns:a="http://schemas.openxmlformats.org/drawingml/2006/main">
            <a:off x="1314450" y="3390900"/>
            <a:ext cx="662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43535"/>
                </a:solidFill>
                <a:latin typeface="Arial"/>
                <a:ea typeface="Arial"/>
              </a:rPr>
              <a:t>The visual is a relationship, not a decoration.</a:t>
            </a:r>
            <a:endParaRPr lang="en-US"/>
          </a:p>
        </p:txBody>
      </p:sp>
      <p:sp>
        <p:nvSpPr>
          <p:cNvPr id="23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5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26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VER HANDBOOK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43535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