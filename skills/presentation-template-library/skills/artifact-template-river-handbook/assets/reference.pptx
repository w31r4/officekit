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3c63c4feb8448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eb6f74d36d260d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13db13f70d7843c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790b68b5d8fcd92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7b73f8fac405495_1" /><Relationship Type="http://schemas.openxmlformats.org/officeDocument/2006/relationships/image" Target="/ppt/media/image5.jpg" Id="rIdOfficeKitImage59ee3aa5202fd02f_1" /><Relationship Type="http://schemas.openxmlformats.org/officeDocument/2006/relationships/image" Target="/ppt/media/image.jpg" Id="rIdOfficeKitImageaeb6f74d36d260d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31956823b229fb66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59ee3aa5202fd02f_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10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ONE SUBJECT · THREE SIGNALS</a:t>
            </a:r>
            <a:endParaRPr lang="en-US"/>
          </a:p>
        </p:txBody>
      </p:sp>
      <p:sp>
        <p:nvSpPr>
          <p:cNvPr id="11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1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The image carries the story; the label carries the claim.</a:t>
            </a:r>
            <a:endParaRPr lang="en-US"/>
          </a:p>
        </p:txBody>
      </p:sp>
      <p:sp>
        <p:nvSpPr>
          <p:cNvPr id="13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77B91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4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5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28354" r="0" b="2835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2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3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4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928C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VISUAL CARRIER</a:t>
            </a:r>
            <a:endParaRPr lang="en-US"/>
          </a:p>
        </p:txBody>
      </p:sp>
      <p:sp>
        <p:nvSpPr>
          <p:cNvPr id="7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8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9" name="native-carrier-baseline"/>
          <p:cNvSpPr/>
          <p:nvPr/>
        </p:nvSpPr>
        <p:spPr>
          <a:xfrm xmlns:a="http://schemas.openxmlformats.org/drawingml/2006/main">
            <a:off x="1143000" y="6057900"/>
            <a:ext cx="6972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native-carrier-bar-0"/>
          <p:cNvSpPr/>
          <p:nvPr/>
        </p:nvSpPr>
        <p:spPr>
          <a:xfrm xmlns:a="http://schemas.openxmlformats.org/drawingml/2006/main">
            <a:off x="1371600" y="5343525"/>
            <a:ext cx="5143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8C"/>
          </a:solidFill>
          <a:ln xmlns:a="http://schemas.openxmlformats.org/drawingml/2006/main" w="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native-carrier-value-0"/>
          <p:cNvSpPr txBox="1"/>
          <p:nvPr/>
        </p:nvSpPr>
        <p:spPr>
          <a:xfrm xmlns:a="http://schemas.openxmlformats.org/drawingml/2006/main">
            <a:off x="1333500" y="50958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34</a:t>
            </a:r>
            <a:endParaRPr lang="en-US"/>
          </a:p>
        </p:txBody>
      </p:sp>
      <p:sp>
        <p:nvSpPr>
          <p:cNvPr id="12" name="native-carrier-label-0"/>
          <p:cNvSpPr txBox="1"/>
          <p:nvPr/>
        </p:nvSpPr>
        <p:spPr>
          <a:xfrm xmlns:a="http://schemas.openxmlformats.org/drawingml/2006/main">
            <a:off x="1181100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3" name="native-carrier-bar-1"/>
          <p:cNvSpPr/>
          <p:nvPr/>
        </p:nvSpPr>
        <p:spPr>
          <a:xfrm xmlns:a="http://schemas.openxmlformats.org/drawingml/2006/main">
            <a:off x="3114675" y="4876800"/>
            <a:ext cx="514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6552"/>
          </a:solidFill>
          <a:ln xmlns:a="http://schemas.openxmlformats.org/drawingml/2006/main" w="0">
            <a:solidFill>
              <a:srgbClr val="D6655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native-carrier-value-1"/>
          <p:cNvSpPr txBox="1"/>
          <p:nvPr/>
        </p:nvSpPr>
        <p:spPr>
          <a:xfrm xmlns:a="http://schemas.openxmlformats.org/drawingml/2006/main">
            <a:off x="3076575" y="46291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56</a:t>
            </a:r>
            <a:endParaRPr lang="en-US"/>
          </a:p>
        </p:txBody>
      </p:sp>
      <p:sp>
        <p:nvSpPr>
          <p:cNvPr id="15" name="native-carrier-label-1"/>
          <p:cNvSpPr txBox="1"/>
          <p:nvPr/>
        </p:nvSpPr>
        <p:spPr>
          <a:xfrm xmlns:a="http://schemas.openxmlformats.org/drawingml/2006/main">
            <a:off x="2924175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CONTEXT</a:t>
            </a:r>
            <a:endParaRPr lang="en-US"/>
          </a:p>
        </p:txBody>
      </p:sp>
      <p:sp>
        <p:nvSpPr>
          <p:cNvPr id="16" name="native-carrier-bar-2"/>
          <p:cNvSpPr/>
          <p:nvPr/>
        </p:nvSpPr>
        <p:spPr>
          <a:xfrm xmlns:a="http://schemas.openxmlformats.org/drawingml/2006/main">
            <a:off x="4857750" y="4410075"/>
            <a:ext cx="5143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28C"/>
          </a:solidFill>
          <a:ln xmlns:a="http://schemas.openxmlformats.org/drawingml/2006/main" w="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ative-carrier-value-2"/>
          <p:cNvSpPr txBox="1"/>
          <p:nvPr/>
        </p:nvSpPr>
        <p:spPr>
          <a:xfrm xmlns:a="http://schemas.openxmlformats.org/drawingml/2006/main">
            <a:off x="4819650" y="416242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78</a:t>
            </a:r>
            <a:endParaRPr lang="en-US"/>
          </a:p>
        </p:txBody>
      </p:sp>
      <p:sp>
        <p:nvSpPr>
          <p:cNvPr id="18" name="native-carrier-label-2"/>
          <p:cNvSpPr txBox="1"/>
          <p:nvPr/>
        </p:nvSpPr>
        <p:spPr>
          <a:xfrm xmlns:a="http://schemas.openxmlformats.org/drawingml/2006/main">
            <a:off x="4667250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9" name="native-carrier-bar-3"/>
          <p:cNvSpPr/>
          <p:nvPr/>
        </p:nvSpPr>
        <p:spPr>
          <a:xfrm xmlns:a="http://schemas.openxmlformats.org/drawingml/2006/main">
            <a:off x="6600825" y="4114800"/>
            <a:ext cx="5143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7B91"/>
          </a:solidFill>
          <a:ln xmlns:a="http://schemas.openxmlformats.org/drawingml/2006/main" w="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native-carrier-value-3"/>
          <p:cNvSpPr txBox="1"/>
          <p:nvPr/>
        </p:nvSpPr>
        <p:spPr>
          <a:xfrm xmlns:a="http://schemas.openxmlformats.org/drawingml/2006/main">
            <a:off x="6562725" y="3867150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25" b="1">
                <a:solidFill>
                  <a:srgbClr val="243535"/>
                </a:solidFill>
                <a:latin typeface="Arial"/>
                <a:ea typeface="Arial"/>
              </a:rPr>
              <a:t>92</a:t>
            </a:r>
            <a:endParaRPr lang="en-US"/>
          </a:p>
        </p:txBody>
      </p:sp>
      <p:sp>
        <p:nvSpPr>
          <p:cNvPr id="21" name="native-carrier-label-3"/>
          <p:cNvSpPr txBox="1"/>
          <p:nvPr/>
        </p:nvSpPr>
        <p:spPr>
          <a:xfrm xmlns:a="http://schemas.openxmlformats.org/drawingml/2006/main">
            <a:off x="6410325" y="62103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750" b="1">
                <a:solidFill>
                  <a:srgbClr val="8D928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2" name="native-carrier-trend"/>
          <p:cNvSpPr/>
          <p:nvPr/>
        </p:nvSpPr>
        <p:spPr>
          <a:xfrm xmlns:a="http://schemas.openxmlformats.org/drawingml/2006/main">
            <a:off x="1333500" y="4076700"/>
            <a:ext cx="6610350" cy="1009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native-carrier-note"/>
          <p:cNvSpPr txBox="1"/>
          <p:nvPr/>
        </p:nvSpPr>
        <p:spPr>
          <a:xfrm xmlns:a="http://schemas.openxmlformats.org/drawingml/2006/main">
            <a:off x="1314450" y="3390900"/>
            <a:ext cx="662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43535"/>
                </a:solidFill>
                <a:latin typeface="Arial"/>
                <a:ea typeface="Arial"/>
              </a:rPr>
              <a:t>The visual is a relationship, not a decoration.</a:t>
            </a:r>
            <a:endParaRPr lang="en-US"/>
          </a:p>
        </p:txBody>
      </p:sp>
      <p:sp>
        <p:nvSpPr>
          <p:cNvPr id="24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6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27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