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jpg" ContentType="image/jpeg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Masters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2b6ad729e3a14e6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IdMaster1"/>
  </p:sldMasterIdLst>
  <p:sldIdLst>
    <p:sldId xmlns:r="http://schemas.openxmlformats.org/officeDocument/2006/relationships" id="256" r:id="rIdSlide1"/>
    <p:sldId xmlns:r="http://schemas.openxmlformats.org/officeDocument/2006/relationships" id="257" r:id="rIdSlide2"/>
    <p:sldId xmlns:r="http://schemas.openxmlformats.org/officeDocument/2006/relationships" id="258" r:id="rIdSlide3"/>
    <p:sldId xmlns:r="http://schemas.openxmlformats.org/officeDocument/2006/relationships" id="259" r:id="rIdSlide4"/>
    <p:sldId xmlns:r="http://schemas.openxmlformats.org/officeDocument/2006/relationships" id="260" r:id="rIdSlide5"/>
    <p:sldId xmlns:r="http://schemas.openxmlformats.org/officeDocument/2006/relationships" id="261" r:id="rIdSlide6"/>
  </p:sldIdLst>
  <p:sldSz cx="15240000" cy="8572500"/>
  <p:notesSz cx="6858000" cy="9144000"/>
  <p:defaultTextStyle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Master1" /><Relationship Type="http://schemas.openxmlformats.org/officeDocument/2006/relationships/slide" Target="/ppt/slides/slide1.xml" Id="rIdSlide1" /><Relationship Type="http://schemas.openxmlformats.org/officeDocument/2006/relationships/slide" Target="/ppt/slides/slide2.xml" Id="rIdSlide2" /><Relationship Type="http://schemas.openxmlformats.org/officeDocument/2006/relationships/slide" Target="/ppt/slides/slide3.xml" Id="rIdSlide3" /><Relationship Type="http://schemas.openxmlformats.org/officeDocument/2006/relationships/slide" Target="/ppt/slides/slide4.xml" Id="rIdSlide4" /><Relationship Type="http://schemas.openxmlformats.org/officeDocument/2006/relationships/slide" Target="/ppt/slides/slide5.xml" Id="rIdSlide5" /><Relationship Type="http://schemas.openxmlformats.org/officeDocument/2006/relationships/slide" Target="/ppt/slides/slide6.xml" Id="rIdSlide6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Master1" /></Relationships>
</file>

<file path=ppt/slideLayouts/slideLayout1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</p:spTree>
  </p:cSld>
  <p:clrMapOvr>
    <a:masterClrMapping xmlns:a="http://schemas.openxmlformats.org/drawingml/2006/main"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1.xml" Id="rIdTheme1" /><Relationship Type="http://schemas.openxmlformats.org/officeDocument/2006/relationships/slideLayout" Target="/ppt/slideLayouts/slideLayout1.xml" Id="rIdLayout1" /></Relationships>
</file>

<file path=ppt/slideMasters/slideMaster1.xml><?xml version="1.0" encoding="utf-8"?>
<p:sldMaster xmlns:p="http://schemas.openxmlformats.org/presentationml/2006/main">
  <p:cSld name="Default Master">
    <p:bg>
      <p:bgPr>
        <a:solidFill xmlns:a="http://schemas.openxmlformats.org/drawingml/2006/main">
          <a:srgbClr val="FFFFFF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Layout1"/>
  </p:sldLayoutIdLst>
  <p:txStyles>
    <p:titleStyle/>
    <p:bodyStyle/>
    <p:otherStyle/>
  </p:txStyles>
</p:sldMaster>
</file>

<file path=ppt/slideMasters/theme/theme1.xml><?xml version="1.0" encoding="utf-8"?>
<a:theme xmlns:a="http://schemas.openxmlformats.org/drawingml/2006/main" name="Office Clean Room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Relationship Type="http://schemas.openxmlformats.org/officeDocument/2006/relationships/image" Target="/ppt/media/image.jpg" Id="rIdOfficeKitImageaeb6f74d36d260d0_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Relationship Type="http://schemas.openxmlformats.org/officeDocument/2006/relationships/image" Target="/ppt/media/image2.jpg" Id="rIdOfficeKitImage13db13f70d7843cc_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Relationship Type="http://schemas.openxmlformats.org/officeDocument/2006/relationships/image" Target="/ppt/media/image3.jpg" Id="rIdOfficeKitImage7790b68b5d8fcd92_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Relationship Type="http://schemas.openxmlformats.org/officeDocument/2006/relationships/image" Target="/ppt/media/image4.jpg" Id="rIdOfficeKitImage31956823b229fb66_1" /><Relationship Type="http://schemas.openxmlformats.org/officeDocument/2006/relationships/image" Target="/ppt/media/image5.jpg" Id="rIdOfficeKitImagec7b73f8fac405495_1" /><Relationship Type="http://schemas.openxmlformats.org/officeDocument/2006/relationships/image" Target="/ppt/media/image6.jpg" Id="rIdOfficeKitImage59ee3aa5202fd02f_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Relationship Type="http://schemas.openxmlformats.org/officeDocument/2006/relationships/image" Target="/ppt/media/image7.jpg" Id="rIdOfficeKitImagec237998db8bee20d_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Relationship Type="http://schemas.openxmlformats.org/officeDocument/2006/relationships/image" Target="/ppt/media/image5.jpg" Id="rIdOfficeKitImagec7b73f8fac405495_1" /></Relationships>
</file>

<file path=ppt/slides/slide1.xml><?xml version="1.0" encoding="utf-8"?>
<p:sld xmlns:p="http://schemas.openxmlformats.org/presentationml/2006/main">
  <p:cSld name="Opening claim">
    <p:bg>
      <p:bgPr>
        <a:blipFill xmlns:a="http://schemas.openxmlformats.org/drawingml/2006/main">
          <a:blip xmlns:r="http://schemas.openxmlformats.org/officeDocument/2006/relationships" r:embed="rIdOfficeKitImageaeb6f74d36d260d0_1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editorial-cover-scrim"/>
          <p:cNvSpPr/>
          <p:nvPr/>
        </p:nvSpPr>
        <p:spPr>
          <a:xfrm xmlns:a="http://schemas.openxmlformats.org/drawingml/2006/main">
            <a:off x="0" y="0"/>
            <a:ext cx="7239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535">
              <a:alpha val="84000"/>
            </a:srgbClr>
          </a:solidFill>
          <a:ln xmlns:a="http://schemas.openxmlformats.org/drawingml/2006/main" w="0">
            <a:solidFill>
              <a:srgbClr val="243535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3" name="eyebrow"/>
          <p:cNvSpPr txBox="1"/>
          <p:nvPr/>
        </p:nvSpPr>
        <p:spPr>
          <a:xfrm xmlns:a="http://schemas.openxmlformats.org/drawingml/2006/main">
            <a:off x="914400" y="800100"/>
            <a:ext cx="704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 b="1">
                <a:solidFill>
                  <a:srgbClr val="277B91"/>
                </a:solidFill>
                <a:latin typeface="Arial"/>
                <a:ea typeface="Arial"/>
              </a:rPr>
              <a:t>PROMOTION · OFFICEKIT CALIBRATION</a:t>
            </a:r>
            <a:endParaRPr lang="en-US"/>
          </a:p>
        </p:txBody>
      </p:sp>
      <p:sp>
        <p:nvSpPr>
          <p:cNvPr id="4" name="cover-title"/>
          <p:cNvSpPr txBox="1"/>
          <p:nvPr/>
        </p:nvSpPr>
        <p:spPr>
          <a:xfrm xmlns:a="http://schemas.openxmlformats.org/drawingml/2006/main">
            <a:off x="914400" y="1962150"/>
            <a:ext cx="5810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3900" b="1">
                <a:solidFill>
                  <a:srgbClr val="FFFFFF"/>
                </a:solidFill>
                <a:latin typeface="Arial"/>
                <a:ea typeface="Arial"/>
              </a:rPr>
              <a:t>River Handbook: a claim worth testing</a:t>
            </a:r>
            <a:endParaRPr lang="en-US"/>
          </a:p>
        </p:txBody>
      </p:sp>
      <p:sp>
        <p:nvSpPr>
          <p:cNvPr id="5" name="cover-subtitle"/>
          <p:cNvSpPr txBox="1"/>
          <p:nvPr/>
        </p:nvSpPr>
        <p:spPr>
          <a:xfrm xmlns:a="http://schemas.openxmlformats.org/drawingml/2006/main">
            <a:off x="952500" y="363855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650">
                <a:solidFill>
                  <a:srgbClr val="F0F2F2"/>
                </a:solidFill>
                <a:latin typeface="Arial"/>
                <a:ea typeface="Arial"/>
              </a:rPr>
              <a:t>A clean-room reference for a visual proposition.</a:t>
            </a:r>
            <a:endParaRPr lang="en-US"/>
          </a:p>
        </p:txBody>
      </p:sp>
      <p:sp>
        <p:nvSpPr>
          <p:cNvPr id="6" name="cover-photo-rule"/>
          <p:cNvSpPr/>
          <p:nvPr/>
        </p:nvSpPr>
        <p:spPr>
          <a:xfrm xmlns:a="http://schemas.openxmlformats.org/drawingml/2006/main">
            <a:off x="914400" y="4533900"/>
            <a:ext cx="4895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77B91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7" name="cover-thesis"/>
          <p:cNvSpPr txBox="1"/>
          <p:nvPr/>
        </p:nvSpPr>
        <p:spPr>
          <a:xfrm xmlns:a="http://schemas.openxmlformats.org/drawingml/2006/main">
            <a:off x="952500" y="4895850"/>
            <a:ext cx="5715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950" b="1">
                <a:solidFill>
                  <a:srgbClr val="FFFFFF"/>
                </a:solidFill>
                <a:latin typeface="Arial"/>
                <a:ea typeface="Arial"/>
              </a:rPr>
              <a:t>A proposition earns attention when it gives a next move.</a:t>
            </a:r>
            <a:endParaRPr lang="en-US"/>
          </a:p>
        </p:txBody>
      </p:sp>
      <p:sp>
        <p:nvSpPr>
          <p:cNvPr id="8" name="cover-source"/>
          <p:cNvSpPr txBox="1"/>
          <p:nvPr/>
        </p:nvSpPr>
        <p:spPr>
          <a:xfrm xmlns:a="http://schemas.openxmlformats.org/drawingml/2006/main">
            <a:off x="952500" y="7334250"/>
            <a:ext cx="904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>
                <a:solidFill>
                  <a:srgbClr val="F0F2F2"/>
                </a:solidFill>
                <a:latin typeface="Arial"/>
                <a:ea typeface="Arial"/>
              </a:rPr>
              <a:t>OfficeKit original clean-room calibration · fictional content · 2026-08-29</a:t>
            </a:r>
            <a:endParaRPr lang="en-US"/>
          </a:p>
        </p:txBody>
      </p:sp>
      <p:sp>
        <p:nvSpPr>
          <p:cNvPr id="9" name="page-number"/>
          <p:cNvSpPr txBox="1"/>
          <p:nvPr/>
        </p:nvSpPr>
        <p:spPr>
          <a:xfrm xmlns:a="http://schemas.openxmlformats.org/drawingml/2006/main">
            <a:off x="13335000" y="78105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1050">
                <a:solidFill>
                  <a:srgbClr val="F0F2F2"/>
                </a:solidFill>
                <a:latin typeface="Arial"/>
                <a:ea typeface="Arial"/>
              </a:rPr>
              <a:t>1 / 6</a:t>
            </a:r>
            <a:endParaRPr lang="en-US"/>
          </a:p>
        </p:txBody>
      </p:sp>
    </p:spTree>
  </p:cSld>
  <p:clrMapOvr>
    <a:masterClrMapping xmlns:a="http://schemas.openxmlformats.org/drawingml/2006/main"/>
  </p:clrMapOvr>
</p:sld>
</file>

<file path=ppt/slides/slide2.xml><?xml version="1.0" encoding="utf-8"?>
<p:sld xmlns:p="http://schemas.openxmlformats.org/presentationml/2006/main">
  <p:cSld name="Argument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8DC"/>
          </a:solidFill>
          <a:ln xmlns:a="http://schemas.openxmlformats.org/drawingml/2006/main" w="0">
            <a:solidFill>
              <a:srgbClr val="EEE8DC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pic>
        <p:nvPicPr>
          <p:cNvPr id="3" name="argument-photo-band">
            <a:extLst xmlns:a="http://schemas.openxmlformats.org/drawingml/2006/main"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xmlns:r="http://schemas.openxmlformats.org/officeDocument/2006/relationships" xmlns:a="http://schemas.openxmlformats.org/drawingml/2006/main" r:embed="rIdOfficeKitImage13db13f70d7843cc_1"/>
          <a:srcRect xmlns:a="http://schemas.openxmlformats.org/drawingml/2006/main" l="0" t="47258" r="0" b="47258"/>
          <a:stretch xmlns:a="http://schemas.openxmlformats.org/drawingml/2006/main">
            <a:fillRect/>
          </a:stretch>
        </p:blipFill>
        <p:spPr>
          <a:xfrm xmlns:a="http://schemas.openxmlformats.org/drawingml/2006/main" flipH="1">
            <a:off x="0" y="0"/>
            <a:ext cx="15240000" cy="1485900"/>
          </a:xfrm>
          <a:prstGeom xmlns:a="http://schemas.openxmlformats.org/drawingml/2006/main" prst="rect">
            <a:avLst/>
          </a:prstGeom>
        </p:spPr>
      </p:pic>
      <p:sp>
        <p:nvSpPr>
          <p:cNvPr id="4" name="argument-photo-scrim"/>
          <p:cNvSpPr/>
          <p:nvPr/>
        </p:nvSpPr>
        <p:spPr>
          <a:xfrm xmlns:a="http://schemas.openxmlformats.org/drawingml/2006/main">
            <a:off x="0" y="0"/>
            <a:ext cx="152400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535">
              <a:alpha val="62000"/>
            </a:srgbClr>
          </a:solidFill>
          <a:ln xmlns:a="http://schemas.openxmlformats.org/drawingml/2006/main" w="0">
            <a:solidFill>
              <a:srgbClr val="243535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5" name="argument-photo-rule"/>
          <p:cNvSpPr/>
          <p:nvPr/>
        </p:nvSpPr>
        <p:spPr>
          <a:xfrm xmlns:a="http://schemas.openxmlformats.org/drawingml/2006/main">
            <a:off x="914400" y="1438275"/>
            <a:ext cx="1341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77B91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6" name="RIVER HANDBOOK · ARGUMENT"/>
          <p:cNvSpPr txBox="1"/>
          <p:nvPr/>
        </p:nvSpPr>
        <p:spPr>
          <a:xfrm xmlns:a="http://schemas.openxmlformats.org/drawingml/2006/main">
            <a:off x="914400" y="228600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 b="1">
                <a:solidFill>
                  <a:srgbClr val="277B91"/>
                </a:solidFill>
                <a:latin typeface="Arial"/>
                <a:ea typeface="Arial"/>
              </a:rPr>
              <a:t>RIVER HANDBOOK · ARGUMENT</a:t>
            </a:r>
            <a:endParaRPr lang="en-US"/>
          </a:p>
        </p:txBody>
      </p:sp>
      <p:sp>
        <p:nvSpPr>
          <p:cNvPr id="7" name="argument-title"/>
          <p:cNvSpPr txBox="1"/>
          <p:nvPr/>
        </p:nvSpPr>
        <p:spPr>
          <a:xfrm xmlns:a="http://schemas.openxmlformats.org/drawingml/2006/main">
            <a:off x="914400" y="495300"/>
            <a:ext cx="1200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550" b="1">
                <a:solidFill>
                  <a:srgbClr val="FFFFFF"/>
                </a:solidFill>
                <a:latin typeface="Arial"/>
                <a:ea typeface="Arial"/>
              </a:rPr>
              <a:t>The proposition is the page's visual center</a:t>
            </a:r>
            <a:endParaRPr lang="en-US"/>
          </a:p>
        </p:txBody>
      </p:sp>
      <p:sp>
        <p:nvSpPr>
          <p:cNvPr id="8" name="argument-basis"/>
          <p:cNvSpPr txBox="1"/>
          <p:nvPr/>
        </p:nvSpPr>
        <p:spPr>
          <a:xfrm xmlns:a="http://schemas.openxmlformats.org/drawingml/2006/main">
            <a:off x="952500" y="1066800"/>
            <a:ext cx="1104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F0F3F2"/>
                </a:solidFill>
                <a:latin typeface="Arial"/>
                <a:ea typeface="Arial"/>
              </a:rPr>
              <a:t>Scale, crop, and color invite attention without hiding the evidence.</a:t>
            </a:r>
            <a:endParaRPr lang="en-US"/>
          </a:p>
        </p:txBody>
      </p:sp>
      <p:sp>
        <p:nvSpPr>
          <p:cNvPr id="9" name="promotion-kicker"/>
          <p:cNvSpPr txBox="1"/>
          <p:nvPr/>
        </p:nvSpPr>
        <p:spPr>
          <a:xfrm xmlns:a="http://schemas.openxmlformats.org/drawingml/2006/main">
            <a:off x="1104900" y="33528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 b="1">
                <a:solidFill>
                  <a:srgbClr val="277B91"/>
                </a:solidFill>
                <a:latin typeface="Arial"/>
                <a:ea typeface="Arial"/>
              </a:rPr>
              <a:t>ONE PROPOSITION</a:t>
            </a:r>
            <a:endParaRPr lang="en-US"/>
          </a:p>
        </p:txBody>
      </p:sp>
      <p:sp>
        <p:nvSpPr>
          <p:cNvPr id="10" name="promotion-headline"/>
          <p:cNvSpPr txBox="1"/>
          <p:nvPr/>
        </p:nvSpPr>
        <p:spPr>
          <a:xfrm xmlns:a="http://schemas.openxmlformats.org/drawingml/2006/main">
            <a:off x="1104900" y="3790950"/>
            <a:ext cx="647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625" b="1">
                <a:solidFill>
                  <a:srgbClr val="243535"/>
                </a:solidFill>
                <a:latin typeface="Arial"/>
                <a:ea typeface="Arial"/>
              </a:rPr>
              <a:t>Make the next action visible.</a:t>
            </a:r>
            <a:endParaRPr lang="en-US"/>
          </a:p>
        </p:txBody>
      </p:sp>
      <p:sp>
        <p:nvSpPr>
          <p:cNvPr id="11" name="promotion-body"/>
          <p:cNvSpPr txBox="1"/>
          <p:nvPr/>
        </p:nvSpPr>
        <p:spPr>
          <a:xfrm xmlns:a="http://schemas.openxmlformats.org/drawingml/2006/main">
            <a:off x="1104900" y="4762500"/>
            <a:ext cx="619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575">
                <a:solidFill>
                  <a:srgbClr val="243535"/>
                </a:solidFill>
                <a:latin typeface="Arial"/>
                <a:ea typeface="Arial"/>
              </a:rPr>
              <a:t>A clear invitation earns attention when evidence and access arrive together.</a:t>
            </a:r>
            <a:endParaRPr lang="en-US"/>
          </a:p>
        </p:txBody>
      </p:sp>
      <p:pic>
        <p:nvPicPr>
          <p:cNvPr id="12" name="promotion-hero-frame">
            <a:extLst xmlns:a="http://schemas.openxmlformats.org/drawingml/2006/main"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xmlns:r="http://schemas.openxmlformats.org/officeDocument/2006/relationships" xmlns:a="http://schemas.openxmlformats.org/drawingml/2006/main" r:embed="rIdOfficeKitImage13db13f70d7843cc_1"/>
          <a:srcRect xmlns:a="http://schemas.openxmlformats.org/drawingml/2006/main" l="0" t="31920" r="0" b="31920"/>
          <a:stretch xmlns:a="http://schemas.openxmlformats.org/drawingml/2006/main">
            <a:fillRect/>
          </a:stretch>
        </p:blipFill>
        <p:spPr>
          <a:xfrm xmlns:a="http://schemas.openxmlformats.org/drawingml/2006/main" flipH="1">
            <a:off x="9525000" y="3143250"/>
            <a:ext cx="4000500" cy="2571750"/>
          </a:xfrm>
          <a:prstGeom xmlns:a="http://schemas.openxmlformats.org/drawingml/2006/main" prst="rect">
            <a:avLst/>
          </a:prstGeom>
        </p:spPr>
      </p:pic>
      <p:sp>
        <p:nvSpPr>
          <p:cNvPr id="13" name="promotion-image-rule"/>
          <p:cNvSpPr/>
          <p:nvPr/>
        </p:nvSpPr>
        <p:spPr>
          <a:xfrm xmlns:a="http://schemas.openxmlformats.org/drawingml/2006/main">
            <a:off x="9525000" y="5905500"/>
            <a:ext cx="400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77B91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4" name="promotion-image-label"/>
          <p:cNvSpPr txBox="1"/>
          <p:nvPr/>
        </p:nvSpPr>
        <p:spPr>
          <a:xfrm xmlns:a="http://schemas.openxmlformats.org/drawingml/2006/main">
            <a:off x="9525000" y="61531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75" b="1">
                <a:solidFill>
                  <a:srgbClr val="277B91"/>
                </a:solidFill>
                <a:latin typeface="Arial"/>
                <a:ea typeface="Arial"/>
              </a:rPr>
              <a:t>INVITE · PROVE · MOVE</a:t>
            </a:r>
            <a:endParaRPr lang="en-US"/>
          </a:p>
        </p:txBody>
      </p:sp>
      <p:sp>
        <p:nvSpPr>
          <p:cNvPr id="15" name="source"/>
          <p:cNvSpPr txBox="1"/>
          <p:nvPr/>
        </p:nvSpPr>
        <p:spPr>
          <a:xfrm xmlns:a="http://schemas.openxmlformats.org/drawingml/2006/main">
            <a:off x="914400" y="7810500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>
                <a:solidFill>
                  <a:srgbClr val="8D928C"/>
                </a:solidFill>
                <a:latin typeface="Arial"/>
                <a:ea typeface="Arial"/>
              </a:rPr>
              <a:t>Source: illustrative calibration brief · every claim is fictional and bounded</a:t>
            </a:r>
            <a:endParaRPr lang="en-US"/>
          </a:p>
        </p:txBody>
      </p:sp>
      <p:sp>
        <p:nvSpPr>
          <p:cNvPr id="16" name="page-number"/>
          <p:cNvSpPr txBox="1"/>
          <p:nvPr/>
        </p:nvSpPr>
        <p:spPr>
          <a:xfrm xmlns:a="http://schemas.openxmlformats.org/drawingml/2006/main">
            <a:off x="13335000" y="78105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1050">
                <a:solidFill>
                  <a:srgbClr val="8D928C"/>
                </a:solidFill>
                <a:latin typeface="Arial"/>
                <a:ea typeface="Arial"/>
              </a:rPr>
              <a:t>2 / 6</a:t>
            </a:r>
            <a:endParaRPr lang="en-US"/>
          </a:p>
        </p:txBody>
      </p:sp>
    </p:spTree>
  </p:cSld>
  <p:clrMapOvr>
    <a:masterClrMapping xmlns:a="http://schemas.openxmlformats.org/drawingml/2006/main"/>
  </p:clrMapOvr>
</p:sld>
</file>

<file path=ppt/slides/slide3.xml><?xml version="1.0" encoding="utf-8"?>
<p:sld xmlns:p="http://schemas.openxmlformats.org/presentationml/2006/main">
  <p:cSld name="Evidence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8DC"/>
          </a:solidFill>
          <a:ln xmlns:a="http://schemas.openxmlformats.org/drawingml/2006/main" w="0">
            <a:solidFill>
              <a:srgbClr val="EEE8DC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pic>
        <p:nvPicPr>
          <p:cNvPr id="3" name="evidence-photo-band">
            <a:extLst xmlns:a="http://schemas.openxmlformats.org/drawingml/2006/main"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xmlns:r="http://schemas.openxmlformats.org/officeDocument/2006/relationships" xmlns:a="http://schemas.openxmlformats.org/drawingml/2006/main" r:embed="rIdOfficeKitImage7790b68b5d8fcd92_1"/>
          <a:srcRect xmlns:a="http://schemas.openxmlformats.org/drawingml/2006/main" l="0" t="47258" r="0" b="47258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0" y="0"/>
            <a:ext cx="15240000" cy="1485900"/>
          </a:xfrm>
          <a:prstGeom xmlns:a="http://schemas.openxmlformats.org/drawingml/2006/main" prst="rect">
            <a:avLst/>
          </a:prstGeom>
        </p:spPr>
      </p:pic>
      <p:sp>
        <p:nvSpPr>
          <p:cNvPr id="4" name="evidence-photo-scrim"/>
          <p:cNvSpPr/>
          <p:nvPr/>
        </p:nvSpPr>
        <p:spPr>
          <a:xfrm xmlns:a="http://schemas.openxmlformats.org/drawingml/2006/main">
            <a:off x="0" y="0"/>
            <a:ext cx="152400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535">
              <a:alpha val="62000"/>
            </a:srgbClr>
          </a:solidFill>
          <a:ln xmlns:a="http://schemas.openxmlformats.org/drawingml/2006/main" w="0">
            <a:solidFill>
              <a:srgbClr val="243535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5" name="evidence-photo-rule"/>
          <p:cNvSpPr/>
          <p:nvPr/>
        </p:nvSpPr>
        <p:spPr>
          <a:xfrm xmlns:a="http://schemas.openxmlformats.org/drawingml/2006/main">
            <a:off x="914400" y="1438275"/>
            <a:ext cx="1341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77B91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6" name="RIVER HANDBOOK · EVIDENCE"/>
          <p:cNvSpPr txBox="1"/>
          <p:nvPr/>
        </p:nvSpPr>
        <p:spPr>
          <a:xfrm xmlns:a="http://schemas.openxmlformats.org/drawingml/2006/main">
            <a:off x="914400" y="228600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 b="1">
                <a:solidFill>
                  <a:srgbClr val="277B91"/>
                </a:solidFill>
                <a:latin typeface="Arial"/>
                <a:ea typeface="Arial"/>
              </a:rPr>
              <a:t>RIVER HANDBOOK · EVIDENCE</a:t>
            </a:r>
            <a:endParaRPr lang="en-US"/>
          </a:p>
        </p:txBody>
      </p:sp>
      <p:sp>
        <p:nvSpPr>
          <p:cNvPr id="7" name="evidence-title"/>
          <p:cNvSpPr txBox="1"/>
          <p:nvPr/>
        </p:nvSpPr>
        <p:spPr>
          <a:xfrm xmlns:a="http://schemas.openxmlformats.org/drawingml/2006/main">
            <a:off x="914400" y="495300"/>
            <a:ext cx="1200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550" b="1">
                <a:solidFill>
                  <a:srgbClr val="FFFFFF"/>
                </a:solidFill>
                <a:latin typeface="Arial"/>
                <a:ea typeface="Arial"/>
              </a:rPr>
              <a:t>The signal grows when the invitation stays measurable</a:t>
            </a:r>
            <a:endParaRPr lang="en-US"/>
          </a:p>
        </p:txBody>
      </p:sp>
      <p:sp>
        <p:nvSpPr>
          <p:cNvPr id="8" name="evidence-basis"/>
          <p:cNvSpPr txBox="1"/>
          <p:nvPr/>
        </p:nvSpPr>
        <p:spPr>
          <a:xfrm xmlns:a="http://schemas.openxmlformats.org/drawingml/2006/main">
            <a:off x="952500" y="1066800"/>
            <a:ext cx="1104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F0F3F2"/>
                </a:solidFill>
                <a:latin typeface="Arial"/>
                <a:ea typeface="Arial"/>
              </a:rPr>
              <a:t>Illustrative reach and response · source and measurement convention remain attached.</a:t>
            </a:r>
            <a:endParaRPr lang="en-US"/>
          </a:p>
        </p:txBody>
      </p:sp>
      <p:pic>
        <p:nvPicPr>
          <p:cNvPr id="9" name="evidence-image-field">
            <a:extLst xmlns:a="http://schemas.openxmlformats.org/drawingml/2006/main"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xmlns:r="http://schemas.openxmlformats.org/officeDocument/2006/relationships" xmlns:a="http://schemas.openxmlformats.org/drawingml/2006/main" r:embed="rIdOfficeKitImage7790b68b5d8fcd92_1"/>
          <a:srcRect xmlns:a="http://schemas.openxmlformats.org/drawingml/2006/main" l="0" t="39326" r="0" b="39326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1047750" y="3048000"/>
            <a:ext cx="7905750" cy="3000375"/>
          </a:xfrm>
          <a:prstGeom xmlns:a="http://schemas.openxmlformats.org/drawingml/2006/main" prst="rect">
            <a:avLst/>
          </a:prstGeom>
        </p:spPr>
      </p:pic>
      <p:sp>
        <p:nvSpPr>
          <p:cNvPr id="10" name="evidence-image-caption"/>
          <p:cNvSpPr txBox="1"/>
          <p:nvPr/>
        </p:nvSpPr>
        <p:spPr>
          <a:xfrm xmlns:a="http://schemas.openxmlformats.org/drawingml/2006/main">
            <a:off x="1333500" y="33337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 b="1">
                <a:solidFill>
                  <a:srgbClr val="202124"/>
                </a:solidFill>
                <a:latin typeface="Arial"/>
                <a:ea typeface="Arial"/>
              </a:rPr>
              <a:t>ONE SUBJECT · THREE SIGNALS</a:t>
            </a:r>
            <a:endParaRPr lang="en-US"/>
          </a:p>
        </p:txBody>
      </p:sp>
      <p:sp>
        <p:nvSpPr>
          <p:cNvPr id="11" name="evidence-image-rule"/>
          <p:cNvSpPr/>
          <p:nvPr/>
        </p:nvSpPr>
        <p:spPr>
          <a:xfrm xmlns:a="http://schemas.openxmlformats.org/drawingml/2006/main">
            <a:off x="1333500" y="5619750"/>
            <a:ext cx="609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02124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2" name="evidence-image-note"/>
          <p:cNvSpPr txBox="1"/>
          <p:nvPr/>
        </p:nvSpPr>
        <p:spPr>
          <a:xfrm xmlns:a="http://schemas.openxmlformats.org/drawingml/2006/main">
            <a:off x="1333500" y="5810250"/>
            <a:ext cx="647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 b="1">
                <a:solidFill>
                  <a:srgbClr val="202124"/>
                </a:solidFill>
                <a:latin typeface="Arial"/>
                <a:ea typeface="Arial"/>
              </a:rPr>
              <a:t>The image carries the story; the label carries the claim.</a:t>
            </a:r>
            <a:endParaRPr lang="en-US"/>
          </a:p>
        </p:txBody>
      </p:sp>
      <p:sp>
        <p:nvSpPr>
          <p:cNvPr id="13" name="metric"/>
          <p:cNvSpPr txBox="1"/>
          <p:nvPr/>
        </p:nvSpPr>
        <p:spPr>
          <a:xfrm xmlns:a="http://schemas.openxmlformats.org/drawingml/2006/main">
            <a:off x="9906000" y="3333750"/>
            <a:ext cx="266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4800" b="1">
                <a:solidFill>
                  <a:srgbClr val="277B91"/>
                </a:solidFill>
                <a:latin typeface="Arial"/>
                <a:ea typeface="Arial"/>
              </a:rPr>
              <a:t>68</a:t>
            </a:r>
            <a:endParaRPr lang="en-US"/>
          </a:p>
        </p:txBody>
      </p:sp>
      <p:sp>
        <p:nvSpPr>
          <p:cNvPr id="14" name="metric-label"/>
          <p:cNvSpPr txBox="1"/>
          <p:nvPr/>
        </p:nvSpPr>
        <p:spPr>
          <a:xfrm xmlns:a="http://schemas.openxmlformats.org/drawingml/2006/main">
            <a:off x="9906000" y="414337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8D928C"/>
                </a:solidFill>
                <a:latin typeface="Arial"/>
                <a:ea typeface="Arial"/>
              </a:rPr>
              <a:t>qualified response · campaign close</a:t>
            </a:r>
            <a:endParaRPr lang="en-US"/>
          </a:p>
        </p:txBody>
      </p:sp>
      <p:sp>
        <p:nvSpPr>
          <p:cNvPr id="15" name="rail-rule"/>
          <p:cNvSpPr/>
          <p:nvPr/>
        </p:nvSpPr>
        <p:spPr>
          <a:xfrm xmlns:a="http://schemas.openxmlformats.org/drawingml/2006/main">
            <a:off x="9906000" y="4810125"/>
            <a:ext cx="3762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8D928C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6" name="read-through"/>
          <p:cNvSpPr txBox="1"/>
          <p:nvPr/>
        </p:nvSpPr>
        <p:spPr>
          <a:xfrm xmlns:a="http://schemas.openxmlformats.org/drawingml/2006/main">
            <a:off x="9906000" y="5143500"/>
            <a:ext cx="342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650" b="1">
                <a:solidFill>
                  <a:srgbClr val="243535"/>
                </a:solidFill>
                <a:latin typeface="Arial"/>
                <a:ea typeface="Arial"/>
              </a:rPr>
              <a:t>Reach is useful only when the audience can see and take the next step.</a:t>
            </a:r>
            <a:endParaRPr lang="en-US"/>
          </a:p>
        </p:txBody>
      </p:sp>
      <p:sp>
        <p:nvSpPr>
          <p:cNvPr id="17" name="evidence-band"/>
          <p:cNvSpPr/>
          <p:nvPr/>
        </p:nvSpPr>
        <p:spPr>
          <a:xfrm xmlns:a="http://schemas.openxmlformats.org/drawingml/2006/main">
            <a:off x="914400" y="6877050"/>
            <a:ext cx="13411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0">
            <a:solidFill>
              <a:srgbClr val="F3F5F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8" name="evidence-band-text"/>
          <p:cNvSpPr txBox="1"/>
          <p:nvPr/>
        </p:nvSpPr>
        <p:spPr>
          <a:xfrm xmlns:a="http://schemas.openxmlformats.org/drawingml/2006/main">
            <a:off x="1143000" y="7058025"/>
            <a:ext cx="1238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75" b="1">
                <a:solidFill>
                  <a:srgbClr val="243535"/>
                </a:solidFill>
                <a:latin typeface="Arial"/>
                <a:ea typeface="Arial"/>
              </a:rPr>
              <a:t>EVIDENCE  ·  Keep the unit, time window, and limitation adjacent to the number.</a:t>
            </a:r>
            <a:endParaRPr lang="en-US"/>
          </a:p>
        </p:txBody>
      </p:sp>
      <p:sp>
        <p:nvSpPr>
          <p:cNvPr id="19" name="source"/>
          <p:cNvSpPr txBox="1"/>
          <p:nvPr/>
        </p:nvSpPr>
        <p:spPr>
          <a:xfrm xmlns:a="http://schemas.openxmlformats.org/drawingml/2006/main">
            <a:off x="914400" y="7829550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>
                <a:solidFill>
                  <a:srgbClr val="8D928C"/>
                </a:solidFill>
                <a:latin typeface="Arial"/>
                <a:ea typeface="Arial"/>
              </a:rPr>
              <a:t>Source: illustrative calibration brief · values are fictional</a:t>
            </a:r>
            <a:endParaRPr lang="en-US"/>
          </a:p>
        </p:txBody>
      </p:sp>
      <p:sp>
        <p:nvSpPr>
          <p:cNvPr id="20" name="page-number"/>
          <p:cNvSpPr txBox="1"/>
          <p:nvPr/>
        </p:nvSpPr>
        <p:spPr>
          <a:xfrm xmlns:a="http://schemas.openxmlformats.org/drawingml/2006/main">
            <a:off x="13335000" y="78295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1050">
                <a:solidFill>
                  <a:srgbClr val="8D928C"/>
                </a:solidFill>
                <a:latin typeface="Arial"/>
                <a:ea typeface="Arial"/>
              </a:rPr>
              <a:t>3 / 6</a:t>
            </a:r>
            <a:endParaRPr lang="en-US"/>
          </a:p>
        </p:txBody>
      </p:sp>
    </p:spTree>
  </p:cSld>
  <p:clrMapOvr>
    <a:masterClrMapping xmlns:a="http://schemas.openxmlformats.org/drawingml/2006/main"/>
  </p:clrMapOvr>
</p:sld>
</file>

<file path=ppt/slides/slide4.xml><?xml version="1.0" encoding="utf-8"?>
<p:sld xmlns:p="http://schemas.openxmlformats.org/presentationml/2006/main">
  <p:cSld name="Detail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8DC"/>
          </a:solidFill>
          <a:ln xmlns:a="http://schemas.openxmlformats.org/drawingml/2006/main" w="0">
            <a:solidFill>
              <a:srgbClr val="EEE8DC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pic>
        <p:nvPicPr>
          <p:cNvPr id="3" name="detail-photo-band">
            <a:extLst xmlns:a="http://schemas.openxmlformats.org/drawingml/2006/main"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xmlns:r="http://schemas.openxmlformats.org/officeDocument/2006/relationships" xmlns:a="http://schemas.openxmlformats.org/drawingml/2006/main" r:embed="rIdOfficeKitImage31956823b229fb66_1"/>
          <a:srcRect xmlns:a="http://schemas.openxmlformats.org/drawingml/2006/main" l="0" t="47256" r="0" b="47256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0" y="0"/>
            <a:ext cx="15240000" cy="1485900"/>
          </a:xfrm>
          <a:prstGeom xmlns:a="http://schemas.openxmlformats.org/drawingml/2006/main" prst="rect">
            <a:avLst/>
          </a:prstGeom>
        </p:spPr>
      </p:pic>
      <p:sp>
        <p:nvSpPr>
          <p:cNvPr id="4" name="detail-photo-scrim"/>
          <p:cNvSpPr/>
          <p:nvPr/>
        </p:nvSpPr>
        <p:spPr>
          <a:xfrm xmlns:a="http://schemas.openxmlformats.org/drawingml/2006/main">
            <a:off x="0" y="0"/>
            <a:ext cx="152400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535">
              <a:alpha val="62000"/>
            </a:srgbClr>
          </a:solidFill>
          <a:ln xmlns:a="http://schemas.openxmlformats.org/drawingml/2006/main" w="0">
            <a:solidFill>
              <a:srgbClr val="243535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5" name="detail-photo-rule"/>
          <p:cNvSpPr/>
          <p:nvPr/>
        </p:nvSpPr>
        <p:spPr>
          <a:xfrm xmlns:a="http://schemas.openxmlformats.org/drawingml/2006/main">
            <a:off x="914400" y="1438275"/>
            <a:ext cx="1341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77B91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6" name="RIVER HANDBOOK · DETAIL"/>
          <p:cNvSpPr txBox="1"/>
          <p:nvPr/>
        </p:nvSpPr>
        <p:spPr>
          <a:xfrm xmlns:a="http://schemas.openxmlformats.org/drawingml/2006/main">
            <a:off x="914400" y="228600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 b="1">
                <a:solidFill>
                  <a:srgbClr val="277B91"/>
                </a:solidFill>
                <a:latin typeface="Arial"/>
                <a:ea typeface="Arial"/>
              </a:rPr>
              <a:t>RIVER HANDBOOK · DETAIL</a:t>
            </a:r>
            <a:endParaRPr lang="en-US"/>
          </a:p>
        </p:txBody>
      </p:sp>
      <p:sp>
        <p:nvSpPr>
          <p:cNvPr id="7" name="detail-title"/>
          <p:cNvSpPr txBox="1"/>
          <p:nvPr/>
        </p:nvSpPr>
        <p:spPr>
          <a:xfrm xmlns:a="http://schemas.openxmlformats.org/drawingml/2006/main">
            <a:off x="914400" y="495300"/>
            <a:ext cx="1200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550" b="1">
                <a:solidFill>
                  <a:srgbClr val="FFFFFF"/>
                </a:solidFill>
                <a:latin typeface="Arial"/>
                <a:ea typeface="Arial"/>
              </a:rPr>
              <a:t>The same idea can hold several views</a:t>
            </a:r>
            <a:endParaRPr lang="en-US"/>
          </a:p>
        </p:txBody>
      </p:sp>
      <p:sp>
        <p:nvSpPr>
          <p:cNvPr id="8" name="detail-basis"/>
          <p:cNvSpPr txBox="1"/>
          <p:nvPr/>
        </p:nvSpPr>
        <p:spPr>
          <a:xfrm xmlns:a="http://schemas.openxmlformats.org/drawingml/2006/main">
            <a:off x="952500" y="1066800"/>
            <a:ext cx="1104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F0F3F2"/>
                </a:solidFill>
                <a:latin typeface="Arial"/>
                <a:ea typeface="Arial"/>
              </a:rPr>
              <a:t>Unequal image frames · visual variety without decorative filler.</a:t>
            </a:r>
            <a:endParaRPr lang="en-US"/>
          </a:p>
        </p:txBody>
      </p:sp>
      <p:pic>
        <p:nvPicPr>
          <p:cNvPr id="9" name="image-evidence-0">
            <a:extLst xmlns:a="http://schemas.openxmlformats.org/drawingml/2006/main"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xmlns:r="http://schemas.openxmlformats.org/officeDocument/2006/relationships" xmlns:a="http://schemas.openxmlformats.org/drawingml/2006/main" r:embed="rIdOfficeKitImage31956823b229fb66_1"/>
          <a:srcRect xmlns:a="http://schemas.openxmlformats.org/drawingml/2006/main" l="0" t="28354" r="0" b="28354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990600" y="3162300"/>
            <a:ext cx="3714750" cy="2857500"/>
          </a:xfrm>
          <a:prstGeom xmlns:a="http://schemas.openxmlformats.org/drawingml/2006/main" prst="rect">
            <a:avLst/>
          </a:prstGeom>
        </p:spPr>
      </p:pic>
      <p:pic>
        <p:nvPicPr>
          <p:cNvPr id="10" name="image-evidence-1">
            <a:extLst xmlns:a="http://schemas.openxmlformats.org/drawingml/2006/main"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xmlns:r="http://schemas.openxmlformats.org/officeDocument/2006/relationships" xmlns:a="http://schemas.openxmlformats.org/drawingml/2006/main" r:embed="rIdOfficeKitImagec7b73f8fac405495_1"/>
          <a:srcRect xmlns:a="http://schemas.openxmlformats.org/drawingml/2006/main" l="0" t="39898" r="0" b="39898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4895850" y="3162300"/>
            <a:ext cx="3714750" cy="1333500"/>
          </a:xfrm>
          <a:prstGeom xmlns:a="http://schemas.openxmlformats.org/drawingml/2006/main" prst="rect">
            <a:avLst/>
          </a:prstGeom>
        </p:spPr>
      </p:pic>
      <p:pic>
        <p:nvPicPr>
          <p:cNvPr id="11" name="image-evidence-2">
            <a:extLst xmlns:a="http://schemas.openxmlformats.org/drawingml/2006/main"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xmlns:r="http://schemas.openxmlformats.org/officeDocument/2006/relationships" xmlns:a="http://schemas.openxmlformats.org/drawingml/2006/main" r:embed="rIdOfficeKitImage59ee3aa5202fd02f_1"/>
          <a:srcRect xmlns:a="http://schemas.openxmlformats.org/drawingml/2006/main" l="0" t="39904" r="0" b="39904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4895850" y="4686300"/>
            <a:ext cx="3714750" cy="1333500"/>
          </a:xfrm>
          <a:prstGeom xmlns:a="http://schemas.openxmlformats.org/drawingml/2006/main" prst="rect">
            <a:avLst/>
          </a:prstGeom>
        </p:spPr>
      </p:pic>
      <p:sp>
        <p:nvSpPr>
          <p:cNvPr id="12" name="image-matrix-label"/>
          <p:cNvSpPr txBox="1"/>
          <p:nvPr/>
        </p:nvSpPr>
        <p:spPr>
          <a:xfrm xmlns:a="http://schemas.openxmlformats.org/drawingml/2006/main">
            <a:off x="9620250" y="33147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 b="1">
                <a:solidFill>
                  <a:srgbClr val="277B91"/>
                </a:solidFill>
                <a:latin typeface="Arial"/>
                <a:ea typeface="Arial"/>
              </a:rPr>
              <a:t>IMAGE MATRIX</a:t>
            </a:r>
            <a:endParaRPr lang="en-US"/>
          </a:p>
        </p:txBody>
      </p:sp>
      <p:sp>
        <p:nvSpPr>
          <p:cNvPr id="13" name="image-matrix-title"/>
          <p:cNvSpPr txBox="1"/>
          <p:nvPr/>
        </p:nvSpPr>
        <p:spPr>
          <a:xfrm xmlns:a="http://schemas.openxmlformats.org/drawingml/2006/main">
            <a:off x="9620250" y="3790950"/>
            <a:ext cx="3714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100" b="1">
                <a:solidFill>
                  <a:srgbClr val="243535"/>
                </a:solidFill>
                <a:latin typeface="Arial"/>
                <a:ea typeface="Arial"/>
              </a:rPr>
              <a:t>One subject, three ways to notice it.</a:t>
            </a:r>
            <a:endParaRPr lang="en-US"/>
          </a:p>
        </p:txBody>
      </p:sp>
      <p:sp>
        <p:nvSpPr>
          <p:cNvPr id="14" name="image-matrix-body"/>
          <p:cNvSpPr txBox="1"/>
          <p:nvPr/>
        </p:nvSpPr>
        <p:spPr>
          <a:xfrm xmlns:a="http://schemas.openxmlformats.org/drawingml/2006/main">
            <a:off x="9620250" y="4953000"/>
            <a:ext cx="3524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75">
                <a:solidFill>
                  <a:srgbClr val="8D928C"/>
                </a:solidFill>
                <a:latin typeface="Arial"/>
                <a:ea typeface="Arial"/>
              </a:rPr>
              <a:t>Use unequal frames to show facets of one idea. The crop carries the mood; the label carries the claim.</a:t>
            </a:r>
            <a:endParaRPr lang="en-US"/>
          </a:p>
        </p:txBody>
      </p:sp>
      <p:sp>
        <p:nvSpPr>
          <p:cNvPr id="15" name="source"/>
          <p:cNvSpPr txBox="1"/>
          <p:nvPr/>
        </p:nvSpPr>
        <p:spPr>
          <a:xfrm xmlns:a="http://schemas.openxmlformats.org/drawingml/2006/main">
            <a:off x="914400" y="7829550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>
                <a:solidFill>
                  <a:srgbClr val="8D928C"/>
                </a:solidFill>
                <a:latin typeface="Arial"/>
                <a:ea typeface="Arial"/>
              </a:rPr>
              <a:t>Source: illustrative calibration brief · labels and values are fictional</a:t>
            </a:r>
            <a:endParaRPr lang="en-US"/>
          </a:p>
        </p:txBody>
      </p:sp>
      <p:sp>
        <p:nvSpPr>
          <p:cNvPr id="16" name="page-number"/>
          <p:cNvSpPr txBox="1"/>
          <p:nvPr/>
        </p:nvSpPr>
        <p:spPr>
          <a:xfrm xmlns:a="http://schemas.openxmlformats.org/drawingml/2006/main">
            <a:off x="13335000" y="78295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1050">
                <a:solidFill>
                  <a:srgbClr val="8D928C"/>
                </a:solidFill>
                <a:latin typeface="Arial"/>
                <a:ea typeface="Arial"/>
              </a:rPr>
              <a:t>4 / 6</a:t>
            </a:r>
            <a:endParaRPr lang="en-US"/>
          </a:p>
        </p:txBody>
      </p:sp>
    </p:spTree>
  </p:cSld>
  <p:clrMapOvr>
    <a:masterClrMapping xmlns:a="http://schemas.openxmlformats.org/drawingml/2006/main"/>
  </p:clrMapOvr>
</p:sld>
</file>

<file path=ppt/slides/slide5.xml><?xml version="1.0" encoding="utf-8"?>
<p:sld xmlns:p="http://schemas.openxmlformats.org/presentationml/2006/main">
  <p:cSld name="Visual carrier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8DC"/>
          </a:solidFill>
          <a:ln xmlns:a="http://schemas.openxmlformats.org/drawingml/2006/main" w="0">
            <a:solidFill>
              <a:srgbClr val="EEE8DC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pic>
        <p:nvPicPr>
          <p:cNvPr id="3" name="visual-photo-band">
            <a:extLst xmlns:a="http://schemas.openxmlformats.org/drawingml/2006/main"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xmlns:r="http://schemas.openxmlformats.org/officeDocument/2006/relationships" xmlns:a="http://schemas.openxmlformats.org/drawingml/2006/main" r:embed="rIdOfficeKitImagec237998db8bee20d_1"/>
          <a:srcRect xmlns:a="http://schemas.openxmlformats.org/drawingml/2006/main" l="0" t="47256" r="0" b="47256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0" y="0"/>
            <a:ext cx="15240000" cy="1485900"/>
          </a:xfrm>
          <a:prstGeom xmlns:a="http://schemas.openxmlformats.org/drawingml/2006/main" prst="rect">
            <a:avLst/>
          </a:prstGeom>
        </p:spPr>
      </p:pic>
      <p:sp>
        <p:nvSpPr>
          <p:cNvPr id="4" name="visual-photo-scrim"/>
          <p:cNvSpPr/>
          <p:nvPr/>
        </p:nvSpPr>
        <p:spPr>
          <a:xfrm xmlns:a="http://schemas.openxmlformats.org/drawingml/2006/main">
            <a:off x="0" y="0"/>
            <a:ext cx="152400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535">
              <a:alpha val="62000"/>
            </a:srgbClr>
          </a:solidFill>
          <a:ln xmlns:a="http://schemas.openxmlformats.org/drawingml/2006/main" w="0">
            <a:solidFill>
              <a:srgbClr val="243535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5" name="visual-photo-rule"/>
          <p:cNvSpPr/>
          <p:nvPr/>
        </p:nvSpPr>
        <p:spPr>
          <a:xfrm xmlns:a="http://schemas.openxmlformats.org/drawingml/2006/main">
            <a:off x="914400" y="1438275"/>
            <a:ext cx="1341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77B91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6" name="RIVER HANDBOOK · VISUAL CARRIER"/>
          <p:cNvSpPr txBox="1"/>
          <p:nvPr/>
        </p:nvSpPr>
        <p:spPr>
          <a:xfrm xmlns:a="http://schemas.openxmlformats.org/drawingml/2006/main">
            <a:off x="914400" y="228600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 b="1">
                <a:solidFill>
                  <a:srgbClr val="277B91"/>
                </a:solidFill>
                <a:latin typeface="Arial"/>
                <a:ea typeface="Arial"/>
              </a:rPr>
              <a:t>RIVER HANDBOOK · VISUAL CARRIER</a:t>
            </a:r>
            <a:endParaRPr lang="en-US"/>
          </a:p>
        </p:txBody>
      </p:sp>
      <p:sp>
        <p:nvSpPr>
          <p:cNvPr id="7" name="visual-title"/>
          <p:cNvSpPr txBox="1"/>
          <p:nvPr/>
        </p:nvSpPr>
        <p:spPr>
          <a:xfrm xmlns:a="http://schemas.openxmlformats.org/drawingml/2006/main">
            <a:off x="914400" y="495300"/>
            <a:ext cx="1200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550" b="1">
                <a:solidFill>
                  <a:srgbClr val="FFFFFF"/>
                </a:solidFill>
                <a:latin typeface="Arial"/>
                <a:ea typeface="Arial"/>
              </a:rPr>
              <a:t>Let the subject do the work</a:t>
            </a:r>
            <a:endParaRPr lang="en-US"/>
          </a:p>
        </p:txBody>
      </p:sp>
      <p:sp>
        <p:nvSpPr>
          <p:cNvPr id="8" name="visual-body"/>
          <p:cNvSpPr txBox="1"/>
          <p:nvPr/>
        </p:nvSpPr>
        <p:spPr>
          <a:xfrm xmlns:a="http://schemas.openxmlformats.org/drawingml/2006/main">
            <a:off x="952500" y="1066800"/>
            <a:ext cx="1104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F0F3F2"/>
                </a:solidFill>
                <a:latin typeface="Arial"/>
                <a:ea typeface="Arial"/>
              </a:rPr>
              <a:t>A strong crop gives the proposition a place to live.</a:t>
            </a:r>
            <a:endParaRPr lang="en-US"/>
          </a:p>
        </p:txBody>
      </p:sp>
      <p:sp>
        <p:nvSpPr>
          <p:cNvPr id="9" name="native-carrier-baseline"/>
          <p:cNvSpPr/>
          <p:nvPr/>
        </p:nvSpPr>
        <p:spPr>
          <a:xfrm xmlns:a="http://schemas.openxmlformats.org/drawingml/2006/main">
            <a:off x="1143000" y="6057900"/>
            <a:ext cx="6972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243535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0" name="native-carrier-bar-0"/>
          <p:cNvSpPr/>
          <p:nvPr/>
        </p:nvSpPr>
        <p:spPr>
          <a:xfrm xmlns:a="http://schemas.openxmlformats.org/drawingml/2006/main">
            <a:off x="1371600" y="5343525"/>
            <a:ext cx="5143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928C"/>
          </a:solidFill>
          <a:ln xmlns:a="http://schemas.openxmlformats.org/drawingml/2006/main" w="0">
            <a:solidFill>
              <a:srgbClr val="8D928C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1" name="native-carrier-value-0"/>
          <p:cNvSpPr txBox="1"/>
          <p:nvPr/>
        </p:nvSpPr>
        <p:spPr>
          <a:xfrm xmlns:a="http://schemas.openxmlformats.org/drawingml/2006/main">
            <a:off x="1333500" y="5095875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1125" b="1">
                <a:solidFill>
                  <a:srgbClr val="243535"/>
                </a:solidFill>
                <a:latin typeface="Arial"/>
                <a:ea typeface="Arial"/>
              </a:rPr>
              <a:t>34</a:t>
            </a:r>
            <a:endParaRPr lang="en-US"/>
          </a:p>
        </p:txBody>
      </p:sp>
      <p:sp>
        <p:nvSpPr>
          <p:cNvPr id="12" name="native-carrier-label-0"/>
          <p:cNvSpPr txBox="1"/>
          <p:nvPr/>
        </p:nvSpPr>
        <p:spPr>
          <a:xfrm xmlns:a="http://schemas.openxmlformats.org/drawingml/2006/main">
            <a:off x="1181100" y="62103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750" b="1">
                <a:solidFill>
                  <a:srgbClr val="8D928C"/>
                </a:solidFill>
                <a:latin typeface="Arial"/>
                <a:ea typeface="Arial"/>
              </a:rPr>
              <a:t>SIGNAL</a:t>
            </a:r>
            <a:endParaRPr lang="en-US"/>
          </a:p>
        </p:txBody>
      </p:sp>
      <p:sp>
        <p:nvSpPr>
          <p:cNvPr id="13" name="native-carrier-bar-1"/>
          <p:cNvSpPr/>
          <p:nvPr/>
        </p:nvSpPr>
        <p:spPr>
          <a:xfrm xmlns:a="http://schemas.openxmlformats.org/drawingml/2006/main">
            <a:off x="3114675" y="4876800"/>
            <a:ext cx="5143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6552"/>
          </a:solidFill>
          <a:ln xmlns:a="http://schemas.openxmlformats.org/drawingml/2006/main" w="0">
            <a:solidFill>
              <a:srgbClr val="D66552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4" name="native-carrier-value-1"/>
          <p:cNvSpPr txBox="1"/>
          <p:nvPr/>
        </p:nvSpPr>
        <p:spPr>
          <a:xfrm xmlns:a="http://schemas.openxmlformats.org/drawingml/2006/main">
            <a:off x="3076575" y="46291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1125" b="1">
                <a:solidFill>
                  <a:srgbClr val="243535"/>
                </a:solidFill>
                <a:latin typeface="Arial"/>
                <a:ea typeface="Arial"/>
              </a:rPr>
              <a:t>56</a:t>
            </a:r>
            <a:endParaRPr lang="en-US"/>
          </a:p>
        </p:txBody>
      </p:sp>
      <p:sp>
        <p:nvSpPr>
          <p:cNvPr id="15" name="native-carrier-label-1"/>
          <p:cNvSpPr txBox="1"/>
          <p:nvPr/>
        </p:nvSpPr>
        <p:spPr>
          <a:xfrm xmlns:a="http://schemas.openxmlformats.org/drawingml/2006/main">
            <a:off x="2924175" y="62103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750" b="1">
                <a:solidFill>
                  <a:srgbClr val="8D928C"/>
                </a:solidFill>
                <a:latin typeface="Arial"/>
                <a:ea typeface="Arial"/>
              </a:rPr>
              <a:t>CONTEXT</a:t>
            </a:r>
            <a:endParaRPr lang="en-US"/>
          </a:p>
        </p:txBody>
      </p:sp>
      <p:sp>
        <p:nvSpPr>
          <p:cNvPr id="16" name="native-carrier-bar-2"/>
          <p:cNvSpPr/>
          <p:nvPr/>
        </p:nvSpPr>
        <p:spPr>
          <a:xfrm xmlns:a="http://schemas.openxmlformats.org/drawingml/2006/main">
            <a:off x="4857750" y="4410075"/>
            <a:ext cx="514350" cy="1647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928C"/>
          </a:solidFill>
          <a:ln xmlns:a="http://schemas.openxmlformats.org/drawingml/2006/main" w="0">
            <a:solidFill>
              <a:srgbClr val="8D928C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7" name="native-carrier-value-2"/>
          <p:cNvSpPr txBox="1"/>
          <p:nvPr/>
        </p:nvSpPr>
        <p:spPr>
          <a:xfrm xmlns:a="http://schemas.openxmlformats.org/drawingml/2006/main">
            <a:off x="4819650" y="4162425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1125" b="1">
                <a:solidFill>
                  <a:srgbClr val="243535"/>
                </a:solidFill>
                <a:latin typeface="Arial"/>
                <a:ea typeface="Arial"/>
              </a:rPr>
              <a:t>78</a:t>
            </a:r>
            <a:endParaRPr lang="en-US"/>
          </a:p>
        </p:txBody>
      </p:sp>
      <p:sp>
        <p:nvSpPr>
          <p:cNvPr id="18" name="native-carrier-label-2"/>
          <p:cNvSpPr txBox="1"/>
          <p:nvPr/>
        </p:nvSpPr>
        <p:spPr>
          <a:xfrm xmlns:a="http://schemas.openxmlformats.org/drawingml/2006/main">
            <a:off x="4667250" y="62103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750" b="1">
                <a:solidFill>
                  <a:srgbClr val="8D928C"/>
                </a:solidFill>
                <a:latin typeface="Arial"/>
                <a:ea typeface="Arial"/>
              </a:rPr>
              <a:t>CHOICE</a:t>
            </a:r>
            <a:endParaRPr lang="en-US"/>
          </a:p>
        </p:txBody>
      </p:sp>
      <p:sp>
        <p:nvSpPr>
          <p:cNvPr id="19" name="native-carrier-bar-3"/>
          <p:cNvSpPr/>
          <p:nvPr/>
        </p:nvSpPr>
        <p:spPr>
          <a:xfrm xmlns:a="http://schemas.openxmlformats.org/drawingml/2006/main">
            <a:off x="6600825" y="4114800"/>
            <a:ext cx="514350" cy="194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7B91"/>
          </a:solidFill>
          <a:ln xmlns:a="http://schemas.openxmlformats.org/drawingml/2006/main" w="0">
            <a:solidFill>
              <a:srgbClr val="277B91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0" name="native-carrier-value-3"/>
          <p:cNvSpPr txBox="1"/>
          <p:nvPr/>
        </p:nvSpPr>
        <p:spPr>
          <a:xfrm xmlns:a="http://schemas.openxmlformats.org/drawingml/2006/main">
            <a:off x="6562725" y="38671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1125" b="1">
                <a:solidFill>
                  <a:srgbClr val="243535"/>
                </a:solidFill>
                <a:latin typeface="Arial"/>
                <a:ea typeface="Arial"/>
              </a:rPr>
              <a:t>92</a:t>
            </a:r>
            <a:endParaRPr lang="en-US"/>
          </a:p>
        </p:txBody>
      </p:sp>
      <p:sp>
        <p:nvSpPr>
          <p:cNvPr id="21" name="native-carrier-label-3"/>
          <p:cNvSpPr txBox="1"/>
          <p:nvPr/>
        </p:nvSpPr>
        <p:spPr>
          <a:xfrm xmlns:a="http://schemas.openxmlformats.org/drawingml/2006/main">
            <a:off x="6410325" y="62103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750" b="1">
                <a:solidFill>
                  <a:srgbClr val="8D928C"/>
                </a:solidFill>
                <a:latin typeface="Arial"/>
                <a:ea typeface="Arial"/>
              </a:rPr>
              <a:t>NEXT</a:t>
            </a:r>
            <a:endParaRPr lang="en-US"/>
          </a:p>
        </p:txBody>
      </p:sp>
      <p:sp>
        <p:nvSpPr>
          <p:cNvPr id="22" name="native-carrier-trend"/>
          <p:cNvSpPr/>
          <p:nvPr/>
        </p:nvSpPr>
        <p:spPr>
          <a:xfrm xmlns:a="http://schemas.openxmlformats.org/drawingml/2006/main">
            <a:off x="1333500" y="4076700"/>
            <a:ext cx="6610350" cy="100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0">
            <a:solidFill>
              <a:srgbClr val="243535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3" name="native-carrier-note"/>
          <p:cNvSpPr txBox="1"/>
          <p:nvPr/>
        </p:nvSpPr>
        <p:spPr>
          <a:xfrm xmlns:a="http://schemas.openxmlformats.org/drawingml/2006/main">
            <a:off x="1314450" y="3390900"/>
            <a:ext cx="6629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243535"/>
                </a:solidFill>
                <a:latin typeface="Arial"/>
                <a:ea typeface="Arial"/>
              </a:rPr>
              <a:t>The visual is a relationship, not a decoration.</a:t>
            </a:r>
            <a:endParaRPr lang="en-US"/>
          </a:p>
        </p:txBody>
      </p:sp>
      <p:sp>
        <p:nvSpPr>
          <p:cNvPr id="24" name="visual-note"/>
          <p:cNvSpPr/>
          <p:nvPr/>
        </p:nvSpPr>
        <p:spPr>
          <a:xfrm xmlns:a="http://schemas.openxmlformats.org/drawingml/2006/main">
            <a:off x="11049000" y="3333750"/>
            <a:ext cx="30480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12700">
            <a:solidFill>
              <a:srgbClr val="8D928C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5" name="visual-note-label"/>
          <p:cNvSpPr txBox="1"/>
          <p:nvPr/>
        </p:nvSpPr>
        <p:spPr>
          <a:xfrm xmlns:a="http://schemas.openxmlformats.org/drawingml/2006/main">
            <a:off x="11430000" y="36957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 b="1">
                <a:solidFill>
                  <a:srgbClr val="277B91"/>
                </a:solidFill>
                <a:latin typeface="Arial"/>
                <a:ea typeface="Arial"/>
              </a:rPr>
              <a:t>CARRIER</a:t>
            </a:r>
            <a:endParaRPr lang="en-US"/>
          </a:p>
        </p:txBody>
      </p:sp>
      <p:sp>
        <p:nvSpPr>
          <p:cNvPr id="26" name="visual-note-text"/>
          <p:cNvSpPr txBox="1"/>
          <p:nvPr/>
        </p:nvSpPr>
        <p:spPr>
          <a:xfrm xmlns:a="http://schemas.openxmlformats.org/drawingml/2006/main">
            <a:off x="11430000" y="4171950"/>
            <a:ext cx="2286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100" b="1">
                <a:solidFill>
                  <a:srgbClr val="243535"/>
                </a:solidFill>
                <a:latin typeface="Arial"/>
                <a:ea typeface="Arial"/>
              </a:rPr>
              <a:t>Subject before slogan</a:t>
            </a:r>
            <a:endParaRPr lang="en-US"/>
          </a:p>
        </p:txBody>
      </p:sp>
      <p:sp>
        <p:nvSpPr>
          <p:cNvPr id="27" name="visual-note-foot"/>
          <p:cNvSpPr txBox="1"/>
          <p:nvPr/>
        </p:nvSpPr>
        <p:spPr>
          <a:xfrm xmlns:a="http://schemas.openxmlformats.org/drawingml/2006/main">
            <a:off x="11430000" y="5219700"/>
            <a:ext cx="228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8D928C"/>
                </a:solidFill>
                <a:latin typeface="Arial"/>
                <a:ea typeface="Arial"/>
              </a:rPr>
              <a:t>Read the mark, unit, and basis.</a:t>
            </a:r>
            <a:endParaRPr lang="en-US"/>
          </a:p>
        </p:txBody>
      </p:sp>
      <p:sp>
        <p:nvSpPr>
          <p:cNvPr id="28" name="source"/>
          <p:cNvSpPr txBox="1"/>
          <p:nvPr/>
        </p:nvSpPr>
        <p:spPr>
          <a:xfrm xmlns:a="http://schemas.openxmlformats.org/drawingml/2006/main">
            <a:off x="914400" y="7829550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>
                <a:solidFill>
                  <a:srgbClr val="8D928C"/>
                </a:solidFill>
                <a:latin typeface="Arial"/>
                <a:ea typeface="Arial"/>
              </a:rPr>
              <a:t>OfficeKit original clean-room visual field · fictional content</a:t>
            </a:r>
            <a:endParaRPr lang="en-US"/>
          </a:p>
        </p:txBody>
      </p:sp>
      <p:sp>
        <p:nvSpPr>
          <p:cNvPr id="29" name="page-number"/>
          <p:cNvSpPr txBox="1"/>
          <p:nvPr/>
        </p:nvSpPr>
        <p:spPr>
          <a:xfrm xmlns:a="http://schemas.openxmlformats.org/drawingml/2006/main">
            <a:off x="13335000" y="78295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1050">
                <a:solidFill>
                  <a:srgbClr val="8D928C"/>
                </a:solidFill>
                <a:latin typeface="Arial"/>
                <a:ea typeface="Arial"/>
              </a:rPr>
              <a:t>5 / 6</a:t>
            </a:r>
            <a:endParaRPr lang="en-US"/>
          </a:p>
        </p:txBody>
      </p:sp>
    </p:spTree>
  </p:cSld>
  <p:clrMapOvr>
    <a:masterClrMapping xmlns:a="http://schemas.openxmlformats.org/drawingml/2006/main"/>
  </p:clrMapOvr>
</p:sld>
</file>

<file path=ppt/slides/slide6.xml><?xml version="1.0" encoding="utf-8"?>
<p:sld xmlns:p="http://schemas.openxmlformats.org/presentationml/2006/main">
  <p:cSld name="Decision close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8DC"/>
          </a:solidFill>
          <a:ln xmlns:a="http://schemas.openxmlformats.org/drawingml/2006/main" w="0">
            <a:solidFill>
              <a:srgbClr val="EEE8DC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pic>
        <p:nvPicPr>
          <p:cNvPr id="3" name="close-photo-band">
            <a:extLst xmlns:a="http://schemas.openxmlformats.org/drawingml/2006/main"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xmlns:r="http://schemas.openxmlformats.org/officeDocument/2006/relationships" xmlns:a="http://schemas.openxmlformats.org/drawingml/2006/main" r:embed="rIdOfficeKitImagec7b73f8fac405495_1"/>
          <a:srcRect xmlns:a="http://schemas.openxmlformats.org/drawingml/2006/main" l="0" t="47256" r="0" b="47256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0" y="0"/>
            <a:ext cx="15240000" cy="1485900"/>
          </a:xfrm>
          <a:prstGeom xmlns:a="http://schemas.openxmlformats.org/drawingml/2006/main" prst="rect">
            <a:avLst/>
          </a:prstGeom>
        </p:spPr>
      </p:pic>
      <p:sp>
        <p:nvSpPr>
          <p:cNvPr id="4" name="close-photo-scrim"/>
          <p:cNvSpPr/>
          <p:nvPr/>
        </p:nvSpPr>
        <p:spPr>
          <a:xfrm xmlns:a="http://schemas.openxmlformats.org/drawingml/2006/main">
            <a:off x="0" y="0"/>
            <a:ext cx="152400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535">
              <a:alpha val="62000"/>
            </a:srgbClr>
          </a:solidFill>
          <a:ln xmlns:a="http://schemas.openxmlformats.org/drawingml/2006/main" w="0">
            <a:solidFill>
              <a:srgbClr val="243535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5" name="close-photo-rule"/>
          <p:cNvSpPr/>
          <p:nvPr/>
        </p:nvSpPr>
        <p:spPr>
          <a:xfrm xmlns:a="http://schemas.openxmlformats.org/drawingml/2006/main">
            <a:off x="914400" y="1438275"/>
            <a:ext cx="1341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77B91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6" name="RIVER HANDBOOK · CLOSE"/>
          <p:cNvSpPr txBox="1"/>
          <p:nvPr/>
        </p:nvSpPr>
        <p:spPr>
          <a:xfrm xmlns:a="http://schemas.openxmlformats.org/drawingml/2006/main">
            <a:off x="914400" y="228600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 b="1">
                <a:solidFill>
                  <a:srgbClr val="277B91"/>
                </a:solidFill>
                <a:latin typeface="Arial"/>
                <a:ea typeface="Arial"/>
              </a:rPr>
              <a:t>RIVER HANDBOOK · CLOSE</a:t>
            </a:r>
            <a:endParaRPr lang="en-US"/>
          </a:p>
        </p:txBody>
      </p:sp>
      <p:sp>
        <p:nvSpPr>
          <p:cNvPr id="7" name="close-title"/>
          <p:cNvSpPr txBox="1"/>
          <p:nvPr/>
        </p:nvSpPr>
        <p:spPr>
          <a:xfrm xmlns:a="http://schemas.openxmlformats.org/drawingml/2006/main">
            <a:off x="914400" y="495300"/>
            <a:ext cx="1200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550" b="1">
                <a:solidFill>
                  <a:srgbClr val="FFFFFF"/>
                </a:solidFill>
                <a:latin typeface="Arial"/>
                <a:ea typeface="Arial"/>
              </a:rPr>
              <a:t>Turn the shared invitation into an action plan</a:t>
            </a:r>
            <a:endParaRPr lang="en-US"/>
          </a:p>
        </p:txBody>
      </p:sp>
      <p:sp>
        <p:nvSpPr>
          <p:cNvPr id="8" name="close-basis"/>
          <p:cNvSpPr txBox="1"/>
          <p:nvPr/>
        </p:nvSpPr>
        <p:spPr>
          <a:xfrm xmlns:a="http://schemas.openxmlformats.org/drawingml/2006/main">
            <a:off x="952500" y="1066800"/>
            <a:ext cx="1104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F0F3F2"/>
                </a:solidFill>
                <a:latin typeface="Arial"/>
                <a:ea typeface="Arial"/>
              </a:rPr>
              <a:t>A reference page must leave the reader with a bounded next move.</a:t>
            </a:r>
            <a:endParaRPr lang="en-US"/>
          </a:p>
        </p:txBody>
      </p:sp>
      <p:sp>
        <p:nvSpPr>
          <p:cNvPr id="9" name="close-number-0"/>
          <p:cNvSpPr txBox="1"/>
          <p:nvPr/>
        </p:nvSpPr>
        <p:spPr>
          <a:xfrm xmlns:a="http://schemas.openxmlformats.org/drawingml/2006/main">
            <a:off x="1104900" y="32194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875" b="1">
                <a:solidFill>
                  <a:srgbClr val="277B91"/>
                </a:solidFill>
                <a:latin typeface="Arial"/>
                <a:ea typeface="Arial"/>
              </a:rPr>
              <a:t>01</a:t>
            </a:r>
            <a:endParaRPr lang="en-US"/>
          </a:p>
        </p:txBody>
      </p:sp>
      <p:sp>
        <p:nvSpPr>
          <p:cNvPr id="10" name="close-row-rule-0"/>
          <p:cNvSpPr/>
          <p:nvPr/>
        </p:nvSpPr>
        <p:spPr>
          <a:xfrm xmlns:a="http://schemas.openxmlformats.org/drawingml/2006/main">
            <a:off x="2000250" y="3371850"/>
            <a:ext cx="581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8D928C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1" name="close-label-0"/>
          <p:cNvSpPr txBox="1"/>
          <p:nvPr/>
        </p:nvSpPr>
        <p:spPr>
          <a:xfrm xmlns:a="http://schemas.openxmlformats.org/drawingml/2006/main">
            <a:off x="2114550" y="31813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650" b="1">
                <a:solidFill>
                  <a:srgbClr val="243535"/>
                </a:solidFill>
                <a:latin typeface="Arial"/>
                <a:ea typeface="Arial"/>
              </a:rPr>
              <a:t>Promise</a:t>
            </a:r>
            <a:endParaRPr lang="en-US"/>
          </a:p>
        </p:txBody>
      </p:sp>
      <p:sp>
        <p:nvSpPr>
          <p:cNvPr id="12" name="close-text-0"/>
          <p:cNvSpPr txBox="1"/>
          <p:nvPr/>
        </p:nvSpPr>
        <p:spPr>
          <a:xfrm xmlns:a="http://schemas.openxmlformats.org/drawingml/2006/main">
            <a:off x="4495800" y="3219450"/>
            <a:ext cx="571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243535"/>
                </a:solidFill>
                <a:latin typeface="Arial"/>
                <a:ea typeface="Arial"/>
              </a:rPr>
              <a:t>The proposition is legible.</a:t>
            </a:r>
            <a:endParaRPr lang="en-US"/>
          </a:p>
        </p:txBody>
      </p:sp>
      <p:sp>
        <p:nvSpPr>
          <p:cNvPr id="13" name="close-number-1"/>
          <p:cNvSpPr txBox="1"/>
          <p:nvPr/>
        </p:nvSpPr>
        <p:spPr>
          <a:xfrm xmlns:a="http://schemas.openxmlformats.org/drawingml/2006/main">
            <a:off x="1104900" y="42672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875" b="1">
                <a:solidFill>
                  <a:srgbClr val="243535"/>
                </a:solidFill>
                <a:latin typeface="Arial"/>
                <a:ea typeface="Arial"/>
              </a:rPr>
              <a:t>02</a:t>
            </a:r>
            <a:endParaRPr lang="en-US"/>
          </a:p>
        </p:txBody>
      </p:sp>
      <p:sp>
        <p:nvSpPr>
          <p:cNvPr id="14" name="close-row-rule-1"/>
          <p:cNvSpPr/>
          <p:nvPr/>
        </p:nvSpPr>
        <p:spPr>
          <a:xfrm xmlns:a="http://schemas.openxmlformats.org/drawingml/2006/main">
            <a:off x="2000250" y="4419600"/>
            <a:ext cx="581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8D928C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5" name="close-label-1"/>
          <p:cNvSpPr txBox="1"/>
          <p:nvPr/>
        </p:nvSpPr>
        <p:spPr>
          <a:xfrm xmlns:a="http://schemas.openxmlformats.org/drawingml/2006/main">
            <a:off x="2114550" y="42291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650" b="1">
                <a:solidFill>
                  <a:srgbClr val="243535"/>
                </a:solidFill>
                <a:latin typeface="Arial"/>
                <a:ea typeface="Arial"/>
              </a:rPr>
              <a:t>Proof</a:t>
            </a:r>
            <a:endParaRPr lang="en-US"/>
          </a:p>
        </p:txBody>
      </p:sp>
      <p:sp>
        <p:nvSpPr>
          <p:cNvPr id="16" name="close-text-1"/>
          <p:cNvSpPr txBox="1"/>
          <p:nvPr/>
        </p:nvSpPr>
        <p:spPr>
          <a:xfrm xmlns:a="http://schemas.openxmlformats.org/drawingml/2006/main">
            <a:off x="4495800" y="4267200"/>
            <a:ext cx="571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243535"/>
                </a:solidFill>
                <a:latin typeface="Arial"/>
                <a:ea typeface="Arial"/>
              </a:rPr>
              <a:t>The response is measurable.</a:t>
            </a:r>
            <a:endParaRPr lang="en-US"/>
          </a:p>
        </p:txBody>
      </p:sp>
      <p:sp>
        <p:nvSpPr>
          <p:cNvPr id="17" name="close-number-2"/>
          <p:cNvSpPr txBox="1"/>
          <p:nvPr/>
        </p:nvSpPr>
        <p:spPr>
          <a:xfrm xmlns:a="http://schemas.openxmlformats.org/drawingml/2006/main">
            <a:off x="1104900" y="53149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875" b="1">
                <a:solidFill>
                  <a:srgbClr val="277B91"/>
                </a:solidFill>
                <a:latin typeface="Arial"/>
                <a:ea typeface="Arial"/>
              </a:rPr>
              <a:t>03</a:t>
            </a:r>
            <a:endParaRPr lang="en-US"/>
          </a:p>
        </p:txBody>
      </p:sp>
      <p:sp>
        <p:nvSpPr>
          <p:cNvPr id="18" name="close-row-rule-2"/>
          <p:cNvSpPr/>
          <p:nvPr/>
        </p:nvSpPr>
        <p:spPr>
          <a:xfrm xmlns:a="http://schemas.openxmlformats.org/drawingml/2006/main">
            <a:off x="2000250" y="5467350"/>
            <a:ext cx="581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277B91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9" name="close-label-2"/>
          <p:cNvSpPr txBox="1"/>
          <p:nvPr/>
        </p:nvSpPr>
        <p:spPr>
          <a:xfrm xmlns:a="http://schemas.openxmlformats.org/drawingml/2006/main">
            <a:off x="2114550" y="52768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650" b="1">
                <a:solidFill>
                  <a:srgbClr val="243535"/>
                </a:solidFill>
                <a:latin typeface="Arial"/>
                <a:ea typeface="Arial"/>
              </a:rPr>
              <a:t>Move</a:t>
            </a:r>
            <a:endParaRPr lang="en-US"/>
          </a:p>
        </p:txBody>
      </p:sp>
      <p:sp>
        <p:nvSpPr>
          <p:cNvPr id="20" name="close-text-2"/>
          <p:cNvSpPr txBox="1"/>
          <p:nvPr/>
        </p:nvSpPr>
        <p:spPr>
          <a:xfrm xmlns:a="http://schemas.openxmlformats.org/drawingml/2006/main">
            <a:off x="4495800" y="5314950"/>
            <a:ext cx="571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243535"/>
                </a:solidFill>
                <a:latin typeface="Arial"/>
                <a:ea typeface="Arial"/>
              </a:rPr>
              <a:t>Give the audience one action.</a:t>
            </a:r>
            <a:endParaRPr lang="en-US"/>
          </a:p>
        </p:txBody>
      </p:sp>
      <p:sp>
        <p:nvSpPr>
          <p:cNvPr id="21" name="next-rule"/>
          <p:cNvSpPr/>
          <p:nvPr/>
        </p:nvSpPr>
        <p:spPr>
          <a:xfrm xmlns:a="http://schemas.openxmlformats.org/drawingml/2006/main">
            <a:off x="10668000" y="3714750"/>
            <a:ext cx="304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77B91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2" name="next-label"/>
          <p:cNvSpPr txBox="1"/>
          <p:nvPr/>
        </p:nvSpPr>
        <p:spPr>
          <a:xfrm xmlns:a="http://schemas.openxmlformats.org/drawingml/2006/main">
            <a:off x="10668000" y="40386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 b="1">
                <a:solidFill>
                  <a:srgbClr val="277B91"/>
                </a:solidFill>
                <a:latin typeface="Arial"/>
                <a:ea typeface="Arial"/>
              </a:rPr>
              <a:t>NEXT MOVE</a:t>
            </a:r>
            <a:endParaRPr lang="en-US"/>
          </a:p>
        </p:txBody>
      </p:sp>
      <p:sp>
        <p:nvSpPr>
          <p:cNvPr id="23" name="next-text"/>
          <p:cNvSpPr txBox="1"/>
          <p:nvPr/>
        </p:nvSpPr>
        <p:spPr>
          <a:xfrm xmlns:a="http://schemas.openxmlformats.org/drawingml/2006/main">
            <a:off x="10668000" y="4514850"/>
            <a:ext cx="304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175" b="1">
                <a:solidFill>
                  <a:srgbClr val="243535"/>
                </a:solidFill>
                <a:latin typeface="Arial"/>
                <a:ea typeface="Arial"/>
              </a:rPr>
              <a:t>Publish the invitation</a:t>
            </a:r>
            <a:endParaRPr lang="en-US"/>
          </a:p>
        </p:txBody>
      </p:sp>
      <p:sp>
        <p:nvSpPr>
          <p:cNvPr id="24" name="next-foot"/>
          <p:cNvSpPr txBox="1"/>
          <p:nvPr/>
        </p:nvSpPr>
        <p:spPr>
          <a:xfrm xmlns:a="http://schemas.openxmlformats.org/drawingml/2006/main">
            <a:off x="10668000" y="56007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>
                <a:solidFill>
                  <a:srgbClr val="8D928C"/>
                </a:solidFill>
                <a:latin typeface="Arial"/>
                <a:ea typeface="Arial"/>
              </a:rPr>
              <a:t>Owner · reviewer · date</a:t>
            </a:r>
            <a:endParaRPr lang="en-US"/>
          </a:p>
        </p:txBody>
      </p:sp>
      <p:sp>
        <p:nvSpPr>
          <p:cNvPr id="25" name="source"/>
          <p:cNvSpPr txBox="1"/>
          <p:nvPr/>
        </p:nvSpPr>
        <p:spPr>
          <a:xfrm xmlns:a="http://schemas.openxmlformats.org/drawingml/2006/main">
            <a:off x="914400" y="7829550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>
                <a:solidFill>
                  <a:srgbClr val="8D928C"/>
                </a:solidFill>
                <a:latin typeface="Arial"/>
                <a:ea typeface="Arial"/>
              </a:rPr>
              <a:t>OfficeKit original clean-room calibration · reference deck is editable and inspectable</a:t>
            </a:r>
            <a:endParaRPr lang="en-US"/>
          </a:p>
        </p:txBody>
      </p:sp>
      <p:sp>
        <p:nvSpPr>
          <p:cNvPr id="26" name="page-number"/>
          <p:cNvSpPr txBox="1"/>
          <p:nvPr/>
        </p:nvSpPr>
        <p:spPr>
          <a:xfrm xmlns:a="http://schemas.openxmlformats.org/drawingml/2006/main">
            <a:off x="13335000" y="78295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1050">
                <a:solidFill>
                  <a:srgbClr val="8D928C"/>
                </a:solidFill>
                <a:latin typeface="Arial"/>
                <a:ea typeface="Arial"/>
              </a:rPr>
              <a:t>6 / 6</a:t>
            </a:r>
            <a:endParaRPr lang="en-US"/>
          </a:p>
        </p:txBody>
      </p:sp>
    </p:spTree>
  </p:cSld>
  <p:clrMapOvr>
    <a:masterClrMapping xmlns:a="http://schemas.openxmlformats.org/drawingml/2006/main"/>
  </p:clrMapOvr>
</p:sld>
</file>