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f62d8af0c0849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619a419f636bb1c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a94510e5e5194630" /><Relationship Type="http://schemas.openxmlformats.org/officeDocument/2006/relationships/chart" Target="/ppt/slides/charts/chart2.xml" Id="Rd1f204e98acf47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57A27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507FA3"/>
            </a:solidFill>
            <a:ln w="38100">
              <a:solidFill>
                <a:srgbClr val="507FA3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amber-committee-memo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19a419f636bb1c3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>
              <a:alpha val="100000"/>
            </a:srgbClr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5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17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04A"/>
                </a:solidFill>
                <a:latin typeface="Arial"/>
                <a:ea typeface="Arial"/>
              </a:rPr>
              <a:t>Amber Committee Memo: a claim worth testing</a:t>
            </a:r>
            <a:endParaRPr lang="en-US"/>
          </a:p>
        </p:txBody>
      </p:sp>
      <p:sp>
        <p:nvSpPr>
          <p:cNvPr id="18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E57A27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9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1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04A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22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4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Three signals support a narrow allocation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Units, periods, and thresholds stay next to the values they qualify.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ance-value-0"/>
          <p:cNvSpPr txBox="1"/>
          <p:nvPr/>
        </p:nvSpPr>
        <p:spPr>
          <a:xfrm xmlns:a="http://schemas.openxmlformats.org/drawingml/2006/main">
            <a:off x="11049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E57A27"/>
                </a:solidFill>
                <a:latin typeface="Arial"/>
                <a:ea typeface="Arial"/>
              </a:rPr>
              <a:t>48.2</a:t>
            </a:r>
            <a:endParaRPr lang="en-US"/>
          </a:p>
        </p:txBody>
      </p:sp>
      <p:sp>
        <p:nvSpPr>
          <p:cNvPr id="20" name="finance-label-0"/>
          <p:cNvSpPr txBox="1"/>
          <p:nvPr/>
        </p:nvSpPr>
        <p:spPr>
          <a:xfrm xmlns:a="http://schemas.openxmlformats.org/drawingml/2006/main">
            <a:off x="11049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net inflow · week 6</a:t>
            </a:r>
            <a:endParaRPr lang="en-US"/>
          </a:p>
        </p:txBody>
      </p:sp>
      <p:sp>
        <p:nvSpPr>
          <p:cNvPr id="21" name="finance-rule-0"/>
          <p:cNvSpPr/>
          <p:nvPr/>
        </p:nvSpPr>
        <p:spPr>
          <a:xfrm xmlns:a="http://schemas.openxmlformats.org/drawingml/2006/main">
            <a:off x="11049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finance-value-1"/>
          <p:cNvSpPr txBox="1"/>
          <p:nvPr/>
        </p:nvSpPr>
        <p:spPr>
          <a:xfrm xmlns:a="http://schemas.openxmlformats.org/drawingml/2006/main">
            <a:off x="367665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04A"/>
                </a:solidFill>
                <a:latin typeface="Arial"/>
                <a:ea typeface="Arial"/>
              </a:rPr>
              <a:t>3.4×</a:t>
            </a:r>
            <a:endParaRPr lang="en-US"/>
          </a:p>
        </p:txBody>
      </p:sp>
      <p:sp>
        <p:nvSpPr>
          <p:cNvPr id="23" name="finance-label-1"/>
          <p:cNvSpPr txBox="1"/>
          <p:nvPr/>
        </p:nvSpPr>
        <p:spPr>
          <a:xfrm xmlns:a="http://schemas.openxmlformats.org/drawingml/2006/main">
            <a:off x="367665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24" name="finance-rule-1"/>
          <p:cNvSpPr/>
          <p:nvPr/>
        </p:nvSpPr>
        <p:spPr>
          <a:xfrm xmlns:a="http://schemas.openxmlformats.org/drawingml/2006/main">
            <a:off x="367665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finance-value-2"/>
          <p:cNvSpPr txBox="1"/>
          <p:nvPr/>
        </p:nvSpPr>
        <p:spPr>
          <a:xfrm xmlns:a="http://schemas.openxmlformats.org/drawingml/2006/main">
            <a:off x="62484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04A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26" name="finance-label-2"/>
          <p:cNvSpPr txBox="1"/>
          <p:nvPr/>
        </p:nvSpPr>
        <p:spPr>
          <a:xfrm xmlns:a="http://schemas.openxmlformats.org/drawingml/2006/main">
            <a:off x="62484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27" name="finance-rule-2"/>
          <p:cNvSpPr/>
          <p:nvPr/>
        </p:nvSpPr>
        <p:spPr>
          <a:xfrm xmlns:a="http://schemas.openxmlformats.org/drawingml/2006/main">
            <a:off x="62484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finance-read"/>
          <p:cNvSpPr txBox="1"/>
          <p:nvPr/>
        </p:nvSpPr>
        <p:spPr>
          <a:xfrm xmlns:a="http://schemas.openxmlformats.org/drawingml/2006/main">
            <a:off x="1104900" y="51435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304A"/>
                </a:solidFill>
                <a:latin typeface="Arial"/>
                <a:ea typeface="Arial"/>
              </a:rPr>
              <a:t>The ledger supports a narrow allocation, not a broad acceleration.</a:t>
            </a:r>
            <a:endParaRPr lang="en-US"/>
          </a:p>
        </p:txBody>
      </p:sp>
      <p:sp>
        <p:nvSpPr>
          <p:cNvPr id="29" name="finance-panel"/>
          <p:cNvSpPr/>
          <p:nvPr/>
        </p:nvSpPr>
        <p:spPr>
          <a:xfrm xmlns:a="http://schemas.openxmlformats.org/drawingml/2006/main">
            <a:off x="10096500" y="3238500"/>
            <a:ext cx="3810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finance-panel-label"/>
          <p:cNvSpPr txBox="1"/>
          <p:nvPr/>
        </p:nvSpPr>
        <p:spPr>
          <a:xfrm xmlns:a="http://schemas.openxmlformats.org/drawingml/2006/main">
            <a:off x="1047750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DECISION GATE</a:t>
            </a:r>
            <a:endParaRPr lang="en-US"/>
          </a:p>
        </p:txBody>
      </p:sp>
      <p:sp>
        <p:nvSpPr>
          <p:cNvPr id="31" name="finance-panel-value"/>
          <p:cNvSpPr txBox="1"/>
          <p:nvPr/>
        </p:nvSpPr>
        <p:spPr>
          <a:xfrm xmlns:a="http://schemas.openxmlformats.org/drawingml/2006/main">
            <a:off x="10477500" y="40576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8304A"/>
                </a:solidFill>
                <a:latin typeface="Arial"/>
                <a:ea typeface="Arial"/>
              </a:rPr>
              <a:t>Cash buffer</a:t>
            </a:r>
            <a:endParaRPr lang="en-US"/>
          </a:p>
        </p:txBody>
      </p:sp>
      <p:sp>
        <p:nvSpPr>
          <p:cNvPr id="32" name="finance-panel-foot"/>
          <p:cNvSpPr txBox="1"/>
          <p:nvPr/>
        </p:nvSpPr>
        <p:spPr>
          <a:xfrm xmlns:a="http://schemas.openxmlformats.org/drawingml/2006/main">
            <a:off x="1047750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Release only after ≥10 weeks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9C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04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9C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4510e5e5194630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1f204e98acf4739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57A27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04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57A27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