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6ae14545201a481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2a41c7724b7be4dd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a1171804bbd54c89" /><Relationship Type="http://schemas.openxmlformats.org/officeDocument/2006/relationships/chart" Target="/ppt/slides/charts/chart2.xml" Id="R7b4dc88eccea4e7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E57A27"/>
            </a:solidFill>
          </c:spP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Context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Context</c:v>
          </c:tx>
          <c:spPr>
            <a:solidFill>
              <a:srgbClr val="507FA3"/>
            </a:solidFill>
            <a:ln w="38100">
              <a:solidFill>
                <a:srgbClr val="507FA3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2a41c7724b7be4dd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1E8">
              <a:alpha val="100000"/>
            </a:srgbClr>
          </a:solidFill>
          <a:ln xmlns:a="http://schemas.openxmlformats.org/drawingml/2006/main" w="0">
            <a:solidFill>
              <a:srgbClr val="F8F1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A"/>
          </a:solidFill>
          <a:ln xmlns:a="http://schemas.openxmlformats.org/drawingml/2006/main" w="0">
            <a:solidFill>
              <a:srgbClr val="1830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57A27"/>
                </a:solidFill>
                <a:latin typeface="Arial"/>
                <a:ea typeface="Arial"/>
              </a:rPr>
              <a:t>FINANCE · OFFICEKIT CALIBRATION</a:t>
            </a:r>
            <a:endParaRPr lang="en-US"/>
          </a:p>
        </p:txBody>
      </p:sp>
      <p:sp>
        <p:nvSpPr>
          <p:cNvPr id="1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8304A"/>
                </a:solidFill>
                <a:latin typeface="Arial"/>
                <a:ea typeface="Arial"/>
              </a:rPr>
              <a:t>Amber Committee Memo: a claim worth testing</a:t>
            </a:r>
            <a:endParaRPr lang="en-US"/>
          </a:p>
        </p:txBody>
      </p:sp>
      <p:sp>
        <p:nvSpPr>
          <p:cNvPr id="1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E57A27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1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04A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2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304A"/>
                </a:solidFill>
                <a:latin typeface="Arial"/>
                <a:ea typeface="Arial"/>
              </a:rPr>
              <a:t>A ledger turns evidence into a bounded stance.</a:t>
            </a:r>
            <a:endParaRPr lang="en-US"/>
          </a:p>
        </p:txBody>
      </p:sp>
      <p:sp>
        <p:nvSpPr>
          <p:cNvPr id="2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2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23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1E8"/>
          </a:solidFill>
          <a:ln xmlns:a="http://schemas.openxmlformats.org/drawingml/2006/main" w="0">
            <a:solidFill>
              <a:srgbClr val="F8F1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A"/>
          </a:solidFill>
          <a:ln xmlns:a="http://schemas.openxmlformats.org/drawingml/2006/main" w="0">
            <a:solidFill>
              <a:srgbClr val="1830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MBER COMMITTEE MEMO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57A27"/>
                </a:solidFill>
                <a:latin typeface="Arial"/>
                <a:ea typeface="Arial"/>
              </a:rPr>
              <a:t>AMBER COMMITTEE MEMO · ARGUMENT</a:t>
            </a:r>
            <a:endParaRPr lang="en-US"/>
          </a:p>
        </p:txBody>
      </p:sp>
      <p:sp>
        <p:nvSpPr>
          <p:cNvPr id="16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04A"/>
                </a:solidFill>
                <a:latin typeface="Arial"/>
                <a:ea typeface="Arial"/>
              </a:rPr>
              <a:t>Three signals support a narrow allocation</a:t>
            </a:r>
            <a:endParaRPr lang="en-US"/>
          </a:p>
        </p:txBody>
      </p:sp>
      <p:sp>
        <p:nvSpPr>
          <p:cNvPr id="17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9C"/>
                </a:solidFill>
                <a:latin typeface="Arial"/>
                <a:ea typeface="Arial"/>
              </a:rPr>
              <a:t>Units, periods, and thresholds stay next to the values they qualify.</a:t>
            </a:r>
            <a:endParaRPr lang="en-US"/>
          </a:p>
        </p:txBody>
      </p:sp>
      <p:sp>
        <p:nvSpPr>
          <p:cNvPr id="18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finance-value-0"/>
          <p:cNvSpPr txBox="1"/>
          <p:nvPr/>
        </p:nvSpPr>
        <p:spPr>
          <a:xfrm xmlns:a="http://schemas.openxmlformats.org/drawingml/2006/main">
            <a:off x="1104900" y="3333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E57A27"/>
                </a:solidFill>
                <a:latin typeface="Arial"/>
                <a:ea typeface="Arial"/>
              </a:rPr>
              <a:t>48.2</a:t>
            </a:r>
            <a:endParaRPr lang="en-US"/>
          </a:p>
        </p:txBody>
      </p:sp>
      <p:sp>
        <p:nvSpPr>
          <p:cNvPr id="20" name="finance-label-0"/>
          <p:cNvSpPr txBox="1"/>
          <p:nvPr/>
        </p:nvSpPr>
        <p:spPr>
          <a:xfrm xmlns:a="http://schemas.openxmlformats.org/drawingml/2006/main">
            <a:off x="1104900" y="3924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49C"/>
                </a:solidFill>
                <a:latin typeface="Arial"/>
                <a:ea typeface="Arial"/>
              </a:rPr>
              <a:t>net inflow · week 6</a:t>
            </a:r>
            <a:endParaRPr lang="en-US"/>
          </a:p>
        </p:txBody>
      </p:sp>
      <p:sp>
        <p:nvSpPr>
          <p:cNvPr id="21" name="finance-rule-0"/>
          <p:cNvSpPr/>
          <p:nvPr/>
        </p:nvSpPr>
        <p:spPr>
          <a:xfrm xmlns:a="http://schemas.openxmlformats.org/drawingml/2006/main">
            <a:off x="1104900" y="43815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finance-value-1"/>
          <p:cNvSpPr txBox="1"/>
          <p:nvPr/>
        </p:nvSpPr>
        <p:spPr>
          <a:xfrm xmlns:a="http://schemas.openxmlformats.org/drawingml/2006/main">
            <a:off x="3676650" y="3333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8304A"/>
                </a:solidFill>
                <a:latin typeface="Arial"/>
                <a:ea typeface="Arial"/>
              </a:rPr>
              <a:t>3.4×</a:t>
            </a:r>
            <a:endParaRPr lang="en-US"/>
          </a:p>
        </p:txBody>
      </p:sp>
      <p:sp>
        <p:nvSpPr>
          <p:cNvPr id="23" name="finance-label-1"/>
          <p:cNvSpPr txBox="1"/>
          <p:nvPr/>
        </p:nvSpPr>
        <p:spPr>
          <a:xfrm xmlns:a="http://schemas.openxmlformats.org/drawingml/2006/main">
            <a:off x="3676650" y="3924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49C"/>
                </a:solidFill>
                <a:latin typeface="Arial"/>
                <a:ea typeface="Arial"/>
              </a:rPr>
              <a:t>coverage · month end</a:t>
            </a:r>
            <a:endParaRPr lang="en-US"/>
          </a:p>
        </p:txBody>
      </p:sp>
      <p:sp>
        <p:nvSpPr>
          <p:cNvPr id="24" name="finance-rule-1"/>
          <p:cNvSpPr/>
          <p:nvPr/>
        </p:nvSpPr>
        <p:spPr>
          <a:xfrm xmlns:a="http://schemas.openxmlformats.org/drawingml/2006/main">
            <a:off x="3676650" y="43815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finance-value-2"/>
          <p:cNvSpPr txBox="1"/>
          <p:nvPr/>
        </p:nvSpPr>
        <p:spPr>
          <a:xfrm xmlns:a="http://schemas.openxmlformats.org/drawingml/2006/main">
            <a:off x="6248400" y="33337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8304A"/>
                </a:solidFill>
                <a:latin typeface="Arial"/>
                <a:ea typeface="Arial"/>
              </a:rPr>
              <a:t>61%</a:t>
            </a:r>
            <a:endParaRPr lang="en-US"/>
          </a:p>
        </p:txBody>
      </p:sp>
      <p:sp>
        <p:nvSpPr>
          <p:cNvPr id="26" name="finance-label-2"/>
          <p:cNvSpPr txBox="1"/>
          <p:nvPr/>
        </p:nvSpPr>
        <p:spPr>
          <a:xfrm xmlns:a="http://schemas.openxmlformats.org/drawingml/2006/main">
            <a:off x="6248400" y="39243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49C"/>
                </a:solidFill>
                <a:latin typeface="Arial"/>
                <a:ea typeface="Arial"/>
              </a:rPr>
              <a:t>top two regions</a:t>
            </a:r>
            <a:endParaRPr lang="en-US"/>
          </a:p>
        </p:txBody>
      </p:sp>
      <p:sp>
        <p:nvSpPr>
          <p:cNvPr id="27" name="finance-rule-2"/>
          <p:cNvSpPr/>
          <p:nvPr/>
        </p:nvSpPr>
        <p:spPr>
          <a:xfrm xmlns:a="http://schemas.openxmlformats.org/drawingml/2006/main">
            <a:off x="6248400" y="43815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finance-read"/>
          <p:cNvSpPr txBox="1"/>
          <p:nvPr/>
        </p:nvSpPr>
        <p:spPr>
          <a:xfrm xmlns:a="http://schemas.openxmlformats.org/drawingml/2006/main">
            <a:off x="1104900" y="5143500"/>
            <a:ext cx="685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8304A"/>
                </a:solidFill>
                <a:latin typeface="Arial"/>
                <a:ea typeface="Arial"/>
              </a:rPr>
              <a:t>The ledger supports a narrow allocation, not a broad acceleration.</a:t>
            </a:r>
            <a:endParaRPr lang="en-US"/>
          </a:p>
        </p:txBody>
      </p:sp>
      <p:sp>
        <p:nvSpPr>
          <p:cNvPr id="29" name="finance-panel"/>
          <p:cNvSpPr/>
          <p:nvPr/>
        </p:nvSpPr>
        <p:spPr>
          <a:xfrm xmlns:a="http://schemas.openxmlformats.org/drawingml/2006/main">
            <a:off x="10096500" y="3238500"/>
            <a:ext cx="38100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finance-panel-label"/>
          <p:cNvSpPr txBox="1"/>
          <p:nvPr/>
        </p:nvSpPr>
        <p:spPr>
          <a:xfrm xmlns:a="http://schemas.openxmlformats.org/drawingml/2006/main">
            <a:off x="10477500" y="36004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57A27"/>
                </a:solidFill>
                <a:latin typeface="Arial"/>
                <a:ea typeface="Arial"/>
              </a:rPr>
              <a:t>DECISION GATE</a:t>
            </a:r>
            <a:endParaRPr lang="en-US"/>
          </a:p>
        </p:txBody>
      </p:sp>
      <p:sp>
        <p:nvSpPr>
          <p:cNvPr id="31" name="finance-panel-value"/>
          <p:cNvSpPr txBox="1"/>
          <p:nvPr/>
        </p:nvSpPr>
        <p:spPr>
          <a:xfrm xmlns:a="http://schemas.openxmlformats.org/drawingml/2006/main">
            <a:off x="10477500" y="40576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025" b="1">
                <a:solidFill>
                  <a:srgbClr val="18304A"/>
                </a:solidFill>
                <a:latin typeface="Arial"/>
                <a:ea typeface="Arial"/>
              </a:rPr>
              <a:t>Cash buffer</a:t>
            </a:r>
            <a:endParaRPr lang="en-US"/>
          </a:p>
        </p:txBody>
      </p:sp>
      <p:sp>
        <p:nvSpPr>
          <p:cNvPr id="32" name="finance-panel-foot"/>
          <p:cNvSpPr txBox="1"/>
          <p:nvPr/>
        </p:nvSpPr>
        <p:spPr>
          <a:xfrm xmlns:a="http://schemas.openxmlformats.org/drawingml/2006/main">
            <a:off x="10477500" y="46672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49C"/>
                </a:solidFill>
                <a:latin typeface="Arial"/>
                <a:ea typeface="Arial"/>
              </a:rPr>
              <a:t>Release only after ≥10 weeks</a:t>
            </a:r>
            <a:endParaRPr lang="en-US"/>
          </a:p>
        </p:txBody>
      </p:sp>
      <p:sp>
        <p:nvSpPr>
          <p:cNvPr id="33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34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1E8"/>
          </a:solidFill>
          <a:ln xmlns:a="http://schemas.openxmlformats.org/drawingml/2006/main" w="0">
            <a:solidFill>
              <a:srgbClr val="F8F1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A"/>
          </a:solidFill>
          <a:ln xmlns:a="http://schemas.openxmlformats.org/drawingml/2006/main" w="0">
            <a:solidFill>
              <a:srgbClr val="1830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MBER COMMITTEE MEMO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57A27"/>
                </a:solidFill>
                <a:latin typeface="Arial"/>
                <a:ea typeface="Arial"/>
              </a:rPr>
              <a:t>AMBER COMMITTEE MEMO · EVIDENCE</a:t>
            </a:r>
            <a:endParaRPr lang="en-US"/>
          </a:p>
        </p:txBody>
      </p:sp>
      <p:sp>
        <p:nvSpPr>
          <p:cNvPr id="16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04A"/>
                </a:solidFill>
                <a:latin typeface="Arial"/>
                <a:ea typeface="Arial"/>
              </a:rPr>
              <a:t>The ledger moves, but the threshold still governs</a:t>
            </a:r>
            <a:endParaRPr lang="en-US"/>
          </a:p>
        </p:txBody>
      </p:sp>
      <p:sp>
        <p:nvSpPr>
          <p:cNvPr id="17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9C"/>
                </a:solidFill>
                <a:latin typeface="Arial"/>
                <a:ea typeface="Arial"/>
              </a:rPr>
              <a:t>Illustrative ledger · values show period, unit, and decision threshold.</a:t>
            </a:r>
            <a:endParaRPr lang="en-US"/>
          </a:p>
        </p:txBody>
      </p:sp>
      <p:sp>
        <p:nvSpPr>
          <p:cNvPr id="18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finance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Metric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Base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Plan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Delta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Coverage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42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51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+9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Cash conversion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1.6x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2.1x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+0.5x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Risk buffer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8w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10w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+2w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Release gate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Open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Clear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—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57A27"/>
                </a:solidFill>
                <a:latin typeface="Arial"/>
                <a:ea typeface="Arial"/>
              </a:rPr>
              <a:t>MODEL READ-THROUGH</a:t>
            </a:r>
            <a:endParaRPr lang="en-US"/>
          </a:p>
        </p:txBody>
      </p:sp>
      <p:sp>
        <p:nvSpPr>
          <p:cNvPr id="21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8304A"/>
                </a:solidFill>
                <a:latin typeface="Arial"/>
                <a:ea typeface="Arial"/>
              </a:rPr>
              <a:t>The gate stays visible beside the number.</a:t>
            </a:r>
            <a:endParaRPr lang="en-US"/>
          </a:p>
        </p:txBody>
      </p:sp>
      <p:sp>
        <p:nvSpPr>
          <p:cNvPr id="22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49C"/>
                </a:solidFill>
                <a:latin typeface="Arial"/>
                <a:ea typeface="Arial"/>
              </a:rPr>
              <a:t>Use a table when assumptions and units carry the decision. Charts support the ledger; they do not replace it.</a:t>
            </a:r>
            <a:endParaRPr lang="en-US"/>
          </a:p>
        </p:txBody>
      </p:sp>
      <p:sp>
        <p:nvSpPr>
          <p:cNvPr id="2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8304A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2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1E8"/>
          </a:solidFill>
          <a:ln xmlns:a="http://schemas.openxmlformats.org/drawingml/2006/main" w="0">
            <a:solidFill>
              <a:srgbClr val="F8F1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A"/>
          </a:solidFill>
          <a:ln xmlns:a="http://schemas.openxmlformats.org/drawingml/2006/main" w="0">
            <a:solidFill>
              <a:srgbClr val="1830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MBER COMMITTEE MEMO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57A27"/>
                </a:solidFill>
                <a:latin typeface="Arial"/>
                <a:ea typeface="Arial"/>
              </a:rPr>
              <a:t>AMBER COMMITTEE MEMO · DETAIL</a:t>
            </a:r>
            <a:endParaRPr lang="en-US"/>
          </a:p>
        </p:txBody>
      </p:sp>
      <p:sp>
        <p:nvSpPr>
          <p:cNvPr id="16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04A"/>
                </a:solidFill>
                <a:latin typeface="Arial"/>
                <a:ea typeface="Arial"/>
              </a:rPr>
              <a:t>The ledger carries the assumptions</a:t>
            </a:r>
            <a:endParaRPr lang="en-US"/>
          </a:p>
        </p:txBody>
      </p:sp>
      <p:sp>
        <p:nvSpPr>
          <p:cNvPr id="17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9C"/>
                </a:solidFill>
                <a:latin typeface="Arial"/>
                <a:ea typeface="Arial"/>
              </a:rPr>
              <a:t>Assumption grid · values stay aligned to their basis and release gate.</a:t>
            </a:r>
            <a:endParaRPr lang="en-US"/>
          </a:p>
        </p:txBody>
      </p:sp>
      <p:sp>
        <p:nvSpPr>
          <p:cNvPr id="18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finance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Metric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Base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Plan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Delta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Coverage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42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51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+9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Cash conversion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1.6x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2.1x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+0.5x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Risk buffer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8w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10w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+2w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Release gate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Open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Clear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—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57A27"/>
                </a:solidFill>
                <a:latin typeface="Arial"/>
                <a:ea typeface="Arial"/>
              </a:rPr>
              <a:t>MODEL READ-THROUGH</a:t>
            </a:r>
            <a:endParaRPr lang="en-US"/>
          </a:p>
        </p:txBody>
      </p:sp>
      <p:sp>
        <p:nvSpPr>
          <p:cNvPr id="21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8304A"/>
                </a:solidFill>
                <a:latin typeface="Arial"/>
                <a:ea typeface="Arial"/>
              </a:rPr>
              <a:t>The gate stays visible beside the number.</a:t>
            </a:r>
            <a:endParaRPr lang="en-US"/>
          </a:p>
        </p:txBody>
      </p:sp>
      <p:sp>
        <p:nvSpPr>
          <p:cNvPr id="22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49C"/>
                </a:solidFill>
                <a:latin typeface="Arial"/>
                <a:ea typeface="Arial"/>
              </a:rPr>
              <a:t>Use a table when assumptions and units carry the decision. Charts support the ledger; they do not replace it.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A"/>
          </a:solidFill>
          <a:ln xmlns:a="http://schemas.openxmlformats.org/drawingml/2006/main" w="0">
            <a:solidFill>
              <a:srgbClr val="1830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3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1E8"/>
          </a:solidFill>
          <a:ln xmlns:a="http://schemas.openxmlformats.org/drawingml/2006/main" w="0">
            <a:solidFill>
              <a:srgbClr val="F8F1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MBER COMMITTEE MEMO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57A27"/>
                </a:solidFill>
                <a:latin typeface="Arial"/>
                <a:ea typeface="Arial"/>
              </a:rPr>
              <a:t>AMBER COMMITTEE MEMO · VISUAL CARRIER</a:t>
            </a:r>
            <a:endParaRPr lang="en-US"/>
          </a:p>
        </p:txBody>
      </p:sp>
      <p:sp>
        <p:nvSpPr>
          <p:cNvPr id="16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04A"/>
                </a:solidFill>
                <a:latin typeface="Arial"/>
                <a:ea typeface="Arial"/>
              </a:rPr>
              <a:t>A visual field can carry a signal</a:t>
            </a:r>
            <a:endParaRPr lang="en-US"/>
          </a:p>
        </p:txBody>
      </p:sp>
      <p:sp>
        <p:nvSpPr>
          <p:cNvPr id="17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9C"/>
                </a:solidFill>
                <a:latin typeface="Arial"/>
                <a:ea typeface="Arial"/>
              </a:rPr>
              <a:t>The picture is not a mood board; it is the surface where the argument lands.</a:t>
            </a:r>
            <a:endParaRPr lang="en-US"/>
          </a:p>
        </p:txBody>
      </p:sp>
      <p:sp>
        <p:nvSpPr>
          <p:cNvPr id="18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dense-visual-bars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14400" y="3028950"/>
          <a:ext xmlns:a="http://schemas.openxmlformats.org/drawingml/2006/main" cx="5334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1171804bbd54c89"/>
          </a:graphicData>
        </a:graphic>
      </p:graphicFrame>
      <p:graphicFrame>
        <p:nvGraphicFramePr>
          <p:cNvPr id="20" name="dense-visual-lin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6667500" y="3028950"/>
          <a:ext xmlns:a="http://schemas.openxmlformats.org/drawingml/2006/main" cx="3810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b4dc88eccea4e7f"/>
          </a:graphicData>
        </a:graphic>
      </p:graphicFrame>
      <p:sp>
        <p:nvSpPr>
          <p:cNvPr id="21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57A27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23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8304A"/>
                </a:solidFill>
                <a:latin typeface="Arial"/>
                <a:ea typeface="Arial"/>
              </a:rPr>
              <a:t>Signal before decoration</a:t>
            </a:r>
            <a:endParaRPr lang="en-US"/>
          </a:p>
        </p:txBody>
      </p:sp>
      <p:sp>
        <p:nvSpPr>
          <p:cNvPr id="24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49C"/>
                </a:solidFill>
                <a:latin typeface="Arial"/>
                <a:ea typeface="Arial"/>
              </a:rPr>
              <a:t>Read the mark, unit, and basis.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1E8"/>
          </a:solidFill>
          <a:ln xmlns:a="http://schemas.openxmlformats.org/drawingml/2006/main" w="0">
            <a:solidFill>
              <a:srgbClr val="F8F1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49C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A"/>
          </a:solidFill>
          <a:ln xmlns:a="http://schemas.openxmlformats.org/drawingml/2006/main" w="0">
            <a:solidFill>
              <a:srgbClr val="18304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14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MBER COMMITTEE MEMO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57A27"/>
                </a:solidFill>
                <a:latin typeface="Arial"/>
                <a:ea typeface="Arial"/>
              </a:rPr>
              <a:t>AMBER COMMITTEE MEMO · CLOSE</a:t>
            </a:r>
            <a:endParaRPr lang="en-US"/>
          </a:p>
        </p:txBody>
      </p:sp>
      <p:sp>
        <p:nvSpPr>
          <p:cNvPr id="16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8304A"/>
                </a:solidFill>
                <a:latin typeface="Arial"/>
                <a:ea typeface="Arial"/>
              </a:rPr>
              <a:t>Fund the proven constraint, then measure the next one</a:t>
            </a:r>
            <a:endParaRPr lang="en-US"/>
          </a:p>
        </p:txBody>
      </p:sp>
      <p:sp>
        <p:nvSpPr>
          <p:cNvPr id="17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9C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18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57A27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2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04A"/>
                </a:solidFill>
                <a:latin typeface="Arial"/>
                <a:ea typeface="Arial"/>
              </a:rPr>
              <a:t>Signal</a:t>
            </a:r>
            <a:endParaRPr lang="en-US"/>
          </a:p>
        </p:txBody>
      </p:sp>
      <p:sp>
        <p:nvSpPr>
          <p:cNvPr id="2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04A"/>
                </a:solidFill>
                <a:latin typeface="Arial"/>
                <a:ea typeface="Arial"/>
              </a:rPr>
              <a:t>Cash conversion remains positive.</a:t>
            </a:r>
            <a:endParaRPr lang="en-US"/>
          </a:p>
        </p:txBody>
      </p:sp>
      <p:sp>
        <p:nvSpPr>
          <p:cNvPr id="2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8304A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2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04A"/>
                </a:solidFill>
                <a:latin typeface="Arial"/>
                <a:ea typeface="Arial"/>
              </a:rPr>
              <a:t>Risk</a:t>
            </a:r>
            <a:endParaRPr lang="en-US"/>
          </a:p>
        </p:txBody>
      </p:sp>
      <p:sp>
        <p:nvSpPr>
          <p:cNvPr id="2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04A"/>
                </a:solidFill>
                <a:latin typeface="Arial"/>
                <a:ea typeface="Arial"/>
              </a:rPr>
              <a:t>The buffer is below threshold.</a:t>
            </a:r>
            <a:endParaRPr lang="en-US"/>
          </a:p>
        </p:txBody>
      </p:sp>
      <p:sp>
        <p:nvSpPr>
          <p:cNvPr id="2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57A27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8304A"/>
                </a:solidFill>
                <a:latin typeface="Arial"/>
                <a:ea typeface="Arial"/>
              </a:rPr>
              <a:t>Decision</a:t>
            </a:r>
            <a:endParaRPr lang="en-US"/>
          </a:p>
        </p:txBody>
      </p:sp>
      <p:sp>
        <p:nvSpPr>
          <p:cNvPr id="3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8304A"/>
                </a:solidFill>
                <a:latin typeface="Arial"/>
                <a:ea typeface="Arial"/>
              </a:rPr>
              <a:t>Release one constrained tranche.</a:t>
            </a:r>
            <a:endParaRPr lang="en-US"/>
          </a:p>
        </p:txBody>
      </p:sp>
      <p:sp>
        <p:nvSpPr>
          <p:cNvPr id="3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A27"/>
          </a:solidFill>
          <a:ln xmlns:a="http://schemas.openxmlformats.org/drawingml/2006/main" w="0">
            <a:solidFill>
              <a:srgbClr val="E57A2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3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Clear the buffer gate</a:t>
            </a:r>
            <a:endParaRPr lang="en-US"/>
          </a:p>
        </p:txBody>
      </p:sp>
      <p:sp>
        <p:nvSpPr>
          <p:cNvPr id="3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3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9C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