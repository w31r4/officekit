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52217994d29442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1"/>
  </p:sldMasterIdLst>
  <p:sldIdLst>
    <p:sldId xmlns:r="http://schemas.openxmlformats.org/officeDocument/2006/relationships" id="256" r:id="rIdSlide1"/>
    <p:sldId xmlns:r="http://schemas.openxmlformats.org/officeDocument/2006/relationships" id="257" r:id="rIdSlide2"/>
    <p:sldId xmlns:r="http://schemas.openxmlformats.org/officeDocument/2006/relationships" id="258" r:id="rIdSlide3"/>
    <p:sldId xmlns:r="http://schemas.openxmlformats.org/officeDocument/2006/relationships" id="259" r:id="rIdSlide4"/>
    <p:sldId xmlns:r="http://schemas.openxmlformats.org/officeDocument/2006/relationships" id="260" r:id="rIdSlide5"/>
    <p:sldId xmlns:r="http://schemas.openxmlformats.org/officeDocument/2006/relationships" id="261" r:id="rIdSlide6"/>
  </p:sldIdLst>
  <p:sldSz cx="15240000" cy="85725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rIdSlide1" /><Relationship Type="http://schemas.openxmlformats.org/officeDocument/2006/relationships/slide" Target="/ppt/slides/slide2.xml" Id="rIdSlide2" /><Relationship Type="http://schemas.openxmlformats.org/officeDocument/2006/relationships/slide" Target="/ppt/slides/slide3.xml" Id="rIdSlide3" /><Relationship Type="http://schemas.openxmlformats.org/officeDocument/2006/relationships/slide" Target="/ppt/slides/slide4.xml" Id="rIdSlide4" /><Relationship Type="http://schemas.openxmlformats.org/officeDocument/2006/relationships/slide" Target="/ppt/slides/slide5.xml" Id="rIdSlide5" /><Relationship Type="http://schemas.openxmlformats.org/officeDocument/2006/relationships/slide" Target="/ppt/slides/slide6.xml" Id="rIdSlide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1" /><Relationship Type="http://schemas.openxmlformats.org/officeDocument/2006/relationships/slideLayout" Target="/ppt/slideLayouts/slideLayout1.xml" Id="rIdLayout1" /></Relationships>
</file>

<file path=ppt/slideMasters/slideMaster1.xml><?xml version="1.0" encoding="utf-8"?>
<p:sldMaster xmlns:p="http://schemas.openxmlformats.org/presentationml/2006/main">
  <p:cSld name="Default Master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Office Clean Ro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.jpg" Id="rIdOfficeKitImage619a419f636bb1c3_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chart" Target="/ppt/slides/charts/chart1.xml" Id="Refd3260e60ec4ae9" /><Relationship Type="http://schemas.openxmlformats.org/officeDocument/2006/relationships/chart" Target="/ppt/slides/charts/chart2.xml" Id="R79377da46ee249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charts/chart1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Observed signal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v>Observed</c:v>
          </c:tx>
          <c:spPr>
            <a:solidFill>
              <a:srgbClr val="E57A27"/>
            </a:solidFill>
          </c:spPr>
          <c:cat>
            <c:strLit>
              <c:ptCount val="6"/>
              <c:pt idx="0">
                <c:v>A</c:v>
              </c:pt>
              <c:pt idx="1">
                <c:v>B</c:v>
              </c:pt>
              <c:pt idx="2">
                <c:v>C</c:v>
              </c:pt>
              <c:pt idx="3">
                <c:v>D</c:v>
              </c:pt>
              <c:pt idx="4">
                <c:v>E</c:v>
              </c:pt>
              <c:pt idx="5">
                <c:v>F</c:v>
              </c:pt>
            </c:strLit>
          </c:cat>
          <c:val>
            <c:numLit>
              <c:formatCode>General</c:formatCode>
              <c:ptCount val="6"/>
              <c:pt idx="0">
                <c:v>38</c:v>
              </c:pt>
              <c:pt idx="1">
                <c:v>46</c:v>
              </c:pt>
              <c:pt idx="2">
                <c:v>43</c:v>
              </c:pt>
              <c:pt idx="3">
                <c:v>58</c:v>
              </c:pt>
              <c:pt idx="4">
                <c:v>68</c:v>
              </c:pt>
              <c:pt idx="5">
                <c:v>74</c:v>
              </c:pt>
            </c:numLit>
          </c:val>
        </c:ser>
        <c:axId val="1"/>
        <c:axId val="2"/>
      </c:bar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plotVisOnly val="1"/>
  </c:chart>
</c:chartSpace>
</file>

<file path=ppt/slides/charts/chart2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Context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v>Context</c:v>
          </c:tx>
          <c:spPr>
            <a:solidFill>
              <a:srgbClr val="507FA3"/>
            </a:solidFill>
            <a:ln w="38100">
              <a:solidFill>
                <a:srgbClr val="507FA3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6"/>
              <c:pt idx="0">
                <c:v>A</c:v>
              </c:pt>
              <c:pt idx="1">
                <c:v>B</c:v>
              </c:pt>
              <c:pt idx="2">
                <c:v>C</c:v>
              </c:pt>
              <c:pt idx="3">
                <c:v>D</c:v>
              </c:pt>
              <c:pt idx="4">
                <c:v>E</c:v>
              </c:pt>
              <c:pt idx="5">
                <c:v>F</c:v>
              </c:pt>
            </c:strLit>
          </c:cat>
          <c:val>
            <c:numLit>
              <c:formatCode>General</c:formatCode>
              <c:ptCount val="6"/>
              <c:pt idx="0">
                <c:v>34</c:v>
              </c:pt>
              <c:pt idx="1">
                <c:v>39</c:v>
              </c:pt>
              <c:pt idx="2">
                <c:v>41</c:v>
              </c:pt>
              <c:pt idx="3">
                <c:v>45</c:v>
              </c:pt>
              <c:pt idx="4">
                <c:v>49</c:v>
              </c:pt>
              <c:pt idx="5">
                <c:v>52</c:v>
              </c:pt>
            </c:numLit>
          </c:val>
        </c:ser>
        <c:axId val="1"/>
        <c:axId val="2"/>
      </c:line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plotVisOnly val="1"/>
  </c:chart>
</c:chartSpace>
</file>

<file path=ppt/slides/slide1.xml><?xml version="1.0" encoding="utf-8"?>
<p:sld xmlns:p="http://schemas.openxmlformats.org/presentationml/2006/main">
  <p:cSld name="Opening claim">
    <p:bg>
      <p:bgPr>
        <a:blipFill xmlns:a="http://schemas.openxmlformats.org/drawingml/2006/main">
          <a:blip xmlns:r="http://schemas.openxmlformats.org/officeDocument/2006/relationships" r:embed="rIdOfficeKitImage619a419f636bb1c3_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ver-paper-scrim"/>
          <p:cNvSpPr/>
          <p:nvPr/>
        </p:nvSpPr>
        <p:spPr>
          <a:xfrm xmlns:a="http://schemas.openxmlformats.org/drawingml/2006/main">
            <a:off x="0" y="0"/>
            <a:ext cx="9525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E8">
              <a:alpha val="100000"/>
            </a:srgbClr>
          </a:solidFill>
          <a:ln xmlns:a="http://schemas.openxmlformats.org/drawingml/2006/main" w="0">
            <a:solidFill>
              <a:srgbClr val="F8F1E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A27"/>
          </a:solidFill>
          <a:ln xmlns:a="http://schemas.openxmlformats.org/drawingml/2006/main" w="0">
            <a:solidFill>
              <a:srgbClr val="E57A2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421005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A"/>
          </a:solidFill>
          <a:ln xmlns:a="http://schemas.openxmlformats.org/drawingml/2006/main" w="0">
            <a:solidFill>
              <a:srgbClr val="18304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424815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FFFFFF"/>
                </a:solidFill>
                <a:latin typeface="Arial"/>
                <a:ea typeface="Arial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421005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424815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49C"/>
                </a:solidFill>
                <a:latin typeface="Arial"/>
                <a:ea typeface="Arial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421005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424815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49C"/>
                </a:solidFill>
                <a:latin typeface="Arial"/>
                <a:ea typeface="Arial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421005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424815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49C"/>
                </a:solidFill>
                <a:latin typeface="Arial"/>
                <a:ea typeface="Arial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421005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424815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49C"/>
                </a:solidFill>
                <a:latin typeface="Arial"/>
                <a:ea typeface="Arial"/>
              </a:rPr>
              <a:t>NEXT</a:t>
            </a:r>
            <a:endParaRPr lang="en-US"/>
          </a:p>
        </p:txBody>
      </p:sp>
      <p:sp>
        <p:nvSpPr>
          <p:cNvPr id="14" name="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57A2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eyebrow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E57A27"/>
                </a:solidFill>
                <a:latin typeface="Arial"/>
                <a:ea typeface="Arial"/>
              </a:rPr>
              <a:t>FINANCE · OFFICEKIT CALIBRATION</a:t>
            </a:r>
            <a:endParaRPr lang="en-US"/>
          </a:p>
        </p:txBody>
      </p:sp>
      <p:sp>
        <p:nvSpPr>
          <p:cNvPr id="16" name="cover-title"/>
          <p:cNvSpPr txBox="1"/>
          <p:nvPr/>
        </p:nvSpPr>
        <p:spPr>
          <a:xfrm xmlns:a="http://schemas.openxmlformats.org/drawingml/2006/main">
            <a:off x="914400" y="1571625"/>
            <a:ext cx="838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8304A"/>
                </a:solidFill>
                <a:latin typeface="Arial"/>
                <a:ea typeface="Arial"/>
              </a:rPr>
              <a:t>Amber Committee Memo: a claim worth testing</a:t>
            </a:r>
            <a:endParaRPr lang="en-US"/>
          </a:p>
        </p:txBody>
      </p:sp>
      <p:sp>
        <p:nvSpPr>
          <p:cNvPr id="17" name="cover-subtitle"/>
          <p:cNvSpPr txBox="1"/>
          <p:nvPr/>
        </p:nvSpPr>
        <p:spPr>
          <a:xfrm xmlns:a="http://schemas.openxmlformats.org/drawingml/2006/main">
            <a:off x="952500" y="28575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>
                <a:solidFill>
                  <a:srgbClr val="E57A27"/>
                </a:solidFill>
                <a:latin typeface="Arial"/>
                <a:ea typeface="Arial"/>
              </a:rPr>
              <a:t>A clean-room reference for evidence, direction, and a decision.</a:t>
            </a:r>
            <a:endParaRPr lang="en-US"/>
          </a:p>
        </p:txBody>
      </p:sp>
      <p:sp>
        <p:nvSpPr>
          <p:cNvPr id="18" name="cover-rule"/>
          <p:cNvSpPr/>
          <p:nvPr/>
        </p:nvSpPr>
        <p:spPr>
          <a:xfrm xmlns:a="http://schemas.openxmlformats.org/drawingml/2006/main">
            <a:off x="914400" y="3524250"/>
            <a:ext cx="765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949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cover-basis"/>
          <p:cNvSpPr txBox="1"/>
          <p:nvPr/>
        </p:nvSpPr>
        <p:spPr>
          <a:xfrm xmlns:a="http://schemas.openxmlformats.org/drawingml/2006/main">
            <a:off x="952500" y="3762375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8304A"/>
                </a:solidFill>
                <a:latin typeface="Arial"/>
                <a:ea typeface="Arial"/>
              </a:rPr>
              <a:t>One visual language · four page roles · native editable objects</a:t>
            </a:r>
            <a:endParaRPr lang="en-US"/>
          </a:p>
        </p:txBody>
      </p:sp>
      <p:sp>
        <p:nvSpPr>
          <p:cNvPr id="20" name="cover-thesis"/>
          <p:cNvSpPr txBox="1"/>
          <p:nvPr/>
        </p:nvSpPr>
        <p:spPr>
          <a:xfrm xmlns:a="http://schemas.openxmlformats.org/drawingml/2006/main">
            <a:off x="952500" y="4810125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18304A"/>
                </a:solidFill>
                <a:latin typeface="Arial"/>
                <a:ea typeface="Arial"/>
              </a:rPr>
              <a:t>A ledger turns evidence into a bounded stance.</a:t>
            </a:r>
            <a:endParaRPr lang="en-US"/>
          </a:p>
        </p:txBody>
      </p:sp>
      <p:sp>
        <p:nvSpPr>
          <p:cNvPr id="21" name="cover-source"/>
          <p:cNvSpPr txBox="1"/>
          <p:nvPr/>
        </p:nvSpPr>
        <p:spPr>
          <a:xfrm xmlns:a="http://schemas.openxmlformats.org/drawingml/2006/main">
            <a:off x="952500" y="731520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C949C"/>
                </a:solidFill>
                <a:latin typeface="Arial"/>
                <a:ea typeface="Arial"/>
              </a:rPr>
              <a:t>OfficeKit original clean-room calibration · fictional content · 2026-08-29</a:t>
            </a:r>
            <a:endParaRPr lang="en-US"/>
          </a:p>
        </p:txBody>
      </p:sp>
      <p:sp>
        <p:nvSpPr>
          <p:cNvPr id="22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C949C"/>
                </a:solidFill>
                <a:latin typeface="Arial"/>
                <a:ea typeface="Arial"/>
              </a:rPr>
              <a:t>1 / 6</a:t>
            </a:r>
            <a:endParaRPr lang="en-US"/>
          </a:p>
        </p:txBody>
      </p:sp>
      <p:sp>
        <p:nvSpPr>
          <p:cNvPr id="23" name="anchor-field"/>
          <p:cNvSpPr/>
          <p:nvPr/>
        </p:nvSpPr>
        <p:spPr>
          <a:xfrm xmlns:a="http://schemas.openxmlformats.org/drawingml/2006/main">
            <a:off x="11239500" y="1714500"/>
            <a:ext cx="2476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8C949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4" name="anchor-line"/>
          <p:cNvSpPr/>
          <p:nvPr/>
        </p:nvSpPr>
        <p:spPr>
          <a:xfrm xmlns:a="http://schemas.openxmlformats.org/drawingml/2006/main">
            <a:off x="11544300" y="3505200"/>
            <a:ext cx="1866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E57A2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anchor-line-two"/>
          <p:cNvSpPr/>
          <p:nvPr/>
        </p:nvSpPr>
        <p:spPr>
          <a:xfrm xmlns:a="http://schemas.openxmlformats.org/drawingml/2006/main">
            <a:off x="11544300" y="3695700"/>
            <a:ext cx="194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949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6" name="anchor-dot"/>
          <p:cNvSpPr/>
          <p:nvPr/>
        </p:nvSpPr>
        <p:spPr>
          <a:xfrm xmlns:a="http://schemas.openxmlformats.org/drawingml/2006/main">
            <a:off x="13030200" y="22288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A27"/>
          </a:solidFill>
          <a:ln xmlns:a="http://schemas.openxmlformats.org/drawingml/2006/main" w="0">
            <a:solidFill>
              <a:srgbClr val="E57A2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 name="Argum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E8"/>
          </a:solidFill>
          <a:ln xmlns:a="http://schemas.openxmlformats.org/drawingml/2006/main" w="0">
            <a:solidFill>
              <a:srgbClr val="F8F1E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A27"/>
          </a:solidFill>
          <a:ln xmlns:a="http://schemas.openxmlformats.org/drawingml/2006/main" w="0">
            <a:solidFill>
              <a:srgbClr val="E57A2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49C"/>
                </a:solidFill>
                <a:latin typeface="Arial"/>
                <a:ea typeface="Arial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A"/>
          </a:solidFill>
          <a:ln xmlns:a="http://schemas.openxmlformats.org/drawingml/2006/main" w="0">
            <a:solidFill>
              <a:srgbClr val="18304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FFFFFF"/>
                </a:solidFill>
                <a:latin typeface="Arial"/>
                <a:ea typeface="Arial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49C"/>
                </a:solidFill>
                <a:latin typeface="Arial"/>
                <a:ea typeface="Arial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49C"/>
                </a:solidFill>
                <a:latin typeface="Arial"/>
                <a:ea typeface="Arial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49C"/>
                </a:solidFill>
                <a:latin typeface="Arial"/>
                <a:ea typeface="Arial"/>
              </a:rPr>
              <a:t>NEXT</a:t>
            </a:r>
            <a:endParaRPr lang="en-US"/>
          </a:p>
        </p:txBody>
      </p:sp>
      <p:sp>
        <p:nvSpPr>
          <p:cNvPr id="14" name="argument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57A2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AMBER COMMITTEE MEMO · ARGUMENT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E57A27"/>
                </a:solidFill>
                <a:latin typeface="Arial"/>
                <a:ea typeface="Arial"/>
              </a:rPr>
              <a:t>AMBER COMMITTEE MEMO · ARGUMENT</a:t>
            </a:r>
            <a:endParaRPr lang="en-US"/>
          </a:p>
        </p:txBody>
      </p:sp>
      <p:sp>
        <p:nvSpPr>
          <p:cNvPr id="16" name="argument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8304A"/>
                </a:solidFill>
                <a:latin typeface="Arial"/>
                <a:ea typeface="Arial"/>
              </a:rPr>
              <a:t>Three signals support a narrow allocation</a:t>
            </a:r>
            <a:endParaRPr lang="en-US"/>
          </a:p>
        </p:txBody>
      </p:sp>
      <p:sp>
        <p:nvSpPr>
          <p:cNvPr id="17" name="argument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C949C"/>
                </a:solidFill>
                <a:latin typeface="Arial"/>
                <a:ea typeface="Arial"/>
              </a:rPr>
              <a:t>Units, periods, and thresholds stay next to the values they qualify.</a:t>
            </a:r>
            <a:endParaRPr lang="en-US"/>
          </a:p>
        </p:txBody>
      </p:sp>
      <p:sp>
        <p:nvSpPr>
          <p:cNvPr id="18" name="argument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949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finance-value-0"/>
          <p:cNvSpPr txBox="1"/>
          <p:nvPr/>
        </p:nvSpPr>
        <p:spPr>
          <a:xfrm xmlns:a="http://schemas.openxmlformats.org/drawingml/2006/main">
            <a:off x="1104900" y="33337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E57A27"/>
                </a:solidFill>
                <a:latin typeface="Arial"/>
                <a:ea typeface="Arial"/>
              </a:rPr>
              <a:t>48.2</a:t>
            </a:r>
            <a:endParaRPr lang="en-US"/>
          </a:p>
        </p:txBody>
      </p:sp>
      <p:sp>
        <p:nvSpPr>
          <p:cNvPr id="20" name="finance-label-0"/>
          <p:cNvSpPr txBox="1"/>
          <p:nvPr/>
        </p:nvSpPr>
        <p:spPr>
          <a:xfrm xmlns:a="http://schemas.openxmlformats.org/drawingml/2006/main">
            <a:off x="1104900" y="39243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C949C"/>
                </a:solidFill>
                <a:latin typeface="Arial"/>
                <a:ea typeface="Arial"/>
              </a:rPr>
              <a:t>net inflow · week 6</a:t>
            </a:r>
            <a:endParaRPr lang="en-US"/>
          </a:p>
        </p:txBody>
      </p:sp>
      <p:sp>
        <p:nvSpPr>
          <p:cNvPr id="21" name="finance-rule-0"/>
          <p:cNvSpPr/>
          <p:nvPr/>
        </p:nvSpPr>
        <p:spPr>
          <a:xfrm xmlns:a="http://schemas.openxmlformats.org/drawingml/2006/main">
            <a:off x="1104900" y="43815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C949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finance-value-1"/>
          <p:cNvSpPr txBox="1"/>
          <p:nvPr/>
        </p:nvSpPr>
        <p:spPr>
          <a:xfrm xmlns:a="http://schemas.openxmlformats.org/drawingml/2006/main">
            <a:off x="3676650" y="33337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8304A"/>
                </a:solidFill>
                <a:latin typeface="Arial"/>
                <a:ea typeface="Arial"/>
              </a:rPr>
              <a:t>3.4×</a:t>
            </a:r>
            <a:endParaRPr lang="en-US"/>
          </a:p>
        </p:txBody>
      </p:sp>
      <p:sp>
        <p:nvSpPr>
          <p:cNvPr id="23" name="finance-label-1"/>
          <p:cNvSpPr txBox="1"/>
          <p:nvPr/>
        </p:nvSpPr>
        <p:spPr>
          <a:xfrm xmlns:a="http://schemas.openxmlformats.org/drawingml/2006/main">
            <a:off x="3676650" y="39243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C949C"/>
                </a:solidFill>
                <a:latin typeface="Arial"/>
                <a:ea typeface="Arial"/>
              </a:rPr>
              <a:t>coverage · month end</a:t>
            </a:r>
            <a:endParaRPr lang="en-US"/>
          </a:p>
        </p:txBody>
      </p:sp>
      <p:sp>
        <p:nvSpPr>
          <p:cNvPr id="24" name="finance-rule-1"/>
          <p:cNvSpPr/>
          <p:nvPr/>
        </p:nvSpPr>
        <p:spPr>
          <a:xfrm xmlns:a="http://schemas.openxmlformats.org/drawingml/2006/main">
            <a:off x="3676650" y="43815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C949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finance-value-2"/>
          <p:cNvSpPr txBox="1"/>
          <p:nvPr/>
        </p:nvSpPr>
        <p:spPr>
          <a:xfrm xmlns:a="http://schemas.openxmlformats.org/drawingml/2006/main">
            <a:off x="6248400" y="33337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8304A"/>
                </a:solidFill>
                <a:latin typeface="Arial"/>
                <a:ea typeface="Arial"/>
              </a:rPr>
              <a:t>61%</a:t>
            </a:r>
            <a:endParaRPr lang="en-US"/>
          </a:p>
        </p:txBody>
      </p:sp>
      <p:sp>
        <p:nvSpPr>
          <p:cNvPr id="26" name="finance-label-2"/>
          <p:cNvSpPr txBox="1"/>
          <p:nvPr/>
        </p:nvSpPr>
        <p:spPr>
          <a:xfrm xmlns:a="http://schemas.openxmlformats.org/drawingml/2006/main">
            <a:off x="6248400" y="39243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C949C"/>
                </a:solidFill>
                <a:latin typeface="Arial"/>
                <a:ea typeface="Arial"/>
              </a:rPr>
              <a:t>top two regions</a:t>
            </a:r>
            <a:endParaRPr lang="en-US"/>
          </a:p>
        </p:txBody>
      </p:sp>
      <p:sp>
        <p:nvSpPr>
          <p:cNvPr id="27" name="finance-rule-2"/>
          <p:cNvSpPr/>
          <p:nvPr/>
        </p:nvSpPr>
        <p:spPr>
          <a:xfrm xmlns:a="http://schemas.openxmlformats.org/drawingml/2006/main">
            <a:off x="6248400" y="43815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C949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8" name="finance-read"/>
          <p:cNvSpPr txBox="1"/>
          <p:nvPr/>
        </p:nvSpPr>
        <p:spPr>
          <a:xfrm xmlns:a="http://schemas.openxmlformats.org/drawingml/2006/main">
            <a:off x="1104900" y="51435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8304A"/>
                </a:solidFill>
                <a:latin typeface="Arial"/>
                <a:ea typeface="Arial"/>
              </a:rPr>
              <a:t>The ledger supports a narrow allocation, not a broad acceleration.</a:t>
            </a:r>
            <a:endParaRPr lang="en-US"/>
          </a:p>
        </p:txBody>
      </p:sp>
      <p:sp>
        <p:nvSpPr>
          <p:cNvPr id="29" name="finance-panel"/>
          <p:cNvSpPr/>
          <p:nvPr/>
        </p:nvSpPr>
        <p:spPr>
          <a:xfrm xmlns:a="http://schemas.openxmlformats.org/drawingml/2006/main">
            <a:off x="10096500" y="3238500"/>
            <a:ext cx="3810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8C949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0" name="finance-panel-label"/>
          <p:cNvSpPr txBox="1"/>
          <p:nvPr/>
        </p:nvSpPr>
        <p:spPr>
          <a:xfrm xmlns:a="http://schemas.openxmlformats.org/drawingml/2006/main">
            <a:off x="10477500" y="3600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E57A27"/>
                </a:solidFill>
                <a:latin typeface="Arial"/>
                <a:ea typeface="Arial"/>
              </a:rPr>
              <a:t>DECISION GATE</a:t>
            </a:r>
            <a:endParaRPr lang="en-US"/>
          </a:p>
        </p:txBody>
      </p:sp>
      <p:sp>
        <p:nvSpPr>
          <p:cNvPr id="31" name="finance-panel-value"/>
          <p:cNvSpPr txBox="1"/>
          <p:nvPr/>
        </p:nvSpPr>
        <p:spPr>
          <a:xfrm xmlns:a="http://schemas.openxmlformats.org/drawingml/2006/main">
            <a:off x="10477500" y="40576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025" b="1">
                <a:solidFill>
                  <a:srgbClr val="18304A"/>
                </a:solidFill>
                <a:latin typeface="Arial"/>
                <a:ea typeface="Arial"/>
              </a:rPr>
              <a:t>Cash buffer</a:t>
            </a:r>
            <a:endParaRPr lang="en-US"/>
          </a:p>
        </p:txBody>
      </p:sp>
      <p:sp>
        <p:nvSpPr>
          <p:cNvPr id="32" name="finance-panel-foot"/>
          <p:cNvSpPr txBox="1"/>
          <p:nvPr/>
        </p:nvSpPr>
        <p:spPr>
          <a:xfrm xmlns:a="http://schemas.openxmlformats.org/drawingml/2006/main">
            <a:off x="10477500" y="4667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C949C"/>
                </a:solidFill>
                <a:latin typeface="Arial"/>
                <a:ea typeface="Arial"/>
              </a:rPr>
              <a:t>Release only after ≥10 weeks</a:t>
            </a:r>
            <a:endParaRPr lang="en-US"/>
          </a:p>
        </p:txBody>
      </p:sp>
      <p:sp>
        <p:nvSpPr>
          <p:cNvPr id="33" name="source"/>
          <p:cNvSpPr txBox="1"/>
          <p:nvPr/>
        </p:nvSpPr>
        <p:spPr>
          <a:xfrm xmlns:a="http://schemas.openxmlformats.org/drawingml/2006/main">
            <a:off x="914400" y="78105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C949C"/>
                </a:solidFill>
                <a:latin typeface="Arial"/>
                <a:ea typeface="Arial"/>
              </a:rPr>
              <a:t>Source: illustrative calibration brief · every claim is fictional and bounded</a:t>
            </a:r>
            <a:endParaRPr lang="en-US"/>
          </a:p>
        </p:txBody>
      </p:sp>
      <p:sp>
        <p:nvSpPr>
          <p:cNvPr id="34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C949C"/>
                </a:solidFill>
                <a:latin typeface="Arial"/>
                <a:ea typeface="Arial"/>
              </a:rPr>
              <a:t>2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 name="Evidenc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E8"/>
          </a:solidFill>
          <a:ln xmlns:a="http://schemas.openxmlformats.org/drawingml/2006/main" w="0">
            <a:solidFill>
              <a:srgbClr val="F8F1E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A27"/>
          </a:solidFill>
          <a:ln xmlns:a="http://schemas.openxmlformats.org/drawingml/2006/main" w="0">
            <a:solidFill>
              <a:srgbClr val="E57A2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49C"/>
                </a:solidFill>
                <a:latin typeface="Arial"/>
                <a:ea typeface="Arial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49C"/>
                </a:solidFill>
                <a:latin typeface="Arial"/>
                <a:ea typeface="Arial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A"/>
          </a:solidFill>
          <a:ln xmlns:a="http://schemas.openxmlformats.org/drawingml/2006/main" w="0">
            <a:solidFill>
              <a:srgbClr val="18304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FFFFFF"/>
                </a:solidFill>
                <a:latin typeface="Arial"/>
                <a:ea typeface="Arial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49C"/>
                </a:solidFill>
                <a:latin typeface="Arial"/>
                <a:ea typeface="Arial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49C"/>
                </a:solidFill>
                <a:latin typeface="Arial"/>
                <a:ea typeface="Arial"/>
              </a:rPr>
              <a:t>NEXT</a:t>
            </a:r>
            <a:endParaRPr lang="en-US"/>
          </a:p>
        </p:txBody>
      </p:sp>
      <p:sp>
        <p:nvSpPr>
          <p:cNvPr id="14" name="evidenc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57A2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AMBER COMMITTEE MEMO · EVIDENC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E57A27"/>
                </a:solidFill>
                <a:latin typeface="Arial"/>
                <a:ea typeface="Arial"/>
              </a:rPr>
              <a:t>AMBER COMMITTEE MEMO · EVIDENCE</a:t>
            </a:r>
            <a:endParaRPr lang="en-US"/>
          </a:p>
        </p:txBody>
      </p:sp>
      <p:sp>
        <p:nvSpPr>
          <p:cNvPr id="16" name="evidence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8304A"/>
                </a:solidFill>
                <a:latin typeface="Arial"/>
                <a:ea typeface="Arial"/>
              </a:rPr>
              <a:t>The ledger moves, but the threshold still governs</a:t>
            </a:r>
            <a:endParaRPr lang="en-US"/>
          </a:p>
        </p:txBody>
      </p:sp>
      <p:sp>
        <p:nvSpPr>
          <p:cNvPr id="17" name="evidence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C949C"/>
                </a:solidFill>
                <a:latin typeface="Arial"/>
                <a:ea typeface="Arial"/>
              </a:rPr>
              <a:t>Illustrative ledger · values show period, unit, and decision threshold.</a:t>
            </a:r>
            <a:endParaRPr lang="en-US"/>
          </a:p>
        </p:txBody>
      </p:sp>
      <p:sp>
        <p:nvSpPr>
          <p:cNvPr id="18" name="evidenc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949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graphicFrame>
        <p:nvGraphicFramePr>
          <p:cNvPr id="19" name="finance-evidence-tabl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990600" y="3162300"/>
          <a:ext xmlns:a="http://schemas.openxmlformats.org/drawingml/2006/main" cx="8001000" cy="28956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000250"/>
                <a:gridCol w="2000250"/>
                <a:gridCol w="2000250"/>
                <a:gridCol w="2000250"/>
              </a:tblGrid>
              <a:tr h="579120"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Metric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Base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Plan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Delta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Coverage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42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51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+9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Cash conversion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1.6x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2.1x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+0.5x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Risk buffer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8w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10w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+2w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Release gate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Open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Clear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—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able-note-label"/>
          <p:cNvSpPr txBox="1"/>
          <p:nvPr/>
        </p:nvSpPr>
        <p:spPr>
          <a:xfrm xmlns:a="http://schemas.openxmlformats.org/drawingml/2006/main">
            <a:off x="9810750" y="3314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E57A27"/>
                </a:solidFill>
                <a:latin typeface="Arial"/>
                <a:ea typeface="Arial"/>
              </a:rPr>
              <a:t>MODEL READ-THROUGH</a:t>
            </a:r>
            <a:endParaRPr lang="en-US"/>
          </a:p>
        </p:txBody>
      </p:sp>
      <p:sp>
        <p:nvSpPr>
          <p:cNvPr id="21" name="table-note-title"/>
          <p:cNvSpPr txBox="1"/>
          <p:nvPr/>
        </p:nvSpPr>
        <p:spPr>
          <a:xfrm xmlns:a="http://schemas.openxmlformats.org/drawingml/2006/main">
            <a:off x="9810750" y="3790950"/>
            <a:ext cx="3619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18304A"/>
                </a:solidFill>
                <a:latin typeface="Arial"/>
                <a:ea typeface="Arial"/>
              </a:rPr>
              <a:t>The gate stays visible beside the number.</a:t>
            </a:r>
            <a:endParaRPr lang="en-US"/>
          </a:p>
        </p:txBody>
      </p:sp>
      <p:sp>
        <p:nvSpPr>
          <p:cNvPr id="22" name="table-note-rule"/>
          <p:cNvSpPr/>
          <p:nvPr/>
        </p:nvSpPr>
        <p:spPr>
          <a:xfrm xmlns:a="http://schemas.openxmlformats.org/drawingml/2006/main">
            <a:off x="9810750" y="50101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C949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3" name="table-note-body"/>
          <p:cNvSpPr txBox="1"/>
          <p:nvPr/>
        </p:nvSpPr>
        <p:spPr>
          <a:xfrm xmlns:a="http://schemas.openxmlformats.org/drawingml/2006/main">
            <a:off x="9810750" y="5276850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C949C"/>
                </a:solidFill>
                <a:latin typeface="Arial"/>
                <a:ea typeface="Arial"/>
              </a:rPr>
              <a:t>Use a table when assumptions and units carry the decision. Charts support the ledger; they do not replace it.</a:t>
            </a:r>
            <a:endParaRPr lang="en-US"/>
          </a:p>
        </p:txBody>
      </p:sp>
      <p:sp>
        <p:nvSpPr>
          <p:cNvPr id="24" name="evidence-band"/>
          <p:cNvSpPr/>
          <p:nvPr/>
        </p:nvSpPr>
        <p:spPr>
          <a:xfrm xmlns:a="http://schemas.openxmlformats.org/drawingml/2006/main">
            <a:off x="914400" y="6877050"/>
            <a:ext cx="13411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evidence-band-text"/>
          <p:cNvSpPr txBox="1"/>
          <p:nvPr/>
        </p:nvSpPr>
        <p:spPr>
          <a:xfrm xmlns:a="http://schemas.openxmlformats.org/drawingml/2006/main">
            <a:off x="1143000" y="7058025"/>
            <a:ext cx="1238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 b="1">
                <a:solidFill>
                  <a:srgbClr val="18304A"/>
                </a:solidFill>
                <a:latin typeface="Arial"/>
                <a:ea typeface="Arial"/>
              </a:rPr>
              <a:t>EVIDENCE  ·  Keep the unit, time window, and limitation adjacent to the number.</a:t>
            </a:r>
            <a:endParaRPr lang="en-US"/>
          </a:p>
        </p:txBody>
      </p:sp>
      <p:sp>
        <p:nvSpPr>
          <p:cNvPr id="26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C949C"/>
                </a:solidFill>
                <a:latin typeface="Arial"/>
                <a:ea typeface="Arial"/>
              </a:rPr>
              <a:t>Source: illustrative calibration brief · values are fictional</a:t>
            </a:r>
            <a:endParaRPr lang="en-US"/>
          </a:p>
        </p:txBody>
      </p:sp>
      <p:sp>
        <p:nvSpPr>
          <p:cNvPr id="27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C949C"/>
                </a:solidFill>
                <a:latin typeface="Arial"/>
                <a:ea typeface="Arial"/>
              </a:rPr>
              <a:t>3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 name="Detail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E8"/>
          </a:solidFill>
          <a:ln xmlns:a="http://schemas.openxmlformats.org/drawingml/2006/main" w="0">
            <a:solidFill>
              <a:srgbClr val="F8F1E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A27"/>
          </a:solidFill>
          <a:ln xmlns:a="http://schemas.openxmlformats.org/drawingml/2006/main" w="0">
            <a:solidFill>
              <a:srgbClr val="E57A2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49C"/>
                </a:solidFill>
                <a:latin typeface="Arial"/>
                <a:ea typeface="Arial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49C"/>
                </a:solidFill>
                <a:latin typeface="Arial"/>
                <a:ea typeface="Arial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49C"/>
                </a:solidFill>
                <a:latin typeface="Arial"/>
                <a:ea typeface="Arial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A"/>
          </a:solidFill>
          <a:ln xmlns:a="http://schemas.openxmlformats.org/drawingml/2006/main" w="0">
            <a:solidFill>
              <a:srgbClr val="18304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FFFFFF"/>
                </a:solidFill>
                <a:latin typeface="Arial"/>
                <a:ea typeface="Arial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49C"/>
                </a:solidFill>
                <a:latin typeface="Arial"/>
                <a:ea typeface="Arial"/>
              </a:rPr>
              <a:t>NEXT</a:t>
            </a:r>
            <a:endParaRPr lang="en-US"/>
          </a:p>
        </p:txBody>
      </p:sp>
      <p:sp>
        <p:nvSpPr>
          <p:cNvPr id="14" name="detai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57A2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AMBER COMMITTEE MEMO · DETAIL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E57A27"/>
                </a:solidFill>
                <a:latin typeface="Arial"/>
                <a:ea typeface="Arial"/>
              </a:rPr>
              <a:t>AMBER COMMITTEE MEMO · DETAIL</a:t>
            </a:r>
            <a:endParaRPr lang="en-US"/>
          </a:p>
        </p:txBody>
      </p:sp>
      <p:sp>
        <p:nvSpPr>
          <p:cNvPr id="16" name="detail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8304A"/>
                </a:solidFill>
                <a:latin typeface="Arial"/>
                <a:ea typeface="Arial"/>
              </a:rPr>
              <a:t>The ledger carries the assumptions</a:t>
            </a:r>
            <a:endParaRPr lang="en-US"/>
          </a:p>
        </p:txBody>
      </p:sp>
      <p:sp>
        <p:nvSpPr>
          <p:cNvPr id="17" name="detail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C949C"/>
                </a:solidFill>
                <a:latin typeface="Arial"/>
                <a:ea typeface="Arial"/>
              </a:rPr>
              <a:t>Assumption grid · values stay aligned to their basis and release gate.</a:t>
            </a:r>
            <a:endParaRPr lang="en-US"/>
          </a:p>
        </p:txBody>
      </p:sp>
      <p:sp>
        <p:nvSpPr>
          <p:cNvPr id="18" name="detai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949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graphicFrame>
        <p:nvGraphicFramePr>
          <p:cNvPr id="19" name="finance-evidence-tabl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990600" y="3162300"/>
          <a:ext xmlns:a="http://schemas.openxmlformats.org/drawingml/2006/main" cx="8001000" cy="28956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000250"/>
                <a:gridCol w="2000250"/>
                <a:gridCol w="2000250"/>
                <a:gridCol w="2000250"/>
              </a:tblGrid>
              <a:tr h="579120"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Metric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Base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Plan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Delta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Coverage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42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51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+9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Cash conversion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1.6x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2.1x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+0.5x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Risk buffer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8w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10w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+2w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Release gate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Open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Clear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—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able-note-label"/>
          <p:cNvSpPr txBox="1"/>
          <p:nvPr/>
        </p:nvSpPr>
        <p:spPr>
          <a:xfrm xmlns:a="http://schemas.openxmlformats.org/drawingml/2006/main">
            <a:off x="9810750" y="3314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E57A27"/>
                </a:solidFill>
                <a:latin typeface="Arial"/>
                <a:ea typeface="Arial"/>
              </a:rPr>
              <a:t>MODEL READ-THROUGH</a:t>
            </a:r>
            <a:endParaRPr lang="en-US"/>
          </a:p>
        </p:txBody>
      </p:sp>
      <p:sp>
        <p:nvSpPr>
          <p:cNvPr id="21" name="table-note-title"/>
          <p:cNvSpPr txBox="1"/>
          <p:nvPr/>
        </p:nvSpPr>
        <p:spPr>
          <a:xfrm xmlns:a="http://schemas.openxmlformats.org/drawingml/2006/main">
            <a:off x="9810750" y="3790950"/>
            <a:ext cx="3619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18304A"/>
                </a:solidFill>
                <a:latin typeface="Arial"/>
                <a:ea typeface="Arial"/>
              </a:rPr>
              <a:t>The gate stays visible beside the number.</a:t>
            </a:r>
            <a:endParaRPr lang="en-US"/>
          </a:p>
        </p:txBody>
      </p:sp>
      <p:sp>
        <p:nvSpPr>
          <p:cNvPr id="22" name="table-note-rule"/>
          <p:cNvSpPr/>
          <p:nvPr/>
        </p:nvSpPr>
        <p:spPr>
          <a:xfrm xmlns:a="http://schemas.openxmlformats.org/drawingml/2006/main">
            <a:off x="9810750" y="50101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C949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3" name="table-note-body"/>
          <p:cNvSpPr txBox="1"/>
          <p:nvPr/>
        </p:nvSpPr>
        <p:spPr>
          <a:xfrm xmlns:a="http://schemas.openxmlformats.org/drawingml/2006/main">
            <a:off x="9810750" y="5276850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C949C"/>
                </a:solidFill>
                <a:latin typeface="Arial"/>
                <a:ea typeface="Arial"/>
              </a:rPr>
              <a:t>Use a table when assumptions and units carry the decision. Charts support the ledger; they do not replace it.</a:t>
            </a:r>
            <a:endParaRPr lang="en-US"/>
          </a:p>
        </p:txBody>
      </p:sp>
      <p:sp>
        <p:nvSpPr>
          <p:cNvPr id="24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C949C"/>
                </a:solidFill>
                <a:latin typeface="Arial"/>
                <a:ea typeface="Arial"/>
              </a:rPr>
              <a:t>Source: illustrative calibration brief · labels and values are fictional</a:t>
            </a:r>
            <a:endParaRPr lang="en-US"/>
          </a:p>
        </p:txBody>
      </p:sp>
      <p:sp>
        <p:nvSpPr>
          <p:cNvPr id="25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C949C"/>
                </a:solidFill>
                <a:latin typeface="Arial"/>
                <a:ea typeface="Arial"/>
              </a:rPr>
              <a:t>4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 name="Visual carri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A27"/>
          </a:solidFill>
          <a:ln xmlns:a="http://schemas.openxmlformats.org/drawingml/2006/main" w="0">
            <a:solidFill>
              <a:srgbClr val="E57A2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nav-0"/>
          <p:cNvSpPr/>
          <p:nvPr/>
        </p:nvSpPr>
        <p:spPr>
          <a:xfrm xmlns:a="http://schemas.openxmlformats.org/drawingml/2006/main">
            <a:off x="91440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label-0"/>
          <p:cNvSpPr txBox="1"/>
          <p:nvPr/>
        </p:nvSpPr>
        <p:spPr>
          <a:xfrm xmlns:a="http://schemas.openxmlformats.org/drawingml/2006/main">
            <a:off x="99060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49C"/>
                </a:solidFill>
                <a:latin typeface="Arial"/>
                <a:ea typeface="Arial"/>
              </a:rPr>
              <a:t>BRIEF</a:t>
            </a:r>
            <a:endParaRPr lang="en-US"/>
          </a:p>
        </p:txBody>
      </p:sp>
      <p:sp>
        <p:nvSpPr>
          <p:cNvPr id="5" name="fixed-nav-1"/>
          <p:cNvSpPr/>
          <p:nvPr/>
        </p:nvSpPr>
        <p:spPr>
          <a:xfrm xmlns:a="http://schemas.openxmlformats.org/drawingml/2006/main">
            <a:off x="248793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6" name="fixed-nav-label-1"/>
          <p:cNvSpPr txBox="1"/>
          <p:nvPr/>
        </p:nvSpPr>
        <p:spPr>
          <a:xfrm xmlns:a="http://schemas.openxmlformats.org/drawingml/2006/main">
            <a:off x="256413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49C"/>
                </a:solidFill>
                <a:latin typeface="Arial"/>
                <a:ea typeface="Arial"/>
              </a:rPr>
              <a:t>SIGNAL</a:t>
            </a:r>
            <a:endParaRPr lang="en-US"/>
          </a:p>
        </p:txBody>
      </p:sp>
      <p:sp>
        <p:nvSpPr>
          <p:cNvPr id="7" name="fixed-nav-2"/>
          <p:cNvSpPr/>
          <p:nvPr/>
        </p:nvSpPr>
        <p:spPr>
          <a:xfrm xmlns:a="http://schemas.openxmlformats.org/drawingml/2006/main">
            <a:off x="406146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A"/>
          </a:solidFill>
          <a:ln xmlns:a="http://schemas.openxmlformats.org/drawingml/2006/main" w="0">
            <a:solidFill>
              <a:srgbClr val="18304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fixed-nav-label-2"/>
          <p:cNvSpPr txBox="1"/>
          <p:nvPr/>
        </p:nvSpPr>
        <p:spPr>
          <a:xfrm xmlns:a="http://schemas.openxmlformats.org/drawingml/2006/main">
            <a:off x="413766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FFFFFF"/>
                </a:solidFill>
                <a:latin typeface="Arial"/>
                <a:ea typeface="Arial"/>
              </a:rPr>
              <a:t>EVIDENCE</a:t>
            </a:r>
            <a:endParaRPr lang="en-US"/>
          </a:p>
        </p:txBody>
      </p:sp>
      <p:sp>
        <p:nvSpPr>
          <p:cNvPr id="9" name="fixed-nav-3"/>
          <p:cNvSpPr/>
          <p:nvPr/>
        </p:nvSpPr>
        <p:spPr>
          <a:xfrm xmlns:a="http://schemas.openxmlformats.org/drawingml/2006/main">
            <a:off x="563499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fixed-nav-label-3"/>
          <p:cNvSpPr txBox="1"/>
          <p:nvPr/>
        </p:nvSpPr>
        <p:spPr>
          <a:xfrm xmlns:a="http://schemas.openxmlformats.org/drawingml/2006/main">
            <a:off x="571119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49C"/>
                </a:solidFill>
                <a:latin typeface="Arial"/>
                <a:ea typeface="Arial"/>
              </a:rPr>
              <a:t>CHOICE</a:t>
            </a:r>
            <a:endParaRPr lang="en-US"/>
          </a:p>
        </p:txBody>
      </p:sp>
      <p:sp>
        <p:nvSpPr>
          <p:cNvPr id="11" name="fixed-nav-4"/>
          <p:cNvSpPr/>
          <p:nvPr/>
        </p:nvSpPr>
        <p:spPr>
          <a:xfrm xmlns:a="http://schemas.openxmlformats.org/drawingml/2006/main">
            <a:off x="720852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2" name="fixed-nav-label-4"/>
          <p:cNvSpPr txBox="1"/>
          <p:nvPr/>
        </p:nvSpPr>
        <p:spPr>
          <a:xfrm xmlns:a="http://schemas.openxmlformats.org/drawingml/2006/main">
            <a:off x="728472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49C"/>
                </a:solidFill>
                <a:latin typeface="Arial"/>
                <a:ea typeface="Arial"/>
              </a:rPr>
              <a:t>NEXT</a:t>
            </a:r>
            <a:endParaRPr lang="en-US"/>
          </a:p>
        </p:txBody>
      </p:sp>
      <p:sp>
        <p:nvSpPr>
          <p:cNvPr id="13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E8"/>
          </a:solidFill>
          <a:ln xmlns:a="http://schemas.openxmlformats.org/drawingml/2006/main" w="0">
            <a:solidFill>
              <a:srgbClr val="F8F1E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visua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57A2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AMBER COMMITTEE MEMO · VISUAL CARRIER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E57A27"/>
                </a:solidFill>
                <a:latin typeface="Arial"/>
                <a:ea typeface="Arial"/>
              </a:rPr>
              <a:t>AMBER COMMITTEE MEMO · VISUAL CARRIER</a:t>
            </a:r>
            <a:endParaRPr lang="en-US"/>
          </a:p>
        </p:txBody>
      </p:sp>
      <p:sp>
        <p:nvSpPr>
          <p:cNvPr id="16" name="visual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8304A"/>
                </a:solidFill>
                <a:latin typeface="Arial"/>
                <a:ea typeface="Arial"/>
              </a:rPr>
              <a:t>A visual field can carry a signal</a:t>
            </a:r>
            <a:endParaRPr lang="en-US"/>
          </a:p>
        </p:txBody>
      </p:sp>
      <p:sp>
        <p:nvSpPr>
          <p:cNvPr id="17" name="visual-body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C949C"/>
                </a:solidFill>
                <a:latin typeface="Arial"/>
                <a:ea typeface="Arial"/>
              </a:rPr>
              <a:t>The picture is not a mood board; it is the surface where the argument lands.</a:t>
            </a:r>
            <a:endParaRPr lang="en-US"/>
          </a:p>
        </p:txBody>
      </p:sp>
      <p:sp>
        <p:nvSpPr>
          <p:cNvPr id="18" name="visua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949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graphicFrame>
        <p:nvGraphicFramePr>
          <p:cNvPr id="19" name="dense-visual-bars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914400" y="3028950"/>
          <a:ext xmlns:a="http://schemas.openxmlformats.org/drawingml/2006/main" cx="5334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fd3260e60ec4ae9"/>
          </a:graphicData>
        </a:graphic>
      </p:graphicFrame>
      <p:graphicFrame>
        <p:nvGraphicFramePr>
          <p:cNvPr id="20" name="dense-visual-lin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6667500" y="3028950"/>
          <a:ext xmlns:a="http://schemas.openxmlformats.org/drawingml/2006/main" cx="3810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9377da46ee2499f"/>
          </a:graphicData>
        </a:graphic>
      </p:graphicFrame>
      <p:sp>
        <p:nvSpPr>
          <p:cNvPr id="21" name="visual-note"/>
          <p:cNvSpPr/>
          <p:nvPr/>
        </p:nvSpPr>
        <p:spPr>
          <a:xfrm xmlns:a="http://schemas.openxmlformats.org/drawingml/2006/main">
            <a:off x="11049000" y="3333750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8C949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visual-note-label"/>
          <p:cNvSpPr txBox="1"/>
          <p:nvPr/>
        </p:nvSpPr>
        <p:spPr>
          <a:xfrm xmlns:a="http://schemas.openxmlformats.org/drawingml/2006/main">
            <a:off x="11430000" y="3695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E57A27"/>
                </a:solidFill>
                <a:latin typeface="Arial"/>
                <a:ea typeface="Arial"/>
              </a:rPr>
              <a:t>CARRIER</a:t>
            </a:r>
            <a:endParaRPr lang="en-US"/>
          </a:p>
        </p:txBody>
      </p:sp>
      <p:sp>
        <p:nvSpPr>
          <p:cNvPr id="23" name="visual-note-text"/>
          <p:cNvSpPr txBox="1"/>
          <p:nvPr/>
        </p:nvSpPr>
        <p:spPr>
          <a:xfrm xmlns:a="http://schemas.openxmlformats.org/drawingml/2006/main">
            <a:off x="11430000" y="417195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18304A"/>
                </a:solidFill>
                <a:latin typeface="Arial"/>
                <a:ea typeface="Arial"/>
              </a:rPr>
              <a:t>Signal before decoration</a:t>
            </a:r>
            <a:endParaRPr lang="en-US"/>
          </a:p>
        </p:txBody>
      </p:sp>
      <p:sp>
        <p:nvSpPr>
          <p:cNvPr id="24" name="visual-note-foot"/>
          <p:cNvSpPr txBox="1"/>
          <p:nvPr/>
        </p:nvSpPr>
        <p:spPr>
          <a:xfrm xmlns:a="http://schemas.openxmlformats.org/drawingml/2006/main">
            <a:off x="11430000" y="52197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C949C"/>
                </a:solidFill>
                <a:latin typeface="Arial"/>
                <a:ea typeface="Arial"/>
              </a:rPr>
              <a:t>Read the mark, unit, and basis.</a:t>
            </a:r>
            <a:endParaRPr lang="en-US"/>
          </a:p>
        </p:txBody>
      </p:sp>
      <p:sp>
        <p:nvSpPr>
          <p:cNvPr id="25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C949C"/>
                </a:solidFill>
                <a:latin typeface="Arial"/>
                <a:ea typeface="Arial"/>
              </a:rPr>
              <a:t>OfficeKit original clean-room visual field · fictional content</a:t>
            </a:r>
            <a:endParaRPr lang="en-US"/>
          </a:p>
        </p:txBody>
      </p:sp>
      <p:sp>
        <p:nvSpPr>
          <p:cNvPr id="26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C949C"/>
                </a:solidFill>
                <a:latin typeface="Arial"/>
                <a:ea typeface="Arial"/>
              </a:rPr>
              <a:t>5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 name="Decision clos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E8"/>
          </a:solidFill>
          <a:ln xmlns:a="http://schemas.openxmlformats.org/drawingml/2006/main" w="0">
            <a:solidFill>
              <a:srgbClr val="F8F1E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fixed-rail"/>
          <p:cNvSpPr/>
          <p:nvPr/>
        </p:nvSpPr>
        <p:spPr>
          <a:xfrm xmlns:a="http://schemas.openxmlformats.org/drawingml/2006/main">
            <a:off x="323850" y="0"/>
            <a:ext cx="1143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A27"/>
          </a:solidFill>
          <a:ln xmlns:a="http://schemas.openxmlformats.org/drawingml/2006/main" w="0">
            <a:solidFill>
              <a:srgbClr val="E57A2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fixed-nav-0"/>
          <p:cNvSpPr/>
          <p:nvPr/>
        </p:nvSpPr>
        <p:spPr>
          <a:xfrm xmlns:a="http://schemas.openxmlformats.org/drawingml/2006/main">
            <a:off x="91440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fixed-nav-label-0"/>
          <p:cNvSpPr txBox="1"/>
          <p:nvPr/>
        </p:nvSpPr>
        <p:spPr>
          <a:xfrm xmlns:a="http://schemas.openxmlformats.org/drawingml/2006/main">
            <a:off x="99060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49C"/>
                </a:solidFill>
                <a:latin typeface="Arial"/>
                <a:ea typeface="Arial"/>
              </a:rPr>
              <a:t>BRIEF</a:t>
            </a:r>
            <a:endParaRPr lang="en-US"/>
          </a:p>
        </p:txBody>
      </p:sp>
      <p:sp>
        <p:nvSpPr>
          <p:cNvPr id="6" name="fixed-nav-1"/>
          <p:cNvSpPr/>
          <p:nvPr/>
        </p:nvSpPr>
        <p:spPr>
          <a:xfrm xmlns:a="http://schemas.openxmlformats.org/drawingml/2006/main">
            <a:off x="248793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fixed-nav-label-1"/>
          <p:cNvSpPr txBox="1"/>
          <p:nvPr/>
        </p:nvSpPr>
        <p:spPr>
          <a:xfrm xmlns:a="http://schemas.openxmlformats.org/drawingml/2006/main">
            <a:off x="256413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49C"/>
                </a:solidFill>
                <a:latin typeface="Arial"/>
                <a:ea typeface="Arial"/>
              </a:rPr>
              <a:t>SIGNAL</a:t>
            </a:r>
            <a:endParaRPr lang="en-US"/>
          </a:p>
        </p:txBody>
      </p:sp>
      <p:sp>
        <p:nvSpPr>
          <p:cNvPr id="8" name="fixed-nav-2"/>
          <p:cNvSpPr/>
          <p:nvPr/>
        </p:nvSpPr>
        <p:spPr>
          <a:xfrm xmlns:a="http://schemas.openxmlformats.org/drawingml/2006/main">
            <a:off x="406146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fixed-nav-label-2"/>
          <p:cNvSpPr txBox="1"/>
          <p:nvPr/>
        </p:nvSpPr>
        <p:spPr>
          <a:xfrm xmlns:a="http://schemas.openxmlformats.org/drawingml/2006/main">
            <a:off x="413766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49C"/>
                </a:solidFill>
                <a:latin typeface="Arial"/>
                <a:ea typeface="Arial"/>
              </a:rPr>
              <a:t>EVIDENCE</a:t>
            </a:r>
            <a:endParaRPr lang="en-US"/>
          </a:p>
        </p:txBody>
      </p:sp>
      <p:sp>
        <p:nvSpPr>
          <p:cNvPr id="10" name="fixed-nav-3"/>
          <p:cNvSpPr/>
          <p:nvPr/>
        </p:nvSpPr>
        <p:spPr>
          <a:xfrm xmlns:a="http://schemas.openxmlformats.org/drawingml/2006/main">
            <a:off x="563499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fixed-nav-label-3"/>
          <p:cNvSpPr txBox="1"/>
          <p:nvPr/>
        </p:nvSpPr>
        <p:spPr>
          <a:xfrm xmlns:a="http://schemas.openxmlformats.org/drawingml/2006/main">
            <a:off x="571119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8C949C"/>
                </a:solidFill>
                <a:latin typeface="Arial"/>
                <a:ea typeface="Arial"/>
              </a:rPr>
              <a:t>CHOICE</a:t>
            </a:r>
            <a:endParaRPr lang="en-US"/>
          </a:p>
        </p:txBody>
      </p:sp>
      <p:sp>
        <p:nvSpPr>
          <p:cNvPr id="12" name="fixed-nav-4"/>
          <p:cNvSpPr/>
          <p:nvPr/>
        </p:nvSpPr>
        <p:spPr>
          <a:xfrm xmlns:a="http://schemas.openxmlformats.org/drawingml/2006/main">
            <a:off x="7208520" y="2628900"/>
            <a:ext cx="151638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A"/>
          </a:solidFill>
          <a:ln xmlns:a="http://schemas.openxmlformats.org/drawingml/2006/main" w="0">
            <a:solidFill>
              <a:srgbClr val="18304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fixed-nav-label-4"/>
          <p:cNvSpPr txBox="1"/>
          <p:nvPr/>
        </p:nvSpPr>
        <p:spPr>
          <a:xfrm xmlns:a="http://schemas.openxmlformats.org/drawingml/2006/main">
            <a:off x="7284720" y="2667000"/>
            <a:ext cx="136398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675" b="1">
                <a:solidFill>
                  <a:srgbClr val="FFFFFF"/>
                </a:solidFill>
                <a:latin typeface="Arial"/>
                <a:ea typeface="Arial"/>
              </a:rPr>
              <a:t>NEXT</a:t>
            </a:r>
            <a:endParaRPr lang="en-US"/>
          </a:p>
        </p:txBody>
      </p:sp>
      <p:sp>
        <p:nvSpPr>
          <p:cNvPr id="14" name="clos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57A2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AMBER COMMITTEE MEMO · CLOS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E57A27"/>
                </a:solidFill>
                <a:latin typeface="Arial"/>
                <a:ea typeface="Arial"/>
              </a:rPr>
              <a:t>AMBER COMMITTEE MEMO · CLOSE</a:t>
            </a:r>
            <a:endParaRPr lang="en-US"/>
          </a:p>
        </p:txBody>
      </p:sp>
      <p:sp>
        <p:nvSpPr>
          <p:cNvPr id="16" name="close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8304A"/>
                </a:solidFill>
                <a:latin typeface="Arial"/>
                <a:ea typeface="Arial"/>
              </a:rPr>
              <a:t>Fund the proven constraint, then measure the next one</a:t>
            </a:r>
            <a:endParaRPr lang="en-US"/>
          </a:p>
        </p:txBody>
      </p:sp>
      <p:sp>
        <p:nvSpPr>
          <p:cNvPr id="17" name="close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C949C"/>
                </a:solidFill>
                <a:latin typeface="Arial"/>
                <a:ea typeface="Arial"/>
              </a:rPr>
              <a:t>A reference page must leave the reader with a bounded next move.</a:t>
            </a:r>
            <a:endParaRPr lang="en-US"/>
          </a:p>
        </p:txBody>
      </p:sp>
      <p:sp>
        <p:nvSpPr>
          <p:cNvPr id="18" name="clos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949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close-number-0"/>
          <p:cNvSpPr txBox="1"/>
          <p:nvPr/>
        </p:nvSpPr>
        <p:spPr>
          <a:xfrm xmlns:a="http://schemas.openxmlformats.org/drawingml/2006/main">
            <a:off x="1104900" y="32194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E57A27"/>
                </a:solidFill>
                <a:latin typeface="Arial"/>
                <a:ea typeface="Arial"/>
              </a:rPr>
              <a:t>01</a:t>
            </a:r>
            <a:endParaRPr lang="en-US"/>
          </a:p>
        </p:txBody>
      </p:sp>
      <p:sp>
        <p:nvSpPr>
          <p:cNvPr id="20" name="close-row-rule-0"/>
          <p:cNvSpPr/>
          <p:nvPr/>
        </p:nvSpPr>
        <p:spPr>
          <a:xfrm xmlns:a="http://schemas.openxmlformats.org/drawingml/2006/main">
            <a:off x="2000250" y="33718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C949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close-label-0"/>
          <p:cNvSpPr txBox="1"/>
          <p:nvPr/>
        </p:nvSpPr>
        <p:spPr>
          <a:xfrm xmlns:a="http://schemas.openxmlformats.org/drawingml/2006/main">
            <a:off x="2114550" y="3181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8304A"/>
                </a:solidFill>
                <a:latin typeface="Arial"/>
                <a:ea typeface="Arial"/>
              </a:rPr>
              <a:t>Signal</a:t>
            </a:r>
            <a:endParaRPr lang="en-US"/>
          </a:p>
        </p:txBody>
      </p:sp>
      <p:sp>
        <p:nvSpPr>
          <p:cNvPr id="22" name="close-text-0"/>
          <p:cNvSpPr txBox="1"/>
          <p:nvPr/>
        </p:nvSpPr>
        <p:spPr>
          <a:xfrm xmlns:a="http://schemas.openxmlformats.org/drawingml/2006/main">
            <a:off x="4495800" y="32194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8304A"/>
                </a:solidFill>
                <a:latin typeface="Arial"/>
                <a:ea typeface="Arial"/>
              </a:rPr>
              <a:t>Cash conversion remains positive.</a:t>
            </a:r>
            <a:endParaRPr lang="en-US"/>
          </a:p>
        </p:txBody>
      </p:sp>
      <p:sp>
        <p:nvSpPr>
          <p:cNvPr id="23" name="close-number-1"/>
          <p:cNvSpPr txBox="1"/>
          <p:nvPr/>
        </p:nvSpPr>
        <p:spPr>
          <a:xfrm xmlns:a="http://schemas.openxmlformats.org/drawingml/2006/main">
            <a:off x="1104900" y="4267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18304A"/>
                </a:solidFill>
                <a:latin typeface="Arial"/>
                <a:ea typeface="Arial"/>
              </a:rPr>
              <a:t>02</a:t>
            </a:r>
            <a:endParaRPr lang="en-US"/>
          </a:p>
        </p:txBody>
      </p:sp>
      <p:sp>
        <p:nvSpPr>
          <p:cNvPr id="24" name="close-row-rule-1"/>
          <p:cNvSpPr/>
          <p:nvPr/>
        </p:nvSpPr>
        <p:spPr>
          <a:xfrm xmlns:a="http://schemas.openxmlformats.org/drawingml/2006/main">
            <a:off x="2000250" y="44196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C949C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close-label-1"/>
          <p:cNvSpPr txBox="1"/>
          <p:nvPr/>
        </p:nvSpPr>
        <p:spPr>
          <a:xfrm xmlns:a="http://schemas.openxmlformats.org/drawingml/2006/main">
            <a:off x="2114550" y="4229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8304A"/>
                </a:solidFill>
                <a:latin typeface="Arial"/>
                <a:ea typeface="Arial"/>
              </a:rPr>
              <a:t>Risk</a:t>
            </a:r>
            <a:endParaRPr lang="en-US"/>
          </a:p>
        </p:txBody>
      </p:sp>
      <p:sp>
        <p:nvSpPr>
          <p:cNvPr id="26" name="close-text-1"/>
          <p:cNvSpPr txBox="1"/>
          <p:nvPr/>
        </p:nvSpPr>
        <p:spPr>
          <a:xfrm xmlns:a="http://schemas.openxmlformats.org/drawingml/2006/main">
            <a:off x="4495800" y="42672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8304A"/>
                </a:solidFill>
                <a:latin typeface="Arial"/>
                <a:ea typeface="Arial"/>
              </a:rPr>
              <a:t>The buffer is below threshold.</a:t>
            </a:r>
            <a:endParaRPr lang="en-US"/>
          </a:p>
        </p:txBody>
      </p:sp>
      <p:sp>
        <p:nvSpPr>
          <p:cNvPr id="27" name="close-number-2"/>
          <p:cNvSpPr txBox="1"/>
          <p:nvPr/>
        </p:nvSpPr>
        <p:spPr>
          <a:xfrm xmlns:a="http://schemas.openxmlformats.org/drawingml/2006/main">
            <a:off x="1104900" y="5314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E57A27"/>
                </a:solidFill>
                <a:latin typeface="Arial"/>
                <a:ea typeface="Arial"/>
              </a:rPr>
              <a:t>03</a:t>
            </a:r>
            <a:endParaRPr lang="en-US"/>
          </a:p>
        </p:txBody>
      </p:sp>
      <p:sp>
        <p:nvSpPr>
          <p:cNvPr id="28" name="close-row-rule-2"/>
          <p:cNvSpPr/>
          <p:nvPr/>
        </p:nvSpPr>
        <p:spPr>
          <a:xfrm xmlns:a="http://schemas.openxmlformats.org/drawingml/2006/main">
            <a:off x="2000250" y="54673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E57A2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9" name="close-label-2"/>
          <p:cNvSpPr txBox="1"/>
          <p:nvPr/>
        </p:nvSpPr>
        <p:spPr>
          <a:xfrm xmlns:a="http://schemas.openxmlformats.org/drawingml/2006/main">
            <a:off x="2114550" y="527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8304A"/>
                </a:solidFill>
                <a:latin typeface="Arial"/>
                <a:ea typeface="Arial"/>
              </a:rPr>
              <a:t>Decision</a:t>
            </a:r>
            <a:endParaRPr lang="en-US"/>
          </a:p>
        </p:txBody>
      </p:sp>
      <p:sp>
        <p:nvSpPr>
          <p:cNvPr id="30" name="close-text-2"/>
          <p:cNvSpPr txBox="1"/>
          <p:nvPr/>
        </p:nvSpPr>
        <p:spPr>
          <a:xfrm xmlns:a="http://schemas.openxmlformats.org/drawingml/2006/main">
            <a:off x="4495800" y="53149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8304A"/>
                </a:solidFill>
                <a:latin typeface="Arial"/>
                <a:ea typeface="Arial"/>
              </a:rPr>
              <a:t>Release one constrained tranche.</a:t>
            </a:r>
            <a:endParaRPr lang="en-US"/>
          </a:p>
        </p:txBody>
      </p:sp>
      <p:sp>
        <p:nvSpPr>
          <p:cNvPr id="31" name="next-panel"/>
          <p:cNvSpPr/>
          <p:nvPr/>
        </p:nvSpPr>
        <p:spPr>
          <a:xfrm xmlns:a="http://schemas.openxmlformats.org/drawingml/2006/main">
            <a:off x="10668000" y="3238500"/>
            <a:ext cx="3238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7A27"/>
          </a:solidFill>
          <a:ln xmlns:a="http://schemas.openxmlformats.org/drawingml/2006/main" w="0">
            <a:solidFill>
              <a:srgbClr val="E57A2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2" name="next-label"/>
          <p:cNvSpPr txBox="1"/>
          <p:nvPr/>
        </p:nvSpPr>
        <p:spPr>
          <a:xfrm xmlns:a="http://schemas.openxmlformats.org/drawingml/2006/main">
            <a:off x="11049000" y="3562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FFFFFF"/>
                </a:solidFill>
                <a:latin typeface="Arial"/>
                <a:ea typeface="Arial"/>
              </a:rPr>
              <a:t>NEXT MOVE</a:t>
            </a:r>
            <a:endParaRPr lang="en-US"/>
          </a:p>
        </p:txBody>
      </p:sp>
      <p:sp>
        <p:nvSpPr>
          <p:cNvPr id="33" name="next-text"/>
          <p:cNvSpPr txBox="1"/>
          <p:nvPr/>
        </p:nvSpPr>
        <p:spPr>
          <a:xfrm xmlns:a="http://schemas.openxmlformats.org/drawingml/2006/main">
            <a:off x="11049000" y="40386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FFFFFF"/>
                </a:solidFill>
                <a:latin typeface="Arial"/>
                <a:ea typeface="Arial"/>
              </a:rPr>
              <a:t>Clear the buffer gate</a:t>
            </a:r>
            <a:endParaRPr lang="en-US"/>
          </a:p>
        </p:txBody>
      </p:sp>
      <p:sp>
        <p:nvSpPr>
          <p:cNvPr id="34" name="next-foot"/>
          <p:cNvSpPr txBox="1"/>
          <p:nvPr/>
        </p:nvSpPr>
        <p:spPr>
          <a:xfrm xmlns:a="http://schemas.openxmlformats.org/drawingml/2006/main">
            <a:off x="11049000" y="5048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FFFFFF"/>
                </a:solidFill>
                <a:latin typeface="Arial"/>
                <a:ea typeface="Arial"/>
              </a:rPr>
              <a:t>Owner · reviewer · date</a:t>
            </a:r>
            <a:endParaRPr lang="en-US"/>
          </a:p>
        </p:txBody>
      </p:sp>
      <p:sp>
        <p:nvSpPr>
          <p:cNvPr id="35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C949C"/>
                </a:solidFill>
                <a:latin typeface="Arial"/>
                <a:ea typeface="Arial"/>
              </a:rPr>
              <a:t>OfficeKit original clean-room calibration · reference deck is editable and inspectable</a:t>
            </a:r>
            <a:endParaRPr lang="en-US"/>
          </a:p>
        </p:txBody>
      </p:sp>
      <p:sp>
        <p:nvSpPr>
          <p:cNvPr id="36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C949C"/>
                </a:solidFill>
                <a:latin typeface="Arial"/>
                <a:ea typeface="Arial"/>
              </a:rPr>
              <a:t>6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