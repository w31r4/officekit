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b4ca1c8a38d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e307d6c31b3d1e07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51801dbaebab4ae9" /><Relationship Type="http://schemas.openxmlformats.org/officeDocument/2006/relationships/chart" Target="/ppt/slides/charts/chart2.xml" Id="Rf91c8669341241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7D69B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9C78D7"/>
            </a:solidFill>
            <a:ln w="38100">
              <a:solidFill>
                <a:srgbClr val="9C78D7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bg>
      <p:bgPr>
        <a:blipFill xmlns:a="http://schemas.openxmlformats.org/drawingml/2006/main">
          <a:blip xmlns:r="http://schemas.openxmlformats.org/officeDocument/2006/relationships" r:embed="rIdOfficeKitImagee307d6c31b3d1e07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hoto-scrim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>
              <a:alpha val="58000"/>
            </a:srgbClr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reading-plane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>
              <a:alpha val="78000"/>
            </a:srgbClr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OFFICEKIT CALIBRATION</a:t>
            </a:r>
            <a:endParaRPr lang="en-US"/>
          </a:p>
        </p:txBody>
      </p:sp>
      <p:sp>
        <p:nvSpPr>
          <p:cNvPr id="7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9969E"/>
                </a:solidFill>
                <a:latin typeface="Inter"/>
                <a:ea typeface="Inter"/>
              </a:rPr>
              <a:t>RESEARCH NOTE · 2026</a:t>
            </a:r>
            <a:endParaRPr lang="en-US"/>
          </a:p>
        </p:txBody>
      </p:sp>
      <p:sp>
        <p:nvSpPr>
          <p:cNvPr id="8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7F9F8"/>
                </a:solidFill>
                <a:latin typeface="Inter"/>
                <a:ea typeface="Inter"/>
              </a:rPr>
              <a:t>Midnight Prospectus: a claim worth testing</a:t>
            </a:r>
            <a:endParaRPr lang="en-US"/>
          </a:p>
        </p:txBody>
      </p:sp>
      <p:sp>
        <p:nvSpPr>
          <p:cNvPr id="9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9969E"/>
                </a:solidFill>
                <a:latin typeface="Inter"/>
                <a:ea typeface="Inter"/>
              </a:rPr>
              <a:t>A clean-room reference for bounded financial decisions.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7F9F8"/>
                </a:solidFill>
                <a:latin typeface="Inter"/>
                <a:ea typeface="Inter"/>
              </a:rPr>
              <a:t>A ledger turns evidence into a bounded stance.</a:t>
            </a:r>
            <a:endParaRPr lang="en-US"/>
          </a:p>
        </p:txBody>
      </p:sp>
      <p:sp>
        <p:nvSpPr>
          <p:cNvPr id="11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27D69B"/>
                </a:solidFill>
                <a:latin typeface="Inter"/>
                <a:ea typeface="Inter"/>
              </a:rPr>
              <a:t>142.0</a:t>
            </a:r>
            <a:endParaRPr lang="en-US"/>
          </a:p>
        </p:txBody>
      </p:sp>
      <p:sp>
        <p:nvSpPr>
          <p:cNvPr id="12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units funded · Q2</a:t>
            </a:r>
            <a:endParaRPr lang="en-US"/>
          </a:p>
        </p:txBody>
      </p:sp>
      <p:sp>
        <p:nvSpPr>
          <p:cNvPr id="13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7F9F8"/>
                </a:solidFill>
                <a:latin typeface="Inter"/>
                <a:ea typeface="Inter"/>
              </a:rPr>
              <a:t>4.1×</a:t>
            </a:r>
            <a:endParaRPr lang="en-US"/>
          </a:p>
        </p:txBody>
      </p:sp>
      <p:sp>
        <p:nvSpPr>
          <p:cNvPr id="14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coverage · month end</a:t>
            </a:r>
            <a:endParaRPr lang="en-US"/>
          </a:p>
        </p:txBody>
      </p:sp>
      <p:sp>
        <p:nvSpPr>
          <p:cNvPr id="15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7F9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16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top two regions</a:t>
            </a:r>
            <a:endParaRPr lang="en-US"/>
          </a:p>
        </p:txBody>
      </p:sp>
      <p:sp>
        <p:nvSpPr>
          <p:cNvPr id="17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9969E"/>
                </a:solidFill>
                <a:latin typeface="Inter"/>
                <a:ea typeface="Inter"/>
              </a:rPr>
              <a:t>26</a:t>
            </a:r>
            <a:endParaRPr lang="en-US"/>
          </a:p>
        </p:txBody>
      </p:sp>
      <p:sp>
        <p:nvSpPr>
          <p:cNvPr id="18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>
              <a:alpha val="10000"/>
            </a:srgbClr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20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9969E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27D69B"/>
                </a:solidFill>
                <a:latin typeface="Inter"/>
                <a:ea typeface="Inter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The ledger moves, but the threshold still governs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969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12A3C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The ledger carries the assumptions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969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A visual field can carry a signal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801dbaebab4ae9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1c8669341241ea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Signal before decoration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9969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9969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7D69B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7F9F8"/>
                </a:solidFill>
                <a:latin typeface="Inter"/>
                <a:ea typeface="Inter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>
              <a:alpha val="10000"/>
            </a:srgbClr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7F9F8"/>
                </a:solidFill>
                <a:latin typeface="Inter"/>
                <a:ea typeface="Inter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