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jpg" ContentType="image/jpeg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charts/chart1.xml" ContentType="application/vnd.openxmlformats-officedocument.drawingml.chart+xml"/>
  <Override PartName="/ppt/slides/charts/chart2.xml" ContentType="application/vnd.openxmlformats-officedocument.drawingml.chart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f9ce141dee4b433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IdMaster1"/>
  </p:sldMasterIdLst>
  <p:sldIdLst>
    <p:sldId xmlns:r="http://schemas.openxmlformats.org/officeDocument/2006/relationships" id="256" r:id="rIdSlide1"/>
    <p:sldId xmlns:r="http://schemas.openxmlformats.org/officeDocument/2006/relationships" id="257" r:id="rIdSlide2"/>
    <p:sldId xmlns:r="http://schemas.openxmlformats.org/officeDocument/2006/relationships" id="258" r:id="rIdSlide3"/>
    <p:sldId xmlns:r="http://schemas.openxmlformats.org/officeDocument/2006/relationships" id="259" r:id="rIdSlide4"/>
    <p:sldId xmlns:r="http://schemas.openxmlformats.org/officeDocument/2006/relationships" id="260" r:id="rIdSlide5"/>
    <p:sldId xmlns:r="http://schemas.openxmlformats.org/officeDocument/2006/relationships" id="261" r:id="rIdSlide6"/>
  </p:sldIdLst>
  <p:sldSz cx="15240000" cy="8572500"/>
  <p:notesSz cx="6858000" cy="9144000"/>
  <p:defaultTextStyle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Relationship Type="http://schemas.openxmlformats.org/officeDocument/2006/relationships/slide" Target="/ppt/slides/slide1.xml" Id="rIdSlide1" /><Relationship Type="http://schemas.openxmlformats.org/officeDocument/2006/relationships/slide" Target="/ppt/slides/slide2.xml" Id="rIdSlide2" /><Relationship Type="http://schemas.openxmlformats.org/officeDocument/2006/relationships/slide" Target="/ppt/slides/slide3.xml" Id="rIdSlide3" /><Relationship Type="http://schemas.openxmlformats.org/officeDocument/2006/relationships/slide" Target="/ppt/slides/slide4.xml" Id="rIdSlide4" /><Relationship Type="http://schemas.openxmlformats.org/officeDocument/2006/relationships/slide" Target="/ppt/slides/slide5.xml" Id="rIdSlide5" /><Relationship Type="http://schemas.openxmlformats.org/officeDocument/2006/relationships/slide" Target="/ppt/slides/slide6.xml" Id="rIdSlide6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/Relationships>
</file>

<file path=ppt/slideLayouts/slideLayout1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IdTheme1" /><Relationship Type="http://schemas.openxmlformats.org/officeDocument/2006/relationships/slideLayout" Target="/ppt/slideLayouts/slideLayout1.xml" Id="rIdLayout1" /></Relationships>
</file>

<file path=ppt/slideMasters/slideMaster1.xml><?xml version="1.0" encoding="utf-8"?>
<p:sldMaster xmlns:p="http://schemas.openxmlformats.org/presentationml/2006/main">
  <p:cSld name="Default Master">
    <p:bg>
      <p:bgPr>
        <a:solidFill xmlns:a="http://schemas.openxmlformats.org/drawingml/2006/main">
          <a:srgbClr val="FFFFFF"/>
        </a:solidFill>
        <a:effectLst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Layout1"/>
  </p:sldLayoutIdLst>
  <p:txStyles>
    <p:titleStyle/>
    <p:bodyStyle/>
    <p:otherStyle/>
  </p:txStyles>
</p:sldMaster>
</file>

<file path=ppt/slideMasters/theme/theme1.xml><?xml version="1.0" encoding="utf-8"?>
<a:theme xmlns:a="http://schemas.openxmlformats.org/drawingml/2006/main" name="Office Clean Room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.jpg" Id="rIdOfficeKitImagee307d6c31b3d1e07_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chart" Target="/ppt/slides/charts/chart1.xml" Id="R1da83aba11f540ec" /><Relationship Type="http://schemas.openxmlformats.org/officeDocument/2006/relationships/chart" Target="/ppt/slides/charts/chart2.xml" Id="R4a8079ab69a84bf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charts/chart1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Observed signal</a:t>
            </a:r>
          </a:p>
        </c:rich>
      </c:tx>
      <c:layout/>
    </c:title>
    <c:plotArea>
      <c:layout/>
      <c:barChart>
        <c:barDir val="col"/>
        <c:grouping val="clustered"/>
        <c:ser>
          <c:idx val="0"/>
          <c:order val="0"/>
          <c:tx>
            <c:v>Observed</c:v>
          </c:tx>
          <c:spPr>
            <a:solidFill>
              <a:srgbClr val="27D69B"/>
            </a:solidFill>
          </c:spPr>
          <c:cat>
            <c:strLit>
              <c:ptCount val="6"/>
              <c:pt idx="0">
                <c:v>A</c:v>
              </c:pt>
              <c:pt idx="1">
                <c:v>B</c:v>
              </c:pt>
              <c:pt idx="2">
                <c:v>C</c:v>
              </c:pt>
              <c:pt idx="3">
                <c:v>D</c:v>
              </c:pt>
              <c:pt idx="4">
                <c:v>E</c:v>
              </c:pt>
              <c:pt idx="5">
                <c:v>F</c:v>
              </c:pt>
            </c:strLit>
          </c:cat>
          <c:val>
            <c:numLit>
              <c:formatCode>General</c:formatCode>
              <c:ptCount val="6"/>
              <c:pt idx="0">
                <c:v>38</c:v>
              </c:pt>
              <c:pt idx="1">
                <c:v>46</c:v>
              </c:pt>
              <c:pt idx="2">
                <c:v>43</c:v>
              </c:pt>
              <c:pt idx="3">
                <c:v>58</c:v>
              </c:pt>
              <c:pt idx="4">
                <c:v>68</c:v>
              </c:pt>
              <c:pt idx="5">
                <c:v>74</c:v>
              </c:pt>
            </c:numLit>
          </c:val>
        </c:ser>
        <c:axId val="1"/>
        <c:axId val="2"/>
      </c:bar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plotVisOnly val="1"/>
  </c:chart>
</c:chartSpace>
</file>

<file path=ppt/slides/charts/chart2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Context</a:t>
            </a:r>
          </a:p>
        </c:rich>
      </c:tx>
      <c:layout/>
    </c:title>
    <c:plotArea>
      <c:layout/>
      <c:lineChart>
        <c:grouping val="standard"/>
        <c:ser>
          <c:idx val="0"/>
          <c:order val="0"/>
          <c:tx>
            <c:v>Context</c:v>
          </c:tx>
          <c:spPr>
            <a:solidFill>
              <a:srgbClr val="9C78D7"/>
            </a:solidFill>
            <a:ln w="38100">
              <a:solidFill>
                <a:srgbClr val="9C78D7"/>
              </a:solidFill>
              <a:prstDash val="solid"/>
            </a:ln>
          </c:spPr>
          <c:marker>
            <c:symbol val="circle"/>
            <c:size val="6"/>
          </c:marker>
          <c:cat>
            <c:strLit>
              <c:ptCount val="6"/>
              <c:pt idx="0">
                <c:v>A</c:v>
              </c:pt>
              <c:pt idx="1">
                <c:v>B</c:v>
              </c:pt>
              <c:pt idx="2">
                <c:v>C</c:v>
              </c:pt>
              <c:pt idx="3">
                <c:v>D</c:v>
              </c:pt>
              <c:pt idx="4">
                <c:v>E</c:v>
              </c:pt>
              <c:pt idx="5">
                <c:v>F</c:v>
              </c:pt>
            </c:strLit>
          </c:cat>
          <c:val>
            <c:numLit>
              <c:formatCode>General</c:formatCode>
              <c:ptCount val="6"/>
              <c:pt idx="0">
                <c:v>34</c:v>
              </c:pt>
              <c:pt idx="1">
                <c:v>39</c:v>
              </c:pt>
              <c:pt idx="2">
                <c:v>41</c:v>
              </c:pt>
              <c:pt idx="3">
                <c:v>45</c:v>
              </c:pt>
              <c:pt idx="4">
                <c:v>49</c:v>
              </c:pt>
              <c:pt idx="5">
                <c:v>52</c:v>
              </c:pt>
            </c:numLit>
          </c:val>
        </c:ser>
        <c:axId val="1"/>
        <c:axId val="2"/>
      </c:line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plotVisOnly val="1"/>
  </c:chart>
</c:chartSpace>
</file>

<file path=ppt/slides/slide1.xml><?xml version="1.0" encoding="utf-8"?>
<p:sld xmlns:p="http://schemas.openxmlformats.org/presentationml/2006/main">
  <p:cSld name="Opening proposition">
    <p:bg>
      <p:bgPr>
        <a:blipFill xmlns:a="http://schemas.openxmlformats.org/drawingml/2006/main">
          <a:blip xmlns:r="http://schemas.openxmlformats.org/officeDocument/2006/relationships" r:embed="rIdOfficeKitImagee307d6c31b3d1e07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cover-photo-scrim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2A3C">
              <a:alpha val="58000"/>
            </a:srgbClr>
          </a:solidFill>
          <a:ln xmlns:a="http://schemas.openxmlformats.org/drawingml/2006/main" w="0">
            <a:solidFill>
              <a:srgbClr val="112A3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cover-reading-plane"/>
          <p:cNvSpPr/>
          <p:nvPr/>
        </p:nvSpPr>
        <p:spPr>
          <a:xfrm xmlns:a="http://schemas.openxmlformats.org/drawingml/2006/main">
            <a:off x="0" y="0"/>
            <a:ext cx="81915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2A3C">
              <a:alpha val="78000"/>
            </a:srgbClr>
          </a:solidFill>
          <a:ln xmlns:a="http://schemas.openxmlformats.org/drawingml/2006/main" w="0">
            <a:solidFill>
              <a:srgbClr val="112A3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cover-evidence-field"/>
          <p:cNvSpPr/>
          <p:nvPr/>
        </p:nvSpPr>
        <p:spPr>
          <a:xfrm xmlns:a="http://schemas.openxmlformats.org/drawingml/2006/main">
            <a:off x="8667750" y="0"/>
            <a:ext cx="657225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>
              <a:alpha val="12000"/>
            </a:srgbClr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cover-gold-line"/>
          <p:cNvSpPr/>
          <p:nvPr/>
        </p:nvSpPr>
        <p:spPr>
          <a:xfrm xmlns:a="http://schemas.openxmlformats.org/drawingml/2006/main">
            <a:off x="914400" y="1562100"/>
            <a:ext cx="5524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88900">
            <a:solidFill>
              <a:srgbClr val="27D69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6" name="eyebrow"/>
          <p:cNvSpPr txBox="1"/>
          <p:nvPr/>
        </p:nvSpPr>
        <p:spPr>
          <a:xfrm xmlns:a="http://schemas.openxmlformats.org/drawingml/2006/main">
            <a:off x="914400" y="857250"/>
            <a:ext cx="7048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27D69B"/>
                </a:solidFill>
                <a:latin typeface="Inter"/>
                <a:ea typeface="Inter"/>
              </a:rPr>
              <a:t>FINANCE · OFFICEKIT CALIBRATION</a:t>
            </a:r>
            <a:endParaRPr lang="en-US"/>
          </a:p>
        </p:txBody>
      </p:sp>
      <p:sp>
        <p:nvSpPr>
          <p:cNvPr id="7" name="cover-date"/>
          <p:cNvSpPr txBox="1"/>
          <p:nvPr/>
        </p:nvSpPr>
        <p:spPr>
          <a:xfrm xmlns:a="http://schemas.openxmlformats.org/drawingml/2006/main">
            <a:off x="11239500" y="876300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125">
                <a:solidFill>
                  <a:srgbClr val="89969E"/>
                </a:solidFill>
                <a:latin typeface="Inter"/>
                <a:ea typeface="Inter"/>
              </a:rPr>
              <a:t>RESEARCH NOTE · 2026</a:t>
            </a:r>
            <a:endParaRPr lang="en-US"/>
          </a:p>
        </p:txBody>
      </p:sp>
      <p:sp>
        <p:nvSpPr>
          <p:cNvPr id="8" name="cover-title"/>
          <p:cNvSpPr txBox="1"/>
          <p:nvPr/>
        </p:nvSpPr>
        <p:spPr>
          <a:xfrm xmlns:a="http://schemas.openxmlformats.org/drawingml/2006/main">
            <a:off x="914400" y="1981200"/>
            <a:ext cx="72390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900" b="1">
                <a:solidFill>
                  <a:srgbClr val="F7F9F8"/>
                </a:solidFill>
                <a:latin typeface="Inter"/>
                <a:ea typeface="Inter"/>
              </a:rPr>
              <a:t>Midnight Prospectus: a claim worth testing</a:t>
            </a:r>
            <a:endParaRPr lang="en-US"/>
          </a:p>
        </p:txBody>
      </p:sp>
      <p:sp>
        <p:nvSpPr>
          <p:cNvPr id="9" name="cover-subtitle"/>
          <p:cNvSpPr txBox="1"/>
          <p:nvPr/>
        </p:nvSpPr>
        <p:spPr>
          <a:xfrm xmlns:a="http://schemas.openxmlformats.org/drawingml/2006/main">
            <a:off x="952500" y="3409950"/>
            <a:ext cx="6858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75">
                <a:solidFill>
                  <a:srgbClr val="89969E"/>
                </a:solidFill>
                <a:latin typeface="Inter"/>
                <a:ea typeface="Inter"/>
              </a:rPr>
              <a:t>A clean-room reference for bounded financial decisions.</a:t>
            </a:r>
            <a:endParaRPr lang="en-US"/>
          </a:p>
        </p:txBody>
      </p:sp>
      <p:sp>
        <p:nvSpPr>
          <p:cNvPr id="10" name="cover-thesis"/>
          <p:cNvSpPr txBox="1"/>
          <p:nvPr/>
        </p:nvSpPr>
        <p:spPr>
          <a:xfrm xmlns:a="http://schemas.openxmlformats.org/drawingml/2006/main">
            <a:off x="952500" y="4114800"/>
            <a:ext cx="6667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F7F9F8"/>
                </a:solidFill>
                <a:latin typeface="Inter"/>
                <a:ea typeface="Inter"/>
              </a:rPr>
              <a:t>A ledger turns evidence into a bounded stance.</a:t>
            </a:r>
            <a:endParaRPr lang="en-US"/>
          </a:p>
        </p:txBody>
      </p:sp>
      <p:sp>
        <p:nvSpPr>
          <p:cNvPr id="11" name="cover-metric-one"/>
          <p:cNvSpPr txBox="1"/>
          <p:nvPr/>
        </p:nvSpPr>
        <p:spPr>
          <a:xfrm xmlns:a="http://schemas.openxmlformats.org/drawingml/2006/main">
            <a:off x="952500" y="5619750"/>
            <a:ext cx="1714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700" b="1">
                <a:solidFill>
                  <a:srgbClr val="27D69B"/>
                </a:solidFill>
                <a:latin typeface="Inter"/>
                <a:ea typeface="Inter"/>
              </a:rPr>
              <a:t>142.0</a:t>
            </a:r>
            <a:endParaRPr lang="en-US"/>
          </a:p>
        </p:txBody>
      </p:sp>
      <p:sp>
        <p:nvSpPr>
          <p:cNvPr id="12" name="cover-metric-one-caption"/>
          <p:cNvSpPr txBox="1"/>
          <p:nvPr/>
        </p:nvSpPr>
        <p:spPr>
          <a:xfrm xmlns:a="http://schemas.openxmlformats.org/drawingml/2006/main">
            <a:off x="952500" y="615315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A7A7A7"/>
                </a:solidFill>
                <a:latin typeface="Inter"/>
                <a:ea typeface="Inter"/>
              </a:rPr>
              <a:t>units funded · Q2</a:t>
            </a:r>
            <a:endParaRPr lang="en-US"/>
          </a:p>
        </p:txBody>
      </p:sp>
      <p:sp>
        <p:nvSpPr>
          <p:cNvPr id="13" name="cover-metric-two"/>
          <p:cNvSpPr txBox="1"/>
          <p:nvPr/>
        </p:nvSpPr>
        <p:spPr>
          <a:xfrm xmlns:a="http://schemas.openxmlformats.org/drawingml/2006/main">
            <a:off x="3238500" y="5619750"/>
            <a:ext cx="1714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700" b="1">
                <a:solidFill>
                  <a:srgbClr val="F7F9F8"/>
                </a:solidFill>
                <a:latin typeface="Inter"/>
                <a:ea typeface="Inter"/>
              </a:rPr>
              <a:t>4.1×</a:t>
            </a:r>
            <a:endParaRPr lang="en-US"/>
          </a:p>
        </p:txBody>
      </p:sp>
      <p:sp>
        <p:nvSpPr>
          <p:cNvPr id="14" name="cover-metric-two-caption"/>
          <p:cNvSpPr txBox="1"/>
          <p:nvPr/>
        </p:nvSpPr>
        <p:spPr>
          <a:xfrm xmlns:a="http://schemas.openxmlformats.org/drawingml/2006/main">
            <a:off x="3238500" y="615315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A7A7A7"/>
                </a:solidFill>
                <a:latin typeface="Inter"/>
                <a:ea typeface="Inter"/>
              </a:rPr>
              <a:t>coverage · month end</a:t>
            </a:r>
            <a:endParaRPr lang="en-US"/>
          </a:p>
        </p:txBody>
      </p:sp>
      <p:sp>
        <p:nvSpPr>
          <p:cNvPr id="15" name="cover-metric-three"/>
          <p:cNvSpPr txBox="1"/>
          <p:nvPr/>
        </p:nvSpPr>
        <p:spPr>
          <a:xfrm xmlns:a="http://schemas.openxmlformats.org/drawingml/2006/main">
            <a:off x="5524500" y="5619750"/>
            <a:ext cx="1714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700" b="1">
                <a:solidFill>
                  <a:srgbClr val="F7F9F8"/>
                </a:solidFill>
                <a:latin typeface="Inter"/>
                <a:ea typeface="Inter"/>
              </a:rPr>
              <a:t>61%</a:t>
            </a:r>
            <a:endParaRPr lang="en-US"/>
          </a:p>
        </p:txBody>
      </p:sp>
      <p:sp>
        <p:nvSpPr>
          <p:cNvPr id="16" name="cover-metric-three-caption"/>
          <p:cNvSpPr txBox="1"/>
          <p:nvPr/>
        </p:nvSpPr>
        <p:spPr>
          <a:xfrm xmlns:a="http://schemas.openxmlformats.org/drawingml/2006/main">
            <a:off x="5524500" y="615315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A7A7A7"/>
                </a:solidFill>
                <a:latin typeface="Inter"/>
                <a:ea typeface="Inter"/>
              </a:rPr>
              <a:t>top two regions</a:t>
            </a:r>
            <a:endParaRPr lang="en-US"/>
          </a:p>
        </p:txBody>
      </p:sp>
      <p:sp>
        <p:nvSpPr>
          <p:cNvPr id="17" name="cover-watermark"/>
          <p:cNvSpPr txBox="1"/>
          <p:nvPr/>
        </p:nvSpPr>
        <p:spPr>
          <a:xfrm xmlns:a="http://schemas.openxmlformats.org/drawingml/2006/main">
            <a:off x="10572750" y="1809750"/>
            <a:ext cx="32385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050">
                <a:solidFill>
                  <a:srgbClr val="89969E"/>
                </a:solidFill>
                <a:latin typeface="Inter"/>
                <a:ea typeface="Inter"/>
              </a:rPr>
              <a:t>26</a:t>
            </a:r>
            <a:endParaRPr lang="en-US"/>
          </a:p>
        </p:txBody>
      </p:sp>
      <p:sp>
        <p:nvSpPr>
          <p:cNvPr id="18" name="basis-band"/>
          <p:cNvSpPr/>
          <p:nvPr/>
        </p:nvSpPr>
        <p:spPr>
          <a:xfrm xmlns:a="http://schemas.openxmlformats.org/drawingml/2006/main">
            <a:off x="914400" y="7086600"/>
            <a:ext cx="134112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8">
              <a:alpha val="10000"/>
            </a:srgbClr>
          </a:solidFill>
          <a:ln xmlns:a="http://schemas.openxmlformats.org/drawingml/2006/main" w="0">
            <a:solidFill>
              <a:srgbClr val="F7F9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basis-band-text"/>
          <p:cNvSpPr txBox="1"/>
          <p:nvPr/>
        </p:nvSpPr>
        <p:spPr>
          <a:xfrm xmlns:a="http://schemas.openxmlformats.org/drawingml/2006/main">
            <a:off x="1143000" y="7239000"/>
            <a:ext cx="1190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9969E"/>
                </a:solidFill>
                <a:latin typeface="Inter"/>
                <a:ea typeface="Inter"/>
              </a:rPr>
              <a:t>Illustrative ledger · values fictional · read the unit, period, and decision threshold</a:t>
            </a:r>
            <a:endParaRPr lang="en-US"/>
          </a:p>
        </p:txBody>
      </p:sp>
      <p:sp>
        <p:nvSpPr>
          <p:cNvPr id="20" name="page-number"/>
          <p:cNvSpPr txBox="1"/>
          <p:nvPr/>
        </p:nvSpPr>
        <p:spPr>
          <a:xfrm xmlns:a="http://schemas.openxmlformats.org/drawingml/2006/main">
            <a:off x="13335000" y="78867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9969E"/>
                </a:solidFill>
                <a:latin typeface="Inter"/>
                <a:ea typeface="Inter"/>
              </a:rPr>
              <a:t>1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2.xml><?xml version="1.0" encoding="utf-8"?>
<p:sld xmlns:p="http://schemas.openxmlformats.org/presentationml/2006/main">
  <p:cSld name="Argument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dark-fiel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2A3C"/>
          </a:solidFill>
          <a:ln xmlns:a="http://schemas.openxmlformats.org/drawingml/2006/main" w="0">
            <a:solidFill>
              <a:srgbClr val="112A3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eyebrow"/>
          <p:cNvSpPr txBox="1"/>
          <p:nvPr/>
        </p:nvSpPr>
        <p:spPr>
          <a:xfrm xmlns:a="http://schemas.openxmlformats.org/drawingml/2006/main">
            <a:off x="914400" y="781050"/>
            <a:ext cx="647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27D69B"/>
                </a:solidFill>
                <a:latin typeface="Inter"/>
                <a:ea typeface="Inter"/>
              </a:rPr>
              <a:t>FINANCE · STANCE</a:t>
            </a:r>
            <a:endParaRPr lang="en-US"/>
          </a:p>
        </p:txBody>
      </p:sp>
      <p:sp>
        <p:nvSpPr>
          <p:cNvPr id="4" name="argument-title"/>
          <p:cNvSpPr txBox="1"/>
          <p:nvPr/>
        </p:nvSpPr>
        <p:spPr>
          <a:xfrm xmlns:a="http://schemas.openxmlformats.org/drawingml/2006/main">
            <a:off x="914400" y="1257300"/>
            <a:ext cx="85725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150" b="1">
                <a:solidFill>
                  <a:srgbClr val="F7F9F8"/>
                </a:solidFill>
                <a:latin typeface="Inter"/>
                <a:ea typeface="Inter"/>
              </a:rPr>
              <a:t>The ledger supports a narrow allocation, not a broad acceleration</a:t>
            </a:r>
            <a:endParaRPr lang="en-US"/>
          </a:p>
        </p:txBody>
      </p:sp>
      <p:sp>
        <p:nvSpPr>
          <p:cNvPr id="5" name="argument-basis"/>
          <p:cNvSpPr txBox="1"/>
          <p:nvPr/>
        </p:nvSpPr>
        <p:spPr>
          <a:xfrm xmlns:a="http://schemas.openxmlformats.org/drawingml/2006/main">
            <a:off x="952500" y="2571750"/>
            <a:ext cx="723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9969E"/>
                </a:solidFill>
                <a:latin typeface="Inter"/>
                <a:ea typeface="Inter"/>
              </a:rPr>
              <a:t>Three observations separate the signal from the momentum.</a:t>
            </a:r>
            <a:endParaRPr lang="en-US"/>
          </a:p>
        </p:txBody>
      </p:sp>
      <p:sp>
        <p:nvSpPr>
          <p:cNvPr id="6" name="stance-number-0"/>
          <p:cNvSpPr txBox="1"/>
          <p:nvPr/>
        </p:nvSpPr>
        <p:spPr>
          <a:xfrm xmlns:a="http://schemas.openxmlformats.org/drawingml/2006/main">
            <a:off x="1066800" y="3505200"/>
            <a:ext cx="666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400">
                <a:solidFill>
                  <a:srgbClr val="89969E"/>
                </a:solidFill>
                <a:latin typeface="Inter"/>
                <a:ea typeface="Inter"/>
              </a:rPr>
              <a:t>01</a:t>
            </a:r>
            <a:endParaRPr lang="en-US"/>
          </a:p>
        </p:txBody>
      </p:sp>
      <p:sp>
        <p:nvSpPr>
          <p:cNvPr id="7" name="stance-0"/>
          <p:cNvSpPr txBox="1"/>
          <p:nvPr/>
        </p:nvSpPr>
        <p:spPr>
          <a:xfrm xmlns:a="http://schemas.openxmlformats.org/drawingml/2006/main">
            <a:off x="2095500" y="3505200"/>
            <a:ext cx="752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725" b="1">
                <a:solidFill>
                  <a:srgbClr val="F7F9F8"/>
                </a:solidFill>
                <a:latin typeface="Inter"/>
                <a:ea typeface="Inter"/>
              </a:rPr>
              <a:t>Funding is up, but late-stage deals are fewer.</a:t>
            </a:r>
            <a:endParaRPr lang="en-US"/>
          </a:p>
        </p:txBody>
      </p:sp>
      <p:sp>
        <p:nvSpPr>
          <p:cNvPr id="8" name="stance-detail-0"/>
          <p:cNvSpPr txBox="1"/>
          <p:nvPr/>
        </p:nvSpPr>
        <p:spPr>
          <a:xfrm xmlns:a="http://schemas.openxmlformats.org/drawingml/2006/main">
            <a:off x="2095500" y="3924300"/>
            <a:ext cx="7524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9969E"/>
                </a:solidFill>
                <a:latin typeface="Inter"/>
                <a:ea typeface="Inter"/>
              </a:rPr>
              <a:t>142.0 units funded; 58 active sites.</a:t>
            </a:r>
            <a:endParaRPr lang="en-US"/>
          </a:p>
        </p:txBody>
      </p:sp>
      <p:sp>
        <p:nvSpPr>
          <p:cNvPr id="9" name="stance-rule-0"/>
          <p:cNvSpPr/>
          <p:nvPr/>
        </p:nvSpPr>
        <p:spPr>
          <a:xfrm xmlns:a="http://schemas.openxmlformats.org/drawingml/2006/main">
            <a:off x="2095500" y="4343400"/>
            <a:ext cx="7810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9969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stance-number-1"/>
          <p:cNvSpPr txBox="1"/>
          <p:nvPr/>
        </p:nvSpPr>
        <p:spPr>
          <a:xfrm xmlns:a="http://schemas.openxmlformats.org/drawingml/2006/main">
            <a:off x="1066800" y="4629150"/>
            <a:ext cx="666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400">
                <a:solidFill>
                  <a:srgbClr val="89969E"/>
                </a:solidFill>
                <a:latin typeface="Inter"/>
                <a:ea typeface="Inter"/>
              </a:rPr>
              <a:t>02</a:t>
            </a:r>
            <a:endParaRPr lang="en-US"/>
          </a:p>
        </p:txBody>
      </p:sp>
      <p:sp>
        <p:nvSpPr>
          <p:cNvPr id="11" name="stance-1"/>
          <p:cNvSpPr txBox="1"/>
          <p:nvPr/>
        </p:nvSpPr>
        <p:spPr>
          <a:xfrm xmlns:a="http://schemas.openxmlformats.org/drawingml/2006/main">
            <a:off x="2095500" y="4629150"/>
            <a:ext cx="752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725" b="1">
                <a:solidFill>
                  <a:srgbClr val="F7F9F8"/>
                </a:solidFill>
                <a:latin typeface="Inter"/>
                <a:ea typeface="Inter"/>
              </a:rPr>
              <a:t>Throughput improved without expanding the footprint.</a:t>
            </a:r>
            <a:endParaRPr lang="en-US"/>
          </a:p>
        </p:txBody>
      </p:sp>
      <p:sp>
        <p:nvSpPr>
          <p:cNvPr id="12" name="stance-detail-1"/>
          <p:cNvSpPr txBox="1"/>
          <p:nvPr/>
        </p:nvSpPr>
        <p:spPr>
          <a:xfrm xmlns:a="http://schemas.openxmlformats.org/drawingml/2006/main">
            <a:off x="2095500" y="5048250"/>
            <a:ext cx="7524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9969E"/>
                </a:solidFill>
                <a:latin typeface="Inter"/>
                <a:ea typeface="Inter"/>
              </a:rPr>
              <a:t>Output per site is up 18% quarter on quarter.</a:t>
            </a:r>
            <a:endParaRPr lang="en-US"/>
          </a:p>
        </p:txBody>
      </p:sp>
      <p:sp>
        <p:nvSpPr>
          <p:cNvPr id="13" name="stance-rule-1"/>
          <p:cNvSpPr/>
          <p:nvPr/>
        </p:nvSpPr>
        <p:spPr>
          <a:xfrm xmlns:a="http://schemas.openxmlformats.org/drawingml/2006/main">
            <a:off x="2095500" y="5467350"/>
            <a:ext cx="7810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9969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stance-number-2"/>
          <p:cNvSpPr txBox="1"/>
          <p:nvPr/>
        </p:nvSpPr>
        <p:spPr>
          <a:xfrm xmlns:a="http://schemas.openxmlformats.org/drawingml/2006/main">
            <a:off x="1066800" y="5753100"/>
            <a:ext cx="666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400">
                <a:solidFill>
                  <a:srgbClr val="89969E"/>
                </a:solidFill>
                <a:latin typeface="Inter"/>
                <a:ea typeface="Inter"/>
              </a:rPr>
              <a:t>03</a:t>
            </a:r>
            <a:endParaRPr lang="en-US"/>
          </a:p>
        </p:txBody>
      </p:sp>
      <p:sp>
        <p:nvSpPr>
          <p:cNvPr id="15" name="stance-2"/>
          <p:cNvSpPr txBox="1"/>
          <p:nvPr/>
        </p:nvSpPr>
        <p:spPr>
          <a:xfrm xmlns:a="http://schemas.openxmlformats.org/drawingml/2006/main">
            <a:off x="2095500" y="5753100"/>
            <a:ext cx="752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725" b="1">
                <a:solidFill>
                  <a:srgbClr val="F7F9F8"/>
                </a:solidFill>
                <a:latin typeface="Inter"/>
                <a:ea typeface="Inter"/>
              </a:rPr>
              <a:t>The next decision is concentration, not acceleration.</a:t>
            </a:r>
            <a:endParaRPr lang="en-US"/>
          </a:p>
        </p:txBody>
      </p:sp>
      <p:sp>
        <p:nvSpPr>
          <p:cNvPr id="16" name="stance-detail-2"/>
          <p:cNvSpPr txBox="1"/>
          <p:nvPr/>
        </p:nvSpPr>
        <p:spPr>
          <a:xfrm xmlns:a="http://schemas.openxmlformats.org/drawingml/2006/main">
            <a:off x="2095500" y="6172200"/>
            <a:ext cx="7524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9969E"/>
                </a:solidFill>
                <a:latin typeface="Inter"/>
                <a:ea typeface="Inter"/>
              </a:rPr>
              <a:t>Two regions now carry 61% of active volume.</a:t>
            </a:r>
            <a:endParaRPr lang="en-US"/>
          </a:p>
        </p:txBody>
      </p:sp>
      <p:sp>
        <p:nvSpPr>
          <p:cNvPr id="17" name="stance-rule-2"/>
          <p:cNvSpPr/>
          <p:nvPr/>
        </p:nvSpPr>
        <p:spPr>
          <a:xfrm xmlns:a="http://schemas.openxmlformats.org/drawingml/2006/main">
            <a:off x="2095500" y="6591300"/>
            <a:ext cx="7810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9969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stance-rail"/>
          <p:cNvSpPr/>
          <p:nvPr/>
        </p:nvSpPr>
        <p:spPr>
          <a:xfrm xmlns:a="http://schemas.openxmlformats.org/drawingml/2006/main">
            <a:off x="11163300" y="3276600"/>
            <a:ext cx="0" cy="3676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9969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stance-rail-label"/>
          <p:cNvSpPr txBox="1"/>
          <p:nvPr/>
        </p:nvSpPr>
        <p:spPr>
          <a:xfrm xmlns:a="http://schemas.openxmlformats.org/drawingml/2006/main">
            <a:off x="11525250" y="3352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89969E"/>
                </a:solidFill>
                <a:latin typeface="Inter"/>
                <a:ea typeface="Inter"/>
              </a:rPr>
              <a:t>READ-THROUGH</a:t>
            </a:r>
            <a:endParaRPr lang="en-US"/>
          </a:p>
        </p:txBody>
      </p:sp>
      <p:sp>
        <p:nvSpPr>
          <p:cNvPr id="20" name="stance-rail-value"/>
          <p:cNvSpPr txBox="1"/>
          <p:nvPr/>
        </p:nvSpPr>
        <p:spPr>
          <a:xfrm xmlns:a="http://schemas.openxmlformats.org/drawingml/2006/main">
            <a:off x="11525250" y="3981450"/>
            <a:ext cx="285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150" b="1">
                <a:solidFill>
                  <a:srgbClr val="27D69B"/>
                </a:solidFill>
                <a:latin typeface="Inter"/>
                <a:ea typeface="Inter"/>
              </a:rPr>
              <a:t>18%</a:t>
            </a:r>
            <a:endParaRPr lang="en-US"/>
          </a:p>
        </p:txBody>
      </p:sp>
      <p:sp>
        <p:nvSpPr>
          <p:cNvPr id="21" name="stance-rail-caption"/>
          <p:cNvSpPr txBox="1"/>
          <p:nvPr/>
        </p:nvSpPr>
        <p:spPr>
          <a:xfrm xmlns:a="http://schemas.openxmlformats.org/drawingml/2006/main">
            <a:off x="11525250" y="46101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9969E"/>
                </a:solidFill>
                <a:latin typeface="Inter"/>
                <a:ea typeface="Inter"/>
              </a:rPr>
              <a:t>output per site</a:t>
            </a:r>
            <a:endParaRPr lang="en-US"/>
          </a:p>
        </p:txBody>
      </p:sp>
      <p:sp>
        <p:nvSpPr>
          <p:cNvPr id="22" name="stance-rail-value-two"/>
          <p:cNvSpPr txBox="1"/>
          <p:nvPr/>
        </p:nvSpPr>
        <p:spPr>
          <a:xfrm xmlns:a="http://schemas.openxmlformats.org/drawingml/2006/main">
            <a:off x="11525250" y="5429250"/>
            <a:ext cx="285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150" b="1">
                <a:solidFill>
                  <a:srgbClr val="F7F9F8"/>
                </a:solidFill>
                <a:latin typeface="Inter"/>
                <a:ea typeface="Inter"/>
              </a:rPr>
              <a:t>61%</a:t>
            </a:r>
            <a:endParaRPr lang="en-US"/>
          </a:p>
        </p:txBody>
      </p:sp>
      <p:sp>
        <p:nvSpPr>
          <p:cNvPr id="23" name="stance-rail-caption-two"/>
          <p:cNvSpPr txBox="1"/>
          <p:nvPr/>
        </p:nvSpPr>
        <p:spPr>
          <a:xfrm xmlns:a="http://schemas.openxmlformats.org/drawingml/2006/main">
            <a:off x="11525250" y="60579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9969E"/>
                </a:solidFill>
                <a:latin typeface="Inter"/>
                <a:ea typeface="Inter"/>
              </a:rPr>
              <a:t>volume in two regions</a:t>
            </a:r>
            <a:endParaRPr lang="en-US"/>
          </a:p>
        </p:txBody>
      </p:sp>
      <p:sp>
        <p:nvSpPr>
          <p:cNvPr id="24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9969E"/>
                </a:solidFill>
                <a:latin typeface="Inter"/>
                <a:ea typeface="Inter"/>
              </a:rPr>
              <a:t>Source: illustrative calibration brief · values are fictional</a:t>
            </a:r>
            <a:endParaRPr lang="en-US"/>
          </a:p>
        </p:txBody>
      </p:sp>
      <p:sp>
        <p:nvSpPr>
          <p:cNvPr id="25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9969E"/>
                </a:solidFill>
                <a:latin typeface="Inter"/>
                <a:ea typeface="Inter"/>
              </a:rPr>
              <a:t>2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3.xml><?xml version="1.0" encoding="utf-8"?>
<p:sld xmlns:p="http://schemas.openxmlformats.org/presentationml/2006/main">
  <p:cSld name="Evidenc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8"/>
          </a:solidFill>
          <a:ln xmlns:a="http://schemas.openxmlformats.org/drawingml/2006/main" w="0">
            <a:solidFill>
              <a:srgbClr val="F7F9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D69B"/>
          </a:solidFill>
          <a:ln xmlns:a="http://schemas.openxmlformats.org/drawingml/2006/main" w="0">
            <a:solidFill>
              <a:srgbClr val="27D69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0"/>
          <p:cNvSpPr/>
          <p:nvPr/>
        </p:nvSpPr>
        <p:spPr>
          <a:xfrm xmlns:a="http://schemas.openxmlformats.org/drawingml/2006/main">
            <a:off x="91440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fixed-nav-label-0"/>
          <p:cNvSpPr txBox="1"/>
          <p:nvPr/>
        </p:nvSpPr>
        <p:spPr>
          <a:xfrm xmlns:a="http://schemas.openxmlformats.org/drawingml/2006/main">
            <a:off x="99060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9969E"/>
                </a:solidFill>
                <a:latin typeface="Inter"/>
                <a:ea typeface="Inter"/>
              </a:rPr>
              <a:t>BRIEF</a:t>
            </a:r>
            <a:endParaRPr lang="en-US"/>
          </a:p>
        </p:txBody>
      </p:sp>
      <p:sp>
        <p:nvSpPr>
          <p:cNvPr id="6" name="fixed-nav-1"/>
          <p:cNvSpPr/>
          <p:nvPr/>
        </p:nvSpPr>
        <p:spPr>
          <a:xfrm xmlns:a="http://schemas.openxmlformats.org/drawingml/2006/main">
            <a:off x="248793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fixed-nav-label-1"/>
          <p:cNvSpPr txBox="1"/>
          <p:nvPr/>
        </p:nvSpPr>
        <p:spPr>
          <a:xfrm xmlns:a="http://schemas.openxmlformats.org/drawingml/2006/main">
            <a:off x="256413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9969E"/>
                </a:solidFill>
                <a:latin typeface="Inter"/>
                <a:ea typeface="Inter"/>
              </a:rPr>
              <a:t>SIGNAL</a:t>
            </a:r>
            <a:endParaRPr lang="en-US"/>
          </a:p>
        </p:txBody>
      </p:sp>
      <p:sp>
        <p:nvSpPr>
          <p:cNvPr id="8" name="fixed-nav-2"/>
          <p:cNvSpPr/>
          <p:nvPr/>
        </p:nvSpPr>
        <p:spPr>
          <a:xfrm xmlns:a="http://schemas.openxmlformats.org/drawingml/2006/main">
            <a:off x="406146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2A3C"/>
          </a:solidFill>
          <a:ln xmlns:a="http://schemas.openxmlformats.org/drawingml/2006/main" w="0">
            <a:solidFill>
              <a:srgbClr val="112A3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fixed-nav-label-2"/>
          <p:cNvSpPr txBox="1"/>
          <p:nvPr/>
        </p:nvSpPr>
        <p:spPr>
          <a:xfrm xmlns:a="http://schemas.openxmlformats.org/drawingml/2006/main">
            <a:off x="413766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FFFFFF"/>
                </a:solidFill>
                <a:latin typeface="Inter"/>
                <a:ea typeface="Inter"/>
              </a:rPr>
              <a:t>EVIDENCE</a:t>
            </a:r>
            <a:endParaRPr lang="en-US"/>
          </a:p>
        </p:txBody>
      </p:sp>
      <p:sp>
        <p:nvSpPr>
          <p:cNvPr id="10" name="fixed-nav-3"/>
          <p:cNvSpPr/>
          <p:nvPr/>
        </p:nvSpPr>
        <p:spPr>
          <a:xfrm xmlns:a="http://schemas.openxmlformats.org/drawingml/2006/main">
            <a:off x="563499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fixed-nav-label-3"/>
          <p:cNvSpPr txBox="1"/>
          <p:nvPr/>
        </p:nvSpPr>
        <p:spPr>
          <a:xfrm xmlns:a="http://schemas.openxmlformats.org/drawingml/2006/main">
            <a:off x="571119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9969E"/>
                </a:solidFill>
                <a:latin typeface="Inter"/>
                <a:ea typeface="Inter"/>
              </a:rPr>
              <a:t>CHOICE</a:t>
            </a:r>
            <a:endParaRPr lang="en-US"/>
          </a:p>
        </p:txBody>
      </p:sp>
      <p:sp>
        <p:nvSpPr>
          <p:cNvPr id="12" name="fixed-nav-4"/>
          <p:cNvSpPr/>
          <p:nvPr/>
        </p:nvSpPr>
        <p:spPr>
          <a:xfrm xmlns:a="http://schemas.openxmlformats.org/drawingml/2006/main">
            <a:off x="720852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fixed-nav-label-4"/>
          <p:cNvSpPr txBox="1"/>
          <p:nvPr/>
        </p:nvSpPr>
        <p:spPr>
          <a:xfrm xmlns:a="http://schemas.openxmlformats.org/drawingml/2006/main">
            <a:off x="728472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9969E"/>
                </a:solidFill>
                <a:latin typeface="Inter"/>
                <a:ea typeface="Inter"/>
              </a:rPr>
              <a:t>NEXT</a:t>
            </a:r>
            <a:endParaRPr lang="en-US"/>
          </a:p>
        </p:txBody>
      </p:sp>
      <p:sp>
        <p:nvSpPr>
          <p:cNvPr id="14" name="evidenc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7D69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MIDNIGHT PROSPECTUS · EVIDENC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27D69B"/>
                </a:solidFill>
                <a:latin typeface="Inter"/>
                <a:ea typeface="Inter"/>
              </a:rPr>
              <a:t>MIDNIGHT PROSPECTUS · EVIDENCE</a:t>
            </a:r>
            <a:endParaRPr lang="en-US"/>
          </a:p>
        </p:txBody>
      </p:sp>
      <p:sp>
        <p:nvSpPr>
          <p:cNvPr id="16" name="evidence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12A3C"/>
                </a:solidFill>
                <a:latin typeface="Inter"/>
                <a:ea typeface="Inter"/>
              </a:rPr>
              <a:t>The ledger moves, but the threshold still governs</a:t>
            </a:r>
            <a:endParaRPr lang="en-US"/>
          </a:p>
        </p:txBody>
      </p:sp>
      <p:sp>
        <p:nvSpPr>
          <p:cNvPr id="17" name="evidence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9969E"/>
                </a:solidFill>
                <a:latin typeface="Inter"/>
                <a:ea typeface="Inter"/>
              </a:rPr>
              <a:t>Illustrative ledger · values show period, unit, and decision threshold.</a:t>
            </a:r>
            <a:endParaRPr lang="en-US"/>
          </a:p>
        </p:txBody>
      </p:sp>
      <p:sp>
        <p:nvSpPr>
          <p:cNvPr id="18" name="evidenc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9969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graphicFrame>
        <p:nvGraphicFramePr>
          <p:cNvPr id="19" name="finance-evidence-table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990600" y="3162300"/>
          <a:ext xmlns:a="http://schemas.openxmlformats.org/drawingml/2006/main" cx="8001000" cy="2895600"/>
        </p:xfrm>
        <a:graphic xmlns:a="http://schemas.openxmlformats.org/drawingml/2006/main">
          <a:graphicData uri="http://schemas.openxmlformats.org/drawingml/2006/table">
            <a:tbl>
              <a:tblPr firstRow="1"/>
              <a:tblGrid>
                <a:gridCol w="2000250"/>
                <a:gridCol w="2000250"/>
                <a:gridCol w="2000250"/>
                <a:gridCol w="2000250"/>
              </a:tblGrid>
              <a:tr h="579120">
                <a:tc>
                  <a:txBody>
                    <a:bodyPr/>
                    <a:lstStyle/>
                    <a:p>
                      <a:r>
                        <a:rPr lang="en-US" sz="1350" b="1">
                          <a:solidFill>
                            <a:srgbClr val="000000"/>
                          </a:solidFill>
                        </a:rPr>
                        <a:t>Metric</a:t>
                      </a:r>
                      <a:endParaRPr lang="en-US" sz="1350"/>
                    </a:p>
                  </a:txBody>
                  <a:tcPr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1">
                          <a:solidFill>
                            <a:srgbClr val="000000"/>
                          </a:solidFill>
                        </a:rPr>
                        <a:t>Base</a:t>
                      </a:r>
                      <a:endParaRPr lang="en-US" sz="1350"/>
                    </a:p>
                  </a:txBody>
                  <a:tcPr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1">
                          <a:solidFill>
                            <a:srgbClr val="000000"/>
                          </a:solidFill>
                        </a:rPr>
                        <a:t>Plan</a:t>
                      </a:r>
                      <a:endParaRPr lang="en-US" sz="1350"/>
                    </a:p>
                  </a:txBody>
                  <a:tcPr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1">
                          <a:solidFill>
                            <a:srgbClr val="000000"/>
                          </a:solidFill>
                        </a:rPr>
                        <a:t>Delta</a:t>
                      </a:r>
                      <a:endParaRPr lang="en-US" sz="1350"/>
                    </a:p>
                  </a:txBody>
                  <a:tcPr>
                    <a:solidFill>
                      <a:srgbClr val="EDEDED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Coverage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42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51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+9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Cash conversion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1.6x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2.1x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+0.5x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Risk buffer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8w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10w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+2w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Release gate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Open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Clear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—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table-note-label"/>
          <p:cNvSpPr txBox="1"/>
          <p:nvPr/>
        </p:nvSpPr>
        <p:spPr>
          <a:xfrm xmlns:a="http://schemas.openxmlformats.org/drawingml/2006/main">
            <a:off x="9810750" y="33147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27D69B"/>
                </a:solidFill>
                <a:latin typeface="Inter"/>
                <a:ea typeface="Inter"/>
              </a:rPr>
              <a:t>MODEL READ-THROUGH</a:t>
            </a:r>
            <a:endParaRPr lang="en-US"/>
          </a:p>
        </p:txBody>
      </p:sp>
      <p:sp>
        <p:nvSpPr>
          <p:cNvPr id="21" name="table-note-title"/>
          <p:cNvSpPr txBox="1"/>
          <p:nvPr/>
        </p:nvSpPr>
        <p:spPr>
          <a:xfrm xmlns:a="http://schemas.openxmlformats.org/drawingml/2006/main">
            <a:off x="9810750" y="3790950"/>
            <a:ext cx="3619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112A3C"/>
                </a:solidFill>
                <a:latin typeface="Inter"/>
                <a:ea typeface="Inter"/>
              </a:rPr>
              <a:t>The gate stays visible beside the number.</a:t>
            </a:r>
            <a:endParaRPr lang="en-US"/>
          </a:p>
        </p:txBody>
      </p:sp>
      <p:sp>
        <p:nvSpPr>
          <p:cNvPr id="22" name="table-note-rule"/>
          <p:cNvSpPr/>
          <p:nvPr/>
        </p:nvSpPr>
        <p:spPr>
          <a:xfrm xmlns:a="http://schemas.openxmlformats.org/drawingml/2006/main">
            <a:off x="9810750" y="5010150"/>
            <a:ext cx="3619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9969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3" name="table-note-body"/>
          <p:cNvSpPr txBox="1"/>
          <p:nvPr/>
        </p:nvSpPr>
        <p:spPr>
          <a:xfrm xmlns:a="http://schemas.openxmlformats.org/drawingml/2006/main">
            <a:off x="9810750" y="5276850"/>
            <a:ext cx="3524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89969E"/>
                </a:solidFill>
                <a:latin typeface="Inter"/>
                <a:ea typeface="Inter"/>
              </a:rPr>
              <a:t>Use a table when assumptions and units carry the decision. Charts support the ledger; they do not replace it.</a:t>
            </a:r>
            <a:endParaRPr lang="en-US"/>
          </a:p>
        </p:txBody>
      </p:sp>
      <p:sp>
        <p:nvSpPr>
          <p:cNvPr id="24" name="evidence-band"/>
          <p:cNvSpPr/>
          <p:nvPr/>
        </p:nvSpPr>
        <p:spPr>
          <a:xfrm xmlns:a="http://schemas.openxmlformats.org/drawingml/2006/main">
            <a:off x="914400" y="6877050"/>
            <a:ext cx="134112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5" name="evidence-band-text"/>
          <p:cNvSpPr txBox="1"/>
          <p:nvPr/>
        </p:nvSpPr>
        <p:spPr>
          <a:xfrm xmlns:a="http://schemas.openxmlformats.org/drawingml/2006/main">
            <a:off x="1143000" y="7058025"/>
            <a:ext cx="1238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112A3C"/>
                </a:solidFill>
                <a:latin typeface="Inter"/>
                <a:ea typeface="Inter"/>
              </a:rPr>
              <a:t>EVIDENCE  ·  Keep the unit, time window, and limitation adjacent to the number.</a:t>
            </a:r>
            <a:endParaRPr lang="en-US"/>
          </a:p>
        </p:txBody>
      </p:sp>
      <p:sp>
        <p:nvSpPr>
          <p:cNvPr id="26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9969E"/>
                </a:solidFill>
                <a:latin typeface="Inter"/>
                <a:ea typeface="Inter"/>
              </a:rPr>
              <a:t>Source: illustrative calibration brief · values are fictional</a:t>
            </a:r>
            <a:endParaRPr lang="en-US"/>
          </a:p>
        </p:txBody>
      </p:sp>
      <p:sp>
        <p:nvSpPr>
          <p:cNvPr id="27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9969E"/>
                </a:solidFill>
                <a:latin typeface="Inter"/>
                <a:ea typeface="Inter"/>
              </a:rPr>
              <a:t>3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4.xml><?xml version="1.0" encoding="utf-8"?>
<p:sld xmlns:p="http://schemas.openxmlformats.org/presentationml/2006/main">
  <p:cSld name="Detail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8"/>
          </a:solidFill>
          <a:ln xmlns:a="http://schemas.openxmlformats.org/drawingml/2006/main" w="0">
            <a:solidFill>
              <a:srgbClr val="F7F9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D69B"/>
          </a:solidFill>
          <a:ln xmlns:a="http://schemas.openxmlformats.org/drawingml/2006/main" w="0">
            <a:solidFill>
              <a:srgbClr val="27D69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0"/>
          <p:cNvSpPr/>
          <p:nvPr/>
        </p:nvSpPr>
        <p:spPr>
          <a:xfrm xmlns:a="http://schemas.openxmlformats.org/drawingml/2006/main">
            <a:off x="91440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fixed-nav-label-0"/>
          <p:cNvSpPr txBox="1"/>
          <p:nvPr/>
        </p:nvSpPr>
        <p:spPr>
          <a:xfrm xmlns:a="http://schemas.openxmlformats.org/drawingml/2006/main">
            <a:off x="99060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9969E"/>
                </a:solidFill>
                <a:latin typeface="Inter"/>
                <a:ea typeface="Inter"/>
              </a:rPr>
              <a:t>BRIEF</a:t>
            </a:r>
            <a:endParaRPr lang="en-US"/>
          </a:p>
        </p:txBody>
      </p:sp>
      <p:sp>
        <p:nvSpPr>
          <p:cNvPr id="6" name="fixed-nav-1"/>
          <p:cNvSpPr/>
          <p:nvPr/>
        </p:nvSpPr>
        <p:spPr>
          <a:xfrm xmlns:a="http://schemas.openxmlformats.org/drawingml/2006/main">
            <a:off x="248793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fixed-nav-label-1"/>
          <p:cNvSpPr txBox="1"/>
          <p:nvPr/>
        </p:nvSpPr>
        <p:spPr>
          <a:xfrm xmlns:a="http://schemas.openxmlformats.org/drawingml/2006/main">
            <a:off x="256413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9969E"/>
                </a:solidFill>
                <a:latin typeface="Inter"/>
                <a:ea typeface="Inter"/>
              </a:rPr>
              <a:t>SIGNAL</a:t>
            </a:r>
            <a:endParaRPr lang="en-US"/>
          </a:p>
        </p:txBody>
      </p:sp>
      <p:sp>
        <p:nvSpPr>
          <p:cNvPr id="8" name="fixed-nav-2"/>
          <p:cNvSpPr/>
          <p:nvPr/>
        </p:nvSpPr>
        <p:spPr>
          <a:xfrm xmlns:a="http://schemas.openxmlformats.org/drawingml/2006/main">
            <a:off x="406146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fixed-nav-label-2"/>
          <p:cNvSpPr txBox="1"/>
          <p:nvPr/>
        </p:nvSpPr>
        <p:spPr>
          <a:xfrm xmlns:a="http://schemas.openxmlformats.org/drawingml/2006/main">
            <a:off x="413766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9969E"/>
                </a:solidFill>
                <a:latin typeface="Inter"/>
                <a:ea typeface="Inter"/>
              </a:rPr>
              <a:t>EVIDENCE</a:t>
            </a:r>
            <a:endParaRPr lang="en-US"/>
          </a:p>
        </p:txBody>
      </p:sp>
      <p:sp>
        <p:nvSpPr>
          <p:cNvPr id="10" name="fixed-nav-3"/>
          <p:cNvSpPr/>
          <p:nvPr/>
        </p:nvSpPr>
        <p:spPr>
          <a:xfrm xmlns:a="http://schemas.openxmlformats.org/drawingml/2006/main">
            <a:off x="563499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2A3C"/>
          </a:solidFill>
          <a:ln xmlns:a="http://schemas.openxmlformats.org/drawingml/2006/main" w="0">
            <a:solidFill>
              <a:srgbClr val="112A3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fixed-nav-label-3"/>
          <p:cNvSpPr txBox="1"/>
          <p:nvPr/>
        </p:nvSpPr>
        <p:spPr>
          <a:xfrm xmlns:a="http://schemas.openxmlformats.org/drawingml/2006/main">
            <a:off x="571119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FFFFFF"/>
                </a:solidFill>
                <a:latin typeface="Inter"/>
                <a:ea typeface="Inter"/>
              </a:rPr>
              <a:t>CHOICE</a:t>
            </a:r>
            <a:endParaRPr lang="en-US"/>
          </a:p>
        </p:txBody>
      </p:sp>
      <p:sp>
        <p:nvSpPr>
          <p:cNvPr id="12" name="fixed-nav-4"/>
          <p:cNvSpPr/>
          <p:nvPr/>
        </p:nvSpPr>
        <p:spPr>
          <a:xfrm xmlns:a="http://schemas.openxmlformats.org/drawingml/2006/main">
            <a:off x="720852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fixed-nav-label-4"/>
          <p:cNvSpPr txBox="1"/>
          <p:nvPr/>
        </p:nvSpPr>
        <p:spPr>
          <a:xfrm xmlns:a="http://schemas.openxmlformats.org/drawingml/2006/main">
            <a:off x="728472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9969E"/>
                </a:solidFill>
                <a:latin typeface="Inter"/>
                <a:ea typeface="Inter"/>
              </a:rPr>
              <a:t>NEXT</a:t>
            </a:r>
            <a:endParaRPr lang="en-US"/>
          </a:p>
        </p:txBody>
      </p:sp>
      <p:sp>
        <p:nvSpPr>
          <p:cNvPr id="14" name="detail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7D69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MIDNIGHT PROSPECTUS · DETAIL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27D69B"/>
                </a:solidFill>
                <a:latin typeface="Inter"/>
                <a:ea typeface="Inter"/>
              </a:rPr>
              <a:t>MIDNIGHT PROSPECTUS · DETAIL</a:t>
            </a:r>
            <a:endParaRPr lang="en-US"/>
          </a:p>
        </p:txBody>
      </p:sp>
      <p:sp>
        <p:nvSpPr>
          <p:cNvPr id="16" name="detail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12A3C"/>
                </a:solidFill>
                <a:latin typeface="Inter"/>
                <a:ea typeface="Inter"/>
              </a:rPr>
              <a:t>The ledger carries the assumptions</a:t>
            </a:r>
            <a:endParaRPr lang="en-US"/>
          </a:p>
        </p:txBody>
      </p:sp>
      <p:sp>
        <p:nvSpPr>
          <p:cNvPr id="17" name="detail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9969E"/>
                </a:solidFill>
                <a:latin typeface="Inter"/>
                <a:ea typeface="Inter"/>
              </a:rPr>
              <a:t>Assumption grid · values stay aligned to their basis and release gate.</a:t>
            </a:r>
            <a:endParaRPr lang="en-US"/>
          </a:p>
        </p:txBody>
      </p:sp>
      <p:sp>
        <p:nvSpPr>
          <p:cNvPr id="18" name="detail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9969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graphicFrame>
        <p:nvGraphicFramePr>
          <p:cNvPr id="19" name="finance-evidence-table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990600" y="3162300"/>
          <a:ext xmlns:a="http://schemas.openxmlformats.org/drawingml/2006/main" cx="8001000" cy="2895600"/>
        </p:xfrm>
        <a:graphic xmlns:a="http://schemas.openxmlformats.org/drawingml/2006/main">
          <a:graphicData uri="http://schemas.openxmlformats.org/drawingml/2006/table">
            <a:tbl>
              <a:tblPr firstRow="1"/>
              <a:tblGrid>
                <a:gridCol w="2000250"/>
                <a:gridCol w="2000250"/>
                <a:gridCol w="2000250"/>
                <a:gridCol w="2000250"/>
              </a:tblGrid>
              <a:tr h="579120">
                <a:tc>
                  <a:txBody>
                    <a:bodyPr/>
                    <a:lstStyle/>
                    <a:p>
                      <a:r>
                        <a:rPr lang="en-US" sz="1350" b="1">
                          <a:solidFill>
                            <a:srgbClr val="000000"/>
                          </a:solidFill>
                        </a:rPr>
                        <a:t>Metric</a:t>
                      </a:r>
                      <a:endParaRPr lang="en-US" sz="1350"/>
                    </a:p>
                  </a:txBody>
                  <a:tcPr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1">
                          <a:solidFill>
                            <a:srgbClr val="000000"/>
                          </a:solidFill>
                        </a:rPr>
                        <a:t>Base</a:t>
                      </a:r>
                      <a:endParaRPr lang="en-US" sz="1350"/>
                    </a:p>
                  </a:txBody>
                  <a:tcPr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1">
                          <a:solidFill>
                            <a:srgbClr val="000000"/>
                          </a:solidFill>
                        </a:rPr>
                        <a:t>Plan</a:t>
                      </a:r>
                      <a:endParaRPr lang="en-US" sz="1350"/>
                    </a:p>
                  </a:txBody>
                  <a:tcPr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1">
                          <a:solidFill>
                            <a:srgbClr val="000000"/>
                          </a:solidFill>
                        </a:rPr>
                        <a:t>Delta</a:t>
                      </a:r>
                      <a:endParaRPr lang="en-US" sz="1350"/>
                    </a:p>
                  </a:txBody>
                  <a:tcPr>
                    <a:solidFill>
                      <a:srgbClr val="EDEDED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Coverage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42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51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+9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Cash conversion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1.6x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2.1x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+0.5x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Risk buffer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8w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10w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+2w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Release gate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Open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Clear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—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table-note-label"/>
          <p:cNvSpPr txBox="1"/>
          <p:nvPr/>
        </p:nvSpPr>
        <p:spPr>
          <a:xfrm xmlns:a="http://schemas.openxmlformats.org/drawingml/2006/main">
            <a:off x="9810750" y="33147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27D69B"/>
                </a:solidFill>
                <a:latin typeface="Inter"/>
                <a:ea typeface="Inter"/>
              </a:rPr>
              <a:t>MODEL READ-THROUGH</a:t>
            </a:r>
            <a:endParaRPr lang="en-US"/>
          </a:p>
        </p:txBody>
      </p:sp>
      <p:sp>
        <p:nvSpPr>
          <p:cNvPr id="21" name="table-note-title"/>
          <p:cNvSpPr txBox="1"/>
          <p:nvPr/>
        </p:nvSpPr>
        <p:spPr>
          <a:xfrm xmlns:a="http://schemas.openxmlformats.org/drawingml/2006/main">
            <a:off x="9810750" y="3790950"/>
            <a:ext cx="3619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112A3C"/>
                </a:solidFill>
                <a:latin typeface="Inter"/>
                <a:ea typeface="Inter"/>
              </a:rPr>
              <a:t>The gate stays visible beside the number.</a:t>
            </a:r>
            <a:endParaRPr lang="en-US"/>
          </a:p>
        </p:txBody>
      </p:sp>
      <p:sp>
        <p:nvSpPr>
          <p:cNvPr id="22" name="table-note-rule"/>
          <p:cNvSpPr/>
          <p:nvPr/>
        </p:nvSpPr>
        <p:spPr>
          <a:xfrm xmlns:a="http://schemas.openxmlformats.org/drawingml/2006/main">
            <a:off x="9810750" y="5010150"/>
            <a:ext cx="3619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9969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3" name="table-note-body"/>
          <p:cNvSpPr txBox="1"/>
          <p:nvPr/>
        </p:nvSpPr>
        <p:spPr>
          <a:xfrm xmlns:a="http://schemas.openxmlformats.org/drawingml/2006/main">
            <a:off x="9810750" y="5276850"/>
            <a:ext cx="3524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89969E"/>
                </a:solidFill>
                <a:latin typeface="Inter"/>
                <a:ea typeface="Inter"/>
              </a:rPr>
              <a:t>Use a table when assumptions and units carry the decision. Charts support the ledger; they do not replace it.</a:t>
            </a:r>
            <a:endParaRPr lang="en-US"/>
          </a:p>
        </p:txBody>
      </p:sp>
      <p:sp>
        <p:nvSpPr>
          <p:cNvPr id="24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9969E"/>
                </a:solidFill>
                <a:latin typeface="Inter"/>
                <a:ea typeface="Inter"/>
              </a:rPr>
              <a:t>Source: illustrative calibration brief · labels and values are fictional</a:t>
            </a:r>
            <a:endParaRPr lang="en-US"/>
          </a:p>
        </p:txBody>
      </p:sp>
      <p:sp>
        <p:nvSpPr>
          <p:cNvPr id="25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9969E"/>
                </a:solidFill>
                <a:latin typeface="Inter"/>
                <a:ea typeface="Inter"/>
              </a:rPr>
              <a:t>4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5.xml><?xml version="1.0" encoding="utf-8"?>
<p:sld xmlns:p="http://schemas.openxmlformats.org/presentationml/2006/main">
  <p:cSld name="Visual carrier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D69B"/>
          </a:solidFill>
          <a:ln xmlns:a="http://schemas.openxmlformats.org/drawingml/2006/main" w="0">
            <a:solidFill>
              <a:srgbClr val="27D69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nav-0"/>
          <p:cNvSpPr/>
          <p:nvPr/>
        </p:nvSpPr>
        <p:spPr>
          <a:xfrm xmlns:a="http://schemas.openxmlformats.org/drawingml/2006/main">
            <a:off x="91440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label-0"/>
          <p:cNvSpPr txBox="1"/>
          <p:nvPr/>
        </p:nvSpPr>
        <p:spPr>
          <a:xfrm xmlns:a="http://schemas.openxmlformats.org/drawingml/2006/main">
            <a:off x="99060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9969E"/>
                </a:solidFill>
                <a:latin typeface="Inter"/>
                <a:ea typeface="Inter"/>
              </a:rPr>
              <a:t>BRIEF</a:t>
            </a:r>
            <a:endParaRPr lang="en-US"/>
          </a:p>
        </p:txBody>
      </p:sp>
      <p:sp>
        <p:nvSpPr>
          <p:cNvPr id="5" name="fixed-nav-1"/>
          <p:cNvSpPr/>
          <p:nvPr/>
        </p:nvSpPr>
        <p:spPr>
          <a:xfrm xmlns:a="http://schemas.openxmlformats.org/drawingml/2006/main">
            <a:off x="248793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6" name="fixed-nav-label-1"/>
          <p:cNvSpPr txBox="1"/>
          <p:nvPr/>
        </p:nvSpPr>
        <p:spPr>
          <a:xfrm xmlns:a="http://schemas.openxmlformats.org/drawingml/2006/main">
            <a:off x="256413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9969E"/>
                </a:solidFill>
                <a:latin typeface="Inter"/>
                <a:ea typeface="Inter"/>
              </a:rPr>
              <a:t>SIGNAL</a:t>
            </a:r>
            <a:endParaRPr lang="en-US"/>
          </a:p>
        </p:txBody>
      </p:sp>
      <p:sp>
        <p:nvSpPr>
          <p:cNvPr id="7" name="fixed-nav-2"/>
          <p:cNvSpPr/>
          <p:nvPr/>
        </p:nvSpPr>
        <p:spPr>
          <a:xfrm xmlns:a="http://schemas.openxmlformats.org/drawingml/2006/main">
            <a:off x="406146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2A3C"/>
          </a:solidFill>
          <a:ln xmlns:a="http://schemas.openxmlformats.org/drawingml/2006/main" w="0">
            <a:solidFill>
              <a:srgbClr val="112A3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fixed-nav-label-2"/>
          <p:cNvSpPr txBox="1"/>
          <p:nvPr/>
        </p:nvSpPr>
        <p:spPr>
          <a:xfrm xmlns:a="http://schemas.openxmlformats.org/drawingml/2006/main">
            <a:off x="413766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FFFFFF"/>
                </a:solidFill>
                <a:latin typeface="Inter"/>
                <a:ea typeface="Inter"/>
              </a:rPr>
              <a:t>EVIDENCE</a:t>
            </a:r>
            <a:endParaRPr lang="en-US"/>
          </a:p>
        </p:txBody>
      </p:sp>
      <p:sp>
        <p:nvSpPr>
          <p:cNvPr id="9" name="fixed-nav-3"/>
          <p:cNvSpPr/>
          <p:nvPr/>
        </p:nvSpPr>
        <p:spPr>
          <a:xfrm xmlns:a="http://schemas.openxmlformats.org/drawingml/2006/main">
            <a:off x="563499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fixed-nav-label-3"/>
          <p:cNvSpPr txBox="1"/>
          <p:nvPr/>
        </p:nvSpPr>
        <p:spPr>
          <a:xfrm xmlns:a="http://schemas.openxmlformats.org/drawingml/2006/main">
            <a:off x="571119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9969E"/>
                </a:solidFill>
                <a:latin typeface="Inter"/>
                <a:ea typeface="Inter"/>
              </a:rPr>
              <a:t>CHOICE</a:t>
            </a:r>
            <a:endParaRPr lang="en-US"/>
          </a:p>
        </p:txBody>
      </p:sp>
      <p:sp>
        <p:nvSpPr>
          <p:cNvPr id="11" name="fixed-nav-4"/>
          <p:cNvSpPr/>
          <p:nvPr/>
        </p:nvSpPr>
        <p:spPr>
          <a:xfrm xmlns:a="http://schemas.openxmlformats.org/drawingml/2006/main">
            <a:off x="720852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2" name="fixed-nav-label-4"/>
          <p:cNvSpPr txBox="1"/>
          <p:nvPr/>
        </p:nvSpPr>
        <p:spPr>
          <a:xfrm xmlns:a="http://schemas.openxmlformats.org/drawingml/2006/main">
            <a:off x="728472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9969E"/>
                </a:solidFill>
                <a:latin typeface="Inter"/>
                <a:ea typeface="Inter"/>
              </a:rPr>
              <a:t>NEXT</a:t>
            </a:r>
            <a:endParaRPr lang="en-US"/>
          </a:p>
        </p:txBody>
      </p:sp>
      <p:sp>
        <p:nvSpPr>
          <p:cNvPr id="13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8"/>
          </a:solidFill>
          <a:ln xmlns:a="http://schemas.openxmlformats.org/drawingml/2006/main" w="0">
            <a:solidFill>
              <a:srgbClr val="F7F9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visual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7D69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MIDNIGHT PROSPECTUS · VISUAL CARRIER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27D69B"/>
                </a:solidFill>
                <a:latin typeface="Inter"/>
                <a:ea typeface="Inter"/>
              </a:rPr>
              <a:t>MIDNIGHT PROSPECTUS · VISUAL CARRIER</a:t>
            </a:r>
            <a:endParaRPr lang="en-US"/>
          </a:p>
        </p:txBody>
      </p:sp>
      <p:sp>
        <p:nvSpPr>
          <p:cNvPr id="16" name="visual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12A3C"/>
                </a:solidFill>
                <a:latin typeface="Inter"/>
                <a:ea typeface="Inter"/>
              </a:rPr>
              <a:t>A visual field can carry a signal</a:t>
            </a:r>
            <a:endParaRPr lang="en-US"/>
          </a:p>
        </p:txBody>
      </p:sp>
      <p:sp>
        <p:nvSpPr>
          <p:cNvPr id="17" name="visual-body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9969E"/>
                </a:solidFill>
                <a:latin typeface="Inter"/>
                <a:ea typeface="Inter"/>
              </a:rPr>
              <a:t>The picture is not a mood board; it is the surface where the argument lands.</a:t>
            </a:r>
            <a:endParaRPr lang="en-US"/>
          </a:p>
        </p:txBody>
      </p:sp>
      <p:sp>
        <p:nvSpPr>
          <p:cNvPr id="18" name="visual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9969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graphicFrame>
        <p:nvGraphicFramePr>
          <p:cNvPr id="19" name="dense-visual-bars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914400" y="3028950"/>
          <a:ext xmlns:a="http://schemas.openxmlformats.org/drawingml/2006/main" cx="5334000" cy="3143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1da83aba11f540ec"/>
          </a:graphicData>
        </a:graphic>
      </p:graphicFrame>
      <p:graphicFrame>
        <p:nvGraphicFramePr>
          <p:cNvPr id="20" name="dense-visual-line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6667500" y="3028950"/>
          <a:ext xmlns:a="http://schemas.openxmlformats.org/drawingml/2006/main" cx="3810000" cy="3143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a8079ab69a84bf4"/>
          </a:graphicData>
        </a:graphic>
      </p:graphicFrame>
      <p:sp>
        <p:nvSpPr>
          <p:cNvPr id="21" name="visual-note"/>
          <p:cNvSpPr/>
          <p:nvPr/>
        </p:nvSpPr>
        <p:spPr>
          <a:xfrm xmlns:a="http://schemas.openxmlformats.org/drawingml/2006/main">
            <a:off x="11049000" y="3333750"/>
            <a:ext cx="30480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89969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2" name="visual-note-label"/>
          <p:cNvSpPr txBox="1"/>
          <p:nvPr/>
        </p:nvSpPr>
        <p:spPr>
          <a:xfrm xmlns:a="http://schemas.openxmlformats.org/drawingml/2006/main">
            <a:off x="11430000" y="3695700"/>
            <a:ext cx="228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27D69B"/>
                </a:solidFill>
                <a:latin typeface="Inter"/>
                <a:ea typeface="Inter"/>
              </a:rPr>
              <a:t>CARRIER</a:t>
            </a:r>
            <a:endParaRPr lang="en-US"/>
          </a:p>
        </p:txBody>
      </p:sp>
      <p:sp>
        <p:nvSpPr>
          <p:cNvPr id="23" name="visual-note-text"/>
          <p:cNvSpPr txBox="1"/>
          <p:nvPr/>
        </p:nvSpPr>
        <p:spPr>
          <a:xfrm xmlns:a="http://schemas.openxmlformats.org/drawingml/2006/main">
            <a:off x="11430000" y="4171950"/>
            <a:ext cx="2286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112A3C"/>
                </a:solidFill>
                <a:latin typeface="Inter"/>
                <a:ea typeface="Inter"/>
              </a:rPr>
              <a:t>Signal before decoration</a:t>
            </a:r>
            <a:endParaRPr lang="en-US"/>
          </a:p>
        </p:txBody>
      </p:sp>
      <p:sp>
        <p:nvSpPr>
          <p:cNvPr id="24" name="visual-note-foot"/>
          <p:cNvSpPr txBox="1"/>
          <p:nvPr/>
        </p:nvSpPr>
        <p:spPr>
          <a:xfrm xmlns:a="http://schemas.openxmlformats.org/drawingml/2006/main">
            <a:off x="11430000" y="5219700"/>
            <a:ext cx="2286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9969E"/>
                </a:solidFill>
                <a:latin typeface="Inter"/>
                <a:ea typeface="Inter"/>
              </a:rPr>
              <a:t>Read the mark, unit, and basis.</a:t>
            </a:r>
            <a:endParaRPr lang="en-US"/>
          </a:p>
        </p:txBody>
      </p:sp>
      <p:sp>
        <p:nvSpPr>
          <p:cNvPr id="25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9969E"/>
                </a:solidFill>
                <a:latin typeface="Inter"/>
                <a:ea typeface="Inter"/>
              </a:rPr>
              <a:t>OfficeKit original clean-room visual field · fictional content</a:t>
            </a:r>
            <a:endParaRPr lang="en-US"/>
          </a:p>
        </p:txBody>
      </p:sp>
      <p:sp>
        <p:nvSpPr>
          <p:cNvPr id="26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9969E"/>
                </a:solidFill>
                <a:latin typeface="Inter"/>
                <a:ea typeface="Inter"/>
              </a:rPr>
              <a:t>5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6.xml><?xml version="1.0" encoding="utf-8"?>
<p:sld xmlns:p="http://schemas.openxmlformats.org/presentationml/2006/main">
  <p:cSld name="Decision clos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dark-fiel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2A3C"/>
          </a:solidFill>
          <a:ln xmlns:a="http://schemas.openxmlformats.org/drawingml/2006/main" w="0">
            <a:solidFill>
              <a:srgbClr val="112A3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eyebrow"/>
          <p:cNvSpPr txBox="1"/>
          <p:nvPr/>
        </p:nvSpPr>
        <p:spPr>
          <a:xfrm xmlns:a="http://schemas.openxmlformats.org/drawingml/2006/main">
            <a:off x="914400" y="819150"/>
            <a:ext cx="647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27D69B"/>
                </a:solidFill>
                <a:latin typeface="Inter"/>
                <a:ea typeface="Inter"/>
              </a:rPr>
              <a:t>FINANCE · DECISION</a:t>
            </a:r>
            <a:endParaRPr lang="en-US"/>
          </a:p>
        </p:txBody>
      </p:sp>
      <p:sp>
        <p:nvSpPr>
          <p:cNvPr id="4" name="close-title"/>
          <p:cNvSpPr txBox="1"/>
          <p:nvPr/>
        </p:nvSpPr>
        <p:spPr>
          <a:xfrm xmlns:a="http://schemas.openxmlformats.org/drawingml/2006/main">
            <a:off x="914400" y="1314450"/>
            <a:ext cx="8953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150" b="1">
                <a:solidFill>
                  <a:srgbClr val="F7F9F8"/>
                </a:solidFill>
                <a:latin typeface="Inter"/>
                <a:ea typeface="Inter"/>
              </a:rPr>
              <a:t>Fund the proven constraint, then measure the next one</a:t>
            </a:r>
            <a:endParaRPr lang="en-US"/>
          </a:p>
        </p:txBody>
      </p:sp>
      <p:sp>
        <p:nvSpPr>
          <p:cNvPr id="5" name="close-basis"/>
          <p:cNvSpPr txBox="1"/>
          <p:nvPr/>
        </p:nvSpPr>
        <p:spPr>
          <a:xfrm xmlns:a="http://schemas.openxmlformats.org/drawingml/2006/main">
            <a:off x="952500" y="2419350"/>
            <a:ext cx="781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9969E"/>
                </a:solidFill>
                <a:latin typeface="Inter"/>
                <a:ea typeface="Inter"/>
              </a:rPr>
              <a:t>A decision is bounded by the evidence it is willing to revisit.</a:t>
            </a:r>
            <a:endParaRPr lang="en-US"/>
          </a:p>
        </p:txBody>
      </p:sp>
      <p:sp>
        <p:nvSpPr>
          <p:cNvPr id="6" name="close-number-0"/>
          <p:cNvSpPr txBox="1"/>
          <p:nvPr/>
        </p:nvSpPr>
        <p:spPr>
          <a:xfrm xmlns:a="http://schemas.openxmlformats.org/drawingml/2006/main">
            <a:off x="1104900" y="3486150"/>
            <a:ext cx="685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89969E"/>
                </a:solidFill>
                <a:latin typeface="Inter"/>
                <a:ea typeface="Inter"/>
              </a:rPr>
              <a:t>01</a:t>
            </a:r>
            <a:endParaRPr lang="en-US"/>
          </a:p>
        </p:txBody>
      </p:sp>
      <p:sp>
        <p:nvSpPr>
          <p:cNvPr id="7" name="close-row-rule-0"/>
          <p:cNvSpPr/>
          <p:nvPr/>
        </p:nvSpPr>
        <p:spPr>
          <a:xfrm xmlns:a="http://schemas.openxmlformats.org/drawingml/2006/main">
            <a:off x="2038350" y="3638550"/>
            <a:ext cx="7296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9969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close-label-0"/>
          <p:cNvSpPr txBox="1"/>
          <p:nvPr/>
        </p:nvSpPr>
        <p:spPr>
          <a:xfrm xmlns:a="http://schemas.openxmlformats.org/drawingml/2006/main">
            <a:off x="2190750" y="34480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F7F9F8"/>
                </a:solidFill>
                <a:latin typeface="Inter"/>
                <a:ea typeface="Inter"/>
              </a:rPr>
              <a:t>Signal</a:t>
            </a:r>
            <a:endParaRPr lang="en-US"/>
          </a:p>
        </p:txBody>
      </p:sp>
      <p:sp>
        <p:nvSpPr>
          <p:cNvPr id="9" name="close-text-0"/>
          <p:cNvSpPr txBox="1"/>
          <p:nvPr/>
        </p:nvSpPr>
        <p:spPr>
          <a:xfrm xmlns:a="http://schemas.openxmlformats.org/drawingml/2006/main">
            <a:off x="4476750" y="3486150"/>
            <a:ext cx="4857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9969E"/>
                </a:solidFill>
                <a:latin typeface="Inter"/>
                <a:ea typeface="Inter"/>
              </a:rPr>
              <a:t>Cash conversion remains positive.</a:t>
            </a:r>
            <a:endParaRPr lang="en-US"/>
          </a:p>
        </p:txBody>
      </p:sp>
      <p:sp>
        <p:nvSpPr>
          <p:cNvPr id="10" name="close-number-1"/>
          <p:cNvSpPr txBox="1"/>
          <p:nvPr/>
        </p:nvSpPr>
        <p:spPr>
          <a:xfrm xmlns:a="http://schemas.openxmlformats.org/drawingml/2006/main">
            <a:off x="1104900" y="4552950"/>
            <a:ext cx="685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89969E"/>
                </a:solidFill>
                <a:latin typeface="Inter"/>
                <a:ea typeface="Inter"/>
              </a:rPr>
              <a:t>02</a:t>
            </a:r>
            <a:endParaRPr lang="en-US"/>
          </a:p>
        </p:txBody>
      </p:sp>
      <p:sp>
        <p:nvSpPr>
          <p:cNvPr id="11" name="close-row-rule-1"/>
          <p:cNvSpPr/>
          <p:nvPr/>
        </p:nvSpPr>
        <p:spPr>
          <a:xfrm xmlns:a="http://schemas.openxmlformats.org/drawingml/2006/main">
            <a:off x="2038350" y="4705350"/>
            <a:ext cx="7296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9969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2" name="close-label-1"/>
          <p:cNvSpPr txBox="1"/>
          <p:nvPr/>
        </p:nvSpPr>
        <p:spPr>
          <a:xfrm xmlns:a="http://schemas.openxmlformats.org/drawingml/2006/main">
            <a:off x="2190750" y="45148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F7F9F8"/>
                </a:solidFill>
                <a:latin typeface="Inter"/>
                <a:ea typeface="Inter"/>
              </a:rPr>
              <a:t>Risk</a:t>
            </a:r>
            <a:endParaRPr lang="en-US"/>
          </a:p>
        </p:txBody>
      </p:sp>
      <p:sp>
        <p:nvSpPr>
          <p:cNvPr id="13" name="close-text-1"/>
          <p:cNvSpPr txBox="1"/>
          <p:nvPr/>
        </p:nvSpPr>
        <p:spPr>
          <a:xfrm xmlns:a="http://schemas.openxmlformats.org/drawingml/2006/main">
            <a:off x="4476750" y="4552950"/>
            <a:ext cx="4857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9969E"/>
                </a:solidFill>
                <a:latin typeface="Inter"/>
                <a:ea typeface="Inter"/>
              </a:rPr>
              <a:t>The buffer is below threshold.</a:t>
            </a:r>
            <a:endParaRPr lang="en-US"/>
          </a:p>
        </p:txBody>
      </p:sp>
      <p:sp>
        <p:nvSpPr>
          <p:cNvPr id="14" name="close-number-2"/>
          <p:cNvSpPr txBox="1"/>
          <p:nvPr/>
        </p:nvSpPr>
        <p:spPr>
          <a:xfrm xmlns:a="http://schemas.openxmlformats.org/drawingml/2006/main">
            <a:off x="1104900" y="5619750"/>
            <a:ext cx="685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27D69B"/>
                </a:solidFill>
                <a:latin typeface="Inter"/>
                <a:ea typeface="Inter"/>
              </a:rPr>
              <a:t>03</a:t>
            </a:r>
            <a:endParaRPr lang="en-US"/>
          </a:p>
        </p:txBody>
      </p:sp>
      <p:sp>
        <p:nvSpPr>
          <p:cNvPr id="15" name="close-row-rule-2"/>
          <p:cNvSpPr/>
          <p:nvPr/>
        </p:nvSpPr>
        <p:spPr>
          <a:xfrm xmlns:a="http://schemas.openxmlformats.org/drawingml/2006/main">
            <a:off x="2038350" y="5772150"/>
            <a:ext cx="7296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27D69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6" name="close-label-2"/>
          <p:cNvSpPr txBox="1"/>
          <p:nvPr/>
        </p:nvSpPr>
        <p:spPr>
          <a:xfrm xmlns:a="http://schemas.openxmlformats.org/drawingml/2006/main">
            <a:off x="2190750" y="55816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F7F9F8"/>
                </a:solidFill>
                <a:latin typeface="Inter"/>
                <a:ea typeface="Inter"/>
              </a:rPr>
              <a:t>Decision</a:t>
            </a:r>
            <a:endParaRPr lang="en-US"/>
          </a:p>
        </p:txBody>
      </p:sp>
      <p:sp>
        <p:nvSpPr>
          <p:cNvPr id="17" name="close-text-2"/>
          <p:cNvSpPr txBox="1"/>
          <p:nvPr/>
        </p:nvSpPr>
        <p:spPr>
          <a:xfrm xmlns:a="http://schemas.openxmlformats.org/drawingml/2006/main">
            <a:off x="4476750" y="5619750"/>
            <a:ext cx="4857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9969E"/>
                </a:solidFill>
                <a:latin typeface="Inter"/>
                <a:ea typeface="Inter"/>
              </a:rPr>
              <a:t>Release one constrained tranche.</a:t>
            </a:r>
            <a:endParaRPr lang="en-US"/>
          </a:p>
        </p:txBody>
      </p:sp>
      <p:sp>
        <p:nvSpPr>
          <p:cNvPr id="18" name="close-rail"/>
          <p:cNvSpPr/>
          <p:nvPr/>
        </p:nvSpPr>
        <p:spPr>
          <a:xfrm xmlns:a="http://schemas.openxmlformats.org/drawingml/2006/main">
            <a:off x="11163300" y="3276600"/>
            <a:ext cx="0" cy="3429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9969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close-rail-label"/>
          <p:cNvSpPr txBox="1"/>
          <p:nvPr/>
        </p:nvSpPr>
        <p:spPr>
          <a:xfrm xmlns:a="http://schemas.openxmlformats.org/drawingml/2006/main">
            <a:off x="11525250" y="34290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27D69B"/>
                </a:solidFill>
                <a:latin typeface="Inter"/>
                <a:ea typeface="Inter"/>
              </a:rPr>
              <a:t>NEXT MOVE</a:t>
            </a:r>
            <a:endParaRPr lang="en-US"/>
          </a:p>
        </p:txBody>
      </p:sp>
      <p:sp>
        <p:nvSpPr>
          <p:cNvPr id="20" name="close-rail-value"/>
          <p:cNvSpPr txBox="1"/>
          <p:nvPr/>
        </p:nvSpPr>
        <p:spPr>
          <a:xfrm xmlns:a="http://schemas.openxmlformats.org/drawingml/2006/main">
            <a:off x="11525250" y="3943350"/>
            <a:ext cx="2857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250" b="1">
                <a:solidFill>
                  <a:srgbClr val="F7F9F8"/>
                </a:solidFill>
                <a:latin typeface="Inter"/>
                <a:ea typeface="Inter"/>
              </a:rPr>
              <a:t>Clear the buffer gate</a:t>
            </a:r>
            <a:endParaRPr lang="en-US"/>
          </a:p>
        </p:txBody>
      </p:sp>
      <p:sp>
        <p:nvSpPr>
          <p:cNvPr id="21" name="close-rail-foot"/>
          <p:cNvSpPr txBox="1"/>
          <p:nvPr/>
        </p:nvSpPr>
        <p:spPr>
          <a:xfrm xmlns:a="http://schemas.openxmlformats.org/drawingml/2006/main">
            <a:off x="11525250" y="4953000"/>
            <a:ext cx="285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9969E"/>
                </a:solidFill>
                <a:latin typeface="Inter"/>
                <a:ea typeface="Inter"/>
              </a:rPr>
              <a:t>Owner · reviewer · date</a:t>
            </a:r>
            <a:endParaRPr lang="en-US"/>
          </a:p>
        </p:txBody>
      </p:sp>
      <p:sp>
        <p:nvSpPr>
          <p:cNvPr id="22" name="close-band"/>
          <p:cNvSpPr/>
          <p:nvPr/>
        </p:nvSpPr>
        <p:spPr>
          <a:xfrm xmlns:a="http://schemas.openxmlformats.org/drawingml/2006/main">
            <a:off x="914400" y="7086600"/>
            <a:ext cx="134112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8">
              <a:alpha val="10000"/>
            </a:srgbClr>
          </a:solidFill>
          <a:ln xmlns:a="http://schemas.openxmlformats.org/drawingml/2006/main" w="0">
            <a:solidFill>
              <a:srgbClr val="F7F9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3" name="close-band-text"/>
          <p:cNvSpPr txBox="1"/>
          <p:nvPr/>
        </p:nvSpPr>
        <p:spPr>
          <a:xfrm xmlns:a="http://schemas.openxmlformats.org/drawingml/2006/main">
            <a:off x="1143000" y="7239000"/>
            <a:ext cx="1190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F7F9F8"/>
                </a:solidFill>
                <a:latin typeface="Inter"/>
                <a:ea typeface="Inter"/>
              </a:rPr>
              <a:t>STANCE  ·  Keep the gate visible when the allocation moves.</a:t>
            </a:r>
            <a:endParaRPr lang="en-US"/>
          </a:p>
        </p:txBody>
      </p:sp>
      <p:sp>
        <p:nvSpPr>
          <p:cNvPr id="24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9969E"/>
                </a:solidFill>
                <a:latin typeface="Inter"/>
                <a:ea typeface="Inter"/>
              </a:rPr>
              <a:t>Source: illustrative calibration brief · values are fictional</a:t>
            </a:r>
            <a:endParaRPr lang="en-US"/>
          </a:p>
        </p:txBody>
      </p:sp>
      <p:sp>
        <p:nvSpPr>
          <p:cNvPr id="25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9969E"/>
                </a:solidFill>
                <a:latin typeface="Inter"/>
                <a:ea typeface="Inter"/>
              </a:rPr>
              <a:t>6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