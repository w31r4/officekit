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2e19fa8ab4b24a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13f3b70e2a114cb1" /><Relationship Type="http://schemas.openxmlformats.org/officeDocument/2006/relationships/chart" Target="/ppt/slides/charts/chart2.xml" Id="R62ac682f0d29416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7D69B"/>
            </a:solidFill>
          </c:spP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Context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Context</c:v>
          </c:tx>
          <c:spPr>
            <a:solidFill>
              <a:srgbClr val="9C78D7"/>
            </a:solidFill>
            <a:ln w="38100">
              <a:solidFill>
                <a:srgbClr val="9C78D7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  <c:pt idx="5">
                <c:v>F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proposition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over-evidence-field"/>
          <p:cNvSpPr/>
          <p:nvPr/>
        </p:nvSpPr>
        <p:spPr>
          <a:xfrm xmlns:a="http://schemas.openxmlformats.org/drawingml/2006/main">
            <a:off x="8667750" y="0"/>
            <a:ext cx="657225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>
              <a:alpha val="12000"/>
            </a:srgbClr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cover-gold-line"/>
          <p:cNvSpPr/>
          <p:nvPr/>
        </p:nvSpPr>
        <p:spPr>
          <a:xfrm xmlns:a="http://schemas.openxmlformats.org/drawingml/2006/main">
            <a:off x="914400" y="1562100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889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5725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OFFICEKIT CALIBRATION</a:t>
            </a:r>
            <a:endParaRPr lang="en-US"/>
          </a:p>
        </p:txBody>
      </p:sp>
      <p:sp>
        <p:nvSpPr>
          <p:cNvPr id="6" name="cover-date"/>
          <p:cNvSpPr txBox="1"/>
          <p:nvPr/>
        </p:nvSpPr>
        <p:spPr>
          <a:xfrm xmlns:a="http://schemas.openxmlformats.org/drawingml/2006/main">
            <a:off x="11239500" y="876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125">
                <a:solidFill>
                  <a:srgbClr val="89969E"/>
                </a:solidFill>
                <a:latin typeface="Inter"/>
                <a:ea typeface="Inter"/>
              </a:rPr>
              <a:t>RESEARCH NOTE · 2026</a:t>
            </a:r>
            <a:endParaRPr lang="en-US"/>
          </a:p>
        </p:txBody>
      </p:sp>
      <p:sp>
        <p:nvSpPr>
          <p:cNvPr id="7" name="cover-title"/>
          <p:cNvSpPr txBox="1"/>
          <p:nvPr/>
        </p:nvSpPr>
        <p:spPr>
          <a:xfrm xmlns:a="http://schemas.openxmlformats.org/drawingml/2006/main">
            <a:off x="914400" y="1981200"/>
            <a:ext cx="7239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7F9F8"/>
                </a:solidFill>
                <a:latin typeface="Inter"/>
                <a:ea typeface="Inter"/>
              </a:rPr>
              <a:t>Midnight Prospectus: a claim worth testing</a:t>
            </a:r>
            <a:endParaRPr lang="en-US"/>
          </a:p>
        </p:txBody>
      </p:sp>
      <p:sp>
        <p:nvSpPr>
          <p:cNvPr id="8" name="cover-subtitle"/>
          <p:cNvSpPr txBox="1"/>
          <p:nvPr/>
        </p:nvSpPr>
        <p:spPr>
          <a:xfrm xmlns:a="http://schemas.openxmlformats.org/drawingml/2006/main">
            <a:off x="952500" y="340995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89969E"/>
                </a:solidFill>
                <a:latin typeface="Inter"/>
                <a:ea typeface="Inter"/>
              </a:rPr>
              <a:t>A clean-room reference for bounded financial decisions.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114800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7F9F8"/>
                </a:solidFill>
                <a:latin typeface="Inter"/>
                <a:ea typeface="Inter"/>
              </a:rPr>
              <a:t>A ledger turns evidence into a bounded stance.</a:t>
            </a:r>
            <a:endParaRPr lang="en-US"/>
          </a:p>
        </p:txBody>
      </p:sp>
      <p:sp>
        <p:nvSpPr>
          <p:cNvPr id="10" name="cover-metric-one"/>
          <p:cNvSpPr txBox="1"/>
          <p:nvPr/>
        </p:nvSpPr>
        <p:spPr>
          <a:xfrm xmlns:a="http://schemas.openxmlformats.org/drawingml/2006/main">
            <a:off x="952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27D69B"/>
                </a:solidFill>
                <a:latin typeface="Inter"/>
                <a:ea typeface="Inter"/>
              </a:rPr>
              <a:t>142.0</a:t>
            </a:r>
            <a:endParaRPr lang="en-US"/>
          </a:p>
        </p:txBody>
      </p:sp>
      <p:sp>
        <p:nvSpPr>
          <p:cNvPr id="11" name="cover-metric-one-caption"/>
          <p:cNvSpPr txBox="1"/>
          <p:nvPr/>
        </p:nvSpPr>
        <p:spPr>
          <a:xfrm xmlns:a="http://schemas.openxmlformats.org/drawingml/2006/main">
            <a:off x="952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units funded · Q2</a:t>
            </a:r>
            <a:endParaRPr lang="en-US"/>
          </a:p>
        </p:txBody>
      </p:sp>
      <p:sp>
        <p:nvSpPr>
          <p:cNvPr id="12" name="cover-metric-two"/>
          <p:cNvSpPr txBox="1"/>
          <p:nvPr/>
        </p:nvSpPr>
        <p:spPr>
          <a:xfrm xmlns:a="http://schemas.openxmlformats.org/drawingml/2006/main">
            <a:off x="3238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7F9F8"/>
                </a:solidFill>
                <a:latin typeface="Inter"/>
                <a:ea typeface="Inter"/>
              </a:rPr>
              <a:t>4.1×</a:t>
            </a:r>
            <a:endParaRPr lang="en-US"/>
          </a:p>
        </p:txBody>
      </p:sp>
      <p:sp>
        <p:nvSpPr>
          <p:cNvPr id="13" name="cover-metric-two-caption"/>
          <p:cNvSpPr txBox="1"/>
          <p:nvPr/>
        </p:nvSpPr>
        <p:spPr>
          <a:xfrm xmlns:a="http://schemas.openxmlformats.org/drawingml/2006/main">
            <a:off x="3238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coverage · month end</a:t>
            </a:r>
            <a:endParaRPr lang="en-US"/>
          </a:p>
        </p:txBody>
      </p:sp>
      <p:sp>
        <p:nvSpPr>
          <p:cNvPr id="14" name="cover-metric-three"/>
          <p:cNvSpPr txBox="1"/>
          <p:nvPr/>
        </p:nvSpPr>
        <p:spPr>
          <a:xfrm xmlns:a="http://schemas.openxmlformats.org/drawingml/2006/main">
            <a:off x="5524500" y="56197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700" b="1">
                <a:solidFill>
                  <a:srgbClr val="F7F9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15" name="cover-metric-three-caption"/>
          <p:cNvSpPr txBox="1"/>
          <p:nvPr/>
        </p:nvSpPr>
        <p:spPr>
          <a:xfrm xmlns:a="http://schemas.openxmlformats.org/drawingml/2006/main">
            <a:off x="5524500" y="615315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A7A7A7"/>
                </a:solidFill>
                <a:latin typeface="Inter"/>
                <a:ea typeface="Inter"/>
              </a:rPr>
              <a:t>top two regions</a:t>
            </a:r>
            <a:endParaRPr lang="en-US"/>
          </a:p>
        </p:txBody>
      </p:sp>
      <p:sp>
        <p:nvSpPr>
          <p:cNvPr id="16" name="cover-watermark"/>
          <p:cNvSpPr txBox="1"/>
          <p:nvPr/>
        </p:nvSpPr>
        <p:spPr>
          <a:xfrm xmlns:a="http://schemas.openxmlformats.org/drawingml/2006/main">
            <a:off x="10572750" y="1809750"/>
            <a:ext cx="3238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050">
                <a:solidFill>
                  <a:srgbClr val="89969E"/>
                </a:solidFill>
                <a:latin typeface="Inter"/>
                <a:ea typeface="Inter"/>
              </a:rPr>
              <a:t>26</a:t>
            </a:r>
            <a:endParaRPr lang="en-US"/>
          </a:p>
        </p:txBody>
      </p:sp>
      <p:sp>
        <p:nvSpPr>
          <p:cNvPr id="17" name="basis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>
              <a:alpha val="10000"/>
            </a:srgbClr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basis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Illustrative ledger · values fictional · read the unit, period, and decision threshold</a:t>
            </a:r>
            <a:endParaRPr lang="en-US"/>
          </a:p>
        </p:txBody>
      </p:sp>
      <p:sp>
        <p:nvSpPr>
          <p:cNvPr id="19" name="page-number"/>
          <p:cNvSpPr txBox="1"/>
          <p:nvPr/>
        </p:nvSpPr>
        <p:spPr>
          <a:xfrm xmlns:a="http://schemas.openxmlformats.org/drawingml/2006/main">
            <a:off x="13335000" y="78867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7810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STANCE</a:t>
            </a:r>
            <a:endParaRPr lang="en-US"/>
          </a:p>
        </p:txBody>
      </p:sp>
      <p:sp>
        <p:nvSpPr>
          <p:cNvPr id="4" name="argument-title"/>
          <p:cNvSpPr txBox="1"/>
          <p:nvPr/>
        </p:nvSpPr>
        <p:spPr>
          <a:xfrm xmlns:a="http://schemas.openxmlformats.org/drawingml/2006/main">
            <a:off x="914400" y="1257300"/>
            <a:ext cx="8572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The ledger supports a narrow allocation, not a broad acceleration</a:t>
            </a:r>
            <a:endParaRPr lang="en-US"/>
          </a:p>
        </p:txBody>
      </p:sp>
      <p:sp>
        <p:nvSpPr>
          <p:cNvPr id="5" name="argument-basis"/>
          <p:cNvSpPr txBox="1"/>
          <p:nvPr/>
        </p:nvSpPr>
        <p:spPr>
          <a:xfrm xmlns:a="http://schemas.openxmlformats.org/drawingml/2006/main">
            <a:off x="952500" y="25717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Three observations separate the signal from the momentum.</a:t>
            </a:r>
            <a:endParaRPr lang="en-US"/>
          </a:p>
        </p:txBody>
      </p:sp>
      <p:sp>
        <p:nvSpPr>
          <p:cNvPr id="6" name="stance-number-0"/>
          <p:cNvSpPr txBox="1"/>
          <p:nvPr/>
        </p:nvSpPr>
        <p:spPr>
          <a:xfrm xmlns:a="http://schemas.openxmlformats.org/drawingml/2006/main">
            <a:off x="1066800" y="35052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stance-0"/>
          <p:cNvSpPr txBox="1"/>
          <p:nvPr/>
        </p:nvSpPr>
        <p:spPr>
          <a:xfrm xmlns:a="http://schemas.openxmlformats.org/drawingml/2006/main">
            <a:off x="2095500" y="35052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Funding is up, but late-stage deals are fewer.</a:t>
            </a:r>
            <a:endParaRPr lang="en-US"/>
          </a:p>
        </p:txBody>
      </p:sp>
      <p:sp>
        <p:nvSpPr>
          <p:cNvPr id="8" name="stance-detail-0"/>
          <p:cNvSpPr txBox="1"/>
          <p:nvPr/>
        </p:nvSpPr>
        <p:spPr>
          <a:xfrm xmlns:a="http://schemas.openxmlformats.org/drawingml/2006/main">
            <a:off x="2095500" y="39243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142.0 units funded; 58 active sites.</a:t>
            </a:r>
            <a:endParaRPr lang="en-US"/>
          </a:p>
        </p:txBody>
      </p:sp>
      <p:sp>
        <p:nvSpPr>
          <p:cNvPr id="9" name="stance-rule-0"/>
          <p:cNvSpPr/>
          <p:nvPr/>
        </p:nvSpPr>
        <p:spPr>
          <a:xfrm xmlns:a="http://schemas.openxmlformats.org/drawingml/2006/main">
            <a:off x="2095500" y="43434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stance-number-1"/>
          <p:cNvSpPr txBox="1"/>
          <p:nvPr/>
        </p:nvSpPr>
        <p:spPr>
          <a:xfrm xmlns:a="http://schemas.openxmlformats.org/drawingml/2006/main">
            <a:off x="1066800" y="462915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stance-1"/>
          <p:cNvSpPr txBox="1"/>
          <p:nvPr/>
        </p:nvSpPr>
        <p:spPr>
          <a:xfrm xmlns:a="http://schemas.openxmlformats.org/drawingml/2006/main">
            <a:off x="2095500" y="462915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Throughput improved without expanding the footprint.</a:t>
            </a:r>
            <a:endParaRPr lang="en-US"/>
          </a:p>
        </p:txBody>
      </p:sp>
      <p:sp>
        <p:nvSpPr>
          <p:cNvPr id="12" name="stance-detail-1"/>
          <p:cNvSpPr txBox="1"/>
          <p:nvPr/>
        </p:nvSpPr>
        <p:spPr>
          <a:xfrm xmlns:a="http://schemas.openxmlformats.org/drawingml/2006/main">
            <a:off x="2095500" y="504825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Output per site is up 18% quarter on quarter.</a:t>
            </a:r>
            <a:endParaRPr lang="en-US"/>
          </a:p>
        </p:txBody>
      </p:sp>
      <p:sp>
        <p:nvSpPr>
          <p:cNvPr id="13" name="stance-rule-1"/>
          <p:cNvSpPr/>
          <p:nvPr/>
        </p:nvSpPr>
        <p:spPr>
          <a:xfrm xmlns:a="http://schemas.openxmlformats.org/drawingml/2006/main">
            <a:off x="2095500" y="546735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stance-number-2"/>
          <p:cNvSpPr txBox="1"/>
          <p:nvPr/>
        </p:nvSpPr>
        <p:spPr>
          <a:xfrm xmlns:a="http://schemas.openxmlformats.org/drawingml/2006/main">
            <a:off x="1066800" y="5753100"/>
            <a:ext cx="66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400">
                <a:solidFill>
                  <a:srgbClr val="89969E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stance-2"/>
          <p:cNvSpPr txBox="1"/>
          <p:nvPr/>
        </p:nvSpPr>
        <p:spPr>
          <a:xfrm xmlns:a="http://schemas.openxmlformats.org/drawingml/2006/main">
            <a:off x="2095500" y="5753100"/>
            <a:ext cx="752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F7F9F8"/>
                </a:solidFill>
                <a:latin typeface="Inter"/>
                <a:ea typeface="Inter"/>
              </a:rPr>
              <a:t>The next decision is concentration, not acceleration.</a:t>
            </a:r>
            <a:endParaRPr lang="en-US"/>
          </a:p>
        </p:txBody>
      </p:sp>
      <p:sp>
        <p:nvSpPr>
          <p:cNvPr id="16" name="stance-detail-2"/>
          <p:cNvSpPr txBox="1"/>
          <p:nvPr/>
        </p:nvSpPr>
        <p:spPr>
          <a:xfrm xmlns:a="http://schemas.openxmlformats.org/drawingml/2006/main">
            <a:off x="2095500" y="6172200"/>
            <a:ext cx="752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Two regions now carry 61% of active volume.</a:t>
            </a:r>
            <a:endParaRPr lang="en-US"/>
          </a:p>
        </p:txBody>
      </p:sp>
      <p:sp>
        <p:nvSpPr>
          <p:cNvPr id="17" name="stance-rule-2"/>
          <p:cNvSpPr/>
          <p:nvPr/>
        </p:nvSpPr>
        <p:spPr>
          <a:xfrm xmlns:a="http://schemas.openxmlformats.org/drawingml/2006/main">
            <a:off x="2095500" y="6591300"/>
            <a:ext cx="781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stance-rail"/>
          <p:cNvSpPr/>
          <p:nvPr/>
        </p:nvSpPr>
        <p:spPr>
          <a:xfrm xmlns:a="http://schemas.openxmlformats.org/drawingml/2006/main">
            <a:off x="11163300" y="3276600"/>
            <a:ext cx="0" cy="3676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stance-rail-label"/>
          <p:cNvSpPr txBox="1"/>
          <p:nvPr/>
        </p:nvSpPr>
        <p:spPr>
          <a:xfrm xmlns:a="http://schemas.openxmlformats.org/drawingml/2006/main">
            <a:off x="1152525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9969E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0" name="stance-rail-value"/>
          <p:cNvSpPr txBox="1"/>
          <p:nvPr/>
        </p:nvSpPr>
        <p:spPr>
          <a:xfrm xmlns:a="http://schemas.openxmlformats.org/drawingml/2006/main">
            <a:off x="11525250" y="39814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27D69B"/>
                </a:solidFill>
                <a:latin typeface="Inter"/>
                <a:ea typeface="Inter"/>
              </a:rPr>
              <a:t>18%</a:t>
            </a:r>
            <a:endParaRPr lang="en-US"/>
          </a:p>
        </p:txBody>
      </p:sp>
      <p:sp>
        <p:nvSpPr>
          <p:cNvPr id="21" name="stance-rail-caption"/>
          <p:cNvSpPr txBox="1"/>
          <p:nvPr/>
        </p:nvSpPr>
        <p:spPr>
          <a:xfrm xmlns:a="http://schemas.openxmlformats.org/drawingml/2006/main">
            <a:off x="11525250" y="46101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output per site</a:t>
            </a:r>
            <a:endParaRPr lang="en-US"/>
          </a:p>
        </p:txBody>
      </p:sp>
      <p:sp>
        <p:nvSpPr>
          <p:cNvPr id="22" name="stance-rail-value-two"/>
          <p:cNvSpPr txBox="1"/>
          <p:nvPr/>
        </p:nvSpPr>
        <p:spPr>
          <a:xfrm xmlns:a="http://schemas.openxmlformats.org/drawingml/2006/main">
            <a:off x="11525250" y="542925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61%</a:t>
            </a:r>
            <a:endParaRPr lang="en-US"/>
          </a:p>
        </p:txBody>
      </p:sp>
      <p:sp>
        <p:nvSpPr>
          <p:cNvPr id="23" name="stance-rail-caption-two"/>
          <p:cNvSpPr txBox="1"/>
          <p:nvPr/>
        </p:nvSpPr>
        <p:spPr>
          <a:xfrm xmlns:a="http://schemas.openxmlformats.org/drawingml/2006/main">
            <a:off x="11525250" y="6057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volume in two regions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The ledger moves, but the threshold still governs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Illustrative ledger · values show period, unit, and decision threshold.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969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2A3C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The ledger carries the assumptions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Assumption grid · values stay aligned to their basis and release gate.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finance-evidence-tabl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162300"/>
          <a:ext xmlns:a="http://schemas.openxmlformats.org/drawingml/2006/main" cx="8001000" cy="28956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2000250"/>
                <a:gridCol w="2000250"/>
                <a:gridCol w="2000250"/>
                <a:gridCol w="2000250"/>
              </a:tblGrid>
              <a:tr h="579120"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Metric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Base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Plan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1">
                          <a:solidFill>
                            <a:srgbClr val="000000"/>
                          </a:solidFill>
                        </a:rPr>
                        <a:t>Delta</a:t>
                      </a:r>
                      <a:endParaRPr lang="en-US" sz="1350"/>
                    </a:p>
                  </a:txBody>
                  <a:tcPr>
                    <a:solidFill>
                      <a:srgbClr val="EDEDED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Coverage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42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51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+9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Cash conversion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1.6x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2.1x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+0.5x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Risk buffer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8w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10w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+2w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Release gate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Open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Clear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350" b="0">
                          <a:solidFill>
                            <a:srgbClr val="0F172A"/>
                          </a:solidFill>
                        </a:rPr>
                        <a:t>—</a:t>
                      </a:r>
                      <a:endParaRPr lang="en-US" sz="1350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able-note-label"/>
          <p:cNvSpPr txBox="1"/>
          <p:nvPr/>
        </p:nvSpPr>
        <p:spPr>
          <a:xfrm xmlns:a="http://schemas.openxmlformats.org/drawingml/2006/main">
            <a:off x="9810750" y="3314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MODEL READ-THROUGH</a:t>
            </a:r>
            <a:endParaRPr lang="en-US"/>
          </a:p>
        </p:txBody>
      </p:sp>
      <p:sp>
        <p:nvSpPr>
          <p:cNvPr id="21" name="table-note-title"/>
          <p:cNvSpPr txBox="1"/>
          <p:nvPr/>
        </p:nvSpPr>
        <p:spPr>
          <a:xfrm xmlns:a="http://schemas.openxmlformats.org/drawingml/2006/main">
            <a:off x="9810750" y="3790950"/>
            <a:ext cx="3619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The gate stays visible beside the number.</a:t>
            </a:r>
            <a:endParaRPr lang="en-US"/>
          </a:p>
        </p:txBody>
      </p:sp>
      <p:sp>
        <p:nvSpPr>
          <p:cNvPr id="22" name="table-note-rule"/>
          <p:cNvSpPr/>
          <p:nvPr/>
        </p:nvSpPr>
        <p:spPr>
          <a:xfrm xmlns:a="http://schemas.openxmlformats.org/drawingml/2006/main">
            <a:off x="9810750" y="501015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table-note-body"/>
          <p:cNvSpPr txBox="1"/>
          <p:nvPr/>
        </p:nvSpPr>
        <p:spPr>
          <a:xfrm xmlns:a="http://schemas.openxmlformats.org/drawingml/2006/main">
            <a:off x="9810750" y="52768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969E"/>
                </a:solidFill>
                <a:latin typeface="Inter"/>
                <a:ea typeface="Inter"/>
              </a:rPr>
              <a:t>Use a table when assumptions and units carry the decision. Charts support the ledger; they do not replace it.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7D69B"/>
          </a:solidFill>
          <a:ln xmlns:a="http://schemas.openxmlformats.org/drawingml/2006/main" w="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9969E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/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MIDNIGHT PROSPECTU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7D69B"/>
                </a:solidFill>
                <a:latin typeface="Inter"/>
                <a:ea typeface="Inter"/>
              </a:rPr>
              <a:t>MIDNIGHT PROSPECTUS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2A3C"/>
                </a:solidFill>
                <a:latin typeface="Inter"/>
                <a:ea typeface="Inter"/>
              </a:rPr>
              <a:t>A visual field can carry a signal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The picture is not a mood board; it is the surface where the argument lands.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visual-bars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5334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3f3b70e2a114cb1"/>
          </a:graphicData>
        </a:graphic>
      </p:graphicFrame>
      <p:graphicFrame>
        <p:nvGraphicFramePr>
          <p:cNvPr id="20" name="dense-visual-line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6667500" y="3028950"/>
          <a:ext xmlns:a="http://schemas.openxmlformats.org/drawingml/2006/main" cx="3810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ac682f0d29416f"/>
          </a:graphicData>
        </a:graphic>
      </p:graphicFrame>
      <p:sp>
        <p:nvSpPr>
          <p:cNvPr id="21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23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2A3C"/>
                </a:solidFill>
                <a:latin typeface="Inter"/>
                <a:ea typeface="Inter"/>
              </a:rPr>
              <a:t>Signal before decoration</a:t>
            </a:r>
            <a:endParaRPr lang="en-US"/>
          </a:p>
        </p:txBody>
      </p:sp>
      <p:sp>
        <p:nvSpPr>
          <p:cNvPr id="24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2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dark-fiel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2A3C"/>
          </a:solidFill>
          <a:ln xmlns:a="http://schemas.openxmlformats.org/drawingml/2006/main" w="0">
            <a:solidFill>
              <a:srgbClr val="112A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19150"/>
            <a:ext cx="647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FINANCE · DECISION</a:t>
            </a:r>
            <a:endParaRPr lang="en-US"/>
          </a:p>
        </p:txBody>
      </p:sp>
      <p:sp>
        <p:nvSpPr>
          <p:cNvPr id="4" name="close-title"/>
          <p:cNvSpPr txBox="1"/>
          <p:nvPr/>
        </p:nvSpPr>
        <p:spPr>
          <a:xfrm xmlns:a="http://schemas.openxmlformats.org/drawingml/2006/main">
            <a:off x="914400" y="1314450"/>
            <a:ext cx="8953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150" b="1">
                <a:solidFill>
                  <a:srgbClr val="F7F9F8"/>
                </a:solidFill>
                <a:latin typeface="Inter"/>
                <a:ea typeface="Inter"/>
              </a:rPr>
              <a:t>Fund the proven constraint, then measure the next one</a:t>
            </a:r>
            <a:endParaRPr lang="en-US"/>
          </a:p>
        </p:txBody>
      </p:sp>
      <p:sp>
        <p:nvSpPr>
          <p:cNvPr id="5" name="close-basis"/>
          <p:cNvSpPr txBox="1"/>
          <p:nvPr/>
        </p:nvSpPr>
        <p:spPr>
          <a:xfrm xmlns:a="http://schemas.openxmlformats.org/drawingml/2006/main">
            <a:off x="952500" y="24193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A decision is bounded by the evidence it is willing to revisit.</a:t>
            </a:r>
            <a:endParaRPr lang="en-US"/>
          </a:p>
        </p:txBody>
      </p:sp>
      <p:sp>
        <p:nvSpPr>
          <p:cNvPr id="6" name="close-number-0"/>
          <p:cNvSpPr txBox="1"/>
          <p:nvPr/>
        </p:nvSpPr>
        <p:spPr>
          <a:xfrm xmlns:a="http://schemas.openxmlformats.org/drawingml/2006/main">
            <a:off x="1104900" y="34861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9969E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7" name="close-row-rule-0"/>
          <p:cNvSpPr/>
          <p:nvPr/>
        </p:nvSpPr>
        <p:spPr>
          <a:xfrm xmlns:a="http://schemas.openxmlformats.org/drawingml/2006/main">
            <a:off x="2038350" y="36385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label-0"/>
          <p:cNvSpPr txBox="1"/>
          <p:nvPr/>
        </p:nvSpPr>
        <p:spPr>
          <a:xfrm xmlns:a="http://schemas.openxmlformats.org/drawingml/2006/main">
            <a:off x="2190750" y="34480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9" name="close-text-0"/>
          <p:cNvSpPr txBox="1"/>
          <p:nvPr/>
        </p:nvSpPr>
        <p:spPr>
          <a:xfrm xmlns:a="http://schemas.openxmlformats.org/drawingml/2006/main">
            <a:off x="4476750" y="34861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Cash conversion remains positive.</a:t>
            </a:r>
            <a:endParaRPr lang="en-US"/>
          </a:p>
        </p:txBody>
      </p:sp>
      <p:sp>
        <p:nvSpPr>
          <p:cNvPr id="10" name="close-number-1"/>
          <p:cNvSpPr txBox="1"/>
          <p:nvPr/>
        </p:nvSpPr>
        <p:spPr>
          <a:xfrm xmlns:a="http://schemas.openxmlformats.org/drawingml/2006/main">
            <a:off x="1104900" y="45529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89969E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11" name="close-row-rule-1"/>
          <p:cNvSpPr/>
          <p:nvPr/>
        </p:nvSpPr>
        <p:spPr>
          <a:xfrm xmlns:a="http://schemas.openxmlformats.org/drawingml/2006/main">
            <a:off x="2038350" y="47053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1"/>
          <p:cNvSpPr txBox="1"/>
          <p:nvPr/>
        </p:nvSpPr>
        <p:spPr>
          <a:xfrm xmlns:a="http://schemas.openxmlformats.org/drawingml/2006/main">
            <a:off x="2190750" y="45148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Risk</a:t>
            </a:r>
            <a:endParaRPr lang="en-US"/>
          </a:p>
        </p:txBody>
      </p:sp>
      <p:sp>
        <p:nvSpPr>
          <p:cNvPr id="13" name="close-text-1"/>
          <p:cNvSpPr txBox="1"/>
          <p:nvPr/>
        </p:nvSpPr>
        <p:spPr>
          <a:xfrm xmlns:a="http://schemas.openxmlformats.org/drawingml/2006/main">
            <a:off x="4476750" y="45529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The buffer is below threshold.</a:t>
            </a:r>
            <a:endParaRPr lang="en-US"/>
          </a:p>
        </p:txBody>
      </p:sp>
      <p:sp>
        <p:nvSpPr>
          <p:cNvPr id="14" name="close-number-2"/>
          <p:cNvSpPr txBox="1"/>
          <p:nvPr/>
        </p:nvSpPr>
        <p:spPr>
          <a:xfrm xmlns:a="http://schemas.openxmlformats.org/drawingml/2006/main">
            <a:off x="1104900" y="561975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27D69B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15" name="close-row-rule-2"/>
          <p:cNvSpPr/>
          <p:nvPr/>
        </p:nvSpPr>
        <p:spPr>
          <a:xfrm xmlns:a="http://schemas.openxmlformats.org/drawingml/2006/main">
            <a:off x="2038350" y="5772150"/>
            <a:ext cx="7296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7D69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2"/>
          <p:cNvSpPr txBox="1"/>
          <p:nvPr/>
        </p:nvSpPr>
        <p:spPr>
          <a:xfrm xmlns:a="http://schemas.openxmlformats.org/drawingml/2006/main">
            <a:off x="2190750" y="55816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7F9F8"/>
                </a:solidFill>
                <a:latin typeface="Inter"/>
                <a:ea typeface="Inter"/>
              </a:rPr>
              <a:t>Decision</a:t>
            </a:r>
            <a:endParaRPr lang="en-US"/>
          </a:p>
        </p:txBody>
      </p:sp>
      <p:sp>
        <p:nvSpPr>
          <p:cNvPr id="17" name="close-text-2"/>
          <p:cNvSpPr txBox="1"/>
          <p:nvPr/>
        </p:nvSpPr>
        <p:spPr>
          <a:xfrm xmlns:a="http://schemas.openxmlformats.org/drawingml/2006/main">
            <a:off x="4476750" y="5619750"/>
            <a:ext cx="4857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969E"/>
                </a:solidFill>
                <a:latin typeface="Inter"/>
                <a:ea typeface="Inter"/>
              </a:rPr>
              <a:t>Release one constrained tranche.</a:t>
            </a:r>
            <a:endParaRPr lang="en-US"/>
          </a:p>
        </p:txBody>
      </p:sp>
      <p:sp>
        <p:nvSpPr>
          <p:cNvPr id="18" name="close-rail"/>
          <p:cNvSpPr/>
          <p:nvPr/>
        </p:nvSpPr>
        <p:spPr>
          <a:xfrm xmlns:a="http://schemas.openxmlformats.org/drawingml/2006/main">
            <a:off x="11163300" y="32766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969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rail-label"/>
          <p:cNvSpPr txBox="1"/>
          <p:nvPr/>
        </p:nvSpPr>
        <p:spPr>
          <a:xfrm xmlns:a="http://schemas.openxmlformats.org/drawingml/2006/main">
            <a:off x="11525250" y="34290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7D69B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20" name="close-rail-value"/>
          <p:cNvSpPr txBox="1"/>
          <p:nvPr/>
        </p:nvSpPr>
        <p:spPr>
          <a:xfrm xmlns:a="http://schemas.openxmlformats.org/drawingml/2006/main">
            <a:off x="11525250" y="394335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F7F9F8"/>
                </a:solidFill>
                <a:latin typeface="Inter"/>
                <a:ea typeface="Inter"/>
              </a:rPr>
              <a:t>Clear the buffer gate</a:t>
            </a:r>
            <a:endParaRPr lang="en-US"/>
          </a:p>
        </p:txBody>
      </p:sp>
      <p:sp>
        <p:nvSpPr>
          <p:cNvPr id="21" name="close-rail-foot"/>
          <p:cNvSpPr txBox="1"/>
          <p:nvPr/>
        </p:nvSpPr>
        <p:spPr>
          <a:xfrm xmlns:a="http://schemas.openxmlformats.org/drawingml/2006/main">
            <a:off x="11525250" y="495300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9969E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22" name="close-band"/>
          <p:cNvSpPr/>
          <p:nvPr/>
        </p:nvSpPr>
        <p:spPr>
          <a:xfrm xmlns:a="http://schemas.openxmlformats.org/drawingml/2006/main">
            <a:off x="914400" y="7086600"/>
            <a:ext cx="1341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8">
              <a:alpha val="10000"/>
            </a:srgbClr>
          </a:solidFill>
          <a:ln xmlns:a="http://schemas.openxmlformats.org/drawingml/2006/main" w="0">
            <a:solidFill>
              <a:srgbClr val="F7F9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close-band-text"/>
          <p:cNvSpPr txBox="1"/>
          <p:nvPr/>
        </p:nvSpPr>
        <p:spPr>
          <a:xfrm xmlns:a="http://schemas.openxmlformats.org/drawingml/2006/main">
            <a:off x="1143000" y="7239000"/>
            <a:ext cx="1190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7F9F8"/>
                </a:solidFill>
                <a:latin typeface="Inter"/>
                <a:ea typeface="Inter"/>
              </a:rPr>
              <a:t>STANCE  ·  Keep the gate visible when the allocation moves.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969E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