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8d64a66cf69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b428744539164600" /><Relationship Type="http://schemas.openxmlformats.org/officeDocument/2006/relationships/chart" Target="/ppt/slides/charts/chart2.xml" Id="Rc9581ed222c8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7D69B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9C78D7"/>
            </a:solidFill>
            <a:ln w="38100">
              <a:solidFill>
                <a:srgbClr val="9C78D7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OFFICEKIT CALIBRATION</a:t>
            </a:r>
            <a:endParaRPr lang="en-US"/>
          </a:p>
        </p:txBody>
      </p:sp>
      <p:sp>
        <p:nvSpPr>
          <p:cNvPr id="6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9969E"/>
                </a:solidFill>
                <a:latin typeface="Inter"/>
                <a:ea typeface="Inter"/>
              </a:rPr>
              <a:t>RESEARCH NOTE · 2026</a:t>
            </a:r>
            <a:endParaRPr lang="en-US"/>
          </a:p>
        </p:txBody>
      </p:sp>
      <p:sp>
        <p:nvSpPr>
          <p:cNvPr id="7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7F9F8"/>
                </a:solidFill>
                <a:latin typeface="Inter"/>
                <a:ea typeface="Inter"/>
              </a:rPr>
              <a:t>Midnight Prospectus: a claim worth testing</a:t>
            </a:r>
            <a:endParaRPr lang="en-US"/>
          </a:p>
        </p:txBody>
      </p:sp>
      <p:sp>
        <p:nvSpPr>
          <p:cNvPr id="8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9969E"/>
                </a:solidFill>
                <a:latin typeface="Inter"/>
                <a:ea typeface="Inter"/>
              </a:rPr>
              <a:t>A clean-room reference for bounded financial decisions.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7F9F8"/>
                </a:solidFill>
                <a:latin typeface="Inter"/>
                <a:ea typeface="Inter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27D69B"/>
                </a:solidFill>
                <a:latin typeface="Inter"/>
                <a:ea typeface="Inter"/>
              </a:rPr>
              <a:t>142.0</a:t>
            </a:r>
            <a:endParaRPr lang="en-US"/>
          </a:p>
        </p:txBody>
      </p:sp>
      <p:sp>
        <p:nvSpPr>
          <p:cNvPr id="11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units funded · Q2</a:t>
            </a:r>
            <a:endParaRPr lang="en-US"/>
          </a:p>
        </p:txBody>
      </p:sp>
      <p:sp>
        <p:nvSpPr>
          <p:cNvPr id="12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7F9F8"/>
                </a:solidFill>
                <a:latin typeface="Inter"/>
                <a:ea typeface="Inter"/>
              </a:rPr>
              <a:t>4.1×</a:t>
            </a:r>
            <a:endParaRPr lang="en-US"/>
          </a:p>
        </p:txBody>
      </p:sp>
      <p:sp>
        <p:nvSpPr>
          <p:cNvPr id="13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coverage · month end</a:t>
            </a:r>
            <a:endParaRPr lang="en-US"/>
          </a:p>
        </p:txBody>
      </p:sp>
      <p:sp>
        <p:nvSpPr>
          <p:cNvPr id="14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7F9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15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top two regions</a:t>
            </a:r>
            <a:endParaRPr lang="en-US"/>
          </a:p>
        </p:txBody>
      </p:sp>
      <p:sp>
        <p:nvSpPr>
          <p:cNvPr id="16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9969E"/>
                </a:solidFill>
                <a:latin typeface="Inter"/>
                <a:ea typeface="Inter"/>
              </a:rPr>
              <a:t>26</a:t>
            </a:r>
            <a:endParaRPr lang="en-US"/>
          </a:p>
        </p:txBody>
      </p:sp>
      <p:sp>
        <p:nvSpPr>
          <p:cNvPr id="17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>
              <a:alpha val="10000"/>
            </a:srgbClr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9969E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7F9F8"/>
                </a:solidFill>
                <a:latin typeface="Inter"/>
                <a:ea typeface="Inter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9969E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27D69B"/>
                </a:solidFill>
                <a:latin typeface="Inter"/>
                <a:ea typeface="Inter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The ledger moves, but the threshold still governs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969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12A3C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The ledger carries the assumptions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969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69B"/>
          </a:solidFill>
          <a:ln xmlns:a="http://schemas.openxmlformats.org/drawingml/2006/main" w="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9969E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/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IDNIGHT PROSPECTU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7D69B"/>
                </a:solidFill>
                <a:latin typeface="Inter"/>
                <a:ea typeface="Inter"/>
              </a:rPr>
              <a:t>MIDNIGHT PROSPECTUS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12A3C"/>
                </a:solidFill>
                <a:latin typeface="Inter"/>
                <a:ea typeface="Inter"/>
              </a:rPr>
              <a:t>A visual field can carry a signal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28744539164600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581ed222c843f3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2A3C"/>
                </a:solidFill>
                <a:latin typeface="Inter"/>
                <a:ea typeface="Inter"/>
              </a:rPr>
              <a:t>Signal before decoration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3C"/>
          </a:solidFill>
          <a:ln xmlns:a="http://schemas.openxmlformats.org/drawingml/2006/main" w="0">
            <a:solidFill>
              <a:srgbClr val="112A3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7F9F8"/>
                </a:solidFill>
                <a:latin typeface="Inter"/>
                <a:ea typeface="Inter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9969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9969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7D69B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7D69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7F9F8"/>
                </a:solidFill>
                <a:latin typeface="Inter"/>
                <a:ea typeface="Inter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969E"/>
                </a:solidFill>
                <a:latin typeface="Inter"/>
                <a:ea typeface="Inter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96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D69B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7F9F8"/>
                </a:solidFill>
                <a:latin typeface="Inter"/>
                <a:ea typeface="Inter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969E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8">
              <a:alpha val="10000"/>
            </a:srgbClr>
          </a:solidFill>
          <a:ln xmlns:a="http://schemas.openxmlformats.org/drawingml/2006/main" w="0">
            <a:solidFill>
              <a:srgbClr val="F7F9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7F9F8"/>
                </a:solidFill>
                <a:latin typeface="Inter"/>
                <a:ea typeface="Inter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969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