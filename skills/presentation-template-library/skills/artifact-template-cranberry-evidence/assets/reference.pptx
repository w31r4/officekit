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9db1eba6f6c4c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7af3bddd520e715f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7af3bddd520e715f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E244D"/>
                </a:solidFill>
                <a:latin typeface="Inter"/>
                <a:ea typeface="Inter"/>
              </a:rPr>
              <a:t>ACADEMIC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231C21"/>
                </a:solidFill>
                <a:latin typeface="Inter"/>
                <a:ea typeface="Inter"/>
              </a:rPr>
              <a:t>Cranberry Evidence: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8E244D"/>
                </a:solidFill>
                <a:latin typeface="Inter"/>
                <a:ea typeface="Inter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31C21"/>
                </a:solidFill>
                <a:latin typeface="Inter"/>
                <a:ea typeface="Inter"/>
              </a:rPr>
              <a:t>A falsifiable claim is a design decision.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RANBERRY EVIDENCE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E244D"/>
                </a:solidFill>
                <a:latin typeface="Inter"/>
                <a:ea typeface="Inter"/>
              </a:rPr>
              <a:t>CRANBERRY EVIDENCE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31C21"/>
                </a:solidFill>
                <a:latin typeface="Inter"/>
                <a:ea typeface="Inter"/>
              </a:rPr>
              <a:t>The method keeps mechanism separate from drift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59294"/>
                </a:solidFill>
                <a:latin typeface="Inter"/>
                <a:ea typeface="Inter"/>
              </a:rPr>
              <a:t>Question → method → result → limitation, without marketing language.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academic-number-0"/>
          <p:cNvSpPr txBox="1"/>
          <p:nvPr/>
        </p:nvSpPr>
        <p:spPr>
          <a:xfrm xmlns:a="http://schemas.openxmlformats.org/drawingml/2006/main">
            <a:off x="1104900" y="3238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E244D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9" name="academic-rule-0"/>
          <p:cNvSpPr/>
          <p:nvPr/>
        </p:nvSpPr>
        <p:spPr>
          <a:xfrm xmlns:a="http://schemas.openxmlformats.org/drawingml/2006/main">
            <a:off x="2000250" y="3390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academic-label-0"/>
          <p:cNvSpPr txBox="1"/>
          <p:nvPr/>
        </p:nvSpPr>
        <p:spPr>
          <a:xfrm xmlns:a="http://schemas.openxmlformats.org/drawingml/2006/main">
            <a:off x="2114550" y="3200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Question</a:t>
            </a:r>
            <a:endParaRPr lang="en-US"/>
          </a:p>
        </p:txBody>
      </p:sp>
      <p:sp>
        <p:nvSpPr>
          <p:cNvPr id="11" name="academic-text-0"/>
          <p:cNvSpPr txBox="1"/>
          <p:nvPr/>
        </p:nvSpPr>
        <p:spPr>
          <a:xfrm xmlns:a="http://schemas.openxmlformats.org/drawingml/2006/main">
            <a:off x="4095750" y="3238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Can the intervention move the outcome?</a:t>
            </a:r>
            <a:endParaRPr lang="en-US"/>
          </a:p>
        </p:txBody>
      </p:sp>
      <p:sp>
        <p:nvSpPr>
          <p:cNvPr id="12" name="academic-number-1"/>
          <p:cNvSpPr txBox="1"/>
          <p:nvPr/>
        </p:nvSpPr>
        <p:spPr>
          <a:xfrm xmlns:a="http://schemas.openxmlformats.org/drawingml/2006/main">
            <a:off x="1104900" y="4191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E244D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3" name="academic-rule-1"/>
          <p:cNvSpPr/>
          <p:nvPr/>
        </p:nvSpPr>
        <p:spPr>
          <a:xfrm xmlns:a="http://schemas.openxmlformats.org/drawingml/2006/main">
            <a:off x="2000250" y="43434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cademic-label-1"/>
          <p:cNvSpPr txBox="1"/>
          <p:nvPr/>
        </p:nvSpPr>
        <p:spPr>
          <a:xfrm xmlns:a="http://schemas.openxmlformats.org/drawingml/2006/main">
            <a:off x="2114550" y="4152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Method</a:t>
            </a:r>
            <a:endParaRPr lang="en-US"/>
          </a:p>
        </p:txBody>
      </p:sp>
      <p:sp>
        <p:nvSpPr>
          <p:cNvPr id="15" name="academic-text-1"/>
          <p:cNvSpPr txBox="1"/>
          <p:nvPr/>
        </p:nvSpPr>
        <p:spPr>
          <a:xfrm xmlns:a="http://schemas.openxmlformats.org/drawingml/2006/main">
            <a:off x="4095750" y="419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Two groups, one rule, registered before launch.</a:t>
            </a:r>
            <a:endParaRPr lang="en-US"/>
          </a:p>
        </p:txBody>
      </p:sp>
      <p:sp>
        <p:nvSpPr>
          <p:cNvPr id="16" name="academic-number-2"/>
          <p:cNvSpPr txBox="1"/>
          <p:nvPr/>
        </p:nvSpPr>
        <p:spPr>
          <a:xfrm xmlns:a="http://schemas.openxmlformats.org/drawingml/2006/main">
            <a:off x="1104900" y="5143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E244D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7" name="academic-rule-2"/>
          <p:cNvSpPr/>
          <p:nvPr/>
        </p:nvSpPr>
        <p:spPr>
          <a:xfrm xmlns:a="http://schemas.openxmlformats.org/drawingml/2006/main">
            <a:off x="2000250" y="5295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cademic-label-2"/>
          <p:cNvSpPr txBox="1"/>
          <p:nvPr/>
        </p:nvSpPr>
        <p:spPr>
          <a:xfrm xmlns:a="http://schemas.openxmlformats.org/drawingml/2006/main">
            <a:off x="2114550" y="5105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19" name="academic-text-2"/>
          <p:cNvSpPr txBox="1"/>
          <p:nvPr/>
        </p:nvSpPr>
        <p:spPr>
          <a:xfrm xmlns:a="http://schemas.openxmlformats.org/drawingml/2006/main">
            <a:off x="4095750" y="5143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The result applies to this window and sample.</a:t>
            </a:r>
            <a:endParaRPr lang="en-US"/>
          </a:p>
        </p:txBody>
      </p:sp>
      <p:sp>
        <p:nvSpPr>
          <p:cNvPr id="20" name="method-panel"/>
          <p:cNvSpPr/>
          <p:nvPr/>
        </p:nvSpPr>
        <p:spPr>
          <a:xfrm xmlns:a="http://schemas.openxmlformats.org/drawingml/2006/main">
            <a:off x="10287000" y="3238500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method-label"/>
          <p:cNvSpPr txBox="1"/>
          <p:nvPr/>
        </p:nvSpPr>
        <p:spPr>
          <a:xfrm xmlns:a="http://schemas.openxmlformats.org/drawingml/2006/main">
            <a:off x="10668000" y="3571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244D"/>
                </a:solidFill>
                <a:latin typeface="Inter"/>
                <a:ea typeface="Inter"/>
              </a:rPr>
              <a:t>REGISTERED RULE</a:t>
            </a:r>
            <a:endParaRPr lang="en-US"/>
          </a:p>
        </p:txBody>
      </p:sp>
      <p:sp>
        <p:nvSpPr>
          <p:cNvPr id="22" name="method-value"/>
          <p:cNvSpPr txBox="1"/>
          <p:nvPr/>
        </p:nvSpPr>
        <p:spPr>
          <a:xfrm xmlns:a="http://schemas.openxmlformats.org/drawingml/2006/main">
            <a:off x="10668000" y="40481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750" b="1">
                <a:solidFill>
                  <a:srgbClr val="8E244D"/>
                </a:solidFill>
                <a:latin typeface="Inter"/>
                <a:ea typeface="Inter"/>
              </a:rPr>
              <a:t>≥ 2 pp</a:t>
            </a:r>
            <a:endParaRPr lang="en-US"/>
          </a:p>
        </p:txBody>
      </p:sp>
      <p:sp>
        <p:nvSpPr>
          <p:cNvPr id="23" name="method-foot"/>
          <p:cNvSpPr txBox="1"/>
          <p:nvPr/>
        </p:nvSpPr>
        <p:spPr>
          <a:xfrm xmlns:a="http://schemas.openxmlformats.org/drawingml/2006/main">
            <a:off x="10668000" y="4762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59294"/>
                </a:solidFill>
                <a:latin typeface="Inter"/>
                <a:ea typeface="Inter"/>
              </a:rPr>
              <a:t>confidence interval excludes zero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RANBERRY EVIDENCE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E244D"/>
                </a:solidFill>
                <a:latin typeface="Inter"/>
                <a:ea typeface="Inter"/>
              </a:rPr>
              <a:t>CRANBERRY EVIDENCE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31C21"/>
                </a:solidFill>
                <a:latin typeface="Inter"/>
                <a:ea typeface="Inter"/>
              </a:rPr>
              <a:t>The result clears the rule; uncertainty remains visible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59294"/>
                </a:solidFill>
                <a:latin typeface="Inter"/>
                <a:ea typeface="Inter"/>
              </a:rPr>
              <a:t>Illustrative measure · mean of 24 observations · 95% CI shown in the read-through.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timeline-label"/>
          <p:cNvSpPr txBox="1"/>
          <p:nvPr/>
        </p:nvSpPr>
        <p:spPr>
          <a:xfrm xmlns:a="http://schemas.openxmlformats.org/drawingml/2006/main">
            <a:off x="1066800" y="3238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244D"/>
                </a:solidFill>
                <a:latin typeface="Inter"/>
                <a:ea typeface="Inter"/>
              </a:rPr>
              <a:t>EVOLUTION / TRANSITION</a:t>
            </a:r>
            <a:endParaRPr lang="en-US"/>
          </a:p>
        </p:txBody>
      </p:sp>
      <p:sp>
        <p:nvSpPr>
          <p:cNvPr id="9" name="timeline-axis"/>
          <p:cNvSpPr/>
          <p:nvPr/>
        </p:nvSpPr>
        <p:spPr>
          <a:xfrm xmlns:a="http://schemas.openxmlformats.org/drawingml/2006/main">
            <a:off x="1219200" y="4762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timeline-node-0"/>
          <p:cNvSpPr/>
          <p:nvPr/>
        </p:nvSpPr>
        <p:spPr>
          <a:xfrm xmlns:a="http://schemas.openxmlformats.org/drawingml/2006/main">
            <a:off x="1066800" y="4610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timeline-number-0"/>
          <p:cNvSpPr txBox="1"/>
          <p:nvPr/>
        </p:nvSpPr>
        <p:spPr>
          <a:xfrm xmlns:a="http://schemas.openxmlformats.org/drawingml/2006/main">
            <a:off x="952500" y="407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8E244D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2" name="timeline-label-0"/>
          <p:cNvSpPr txBox="1"/>
          <p:nvPr/>
        </p:nvSpPr>
        <p:spPr>
          <a:xfrm xmlns:a="http://schemas.openxmlformats.org/drawingml/2006/main">
            <a:off x="533400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350" b="1">
                <a:solidFill>
                  <a:srgbClr val="231C21"/>
                </a:solidFill>
                <a:latin typeface="Inter"/>
                <a:ea typeface="Inter"/>
              </a:rPr>
              <a:t>Frame</a:t>
            </a:r>
            <a:endParaRPr lang="en-US"/>
          </a:p>
        </p:txBody>
      </p:sp>
      <p:sp>
        <p:nvSpPr>
          <p:cNvPr id="13" name="timeline-text-0"/>
          <p:cNvSpPr txBox="1"/>
          <p:nvPr/>
        </p:nvSpPr>
        <p:spPr>
          <a:xfrm xmlns:a="http://schemas.openxmlformats.org/drawingml/2006/main">
            <a:off x="323850" y="5391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Name the question</a:t>
            </a:r>
            <a:endParaRPr lang="en-US"/>
          </a:p>
        </p:txBody>
      </p:sp>
      <p:sp>
        <p:nvSpPr>
          <p:cNvPr id="14" name="timeline-node-1"/>
          <p:cNvSpPr/>
          <p:nvPr/>
        </p:nvSpPr>
        <p:spPr>
          <a:xfrm xmlns:a="http://schemas.openxmlformats.org/drawingml/2006/main">
            <a:off x="3638550" y="4610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timeline-number-1"/>
          <p:cNvSpPr txBox="1"/>
          <p:nvPr/>
        </p:nvSpPr>
        <p:spPr>
          <a:xfrm xmlns:a="http://schemas.openxmlformats.org/drawingml/2006/main">
            <a:off x="3524250" y="407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8E244D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6" name="timeline-label-1"/>
          <p:cNvSpPr txBox="1"/>
          <p:nvPr/>
        </p:nvSpPr>
        <p:spPr>
          <a:xfrm xmlns:a="http://schemas.openxmlformats.org/drawingml/2006/main">
            <a:off x="3105150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350" b="1">
                <a:solidFill>
                  <a:srgbClr val="231C21"/>
                </a:solidFill>
                <a:latin typeface="Inter"/>
                <a:ea typeface="Inter"/>
              </a:rPr>
              <a:t>Test</a:t>
            </a:r>
            <a:endParaRPr lang="en-US"/>
          </a:p>
        </p:txBody>
      </p:sp>
      <p:sp>
        <p:nvSpPr>
          <p:cNvPr id="17" name="timeline-text-1"/>
          <p:cNvSpPr txBox="1"/>
          <p:nvPr/>
        </p:nvSpPr>
        <p:spPr>
          <a:xfrm xmlns:a="http://schemas.openxmlformats.org/drawingml/2006/main">
            <a:off x="2895600" y="5391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Hold the rule</a:t>
            </a:r>
            <a:endParaRPr lang="en-US"/>
          </a:p>
        </p:txBody>
      </p:sp>
      <p:sp>
        <p:nvSpPr>
          <p:cNvPr id="18" name="timeline-node-2"/>
          <p:cNvSpPr/>
          <p:nvPr/>
        </p:nvSpPr>
        <p:spPr>
          <a:xfrm xmlns:a="http://schemas.openxmlformats.org/drawingml/2006/main">
            <a:off x="6210300" y="4610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timeline-number-2"/>
          <p:cNvSpPr txBox="1"/>
          <p:nvPr/>
        </p:nvSpPr>
        <p:spPr>
          <a:xfrm xmlns:a="http://schemas.openxmlformats.org/drawingml/2006/main">
            <a:off x="6096000" y="407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8E244D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0" name="timeline-label-2"/>
          <p:cNvSpPr txBox="1"/>
          <p:nvPr/>
        </p:nvSpPr>
        <p:spPr>
          <a:xfrm xmlns:a="http://schemas.openxmlformats.org/drawingml/2006/main">
            <a:off x="5676900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350" b="1">
                <a:solidFill>
                  <a:srgbClr val="231C21"/>
                </a:solidFill>
                <a:latin typeface="Inter"/>
                <a:ea typeface="Inter"/>
              </a:rPr>
              <a:t>Read</a:t>
            </a:r>
            <a:endParaRPr lang="en-US"/>
          </a:p>
        </p:txBody>
      </p:sp>
      <p:sp>
        <p:nvSpPr>
          <p:cNvPr id="21" name="timeline-text-2"/>
          <p:cNvSpPr txBox="1"/>
          <p:nvPr/>
        </p:nvSpPr>
        <p:spPr>
          <a:xfrm xmlns:a="http://schemas.openxmlformats.org/drawingml/2006/main">
            <a:off x="5467350" y="5391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Separate signal</a:t>
            </a:r>
            <a:endParaRPr lang="en-US"/>
          </a:p>
        </p:txBody>
      </p:sp>
      <p:sp>
        <p:nvSpPr>
          <p:cNvPr id="22" name="timeline-node-3"/>
          <p:cNvSpPr/>
          <p:nvPr/>
        </p:nvSpPr>
        <p:spPr>
          <a:xfrm xmlns:a="http://schemas.openxmlformats.org/drawingml/2006/main">
            <a:off x="8782050" y="4610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timeline-number-3"/>
          <p:cNvSpPr txBox="1"/>
          <p:nvPr/>
        </p:nvSpPr>
        <p:spPr>
          <a:xfrm xmlns:a="http://schemas.openxmlformats.org/drawingml/2006/main">
            <a:off x="8667750" y="407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8E244D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24" name="timeline-label-3"/>
          <p:cNvSpPr txBox="1"/>
          <p:nvPr/>
        </p:nvSpPr>
        <p:spPr>
          <a:xfrm xmlns:a="http://schemas.openxmlformats.org/drawingml/2006/main">
            <a:off x="8248650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350" b="1">
                <a:solidFill>
                  <a:srgbClr val="231C21"/>
                </a:solidFill>
                <a:latin typeface="Inter"/>
                <a:ea typeface="Inter"/>
              </a:rPr>
              <a:t>Move</a:t>
            </a:r>
            <a:endParaRPr lang="en-US"/>
          </a:p>
        </p:txBody>
      </p:sp>
      <p:sp>
        <p:nvSpPr>
          <p:cNvPr id="25" name="timeline-text-3"/>
          <p:cNvSpPr txBox="1"/>
          <p:nvPr/>
        </p:nvSpPr>
        <p:spPr>
          <a:xfrm xmlns:a="http://schemas.openxmlformats.org/drawingml/2006/main">
            <a:off x="8039100" y="5391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Set the next gate</a:t>
            </a:r>
            <a:endParaRPr lang="en-US"/>
          </a:p>
        </p:txBody>
      </p:sp>
      <p:sp>
        <p:nvSpPr>
          <p:cNvPr id="26" name="timeline-node-4"/>
          <p:cNvSpPr/>
          <p:nvPr/>
        </p:nvSpPr>
        <p:spPr>
          <a:xfrm xmlns:a="http://schemas.openxmlformats.org/drawingml/2006/main">
            <a:off x="11353800" y="4610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254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timeline-number-4"/>
          <p:cNvSpPr txBox="1"/>
          <p:nvPr/>
        </p:nvSpPr>
        <p:spPr>
          <a:xfrm xmlns:a="http://schemas.openxmlformats.org/drawingml/2006/main">
            <a:off x="11239500" y="407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8E244D"/>
                </a:solidFill>
                <a:latin typeface="Inter"/>
                <a:ea typeface="Inter"/>
              </a:rPr>
              <a:t>05</a:t>
            </a:r>
            <a:endParaRPr lang="en-US"/>
          </a:p>
        </p:txBody>
      </p:sp>
      <p:sp>
        <p:nvSpPr>
          <p:cNvPr id="28" name="timeline-label-4"/>
          <p:cNvSpPr txBox="1"/>
          <p:nvPr/>
        </p:nvSpPr>
        <p:spPr>
          <a:xfrm xmlns:a="http://schemas.openxmlformats.org/drawingml/2006/main">
            <a:off x="10820400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350" b="1">
                <a:solidFill>
                  <a:srgbClr val="231C21"/>
                </a:solidFill>
                <a:latin typeface="Inter"/>
                <a:ea typeface="Inter"/>
              </a:rPr>
              <a:t>Scale</a:t>
            </a:r>
            <a:endParaRPr lang="en-US"/>
          </a:p>
        </p:txBody>
      </p:sp>
      <p:sp>
        <p:nvSpPr>
          <p:cNvPr id="29" name="timeline-text-4"/>
          <p:cNvSpPr txBox="1"/>
          <p:nvPr/>
        </p:nvSpPr>
        <p:spPr>
          <a:xfrm xmlns:a="http://schemas.openxmlformats.org/drawingml/2006/main">
            <a:off x="10610850" y="5391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Repeat what held</a:t>
            </a:r>
            <a:endParaRPr lang="en-US"/>
          </a:p>
        </p:txBody>
      </p:sp>
      <p:sp>
        <p:nvSpPr>
          <p:cNvPr id="30" name="timeline-read-label"/>
          <p:cNvSpPr txBox="1"/>
          <p:nvPr/>
        </p:nvSpPr>
        <p:spPr>
          <a:xfrm xmlns:a="http://schemas.openxmlformats.org/drawingml/2006/main">
            <a:off x="1066800" y="6667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8E244D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31" name="timeline-read"/>
          <p:cNvSpPr txBox="1"/>
          <p:nvPr/>
        </p:nvSpPr>
        <p:spPr>
          <a:xfrm xmlns:a="http://schemas.openxmlformats.org/drawingml/2006/main">
            <a:off x="3333750" y="66294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425" b="1">
                <a:solidFill>
                  <a:srgbClr val="231C21"/>
                </a:solidFill>
                <a:latin typeface="Inter"/>
                <a:ea typeface="Inter"/>
              </a:rPr>
              <a:t>A sequence is useful when each handoff changes what can happen next.</a:t>
            </a:r>
            <a:endParaRPr lang="en-US"/>
          </a:p>
        </p:txBody>
      </p:sp>
      <p:sp>
        <p:nvSpPr>
          <p:cNvPr id="32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231C21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3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3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RANBERRY EVIDENCE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E244D"/>
                </a:solidFill>
                <a:latin typeface="Inter"/>
                <a:ea typeface="Inter"/>
              </a:rPr>
              <a:t>CRANBERRY EVIDENCE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31C21"/>
                </a:solidFill>
                <a:latin typeface="Inter"/>
                <a:ea typeface="Inter"/>
              </a:rPr>
              <a:t>The table keeps the result honest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59294"/>
                </a:solidFill>
                <a:latin typeface="Inter"/>
                <a:ea typeface="Inter"/>
              </a:rPr>
              <a:t>Structured comparison · method, window, measure and boundary remain adjacent.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8E244D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31C21"/>
                </a:solidFill>
                <a:latin typeface="Inter"/>
                <a:ea typeface="Inter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59294"/>
                </a:solidFill>
                <a:latin typeface="Inter"/>
                <a:ea typeface="Inter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8E244D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31C21"/>
                </a:solidFill>
                <a:latin typeface="Inter"/>
                <a:ea typeface="Inter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59294"/>
                </a:solidFill>
                <a:latin typeface="Inter"/>
                <a:ea typeface="Inter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8E244D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31C21"/>
                </a:solidFill>
                <a:latin typeface="Inter"/>
                <a:ea typeface="Inter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59294"/>
                </a:solidFill>
                <a:latin typeface="Inter"/>
                <a:ea typeface="Inter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8E244D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31C21"/>
                </a:solidFill>
                <a:latin typeface="Inter"/>
                <a:ea typeface="Inter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59294"/>
                </a:solidFill>
                <a:latin typeface="Inter"/>
                <a:ea typeface="Inter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244D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231C21"/>
                </a:solidFill>
                <a:latin typeface="Inter"/>
                <a:ea typeface="Inter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59294"/>
                </a:solidFill>
                <a:latin typeface="Inter"/>
                <a:ea typeface="Inter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RANBERRY EVIDENCE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E244D"/>
                </a:solidFill>
                <a:latin typeface="Inter"/>
                <a:ea typeface="Inter"/>
              </a:rPr>
              <a:t>CRANBERRY EVIDENCE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31C21"/>
                </a:solidFill>
                <a:latin typeface="Inter"/>
                <a:ea typeface="Inter"/>
              </a:rPr>
              <a:t>Evidence has a texture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59294"/>
                </a:solidFill>
                <a:latin typeface="Inter"/>
                <a:ea typeface="Inter"/>
              </a:rPr>
              <a:t>Use a visual carrier when the audience needs to see a pattern before reading the caveat.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8E244D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1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Observe</a:t>
            </a:r>
            <a:endParaRPr lang="en-US"/>
          </a:p>
        </p:txBody>
      </p:sp>
      <p:sp>
        <p:nvSpPr>
          <p:cNvPr id="12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59294"/>
                </a:solidFill>
                <a:latin typeface="Inter"/>
                <a:ea typeface="Inter"/>
              </a:rPr>
              <a:t>Find the signal</a:t>
            </a:r>
            <a:endParaRPr lang="en-US"/>
          </a:p>
        </p:txBody>
      </p:sp>
      <p:sp>
        <p:nvSpPr>
          <p:cNvPr id="13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8E244D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5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Explain</a:t>
            </a:r>
            <a:endParaRPr lang="en-US"/>
          </a:p>
        </p:txBody>
      </p:sp>
      <p:sp>
        <p:nvSpPr>
          <p:cNvPr id="16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59294"/>
                </a:solidFill>
                <a:latin typeface="Inter"/>
                <a:ea typeface="Inter"/>
              </a:rPr>
              <a:t>Name the mechanism</a:t>
            </a:r>
            <a:endParaRPr lang="en-US"/>
          </a:p>
        </p:txBody>
      </p:sp>
      <p:sp>
        <p:nvSpPr>
          <p:cNvPr id="17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8E244D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9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Choose</a:t>
            </a:r>
            <a:endParaRPr lang="en-US"/>
          </a:p>
        </p:txBody>
      </p:sp>
      <p:sp>
        <p:nvSpPr>
          <p:cNvPr id="20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59294"/>
                </a:solidFill>
                <a:latin typeface="Inter"/>
                <a:ea typeface="Inter"/>
              </a:rPr>
              <a:t>Set the condition</a:t>
            </a:r>
            <a:endParaRPr lang="en-US"/>
          </a:p>
        </p:txBody>
      </p:sp>
      <p:sp>
        <p:nvSpPr>
          <p:cNvPr id="21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23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Act</a:t>
            </a:r>
            <a:endParaRPr lang="en-US"/>
          </a:p>
        </p:txBody>
      </p:sp>
      <p:sp>
        <p:nvSpPr>
          <p:cNvPr id="24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59294"/>
                </a:solidFill>
                <a:latin typeface="Inter"/>
                <a:ea typeface="Inter"/>
              </a:rPr>
              <a:t>Return with proof</a:t>
            </a:r>
            <a:endParaRPr lang="en-US"/>
          </a:p>
        </p:txBody>
      </p:sp>
      <p:sp>
        <p:nvSpPr>
          <p:cNvPr id="25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244D"/>
                </a:solidFill>
                <a:latin typeface="Inter"/>
                <a:ea typeface="Inter"/>
              </a:rPr>
              <a:t>PROCESS CARRIER</a:t>
            </a:r>
            <a:endParaRPr lang="en-US"/>
          </a:p>
        </p:txBody>
      </p:sp>
      <p:sp>
        <p:nvSpPr>
          <p:cNvPr id="27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231C21"/>
                </a:solidFill>
                <a:latin typeface="Inter"/>
                <a:ea typeface="Inter"/>
              </a:rPr>
              <a:t>A relationship earns a line.</a:t>
            </a:r>
            <a:endParaRPr lang="en-US"/>
          </a:p>
        </p:txBody>
      </p:sp>
      <p:sp>
        <p:nvSpPr>
          <p:cNvPr id="28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59294"/>
                </a:solidFill>
                <a:latin typeface="Inter"/>
                <a:ea typeface="Inter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29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244D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31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31C21"/>
                </a:solidFill>
                <a:latin typeface="Inter"/>
                <a:ea typeface="Inter"/>
              </a:rPr>
              <a:t>Pattern before caveat</a:t>
            </a:r>
            <a:endParaRPr lang="en-US"/>
          </a:p>
        </p:txBody>
      </p:sp>
      <p:sp>
        <p:nvSpPr>
          <p:cNvPr id="32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59294"/>
                </a:solidFill>
                <a:latin typeface="Inter"/>
                <a:ea typeface="Inter"/>
              </a:rPr>
              <a:t>Read the mark, unit, and basis.</a:t>
            </a:r>
            <a:endParaRPr lang="en-US"/>
          </a:p>
        </p:txBody>
      </p:sp>
      <p:sp>
        <p:nvSpPr>
          <p:cNvPr id="3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3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RANBERRY EVIDENCE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E244D"/>
                </a:solidFill>
                <a:latin typeface="Inter"/>
                <a:ea typeface="Inter"/>
              </a:rPr>
              <a:t>CRANBERRY EVIDENCE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31C21"/>
                </a:solidFill>
                <a:latin typeface="Inter"/>
                <a:ea typeface="Inter"/>
              </a:rPr>
              <a:t>A cleared gate is a decision, not a universal claim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59294"/>
                </a:solidFill>
                <a:latin typeface="Inter"/>
                <a:ea typeface="Inter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8E244D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Claim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The mechanism moved the measured outcome.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31C21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The sample does not establish persistence.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8E244D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Next test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Replicate across a new region.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Inter"/>
                <a:ea typeface="Inter"/>
              </a:rPr>
              <a:t>Replicate the test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