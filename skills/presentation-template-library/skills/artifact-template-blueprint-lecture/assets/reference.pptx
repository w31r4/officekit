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2148d8dbac8b4c2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8bca39c9b7ba070f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8fbc298f8d1b7a3c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3.jpg" Id="rIdOfficeKitImage45ba195e2a5649fb_1" /><Relationship Type="http://schemas.openxmlformats.org/officeDocument/2006/relationships/chart" Target="/ppt/slides/charts/chart1.xml" Id="R404542240efd4b3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d71bfa074cda59bb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8bca39c9b7ba070f_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 over the study window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Primary</c:v>
          </c:tx>
          <c:spPr>
            <a:solidFill>
              <a:srgbClr val="1769D2"/>
            </a:solidFill>
            <a:ln w="50800">
              <a:solidFill>
                <a:srgbClr val="1769D2"/>
              </a:solidFill>
              <a:prstDash val="solid"/>
            </a:ln>
          </c:spPr>
          <c:marker>
            <c:symbol val="circle"/>
            <c:size val="8"/>
          </c:marke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42</c:v>
              </c:pt>
              <c:pt idx="1">
                <c:v>48</c:v>
              </c:pt>
              <c:pt idx="2">
                <c:v>54</c:v>
              </c:pt>
              <c:pt idx="3">
                <c:v>61</c:v>
              </c:pt>
              <c:pt idx="4">
                <c:v>68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8A969F"/>
            </a:solidFill>
            <a:ln w="38100">
              <a:solidFill>
                <a:srgbClr val="8A969F"/>
              </a:solidFill>
              <a:prstDash val="solid"/>
            </a:ln>
          </c:spPr>
          <c:marker>
            <c:symbol val="circle"/>
            <c:size val="7"/>
          </c:marke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40</c:v>
              </c:pt>
              <c:pt idx="1">
                <c:v>42</c:v>
              </c:pt>
              <c:pt idx="2">
                <c:v>44</c:v>
              </c:pt>
              <c:pt idx="3">
                <c:v>45</c:v>
              </c:pt>
              <c:pt idx="4">
                <c:v>46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artifact-template-blueprint-lecture-cover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8bca39c9b7ba070f_1"/>
          <a:srcRect xmlns:a="http://schemas.openxmlformats.org/drawingml/2006/main" l="0" t="34171" r="0" b="3417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>
              <a:alpha val="100000"/>
            </a:srgbClr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769D2"/>
                </a:solidFill>
                <a:latin typeface="Inter"/>
                <a:ea typeface="Inter"/>
              </a:rPr>
              <a:t>ACADEMIC · OFFICEKIT CALIBRATION</a:t>
            </a:r>
            <a:endParaRPr lang="en-US"/>
          </a:p>
        </p:txBody>
      </p:sp>
      <p:sp>
        <p:nvSpPr>
          <p:cNvPr id="6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32A3A"/>
                </a:solidFill>
                <a:latin typeface="Inter"/>
                <a:ea typeface="Inter"/>
              </a:rPr>
              <a:t>Blueprint Lecture: a claim worth testing</a:t>
            </a:r>
            <a:endParaRPr lang="en-US"/>
          </a:p>
        </p:txBody>
      </p:sp>
      <p:sp>
        <p:nvSpPr>
          <p:cNvPr id="7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1769D2"/>
                </a:solidFill>
                <a:latin typeface="Inter"/>
                <a:ea typeface="Inter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8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32A3A"/>
                </a:solidFill>
                <a:latin typeface="Inter"/>
                <a:ea typeface="Inter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10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32A3A"/>
                </a:solidFill>
                <a:latin typeface="Inter"/>
                <a:ea typeface="Inter"/>
              </a:rPr>
              <a:t>A falsifiable claim is a design decision.</a:t>
            </a:r>
            <a:endParaRPr lang="en-US"/>
          </a:p>
        </p:txBody>
      </p:sp>
      <p:sp>
        <p:nvSpPr>
          <p:cNvPr id="11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1 / 6</a:t>
            </a:r>
            <a:endParaRPr lang="en-US"/>
          </a:p>
        </p:txBody>
      </p:sp>
      <p:sp>
        <p:nvSpPr>
          <p:cNvPr id="13" name="anchor-field"/>
          <p:cNvSpPr/>
          <p:nvPr/>
        </p:nvSpPr>
        <p:spPr>
          <a:xfrm xmlns:a="http://schemas.openxmlformats.org/drawingml/2006/main">
            <a:off x="11620500" y="1790700"/>
            <a:ext cx="2095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254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grid-0-0"/>
          <p:cNvSpPr/>
          <p:nvPr/>
        </p:nvSpPr>
        <p:spPr>
          <a:xfrm xmlns:a="http://schemas.openxmlformats.org/drawingml/2006/main">
            <a:off x="119253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grid-0-1"/>
          <p:cNvSpPr/>
          <p:nvPr/>
        </p:nvSpPr>
        <p:spPr>
          <a:xfrm xmlns:a="http://schemas.openxmlformats.org/drawingml/2006/main">
            <a:off x="124206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nchor-grid-0-2"/>
          <p:cNvSpPr/>
          <p:nvPr/>
        </p:nvSpPr>
        <p:spPr>
          <a:xfrm xmlns:a="http://schemas.openxmlformats.org/drawingml/2006/main">
            <a:off x="129159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anchor-grid-1-0"/>
          <p:cNvSpPr/>
          <p:nvPr/>
        </p:nvSpPr>
        <p:spPr>
          <a:xfrm xmlns:a="http://schemas.openxmlformats.org/drawingml/2006/main">
            <a:off x="119253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nchor-grid-1-1"/>
          <p:cNvSpPr/>
          <p:nvPr/>
        </p:nvSpPr>
        <p:spPr>
          <a:xfrm xmlns:a="http://schemas.openxmlformats.org/drawingml/2006/main">
            <a:off x="124206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anchor-grid-1-2"/>
          <p:cNvSpPr/>
          <p:nvPr/>
        </p:nvSpPr>
        <p:spPr>
          <a:xfrm xmlns:a="http://schemas.openxmlformats.org/drawingml/2006/main">
            <a:off x="129159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anchor-grid-2-0"/>
          <p:cNvSpPr/>
          <p:nvPr/>
        </p:nvSpPr>
        <p:spPr>
          <a:xfrm xmlns:a="http://schemas.openxmlformats.org/drawingml/2006/main">
            <a:off x="119253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anchor-grid-2-1"/>
          <p:cNvSpPr/>
          <p:nvPr/>
        </p:nvSpPr>
        <p:spPr>
          <a:xfrm xmlns:a="http://schemas.openxmlformats.org/drawingml/2006/main">
            <a:off x="124206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anchor-grid-2-2"/>
          <p:cNvSpPr/>
          <p:nvPr/>
        </p:nvSpPr>
        <p:spPr>
          <a:xfrm xmlns:a="http://schemas.openxmlformats.org/drawingml/2006/main">
            <a:off x="129159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anchor-axis"/>
          <p:cNvSpPr/>
          <p:nvPr/>
        </p:nvSpPr>
        <p:spPr>
          <a:xfrm xmlns:a="http://schemas.openxmlformats.org/drawingml/2006/main">
            <a:off x="12668250" y="1638300"/>
            <a:ext cx="0" cy="2743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132A3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argument-visual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8fbc298f8d1b7a3c_1"/>
          <a:srcRect xmlns:a="http://schemas.openxmlformats.org/drawingml/2006/main" l="0" t="34180" r="0" b="3418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argument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>
              <a:alpha val="96000"/>
            </a:srgbClr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BLUEPRINT LECTURE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769D2"/>
                </a:solidFill>
                <a:latin typeface="Inter"/>
                <a:ea typeface="Inter"/>
              </a:rPr>
              <a:t>BLUEPRINT LECTURE · ARGUMENT</a:t>
            </a:r>
            <a:endParaRPr lang="en-US"/>
          </a:p>
        </p:txBody>
      </p:sp>
      <p:sp>
        <p:nvSpPr>
          <p:cNvPr id="6" name="argument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32A3A"/>
                </a:solidFill>
                <a:latin typeface="Inter"/>
                <a:ea typeface="Inter"/>
              </a:rPr>
              <a:t>The method keeps mechanism separate from drift</a:t>
            </a:r>
            <a:endParaRPr lang="en-US"/>
          </a:p>
        </p:txBody>
      </p:sp>
      <p:sp>
        <p:nvSpPr>
          <p:cNvPr id="7" name="argument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A969F"/>
                </a:solidFill>
                <a:latin typeface="Inter"/>
                <a:ea typeface="Inter"/>
              </a:rPr>
              <a:t>Question → method → result → limitation, without marketing language.</a:t>
            </a:r>
            <a:endParaRPr lang="en-US"/>
          </a:p>
        </p:txBody>
      </p:sp>
      <p:sp>
        <p:nvSpPr>
          <p:cNvPr id="8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academic-number-0"/>
          <p:cNvSpPr txBox="1"/>
          <p:nvPr/>
        </p:nvSpPr>
        <p:spPr>
          <a:xfrm xmlns:a="http://schemas.openxmlformats.org/drawingml/2006/main">
            <a:off x="1104900" y="32385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769D2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10" name="academic-rule-0"/>
          <p:cNvSpPr/>
          <p:nvPr/>
        </p:nvSpPr>
        <p:spPr>
          <a:xfrm xmlns:a="http://schemas.openxmlformats.org/drawingml/2006/main">
            <a:off x="2000250" y="33909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academic-label-0"/>
          <p:cNvSpPr txBox="1"/>
          <p:nvPr/>
        </p:nvSpPr>
        <p:spPr>
          <a:xfrm xmlns:a="http://schemas.openxmlformats.org/drawingml/2006/main">
            <a:off x="2114550" y="3200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32A3A"/>
                </a:solidFill>
                <a:latin typeface="Inter"/>
                <a:ea typeface="Inter"/>
              </a:rPr>
              <a:t>Question</a:t>
            </a:r>
            <a:endParaRPr lang="en-US"/>
          </a:p>
        </p:txBody>
      </p:sp>
      <p:sp>
        <p:nvSpPr>
          <p:cNvPr id="12" name="academic-text-0"/>
          <p:cNvSpPr txBox="1"/>
          <p:nvPr/>
        </p:nvSpPr>
        <p:spPr>
          <a:xfrm xmlns:a="http://schemas.openxmlformats.org/drawingml/2006/main">
            <a:off x="4095750" y="32385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32A3A"/>
                </a:solidFill>
                <a:latin typeface="Inter"/>
                <a:ea typeface="Inter"/>
              </a:rPr>
              <a:t>Can the intervention move the outcome?</a:t>
            </a:r>
            <a:endParaRPr lang="en-US"/>
          </a:p>
        </p:txBody>
      </p:sp>
      <p:sp>
        <p:nvSpPr>
          <p:cNvPr id="13" name="academic-number-1"/>
          <p:cNvSpPr txBox="1"/>
          <p:nvPr/>
        </p:nvSpPr>
        <p:spPr>
          <a:xfrm xmlns:a="http://schemas.openxmlformats.org/drawingml/2006/main">
            <a:off x="1104900" y="41910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769D2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4" name="academic-rule-1"/>
          <p:cNvSpPr/>
          <p:nvPr/>
        </p:nvSpPr>
        <p:spPr>
          <a:xfrm xmlns:a="http://schemas.openxmlformats.org/drawingml/2006/main">
            <a:off x="2000250" y="43434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cademic-label-1"/>
          <p:cNvSpPr txBox="1"/>
          <p:nvPr/>
        </p:nvSpPr>
        <p:spPr>
          <a:xfrm xmlns:a="http://schemas.openxmlformats.org/drawingml/2006/main">
            <a:off x="2114550" y="41529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32A3A"/>
                </a:solidFill>
                <a:latin typeface="Inter"/>
                <a:ea typeface="Inter"/>
              </a:rPr>
              <a:t>Method</a:t>
            </a:r>
            <a:endParaRPr lang="en-US"/>
          </a:p>
        </p:txBody>
      </p:sp>
      <p:sp>
        <p:nvSpPr>
          <p:cNvPr id="16" name="academic-text-1"/>
          <p:cNvSpPr txBox="1"/>
          <p:nvPr/>
        </p:nvSpPr>
        <p:spPr>
          <a:xfrm xmlns:a="http://schemas.openxmlformats.org/drawingml/2006/main">
            <a:off x="4095750" y="41910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32A3A"/>
                </a:solidFill>
                <a:latin typeface="Inter"/>
                <a:ea typeface="Inter"/>
              </a:rPr>
              <a:t>Two groups, one rule, registered before launch.</a:t>
            </a:r>
            <a:endParaRPr lang="en-US"/>
          </a:p>
        </p:txBody>
      </p:sp>
      <p:sp>
        <p:nvSpPr>
          <p:cNvPr id="17" name="academic-number-2"/>
          <p:cNvSpPr txBox="1"/>
          <p:nvPr/>
        </p:nvSpPr>
        <p:spPr>
          <a:xfrm xmlns:a="http://schemas.openxmlformats.org/drawingml/2006/main">
            <a:off x="1104900" y="51435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769D2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8" name="academic-rule-2"/>
          <p:cNvSpPr/>
          <p:nvPr/>
        </p:nvSpPr>
        <p:spPr>
          <a:xfrm xmlns:a="http://schemas.openxmlformats.org/drawingml/2006/main">
            <a:off x="2000250" y="52959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academic-label-2"/>
          <p:cNvSpPr txBox="1"/>
          <p:nvPr/>
        </p:nvSpPr>
        <p:spPr>
          <a:xfrm xmlns:a="http://schemas.openxmlformats.org/drawingml/2006/main">
            <a:off x="2114550" y="5105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32A3A"/>
                </a:solidFill>
                <a:latin typeface="Inter"/>
                <a:ea typeface="Inter"/>
              </a:rPr>
              <a:t>Boundary</a:t>
            </a:r>
            <a:endParaRPr lang="en-US"/>
          </a:p>
        </p:txBody>
      </p:sp>
      <p:sp>
        <p:nvSpPr>
          <p:cNvPr id="20" name="academic-text-2"/>
          <p:cNvSpPr txBox="1"/>
          <p:nvPr/>
        </p:nvSpPr>
        <p:spPr>
          <a:xfrm xmlns:a="http://schemas.openxmlformats.org/drawingml/2006/main">
            <a:off x="4095750" y="51435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32A3A"/>
                </a:solidFill>
                <a:latin typeface="Inter"/>
                <a:ea typeface="Inter"/>
              </a:rPr>
              <a:t>The result applies to this window and sample.</a:t>
            </a:r>
            <a:endParaRPr lang="en-US"/>
          </a:p>
        </p:txBody>
      </p:sp>
      <p:sp>
        <p:nvSpPr>
          <p:cNvPr id="21" name="method-panel"/>
          <p:cNvSpPr/>
          <p:nvPr/>
        </p:nvSpPr>
        <p:spPr>
          <a:xfrm xmlns:a="http://schemas.openxmlformats.org/drawingml/2006/main">
            <a:off x="10287000" y="3238500"/>
            <a:ext cx="3619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method-label"/>
          <p:cNvSpPr txBox="1"/>
          <p:nvPr/>
        </p:nvSpPr>
        <p:spPr>
          <a:xfrm xmlns:a="http://schemas.openxmlformats.org/drawingml/2006/main">
            <a:off x="10668000" y="3571875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1769D2"/>
                </a:solidFill>
                <a:latin typeface="Inter"/>
                <a:ea typeface="Inter"/>
              </a:rPr>
              <a:t>REGISTERED RULE</a:t>
            </a:r>
            <a:endParaRPr lang="en-US"/>
          </a:p>
        </p:txBody>
      </p:sp>
      <p:sp>
        <p:nvSpPr>
          <p:cNvPr id="23" name="method-value"/>
          <p:cNvSpPr txBox="1"/>
          <p:nvPr/>
        </p:nvSpPr>
        <p:spPr>
          <a:xfrm xmlns:a="http://schemas.openxmlformats.org/drawingml/2006/main">
            <a:off x="10668000" y="4048125"/>
            <a:ext cx="257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750" b="1">
                <a:solidFill>
                  <a:srgbClr val="1769D2"/>
                </a:solidFill>
                <a:latin typeface="Inter"/>
                <a:ea typeface="Inter"/>
              </a:rPr>
              <a:t>≥ 2 pp</a:t>
            </a:r>
            <a:endParaRPr lang="en-US"/>
          </a:p>
        </p:txBody>
      </p:sp>
      <p:sp>
        <p:nvSpPr>
          <p:cNvPr id="24" name="method-foot"/>
          <p:cNvSpPr txBox="1"/>
          <p:nvPr/>
        </p:nvSpPr>
        <p:spPr>
          <a:xfrm xmlns:a="http://schemas.openxmlformats.org/drawingml/2006/main">
            <a:off x="10668000" y="4762500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A969F"/>
                </a:solidFill>
                <a:latin typeface="Inter"/>
                <a:ea typeface="Inter"/>
              </a:rPr>
              <a:t>confidence interval excludes zero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evidence-visual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45ba195e2a5649fb_1"/>
          <a:srcRect xmlns:a="http://schemas.openxmlformats.org/drawingml/2006/main" l="0" t="34170" r="0" b="3417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evidenc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>
              <a:alpha val="96000"/>
            </a:srgbClr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BLUEPRINT LECTURE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769D2"/>
                </a:solidFill>
                <a:latin typeface="Inter"/>
                <a:ea typeface="Inter"/>
              </a:rPr>
              <a:t>BLUEPRINT LECTURE · EVIDENCE</a:t>
            </a:r>
            <a:endParaRPr lang="en-US"/>
          </a:p>
        </p:txBody>
      </p:sp>
      <p:sp>
        <p:nvSpPr>
          <p:cNvPr id="6" name="evidence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32A3A"/>
                </a:solidFill>
                <a:latin typeface="Inter"/>
                <a:ea typeface="Inter"/>
              </a:rPr>
              <a:t>The result clears the rule; uncertainty remains visible</a:t>
            </a:r>
            <a:endParaRPr lang="en-US"/>
          </a:p>
        </p:txBody>
      </p:sp>
      <p:sp>
        <p:nvSpPr>
          <p:cNvPr id="7" name="evidence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A969F"/>
                </a:solidFill>
                <a:latin typeface="Inter"/>
                <a:ea typeface="Inter"/>
              </a:rPr>
              <a:t>Illustrative measure · mean of 24 observations · 95% CI shown in the read-through.</a:t>
            </a:r>
            <a:endParaRPr lang="en-US"/>
          </a:p>
        </p:txBody>
      </p:sp>
      <p:sp>
        <p:nvSpPr>
          <p:cNvPr id="8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evidence-read-scrim"/>
          <p:cNvSpPr/>
          <p:nvPr/>
        </p:nvSpPr>
        <p:spPr>
          <a:xfrm xmlns:a="http://schemas.openxmlformats.org/drawingml/2006/main">
            <a:off x="9525000" y="2857500"/>
            <a:ext cx="47625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>
              <a:alpha val="90000"/>
            </a:srgbClr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10" name="evidence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1047750" y="3048000"/>
          <a:ext xmlns:a="http://schemas.openxmlformats.org/drawingml/2006/main" cx="790575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04542240efd4b3a"/>
          </a:graphicData>
        </a:graphic>
      </p:graphicFrame>
      <p:sp>
        <p:nvSpPr>
          <p:cNvPr id="11" name="metric"/>
          <p:cNvSpPr txBox="1"/>
          <p:nvPr/>
        </p:nvSpPr>
        <p:spPr>
          <a:xfrm xmlns:a="http://schemas.openxmlformats.org/drawingml/2006/main">
            <a:off x="99060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1769D2"/>
                </a:solidFill>
                <a:latin typeface="Inter"/>
                <a:ea typeface="Inter"/>
              </a:rPr>
              <a:t>68</a:t>
            </a:r>
            <a:endParaRPr lang="en-US"/>
          </a:p>
        </p:txBody>
      </p:sp>
      <p:sp>
        <p:nvSpPr>
          <p:cNvPr id="12" name="metric-label"/>
          <p:cNvSpPr txBox="1"/>
          <p:nvPr/>
        </p:nvSpPr>
        <p:spPr>
          <a:xfrm xmlns:a="http://schemas.openxmlformats.org/drawingml/2006/main">
            <a:off x="9906000" y="41433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A969F"/>
                </a:solidFill>
                <a:latin typeface="Inter"/>
                <a:ea typeface="Inter"/>
              </a:rPr>
              <a:t>participation index · week 4</a:t>
            </a:r>
            <a:endParaRPr lang="en-US"/>
          </a:p>
        </p:txBody>
      </p:sp>
      <p:sp>
        <p:nvSpPr>
          <p:cNvPr id="13" name="rail-rule"/>
          <p:cNvSpPr/>
          <p:nvPr/>
        </p:nvSpPr>
        <p:spPr>
          <a:xfrm xmlns:a="http://schemas.openxmlformats.org/drawingml/2006/main">
            <a:off x="9906000" y="4810125"/>
            <a:ext cx="376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read-through"/>
          <p:cNvSpPr txBox="1"/>
          <p:nvPr/>
        </p:nvSpPr>
        <p:spPr>
          <a:xfrm xmlns:a="http://schemas.openxmlformats.org/drawingml/2006/main">
            <a:off x="9906000" y="51435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32A3A"/>
                </a:solidFill>
                <a:latin typeface="Inter"/>
                <a:ea typeface="Inter"/>
              </a:rPr>
              <a:t>The observed lift is compatible with the registered mechanism, not proof of generalization.</a:t>
            </a:r>
            <a:endParaRPr lang="en-US"/>
          </a:p>
        </p:txBody>
      </p:sp>
      <p:sp>
        <p:nvSpPr>
          <p:cNvPr id="15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32A3A"/>
                </a:solidFill>
                <a:latin typeface="Inter"/>
                <a:ea typeface="Inter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7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8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BLUEPRINT LECTURE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769D2"/>
                </a:solidFill>
                <a:latin typeface="Inter"/>
                <a:ea typeface="Inter"/>
              </a:rPr>
              <a:t>BLUEPRINT LECTURE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32A3A"/>
                </a:solidFill>
                <a:latin typeface="Inter"/>
                <a:ea typeface="Inter"/>
              </a:rPr>
              <a:t>The table keeps the result honest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A969F"/>
                </a:solidFill>
                <a:latin typeface="Inter"/>
                <a:ea typeface="Inter"/>
              </a:rPr>
              <a:t>Structured comparison · method, window, measure and boundary remain adjacent.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38100">
            <a:solidFill>
              <a:srgbClr val="132A3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769D2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11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32A3A"/>
                </a:solidFill>
                <a:latin typeface="Inter"/>
                <a:ea typeface="Inter"/>
              </a:rPr>
              <a:t>Frame</a:t>
            </a:r>
            <a:endParaRPr lang="en-US"/>
          </a:p>
        </p:txBody>
      </p:sp>
      <p:sp>
        <p:nvSpPr>
          <p:cNvPr id="12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A969F"/>
                </a:solidFill>
                <a:latin typeface="Inter"/>
                <a:ea typeface="Inter"/>
              </a:rPr>
              <a:t>Name the question</a:t>
            </a:r>
            <a:endParaRPr lang="en-US"/>
          </a:p>
        </p:txBody>
      </p:sp>
      <p:sp>
        <p:nvSpPr>
          <p:cNvPr id="13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38100">
            <a:solidFill>
              <a:srgbClr val="132A3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769D2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6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32A3A"/>
                </a:solidFill>
                <a:latin typeface="Inter"/>
                <a:ea typeface="Inter"/>
              </a:rPr>
              <a:t>Test</a:t>
            </a:r>
            <a:endParaRPr lang="en-US"/>
          </a:p>
        </p:txBody>
      </p:sp>
      <p:sp>
        <p:nvSpPr>
          <p:cNvPr id="17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A969F"/>
                </a:solidFill>
                <a:latin typeface="Inter"/>
                <a:ea typeface="Inter"/>
              </a:rPr>
              <a:t>Hold the rule</a:t>
            </a:r>
            <a:endParaRPr lang="en-US"/>
          </a:p>
        </p:txBody>
      </p:sp>
      <p:sp>
        <p:nvSpPr>
          <p:cNvPr id="18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38100">
            <a:solidFill>
              <a:srgbClr val="132A3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769D2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21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32A3A"/>
                </a:solidFill>
                <a:latin typeface="Inter"/>
                <a:ea typeface="Inter"/>
              </a:rPr>
              <a:t>Read</a:t>
            </a:r>
            <a:endParaRPr lang="en-US"/>
          </a:p>
        </p:txBody>
      </p:sp>
      <p:sp>
        <p:nvSpPr>
          <p:cNvPr id="22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A969F"/>
                </a:solidFill>
                <a:latin typeface="Inter"/>
                <a:ea typeface="Inter"/>
              </a:rPr>
              <a:t>Separate signal</a:t>
            </a:r>
            <a:endParaRPr lang="en-US"/>
          </a:p>
        </p:txBody>
      </p:sp>
      <p:sp>
        <p:nvSpPr>
          <p:cNvPr id="23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381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769D2"/>
                </a:solidFill>
                <a:latin typeface="Inter"/>
                <a:ea typeface="Inter"/>
              </a:rPr>
              <a:t>04</a:t>
            </a:r>
            <a:endParaRPr lang="en-US"/>
          </a:p>
        </p:txBody>
      </p:sp>
      <p:sp>
        <p:nvSpPr>
          <p:cNvPr id="26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32A3A"/>
                </a:solidFill>
                <a:latin typeface="Inter"/>
                <a:ea typeface="Inter"/>
              </a:rPr>
              <a:t>Decide</a:t>
            </a:r>
            <a:endParaRPr lang="en-US"/>
          </a:p>
        </p:txBody>
      </p:sp>
      <p:sp>
        <p:nvSpPr>
          <p:cNvPr id="27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A969F"/>
                </a:solidFill>
                <a:latin typeface="Inter"/>
                <a:ea typeface="Inter"/>
              </a:rPr>
              <a:t>Set the next gate</a:t>
            </a:r>
            <a:endParaRPr lang="en-US"/>
          </a:p>
        </p:txBody>
      </p:sp>
      <p:sp>
        <p:nvSpPr>
          <p:cNvPr id="28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1769D2"/>
                </a:solidFill>
                <a:latin typeface="Inter"/>
                <a:ea typeface="Inter"/>
              </a:rPr>
              <a:t>READ-THROUGH</a:t>
            </a:r>
            <a:endParaRPr lang="en-US"/>
          </a:p>
        </p:txBody>
      </p:sp>
      <p:sp>
        <p:nvSpPr>
          <p:cNvPr id="29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32A3A"/>
                </a:solidFill>
                <a:latin typeface="Inter"/>
                <a:ea typeface="Inter"/>
              </a:rPr>
              <a:t>The sequence is the evidence.</a:t>
            </a:r>
            <a:endParaRPr lang="en-US"/>
          </a:p>
        </p:txBody>
      </p:sp>
      <p:sp>
        <p:nvSpPr>
          <p:cNvPr id="30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A969F"/>
                </a:solidFill>
                <a:latin typeface="Inter"/>
                <a:ea typeface="Inter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31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32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visual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d71bfa074cda59bb_1"/>
          <a:srcRect xmlns:a="http://schemas.openxmlformats.org/drawingml/2006/main" l="0" t="34180" r="0" b="3418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visual-scrim"/>
          <p:cNvSpPr/>
          <p:nvPr/>
        </p:nvSpPr>
        <p:spPr>
          <a:xfrm xmlns:a="http://schemas.openxmlformats.org/drawingml/2006/main">
            <a:off x="0" y="0"/>
            <a:ext cx="6858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>
              <a:alpha val="94000"/>
            </a:srgbClr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visual-eyebrow"/>
          <p:cNvSpPr txBox="1"/>
          <p:nvPr/>
        </p:nvSpPr>
        <p:spPr>
          <a:xfrm xmlns:a="http://schemas.openxmlformats.org/drawingml/2006/main">
            <a:off x="914400" y="8953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769D2"/>
                </a:solidFill>
                <a:latin typeface="Inter"/>
                <a:ea typeface="Inter"/>
              </a:rPr>
              <a:t>BLUEPRINT LECTURE · VISUAL CARRIER</a:t>
            </a:r>
            <a:endParaRPr lang="en-US"/>
          </a:p>
        </p:txBody>
      </p:sp>
      <p:sp>
        <p:nvSpPr>
          <p:cNvPr id="5" name="visual-title"/>
          <p:cNvSpPr txBox="1"/>
          <p:nvPr/>
        </p:nvSpPr>
        <p:spPr>
          <a:xfrm xmlns:a="http://schemas.openxmlformats.org/drawingml/2006/main">
            <a:off x="914400" y="1638300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300" b="1">
                <a:solidFill>
                  <a:srgbClr val="132A3A"/>
                </a:solidFill>
                <a:latin typeface="Inter"/>
                <a:ea typeface="Inter"/>
              </a:rPr>
              <a:t>Evidence has a texture</a:t>
            </a:r>
            <a:endParaRPr lang="en-US"/>
          </a:p>
        </p:txBody>
      </p:sp>
      <p:sp>
        <p:nvSpPr>
          <p:cNvPr id="6" name="visual-body"/>
          <p:cNvSpPr txBox="1"/>
          <p:nvPr/>
        </p:nvSpPr>
        <p:spPr>
          <a:xfrm xmlns:a="http://schemas.openxmlformats.org/drawingml/2006/main">
            <a:off x="914400" y="321945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32A3A"/>
                </a:solidFill>
                <a:latin typeface="Inter"/>
                <a:ea typeface="Inter"/>
              </a:rPr>
              <a:t>Use a visual carrier when the audience needs to see a pattern before reading the caveat.</a:t>
            </a:r>
            <a:endParaRPr lang="en-US"/>
          </a:p>
        </p:txBody>
      </p:sp>
      <p:sp>
        <p:nvSpPr>
          <p:cNvPr id="7" name="visual-rule"/>
          <p:cNvSpPr/>
          <p:nvPr/>
        </p:nvSpPr>
        <p:spPr>
          <a:xfrm xmlns:a="http://schemas.openxmlformats.org/drawingml/2006/main">
            <a:off x="914400" y="4476750"/>
            <a:ext cx="441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visual-label"/>
          <p:cNvSpPr txBox="1"/>
          <p:nvPr/>
        </p:nvSpPr>
        <p:spPr>
          <a:xfrm xmlns:a="http://schemas.openxmlformats.org/drawingml/2006/main">
            <a:off x="914400" y="4819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769D2"/>
                </a:solidFill>
                <a:latin typeface="Inter"/>
                <a:ea typeface="Inter"/>
              </a:rPr>
              <a:t>THE IMAGE IS EVIDENCE, NOT FILL</a:t>
            </a:r>
            <a:endParaRPr lang="en-US"/>
          </a:p>
        </p:txBody>
      </p:sp>
      <p:sp>
        <p:nvSpPr>
          <p:cNvPr id="9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10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close-visual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8bca39c9b7ba070f_1"/>
          <a:srcRect xmlns:a="http://schemas.openxmlformats.org/drawingml/2006/main" l="0" t="34171" r="0" b="3417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clos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>
              <a:alpha val="96000"/>
            </a:srgbClr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BLUEPRINT LECTURE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769D2"/>
                </a:solidFill>
                <a:latin typeface="Inter"/>
                <a:ea typeface="Inter"/>
              </a:rPr>
              <a:t>BLUEPRINT LECTURE · CLOSE</a:t>
            </a:r>
            <a:endParaRPr lang="en-US"/>
          </a:p>
        </p:txBody>
      </p:sp>
      <p:sp>
        <p:nvSpPr>
          <p:cNvPr id="6" name="close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32A3A"/>
                </a:solidFill>
                <a:latin typeface="Inter"/>
                <a:ea typeface="Inter"/>
              </a:rPr>
              <a:t>A cleared gate is a decision, not a universal claim</a:t>
            </a:r>
            <a:endParaRPr lang="en-US"/>
          </a:p>
        </p:txBody>
      </p:sp>
      <p:sp>
        <p:nvSpPr>
          <p:cNvPr id="7" name="close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A969F"/>
                </a:solidFill>
                <a:latin typeface="Inter"/>
                <a:ea typeface="Inter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8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769D2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10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32A3A"/>
                </a:solidFill>
                <a:latin typeface="Inter"/>
                <a:ea typeface="Inter"/>
              </a:rPr>
              <a:t>Claim</a:t>
            </a:r>
            <a:endParaRPr lang="en-US"/>
          </a:p>
        </p:txBody>
      </p:sp>
      <p:sp>
        <p:nvSpPr>
          <p:cNvPr id="12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32A3A"/>
                </a:solidFill>
                <a:latin typeface="Inter"/>
                <a:ea typeface="Inter"/>
              </a:rPr>
              <a:t>The mechanism moved the measured outcome.</a:t>
            </a:r>
            <a:endParaRPr lang="en-US"/>
          </a:p>
        </p:txBody>
      </p:sp>
      <p:sp>
        <p:nvSpPr>
          <p:cNvPr id="13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32A3A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4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32A3A"/>
                </a:solidFill>
                <a:latin typeface="Inter"/>
                <a:ea typeface="Inter"/>
              </a:rPr>
              <a:t>Boundary</a:t>
            </a:r>
            <a:endParaRPr lang="en-US"/>
          </a:p>
        </p:txBody>
      </p:sp>
      <p:sp>
        <p:nvSpPr>
          <p:cNvPr id="16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32A3A"/>
                </a:solidFill>
                <a:latin typeface="Inter"/>
                <a:ea typeface="Inter"/>
              </a:rPr>
              <a:t>The sample does not establish persistence.</a:t>
            </a:r>
            <a:endParaRPr lang="en-US"/>
          </a:p>
        </p:txBody>
      </p:sp>
      <p:sp>
        <p:nvSpPr>
          <p:cNvPr id="17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769D2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8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32A3A"/>
                </a:solidFill>
                <a:latin typeface="Inter"/>
                <a:ea typeface="Inter"/>
              </a:rPr>
              <a:t>Next test</a:t>
            </a:r>
            <a:endParaRPr lang="en-US"/>
          </a:p>
        </p:txBody>
      </p:sp>
      <p:sp>
        <p:nvSpPr>
          <p:cNvPr id="20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32A3A"/>
                </a:solidFill>
                <a:latin typeface="Inter"/>
                <a:ea typeface="Inter"/>
              </a:rPr>
              <a:t>Replicate across a new region.</a:t>
            </a:r>
            <a:endParaRPr lang="en-US"/>
          </a:p>
        </p:txBody>
      </p:sp>
      <p:sp>
        <p:nvSpPr>
          <p:cNvPr id="21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Inter"/>
                <a:ea typeface="Inter"/>
              </a:rPr>
              <a:t>NEXT MOVE</a:t>
            </a:r>
            <a:endParaRPr lang="en-US"/>
          </a:p>
        </p:txBody>
      </p:sp>
      <p:sp>
        <p:nvSpPr>
          <p:cNvPr id="23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Inter"/>
                <a:ea typeface="Inter"/>
              </a:rPr>
              <a:t>Replicate the test</a:t>
            </a:r>
            <a:endParaRPr lang="en-US"/>
          </a:p>
        </p:txBody>
      </p:sp>
      <p:sp>
        <p:nvSpPr>
          <p:cNvPr id="24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Inter"/>
                <a:ea typeface="Inter"/>
              </a:rPr>
              <a:t>Owner · reviewer · date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