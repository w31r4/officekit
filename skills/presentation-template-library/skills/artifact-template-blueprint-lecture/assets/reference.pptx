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11c61c769fd44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e9a9d799668dd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092dd3ee80187530_1" /><Relationship Type="http://schemas.openxmlformats.org/officeDocument/2006/relationships/chart" Target="/ppt/slides/charts/chart1.xml" Id="R605d07e522c74c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6af8c9b5dff6e3a3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over the study window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Primary</c:v>
          </c:tx>
          <c:spPr>
            <a:solidFill>
              <a:srgbClr val="1769D2"/>
            </a:solidFill>
            <a:ln w="50800">
              <a:solidFill>
                <a:srgbClr val="1769D2"/>
              </a:solidFill>
              <a:prstDash val="solid"/>
            </a:ln>
          </c:spPr>
          <c:marker>
            <c:symbol val="circle"/>
            <c:size val="8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48</c:v>
              </c:pt>
              <c:pt idx="2">
                <c:v>54</c:v>
              </c:pt>
              <c:pt idx="3">
                <c:v>61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A969F"/>
            </a:solidFill>
            <a:ln w="38100">
              <a:solidFill>
                <a:srgbClr val="8A969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42</c:v>
              </c:pt>
              <c:pt idx="2">
                <c:v>44</c:v>
              </c:pt>
              <c:pt idx="3">
                <c:v>45</c:v>
              </c:pt>
              <c:pt idx="4">
                <c:v>46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32A3A"/>
                </a:solidFill>
                <a:latin typeface="Inter"/>
                <a:ea typeface="Inter"/>
              </a:rPr>
              <a:t>Blueprint Lecture: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769D2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method keeps mechanism separate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769D2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A969F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result clears the rule;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5d07e522c74cbc"/>
          </a:graphicData>
        </a:graphic>
      </p:graphicFrame>
      <p:sp>
        <p:nvSpPr>
          <p:cNvPr id="10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769D2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11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participation index · week 4</a:t>
            </a:r>
            <a:endParaRPr lang="en-US"/>
          </a:p>
        </p:txBody>
      </p:sp>
      <p:sp>
        <p:nvSpPr>
          <p:cNvPr id="12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The observed lift is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compatible with the registered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mechanism, not proof of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32A3A"/>
                </a:solidFill>
                <a:latin typeface="Inter"/>
                <a:ea typeface="Inter"/>
              </a:rPr>
              <a:t>generalization.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32A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38100">
            <a:solidFill>
              <a:srgbClr val="132A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769D2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32A3A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A969F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769D2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32A3A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A969F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32A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32A3A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6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BLUEPRINT LECTURE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769D2"/>
                </a:solidFill>
                <a:latin typeface="Inter"/>
                <a:ea typeface="Inter"/>
              </a:rPr>
              <a:t>BLUEPRINT LECTURE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A cleared gate is a decision, not a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32A3A"/>
                </a:solidFill>
                <a:latin typeface="Inter"/>
                <a:ea typeface="Inter"/>
              </a:rPr>
              <a:t>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A969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32A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A969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69D2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32A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32A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D2"/>
          </a:solidFill>
          <a:ln xmlns:a="http://schemas.openxmlformats.org/drawingml/2006/main" w="0">
            <a:solidFill>
              <a:srgbClr val="1769D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A969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