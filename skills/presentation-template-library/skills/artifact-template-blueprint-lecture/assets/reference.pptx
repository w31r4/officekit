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5c60c5311b643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d71bfa074cda59bb_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2.jpg" Id="rIdOfficeKitImage6af8c9b5dff6e3a3_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3.jpg" Id="rIdOfficeKitImage8bca39c9b7ba070f_1" /><Relationship Type="http://schemas.openxmlformats.org/officeDocument/2006/relationships/chart" Target="/ppt/slides/charts/chart1.xml" Id="Reb64185bdabf48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4.jpg" Id="rIdOfficeKitImage8fbc298f8d1b7a3c_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2.jpg" Id="rIdOfficeKitImage6af8c9b5dff6e3a3_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Observed signal over the study window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Primary</c:v>
          </c:tx>
          <c:spPr>
            <a:solidFill>
              <a:srgbClr val="1769D2"/>
            </a:solidFill>
            <a:ln w="50800">
              <a:solidFill>
                <a:srgbClr val="1769D2"/>
              </a:solidFill>
              <a:prstDash val="solid"/>
            </a:ln>
          </c:spPr>
          <c:marker>
            <c:symbol val="circle"/>
            <c:size val="8"/>
          </c:marker>
          <c:cat>
            <c:strLit>
              <c:ptCount val="5"/>
              <c:pt idx="0">
                <c:v>Baseline</c:v>
              </c:pt>
              <c:pt idx="1">
                <c:v>Phase 1</c:v>
              </c:pt>
              <c:pt idx="2">
                <c:v>Phase 2</c:v>
              </c:pt>
              <c:pt idx="3">
                <c:v>Phase 3</c:v>
              </c:pt>
              <c:pt idx="4">
                <c:v>Close</c:v>
              </c:pt>
            </c:strLit>
          </c:cat>
          <c:val>
            <c:numLit>
              <c:formatCode>General</c:formatCode>
              <c:ptCount val="5"/>
              <c:pt idx="0">
                <c:v>42</c:v>
              </c:pt>
              <c:pt idx="1">
                <c:v>48</c:v>
              </c:pt>
              <c:pt idx="2">
                <c:v>54</c:v>
              </c:pt>
              <c:pt idx="3">
                <c:v>61</c:v>
              </c:pt>
              <c:pt idx="4">
                <c:v>68</c:v>
              </c:pt>
            </c:numLit>
          </c:val>
        </c:ser>
        <c:ser>
          <c:idx val="1"/>
          <c:order val="1"/>
          <c:tx>
            <c:v>Reference</c:v>
          </c:tx>
          <c:spPr>
            <a:solidFill>
              <a:srgbClr val="8A969F"/>
            </a:solidFill>
            <a:ln w="38100">
              <a:solidFill>
                <a:srgbClr val="8A969F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5"/>
              <c:pt idx="0">
                <c:v>Baseline</c:v>
              </c:pt>
              <c:pt idx="1">
                <c:v>Phase 1</c:v>
              </c:pt>
              <c:pt idx="2">
                <c:v>Phase 2</c:v>
              </c:pt>
              <c:pt idx="3">
                <c:v>Phase 3</c:v>
              </c:pt>
              <c:pt idx="4">
                <c:v>Close</c:v>
              </c:pt>
            </c:strLit>
          </c:cat>
          <c:val>
            <c:numLit>
              <c:formatCode>General</c:formatCode>
              <c:ptCount val="5"/>
              <c:pt idx="0">
                <c:v>40</c:v>
              </c:pt>
              <c:pt idx="1">
                <c:v>42</c:v>
              </c:pt>
              <c:pt idx="2">
                <c:v>44</c:v>
              </c:pt>
              <c:pt idx="3">
                <c:v>45</c:v>
              </c:pt>
              <c:pt idx="4">
                <c:v>46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r"/>
      <c:layout/>
    </c:legend>
    <c:plotVisOnly val="1"/>
  </c:chart>
</c:chartSpace>
</file>

<file path=ppt/slides/slide1.xml><?xml version="1.0" encoding="utf-8"?>
<p:sld xmlns:p="http://schemas.openxmlformats.org/presentationml/2006/main">
  <p:cSld name="Opening claim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artifact-template-blueprint-lecture-cover-fiel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d71bfa074cda59bb_1"/>
          <a:srcRect xmlns:a="http://schemas.openxmlformats.org/drawingml/2006/main" l="0" t="34180" r="0" b="3418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cover-paper-scrim"/>
          <p:cNvSpPr/>
          <p:nvPr/>
        </p:nvSpPr>
        <p:spPr>
          <a:xfrm xmlns:a="http://schemas.openxmlformats.org/drawingml/2006/main">
            <a:off x="0" y="0"/>
            <a:ext cx="9525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69D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eyebrow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769D2"/>
                </a:solidFill>
                <a:latin typeface="Inter"/>
                <a:ea typeface="Inter"/>
              </a:rPr>
              <a:t>ACADEMIC · OFFICEKIT CALIBRATION</a:t>
            </a:r>
            <a:endParaRPr lang="en-US"/>
          </a:p>
        </p:txBody>
      </p:sp>
      <p:sp>
        <p:nvSpPr>
          <p:cNvPr id="6" name="cover-title"/>
          <p:cNvSpPr txBox="1"/>
          <p:nvPr/>
        </p:nvSpPr>
        <p:spPr>
          <a:xfrm xmlns:a="http://schemas.openxmlformats.org/drawingml/2006/main">
            <a:off x="914400" y="1571625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32A3A"/>
                </a:solidFill>
                <a:latin typeface="Inter"/>
                <a:ea typeface="Inter"/>
              </a:rPr>
              <a:t>Blueprint Lecture: a claim worth testing</a:t>
            </a:r>
            <a:endParaRPr lang="en-US"/>
          </a:p>
        </p:txBody>
      </p:sp>
      <p:sp>
        <p:nvSpPr>
          <p:cNvPr id="7" name="cover-subtitle"/>
          <p:cNvSpPr txBox="1"/>
          <p:nvPr/>
        </p:nvSpPr>
        <p:spPr>
          <a:xfrm xmlns:a="http://schemas.openxmlformats.org/drawingml/2006/main">
            <a:off x="952500" y="2857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>
                <a:solidFill>
                  <a:srgbClr val="1769D2"/>
                </a:solidFill>
                <a:latin typeface="Inter"/>
                <a:ea typeface="Inter"/>
              </a:rPr>
              <a:t>A clean-room reference for evidence, direction, and a decision.</a:t>
            </a:r>
            <a:endParaRPr lang="en-US"/>
          </a:p>
        </p:txBody>
      </p:sp>
      <p:sp>
        <p:nvSpPr>
          <p:cNvPr id="8" name="cover-rule"/>
          <p:cNvSpPr/>
          <p:nvPr/>
        </p:nvSpPr>
        <p:spPr>
          <a:xfrm xmlns:a="http://schemas.openxmlformats.org/drawingml/2006/main">
            <a:off x="914400" y="352425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A969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cover-basis"/>
          <p:cNvSpPr txBox="1"/>
          <p:nvPr/>
        </p:nvSpPr>
        <p:spPr>
          <a:xfrm xmlns:a="http://schemas.openxmlformats.org/drawingml/2006/main">
            <a:off x="952500" y="37623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32A3A"/>
                </a:solidFill>
                <a:latin typeface="Inter"/>
                <a:ea typeface="Inter"/>
              </a:rPr>
              <a:t>One visual language · four page roles · native editable objects</a:t>
            </a:r>
            <a:endParaRPr lang="en-US"/>
          </a:p>
        </p:txBody>
      </p:sp>
      <p:sp>
        <p:nvSpPr>
          <p:cNvPr id="10" name="cover-thesis"/>
          <p:cNvSpPr txBox="1"/>
          <p:nvPr/>
        </p:nvSpPr>
        <p:spPr>
          <a:xfrm xmlns:a="http://schemas.openxmlformats.org/drawingml/2006/main">
            <a:off x="952500" y="48101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32A3A"/>
                </a:solidFill>
                <a:latin typeface="Inter"/>
                <a:ea typeface="Inter"/>
              </a:rPr>
              <a:t>A falsifiable claim is a design decision.</a:t>
            </a:r>
            <a:endParaRPr lang="en-US"/>
          </a:p>
        </p:txBody>
      </p:sp>
      <p:sp>
        <p:nvSpPr>
          <p:cNvPr id="11" name="cover-source"/>
          <p:cNvSpPr txBox="1"/>
          <p:nvPr/>
        </p:nvSpPr>
        <p:spPr>
          <a:xfrm xmlns:a="http://schemas.openxmlformats.org/drawingml/2006/main">
            <a:off x="952500" y="73152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A969F"/>
                </a:solidFill>
                <a:latin typeface="Inter"/>
                <a:ea typeface="Inter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12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A969F"/>
                </a:solidFill>
                <a:latin typeface="Inter"/>
                <a:ea typeface="Inter"/>
              </a:rPr>
              <a:t>1 / 6</a:t>
            </a:r>
            <a:endParaRPr lang="en-US"/>
          </a:p>
        </p:txBody>
      </p:sp>
      <p:sp>
        <p:nvSpPr>
          <p:cNvPr id="13" name="anchor-field"/>
          <p:cNvSpPr/>
          <p:nvPr/>
        </p:nvSpPr>
        <p:spPr>
          <a:xfrm xmlns:a="http://schemas.openxmlformats.org/drawingml/2006/main">
            <a:off x="11620500" y="1790700"/>
            <a:ext cx="2095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25400">
            <a:solidFill>
              <a:srgbClr val="1769D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anchor-grid-0-0"/>
          <p:cNvSpPr/>
          <p:nvPr/>
        </p:nvSpPr>
        <p:spPr>
          <a:xfrm xmlns:a="http://schemas.openxmlformats.org/drawingml/2006/main">
            <a:off x="119253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12700">
            <a:solidFill>
              <a:srgbClr val="1769D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nchor-grid-0-1"/>
          <p:cNvSpPr/>
          <p:nvPr/>
        </p:nvSpPr>
        <p:spPr>
          <a:xfrm xmlns:a="http://schemas.openxmlformats.org/drawingml/2006/main">
            <a:off x="124206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12700">
            <a:solidFill>
              <a:srgbClr val="1769D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anchor-grid-0-2"/>
          <p:cNvSpPr/>
          <p:nvPr/>
        </p:nvSpPr>
        <p:spPr>
          <a:xfrm xmlns:a="http://schemas.openxmlformats.org/drawingml/2006/main">
            <a:off x="129159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1769D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anchor-grid-1-0"/>
          <p:cNvSpPr/>
          <p:nvPr/>
        </p:nvSpPr>
        <p:spPr>
          <a:xfrm xmlns:a="http://schemas.openxmlformats.org/drawingml/2006/main">
            <a:off x="119253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12700">
            <a:solidFill>
              <a:srgbClr val="1769D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anchor-grid-1-1"/>
          <p:cNvSpPr/>
          <p:nvPr/>
        </p:nvSpPr>
        <p:spPr>
          <a:xfrm xmlns:a="http://schemas.openxmlformats.org/drawingml/2006/main">
            <a:off x="124206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12700">
            <a:solidFill>
              <a:srgbClr val="1769D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anchor-grid-1-2"/>
          <p:cNvSpPr/>
          <p:nvPr/>
        </p:nvSpPr>
        <p:spPr>
          <a:xfrm xmlns:a="http://schemas.openxmlformats.org/drawingml/2006/main">
            <a:off x="129159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1769D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anchor-grid-2-0"/>
          <p:cNvSpPr/>
          <p:nvPr/>
        </p:nvSpPr>
        <p:spPr>
          <a:xfrm xmlns:a="http://schemas.openxmlformats.org/drawingml/2006/main">
            <a:off x="119253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12700">
            <a:solidFill>
              <a:srgbClr val="1769D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anchor-grid-2-1"/>
          <p:cNvSpPr/>
          <p:nvPr/>
        </p:nvSpPr>
        <p:spPr>
          <a:xfrm xmlns:a="http://schemas.openxmlformats.org/drawingml/2006/main">
            <a:off x="124206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12700">
            <a:solidFill>
              <a:srgbClr val="1769D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anchor-grid-2-2"/>
          <p:cNvSpPr/>
          <p:nvPr/>
        </p:nvSpPr>
        <p:spPr>
          <a:xfrm xmlns:a="http://schemas.openxmlformats.org/drawingml/2006/main">
            <a:off x="129159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1769D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anchor-axis"/>
          <p:cNvSpPr/>
          <p:nvPr/>
        </p:nvSpPr>
        <p:spPr>
          <a:xfrm xmlns:a="http://schemas.openxmlformats.org/drawingml/2006/main">
            <a:off x="12668250" y="1638300"/>
            <a:ext cx="0" cy="2743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132A3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argument-visual-fiel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6af8c9b5dff6e3a3_1"/>
          <a:srcRect xmlns:a="http://schemas.openxmlformats.org/drawingml/2006/main" l="0" t="34171" r="0" b="3417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argument-paper-scrim"/>
          <p:cNvSpPr/>
          <p:nvPr/>
        </p:nvSpPr>
        <p:spPr>
          <a:xfrm xmlns:a="http://schemas.openxmlformats.org/drawingml/2006/main">
            <a:off x="0" y="0"/>
            <a:ext cx="7429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>
              <a:alpha val="96000"/>
            </a:srgbClr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argument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69D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BLUEPRINT LECTURE · ARGUMENT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769D2"/>
                </a:solidFill>
                <a:latin typeface="Inter"/>
                <a:ea typeface="Inter"/>
              </a:rPr>
              <a:t>BLUEPRINT LECTURE · ARGUMENT</a:t>
            </a:r>
            <a:endParaRPr lang="en-US"/>
          </a:p>
        </p:txBody>
      </p:sp>
      <p:sp>
        <p:nvSpPr>
          <p:cNvPr id="6" name="argument-title"/>
          <p:cNvSpPr txBox="1"/>
          <p:nvPr/>
        </p:nvSpPr>
        <p:spPr>
          <a:xfrm xmlns:a="http://schemas.openxmlformats.org/drawingml/2006/main">
            <a:off x="914400" y="13144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32A3A"/>
                </a:solidFill>
                <a:latin typeface="Inter"/>
                <a:ea typeface="Inter"/>
              </a:rPr>
              <a:t>The method keeps mechanism separate from drift</a:t>
            </a:r>
            <a:endParaRPr lang="en-US"/>
          </a:p>
        </p:txBody>
      </p:sp>
      <p:sp>
        <p:nvSpPr>
          <p:cNvPr id="7" name="argument-basis"/>
          <p:cNvSpPr txBox="1"/>
          <p:nvPr/>
        </p:nvSpPr>
        <p:spPr>
          <a:xfrm xmlns:a="http://schemas.openxmlformats.org/drawingml/2006/main">
            <a:off x="952500" y="19812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A969F"/>
                </a:solidFill>
                <a:latin typeface="Inter"/>
                <a:ea typeface="Inter"/>
              </a:rPr>
              <a:t>Question → method → result → limitation, without marketing language.</a:t>
            </a:r>
            <a:endParaRPr lang="en-US"/>
          </a:p>
        </p:txBody>
      </p:sp>
      <p:sp>
        <p:nvSpPr>
          <p:cNvPr id="8" name="argument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A969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academic-number-0"/>
          <p:cNvSpPr txBox="1"/>
          <p:nvPr/>
        </p:nvSpPr>
        <p:spPr>
          <a:xfrm xmlns:a="http://schemas.openxmlformats.org/drawingml/2006/main">
            <a:off x="1104900" y="32385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769D2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10" name="academic-rule-0"/>
          <p:cNvSpPr/>
          <p:nvPr/>
        </p:nvSpPr>
        <p:spPr>
          <a:xfrm xmlns:a="http://schemas.openxmlformats.org/drawingml/2006/main">
            <a:off x="2000250" y="33909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A969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academic-label-0"/>
          <p:cNvSpPr txBox="1"/>
          <p:nvPr/>
        </p:nvSpPr>
        <p:spPr>
          <a:xfrm xmlns:a="http://schemas.openxmlformats.org/drawingml/2006/main">
            <a:off x="2114550" y="3200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32A3A"/>
                </a:solidFill>
                <a:latin typeface="Inter"/>
                <a:ea typeface="Inter"/>
              </a:rPr>
              <a:t>Question</a:t>
            </a:r>
            <a:endParaRPr lang="en-US"/>
          </a:p>
        </p:txBody>
      </p:sp>
      <p:sp>
        <p:nvSpPr>
          <p:cNvPr id="12" name="academic-text-0"/>
          <p:cNvSpPr txBox="1"/>
          <p:nvPr/>
        </p:nvSpPr>
        <p:spPr>
          <a:xfrm xmlns:a="http://schemas.openxmlformats.org/drawingml/2006/main">
            <a:off x="4095750" y="3238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32A3A"/>
                </a:solidFill>
                <a:latin typeface="Inter"/>
                <a:ea typeface="Inter"/>
              </a:rPr>
              <a:t>Can the intervention move the outcome?</a:t>
            </a:r>
            <a:endParaRPr lang="en-US"/>
          </a:p>
        </p:txBody>
      </p:sp>
      <p:sp>
        <p:nvSpPr>
          <p:cNvPr id="13" name="academic-number-1"/>
          <p:cNvSpPr txBox="1"/>
          <p:nvPr/>
        </p:nvSpPr>
        <p:spPr>
          <a:xfrm xmlns:a="http://schemas.openxmlformats.org/drawingml/2006/main">
            <a:off x="1104900" y="41910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769D2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4" name="academic-rule-1"/>
          <p:cNvSpPr/>
          <p:nvPr/>
        </p:nvSpPr>
        <p:spPr>
          <a:xfrm xmlns:a="http://schemas.openxmlformats.org/drawingml/2006/main">
            <a:off x="2000250" y="43434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A969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cademic-label-1"/>
          <p:cNvSpPr txBox="1"/>
          <p:nvPr/>
        </p:nvSpPr>
        <p:spPr>
          <a:xfrm xmlns:a="http://schemas.openxmlformats.org/drawingml/2006/main">
            <a:off x="2114550" y="4152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32A3A"/>
                </a:solidFill>
                <a:latin typeface="Inter"/>
                <a:ea typeface="Inter"/>
              </a:rPr>
              <a:t>Method</a:t>
            </a:r>
            <a:endParaRPr lang="en-US"/>
          </a:p>
        </p:txBody>
      </p:sp>
      <p:sp>
        <p:nvSpPr>
          <p:cNvPr id="16" name="academic-text-1"/>
          <p:cNvSpPr txBox="1"/>
          <p:nvPr/>
        </p:nvSpPr>
        <p:spPr>
          <a:xfrm xmlns:a="http://schemas.openxmlformats.org/drawingml/2006/main">
            <a:off x="4095750" y="41910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32A3A"/>
                </a:solidFill>
                <a:latin typeface="Inter"/>
                <a:ea typeface="Inter"/>
              </a:rPr>
              <a:t>Two groups, one rule, registered before launch.</a:t>
            </a:r>
            <a:endParaRPr lang="en-US"/>
          </a:p>
        </p:txBody>
      </p:sp>
      <p:sp>
        <p:nvSpPr>
          <p:cNvPr id="17" name="academic-number-2"/>
          <p:cNvSpPr txBox="1"/>
          <p:nvPr/>
        </p:nvSpPr>
        <p:spPr>
          <a:xfrm xmlns:a="http://schemas.openxmlformats.org/drawingml/2006/main">
            <a:off x="1104900" y="51435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769D2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18" name="academic-rule-2"/>
          <p:cNvSpPr/>
          <p:nvPr/>
        </p:nvSpPr>
        <p:spPr>
          <a:xfrm xmlns:a="http://schemas.openxmlformats.org/drawingml/2006/main">
            <a:off x="2000250" y="52959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A969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academic-label-2"/>
          <p:cNvSpPr txBox="1"/>
          <p:nvPr/>
        </p:nvSpPr>
        <p:spPr>
          <a:xfrm xmlns:a="http://schemas.openxmlformats.org/drawingml/2006/main">
            <a:off x="2114550" y="5105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32A3A"/>
                </a:solidFill>
                <a:latin typeface="Inter"/>
                <a:ea typeface="Inter"/>
              </a:rPr>
              <a:t>Boundary</a:t>
            </a:r>
            <a:endParaRPr lang="en-US"/>
          </a:p>
        </p:txBody>
      </p:sp>
      <p:sp>
        <p:nvSpPr>
          <p:cNvPr id="20" name="academic-text-2"/>
          <p:cNvSpPr txBox="1"/>
          <p:nvPr/>
        </p:nvSpPr>
        <p:spPr>
          <a:xfrm xmlns:a="http://schemas.openxmlformats.org/drawingml/2006/main">
            <a:off x="4095750" y="5143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32A3A"/>
                </a:solidFill>
                <a:latin typeface="Inter"/>
                <a:ea typeface="Inter"/>
              </a:rPr>
              <a:t>The result applies to this window and sample.</a:t>
            </a:r>
            <a:endParaRPr lang="en-US"/>
          </a:p>
        </p:txBody>
      </p:sp>
      <p:sp>
        <p:nvSpPr>
          <p:cNvPr id="21" name="method-panel"/>
          <p:cNvSpPr/>
          <p:nvPr/>
        </p:nvSpPr>
        <p:spPr>
          <a:xfrm xmlns:a="http://schemas.openxmlformats.org/drawingml/2006/main">
            <a:off x="10287000" y="3238500"/>
            <a:ext cx="3619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A969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method-label"/>
          <p:cNvSpPr txBox="1"/>
          <p:nvPr/>
        </p:nvSpPr>
        <p:spPr>
          <a:xfrm xmlns:a="http://schemas.openxmlformats.org/drawingml/2006/main">
            <a:off x="10668000" y="35718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1769D2"/>
                </a:solidFill>
                <a:latin typeface="Inter"/>
                <a:ea typeface="Inter"/>
              </a:rPr>
              <a:t>REGISTERED RULE</a:t>
            </a:r>
            <a:endParaRPr lang="en-US"/>
          </a:p>
        </p:txBody>
      </p:sp>
      <p:sp>
        <p:nvSpPr>
          <p:cNvPr id="23" name="method-value"/>
          <p:cNvSpPr txBox="1"/>
          <p:nvPr/>
        </p:nvSpPr>
        <p:spPr>
          <a:xfrm xmlns:a="http://schemas.openxmlformats.org/drawingml/2006/main">
            <a:off x="10668000" y="4048125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750" b="1">
                <a:solidFill>
                  <a:srgbClr val="1769D2"/>
                </a:solidFill>
                <a:latin typeface="Inter"/>
                <a:ea typeface="Inter"/>
              </a:rPr>
              <a:t>≥ 2 pp</a:t>
            </a:r>
            <a:endParaRPr lang="en-US"/>
          </a:p>
        </p:txBody>
      </p:sp>
      <p:sp>
        <p:nvSpPr>
          <p:cNvPr id="24" name="method-foot"/>
          <p:cNvSpPr txBox="1"/>
          <p:nvPr/>
        </p:nvSpPr>
        <p:spPr>
          <a:xfrm xmlns:a="http://schemas.openxmlformats.org/drawingml/2006/main">
            <a:off x="10668000" y="47625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A969F"/>
                </a:solidFill>
                <a:latin typeface="Inter"/>
                <a:ea typeface="Inter"/>
              </a:rPr>
              <a:t>confidence interval excludes zero</a:t>
            </a:r>
            <a:endParaRPr lang="en-US"/>
          </a:p>
        </p:txBody>
      </p:sp>
      <p:sp>
        <p:nvSpPr>
          <p:cNvPr id="25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A969F"/>
                </a:solidFill>
                <a:latin typeface="Inter"/>
                <a:ea typeface="Inter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26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A969F"/>
                </a:solidFill>
                <a:latin typeface="Inter"/>
                <a:ea typeface="Inter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evidence-visual-fiel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8bca39c9b7ba070f_1"/>
          <a:srcRect xmlns:a="http://schemas.openxmlformats.org/drawingml/2006/main" l="0" t="34171" r="0" b="3417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evidence-paper-scrim"/>
          <p:cNvSpPr/>
          <p:nvPr/>
        </p:nvSpPr>
        <p:spPr>
          <a:xfrm xmlns:a="http://schemas.openxmlformats.org/drawingml/2006/main">
            <a:off x="0" y="0"/>
            <a:ext cx="7429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>
              <a:alpha val="96000"/>
            </a:srgbClr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69D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BLUEPRINT LECTURE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769D2"/>
                </a:solidFill>
                <a:latin typeface="Inter"/>
                <a:ea typeface="Inter"/>
              </a:rPr>
              <a:t>BLUEPRINT LECTURE · EVIDENCE</a:t>
            </a:r>
            <a:endParaRPr lang="en-US"/>
          </a:p>
        </p:txBody>
      </p:sp>
      <p:sp>
        <p:nvSpPr>
          <p:cNvPr id="6" name="evidence-title"/>
          <p:cNvSpPr txBox="1"/>
          <p:nvPr/>
        </p:nvSpPr>
        <p:spPr>
          <a:xfrm xmlns:a="http://schemas.openxmlformats.org/drawingml/2006/main">
            <a:off x="914400" y="13144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32A3A"/>
                </a:solidFill>
                <a:latin typeface="Inter"/>
                <a:ea typeface="Inter"/>
              </a:rPr>
              <a:t>The result clears the rule; uncertainty remains visible</a:t>
            </a:r>
            <a:endParaRPr lang="en-US"/>
          </a:p>
        </p:txBody>
      </p:sp>
      <p:sp>
        <p:nvSpPr>
          <p:cNvPr id="7" name="evidence-basis"/>
          <p:cNvSpPr txBox="1"/>
          <p:nvPr/>
        </p:nvSpPr>
        <p:spPr>
          <a:xfrm xmlns:a="http://schemas.openxmlformats.org/drawingml/2006/main">
            <a:off x="952500" y="19812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A969F"/>
                </a:solidFill>
                <a:latin typeface="Inter"/>
                <a:ea typeface="Inter"/>
              </a:rPr>
              <a:t>Illustrative measure · mean of 24 observations · 95% CI shown in the read-through.</a:t>
            </a:r>
            <a:endParaRPr lang="en-US"/>
          </a:p>
        </p:txBody>
      </p:sp>
      <p:sp>
        <p:nvSpPr>
          <p:cNvPr id="8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A969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evidence-read-scrim"/>
          <p:cNvSpPr/>
          <p:nvPr/>
        </p:nvSpPr>
        <p:spPr>
          <a:xfrm xmlns:a="http://schemas.openxmlformats.org/drawingml/2006/main">
            <a:off x="9525000" y="2857500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>
              <a:alpha val="90000"/>
            </a:srgbClr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10" name="evidence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1047750" y="3048000"/>
          <a:ext xmlns:a="http://schemas.openxmlformats.org/drawingml/2006/main" cx="790575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64185bdabf4896"/>
          </a:graphicData>
        </a:graphic>
      </p:graphicFrame>
      <p:sp>
        <p:nvSpPr>
          <p:cNvPr id="11" name="metric"/>
          <p:cNvSpPr txBox="1"/>
          <p:nvPr/>
        </p:nvSpPr>
        <p:spPr>
          <a:xfrm xmlns:a="http://schemas.openxmlformats.org/drawingml/2006/main">
            <a:off x="9906000" y="33337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1769D2"/>
                </a:solidFill>
                <a:latin typeface="Inter"/>
                <a:ea typeface="Inter"/>
              </a:rPr>
              <a:t>68</a:t>
            </a:r>
            <a:endParaRPr lang="en-US"/>
          </a:p>
        </p:txBody>
      </p:sp>
      <p:sp>
        <p:nvSpPr>
          <p:cNvPr id="12" name="metric-label"/>
          <p:cNvSpPr txBox="1"/>
          <p:nvPr/>
        </p:nvSpPr>
        <p:spPr>
          <a:xfrm xmlns:a="http://schemas.openxmlformats.org/drawingml/2006/main">
            <a:off x="9906000" y="4143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A969F"/>
                </a:solidFill>
                <a:latin typeface="Inter"/>
                <a:ea typeface="Inter"/>
              </a:rPr>
              <a:t>participation index · week 4</a:t>
            </a:r>
            <a:endParaRPr lang="en-US"/>
          </a:p>
        </p:txBody>
      </p:sp>
      <p:sp>
        <p:nvSpPr>
          <p:cNvPr id="13" name="rail-rule"/>
          <p:cNvSpPr/>
          <p:nvPr/>
        </p:nvSpPr>
        <p:spPr>
          <a:xfrm xmlns:a="http://schemas.openxmlformats.org/drawingml/2006/main">
            <a:off x="9906000" y="4810125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A969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read-through"/>
          <p:cNvSpPr txBox="1"/>
          <p:nvPr/>
        </p:nvSpPr>
        <p:spPr>
          <a:xfrm xmlns:a="http://schemas.openxmlformats.org/drawingml/2006/main">
            <a:off x="9906000" y="514350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32A3A"/>
                </a:solidFill>
                <a:latin typeface="Inter"/>
                <a:ea typeface="Inter"/>
              </a:rPr>
              <a:t>The observed lift is compatible with the registered mechanism, not proof of generalization.</a:t>
            </a:r>
            <a:endParaRPr lang="en-US"/>
          </a:p>
        </p:txBody>
      </p:sp>
      <p:sp>
        <p:nvSpPr>
          <p:cNvPr id="15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132A3A"/>
                </a:solidFill>
                <a:latin typeface="Inter"/>
                <a:ea typeface="Inter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17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A969F"/>
                </a:solidFill>
                <a:latin typeface="Inter"/>
                <a:ea typeface="Inter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18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A969F"/>
                </a:solidFill>
                <a:latin typeface="Inter"/>
                <a:ea typeface="Inter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69D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BLUEPRINT LECTURE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769D2"/>
                </a:solidFill>
                <a:latin typeface="Inter"/>
                <a:ea typeface="Inter"/>
              </a:rPr>
              <a:t>BLUEPRINT LECTURE · DETAIL</a:t>
            </a:r>
            <a:endParaRPr lang="en-US"/>
          </a:p>
        </p:txBody>
      </p:sp>
      <p:sp>
        <p:nvSpPr>
          <p:cNvPr id="5" name="detail-title"/>
          <p:cNvSpPr txBox="1"/>
          <p:nvPr/>
        </p:nvSpPr>
        <p:spPr>
          <a:xfrm xmlns:a="http://schemas.openxmlformats.org/drawingml/2006/main">
            <a:off x="914400" y="13144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32A3A"/>
                </a:solidFill>
                <a:latin typeface="Inter"/>
                <a:ea typeface="Inter"/>
              </a:rPr>
              <a:t>The table keeps the result honest</a:t>
            </a:r>
            <a:endParaRPr lang="en-US"/>
          </a:p>
        </p:txBody>
      </p:sp>
      <p:sp>
        <p:nvSpPr>
          <p:cNvPr id="6" name="detail-basis"/>
          <p:cNvSpPr txBox="1"/>
          <p:nvPr/>
        </p:nvSpPr>
        <p:spPr>
          <a:xfrm xmlns:a="http://schemas.openxmlformats.org/drawingml/2006/main">
            <a:off x="952500" y="19812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A969F"/>
                </a:solidFill>
                <a:latin typeface="Inter"/>
                <a:ea typeface="Inter"/>
              </a:rPr>
              <a:t>Structured comparison · method, window, measure and boundary remain adjacent.</a:t>
            </a:r>
            <a:endParaRPr lang="en-US"/>
          </a:p>
        </p:txBody>
      </p:sp>
      <p:sp>
        <p:nvSpPr>
          <p:cNvPr id="7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A969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process-axis"/>
          <p:cNvSpPr/>
          <p:nvPr/>
        </p:nvSpPr>
        <p:spPr>
          <a:xfrm xmlns:a="http://schemas.openxmlformats.org/drawingml/2006/main">
            <a:off x="1390650" y="411480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A969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process-node-0"/>
          <p:cNvSpPr/>
          <p:nvPr/>
        </p:nvSpPr>
        <p:spPr>
          <a:xfrm xmlns:a="http://schemas.openxmlformats.org/drawingml/2006/main">
            <a:off x="12192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38100">
            <a:solidFill>
              <a:srgbClr val="132A3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process-number-0"/>
          <p:cNvSpPr txBox="1"/>
          <p:nvPr/>
        </p:nvSpPr>
        <p:spPr>
          <a:xfrm xmlns:a="http://schemas.openxmlformats.org/drawingml/2006/main">
            <a:off x="12001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1769D2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11" name="process-label-0"/>
          <p:cNvSpPr txBox="1"/>
          <p:nvPr/>
        </p:nvSpPr>
        <p:spPr>
          <a:xfrm xmlns:a="http://schemas.openxmlformats.org/drawingml/2006/main">
            <a:off x="17145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32A3A"/>
                </a:solidFill>
                <a:latin typeface="Inter"/>
                <a:ea typeface="Inter"/>
              </a:rPr>
              <a:t>Frame</a:t>
            </a:r>
            <a:endParaRPr lang="en-US"/>
          </a:p>
        </p:txBody>
      </p:sp>
      <p:sp>
        <p:nvSpPr>
          <p:cNvPr id="12" name="process-text-0"/>
          <p:cNvSpPr txBox="1"/>
          <p:nvPr/>
        </p:nvSpPr>
        <p:spPr>
          <a:xfrm xmlns:a="http://schemas.openxmlformats.org/drawingml/2006/main">
            <a:off x="17145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A969F"/>
                </a:solidFill>
                <a:latin typeface="Inter"/>
                <a:ea typeface="Inter"/>
              </a:rPr>
              <a:t>Name the question</a:t>
            </a:r>
            <a:endParaRPr lang="en-US"/>
          </a:p>
        </p:txBody>
      </p:sp>
      <p:sp>
        <p:nvSpPr>
          <p:cNvPr id="13" name="process-separator-0"/>
          <p:cNvSpPr/>
          <p:nvPr/>
        </p:nvSpPr>
        <p:spPr>
          <a:xfrm xmlns:a="http://schemas.openxmlformats.org/drawingml/2006/main">
            <a:off x="16764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A969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process-node-1"/>
          <p:cNvSpPr/>
          <p:nvPr/>
        </p:nvSpPr>
        <p:spPr>
          <a:xfrm xmlns:a="http://schemas.openxmlformats.org/drawingml/2006/main">
            <a:off x="35242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38100">
            <a:solidFill>
              <a:srgbClr val="132A3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process-number-1"/>
          <p:cNvSpPr txBox="1"/>
          <p:nvPr/>
        </p:nvSpPr>
        <p:spPr>
          <a:xfrm xmlns:a="http://schemas.openxmlformats.org/drawingml/2006/main">
            <a:off x="35052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1769D2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6" name="process-label-1"/>
          <p:cNvSpPr txBox="1"/>
          <p:nvPr/>
        </p:nvSpPr>
        <p:spPr>
          <a:xfrm xmlns:a="http://schemas.openxmlformats.org/drawingml/2006/main">
            <a:off x="40195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32A3A"/>
                </a:solidFill>
                <a:latin typeface="Inter"/>
                <a:ea typeface="Inter"/>
              </a:rPr>
              <a:t>Test</a:t>
            </a:r>
            <a:endParaRPr lang="en-US"/>
          </a:p>
        </p:txBody>
      </p:sp>
      <p:sp>
        <p:nvSpPr>
          <p:cNvPr id="17" name="process-text-1"/>
          <p:cNvSpPr txBox="1"/>
          <p:nvPr/>
        </p:nvSpPr>
        <p:spPr>
          <a:xfrm xmlns:a="http://schemas.openxmlformats.org/drawingml/2006/main">
            <a:off x="40195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A969F"/>
                </a:solidFill>
                <a:latin typeface="Inter"/>
                <a:ea typeface="Inter"/>
              </a:rPr>
              <a:t>Hold the rule</a:t>
            </a:r>
            <a:endParaRPr lang="en-US"/>
          </a:p>
        </p:txBody>
      </p:sp>
      <p:sp>
        <p:nvSpPr>
          <p:cNvPr id="18" name="process-separator-1"/>
          <p:cNvSpPr/>
          <p:nvPr/>
        </p:nvSpPr>
        <p:spPr>
          <a:xfrm xmlns:a="http://schemas.openxmlformats.org/drawingml/2006/main">
            <a:off x="398145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A969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process-node-2"/>
          <p:cNvSpPr/>
          <p:nvPr/>
        </p:nvSpPr>
        <p:spPr>
          <a:xfrm xmlns:a="http://schemas.openxmlformats.org/drawingml/2006/main">
            <a:off x="58293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38100">
            <a:solidFill>
              <a:srgbClr val="132A3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process-number-2"/>
          <p:cNvSpPr txBox="1"/>
          <p:nvPr/>
        </p:nvSpPr>
        <p:spPr>
          <a:xfrm xmlns:a="http://schemas.openxmlformats.org/drawingml/2006/main">
            <a:off x="58102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1769D2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21" name="process-label-2"/>
          <p:cNvSpPr txBox="1"/>
          <p:nvPr/>
        </p:nvSpPr>
        <p:spPr>
          <a:xfrm xmlns:a="http://schemas.openxmlformats.org/drawingml/2006/main">
            <a:off x="63246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32A3A"/>
                </a:solidFill>
                <a:latin typeface="Inter"/>
                <a:ea typeface="Inter"/>
              </a:rPr>
              <a:t>Read</a:t>
            </a:r>
            <a:endParaRPr lang="en-US"/>
          </a:p>
        </p:txBody>
      </p:sp>
      <p:sp>
        <p:nvSpPr>
          <p:cNvPr id="22" name="process-text-2"/>
          <p:cNvSpPr txBox="1"/>
          <p:nvPr/>
        </p:nvSpPr>
        <p:spPr>
          <a:xfrm xmlns:a="http://schemas.openxmlformats.org/drawingml/2006/main">
            <a:off x="63246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A969F"/>
                </a:solidFill>
                <a:latin typeface="Inter"/>
                <a:ea typeface="Inter"/>
              </a:rPr>
              <a:t>Separate signal</a:t>
            </a:r>
            <a:endParaRPr lang="en-US"/>
          </a:p>
        </p:txBody>
      </p:sp>
      <p:sp>
        <p:nvSpPr>
          <p:cNvPr id="23" name="process-separator-2"/>
          <p:cNvSpPr/>
          <p:nvPr/>
        </p:nvSpPr>
        <p:spPr>
          <a:xfrm xmlns:a="http://schemas.openxmlformats.org/drawingml/2006/main">
            <a:off x="62865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A969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4" name="process-node-3"/>
          <p:cNvSpPr/>
          <p:nvPr/>
        </p:nvSpPr>
        <p:spPr>
          <a:xfrm xmlns:a="http://schemas.openxmlformats.org/drawingml/2006/main">
            <a:off x="81343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38100">
            <a:solidFill>
              <a:srgbClr val="1769D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process-number-3"/>
          <p:cNvSpPr txBox="1"/>
          <p:nvPr/>
        </p:nvSpPr>
        <p:spPr>
          <a:xfrm xmlns:a="http://schemas.openxmlformats.org/drawingml/2006/main">
            <a:off x="81153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1769D2"/>
                </a:solidFill>
                <a:latin typeface="Inter"/>
                <a:ea typeface="Inter"/>
              </a:rPr>
              <a:t>04</a:t>
            </a:r>
            <a:endParaRPr lang="en-US"/>
          </a:p>
        </p:txBody>
      </p:sp>
      <p:sp>
        <p:nvSpPr>
          <p:cNvPr id="26" name="process-label-3"/>
          <p:cNvSpPr txBox="1"/>
          <p:nvPr/>
        </p:nvSpPr>
        <p:spPr>
          <a:xfrm xmlns:a="http://schemas.openxmlformats.org/drawingml/2006/main">
            <a:off x="86296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32A3A"/>
                </a:solidFill>
                <a:latin typeface="Inter"/>
                <a:ea typeface="Inter"/>
              </a:rPr>
              <a:t>Decide</a:t>
            </a:r>
            <a:endParaRPr lang="en-US"/>
          </a:p>
        </p:txBody>
      </p:sp>
      <p:sp>
        <p:nvSpPr>
          <p:cNvPr id="27" name="process-text-3"/>
          <p:cNvSpPr txBox="1"/>
          <p:nvPr/>
        </p:nvSpPr>
        <p:spPr>
          <a:xfrm xmlns:a="http://schemas.openxmlformats.org/drawingml/2006/main">
            <a:off x="86296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A969F"/>
                </a:solidFill>
                <a:latin typeface="Inter"/>
                <a:ea typeface="Inter"/>
              </a:rPr>
              <a:t>Set the next gate</a:t>
            </a:r>
            <a:endParaRPr lang="en-US"/>
          </a:p>
        </p:txBody>
      </p:sp>
      <p:sp>
        <p:nvSpPr>
          <p:cNvPr id="28" name="process-read-label"/>
          <p:cNvSpPr txBox="1"/>
          <p:nvPr/>
        </p:nvSpPr>
        <p:spPr>
          <a:xfrm xmlns:a="http://schemas.openxmlformats.org/drawingml/2006/main">
            <a:off x="10668000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1769D2"/>
                </a:solidFill>
                <a:latin typeface="Inter"/>
                <a:ea typeface="Inter"/>
              </a:rPr>
              <a:t>READ-THROUGH</a:t>
            </a:r>
            <a:endParaRPr lang="en-US"/>
          </a:p>
        </p:txBody>
      </p:sp>
      <p:sp>
        <p:nvSpPr>
          <p:cNvPr id="29" name="process-read-title"/>
          <p:cNvSpPr txBox="1"/>
          <p:nvPr/>
        </p:nvSpPr>
        <p:spPr>
          <a:xfrm xmlns:a="http://schemas.openxmlformats.org/drawingml/2006/main">
            <a:off x="10668000" y="38100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75" b="1">
                <a:solidFill>
                  <a:srgbClr val="132A3A"/>
                </a:solidFill>
                <a:latin typeface="Inter"/>
                <a:ea typeface="Inter"/>
              </a:rPr>
              <a:t>The sequence is the evidence.</a:t>
            </a:r>
            <a:endParaRPr lang="en-US"/>
          </a:p>
        </p:txBody>
      </p:sp>
      <p:sp>
        <p:nvSpPr>
          <p:cNvPr id="30" name="process-read-body"/>
          <p:cNvSpPr txBox="1"/>
          <p:nvPr/>
        </p:nvSpPr>
        <p:spPr>
          <a:xfrm xmlns:a="http://schemas.openxmlformats.org/drawingml/2006/main">
            <a:off x="10668000" y="47625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A969F"/>
                </a:solidFill>
                <a:latin typeface="Inter"/>
                <a:ea typeface="Inter"/>
              </a:rPr>
              <a:t>Keep each handoff adjacent to the condition that unlocks it; do not turn a real dependency into a decorative arrow.</a:t>
            </a:r>
            <a:endParaRPr lang="en-US"/>
          </a:p>
        </p:txBody>
      </p:sp>
      <p:sp>
        <p:nvSpPr>
          <p:cNvPr id="31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A969F"/>
                </a:solidFill>
                <a:latin typeface="Inter"/>
                <a:ea typeface="Inter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32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A969F"/>
                </a:solidFill>
                <a:latin typeface="Inter"/>
                <a:ea typeface="Inter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visual-fiel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8fbc298f8d1b7a3c_1"/>
          <a:srcRect xmlns:a="http://schemas.openxmlformats.org/drawingml/2006/main" l="0" t="34180" r="0" b="3418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visual-scrim"/>
          <p:cNvSpPr/>
          <p:nvPr/>
        </p:nvSpPr>
        <p:spPr>
          <a:xfrm xmlns:a="http://schemas.openxmlformats.org/drawingml/2006/main">
            <a:off x="0" y="0"/>
            <a:ext cx="6858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>
              <a:alpha val="94000"/>
            </a:srgbClr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visual-eyebrow"/>
          <p:cNvSpPr txBox="1"/>
          <p:nvPr/>
        </p:nvSpPr>
        <p:spPr>
          <a:xfrm xmlns:a="http://schemas.openxmlformats.org/drawingml/2006/main">
            <a:off x="914400" y="8953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769D2"/>
                </a:solidFill>
                <a:latin typeface="Inter"/>
                <a:ea typeface="Inter"/>
              </a:rPr>
              <a:t>BLUEPRINT LECTURE · VISUAL CARRIER</a:t>
            </a:r>
            <a:endParaRPr lang="en-US"/>
          </a:p>
        </p:txBody>
      </p:sp>
      <p:sp>
        <p:nvSpPr>
          <p:cNvPr id="5" name="visual-title"/>
          <p:cNvSpPr txBox="1"/>
          <p:nvPr/>
        </p:nvSpPr>
        <p:spPr>
          <a:xfrm xmlns:a="http://schemas.openxmlformats.org/drawingml/2006/main">
            <a:off x="914400" y="163830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300" b="1">
                <a:solidFill>
                  <a:srgbClr val="132A3A"/>
                </a:solidFill>
                <a:latin typeface="Inter"/>
                <a:ea typeface="Inter"/>
              </a:rPr>
              <a:t>Evidence has a texture</a:t>
            </a:r>
            <a:endParaRPr lang="en-US"/>
          </a:p>
        </p:txBody>
      </p:sp>
      <p:sp>
        <p:nvSpPr>
          <p:cNvPr id="6" name="visual-body"/>
          <p:cNvSpPr txBox="1"/>
          <p:nvPr/>
        </p:nvSpPr>
        <p:spPr>
          <a:xfrm xmlns:a="http://schemas.openxmlformats.org/drawingml/2006/main">
            <a:off x="914400" y="32194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132A3A"/>
                </a:solidFill>
                <a:latin typeface="Inter"/>
                <a:ea typeface="Inter"/>
              </a:rPr>
              <a:t>Use a visual carrier when the audience needs to see a pattern before reading the caveat.</a:t>
            </a:r>
            <a:endParaRPr lang="en-US"/>
          </a:p>
        </p:txBody>
      </p:sp>
      <p:sp>
        <p:nvSpPr>
          <p:cNvPr id="7" name="visual-rule"/>
          <p:cNvSpPr/>
          <p:nvPr/>
        </p:nvSpPr>
        <p:spPr>
          <a:xfrm xmlns:a="http://schemas.openxmlformats.org/drawingml/2006/main">
            <a:off x="914400" y="4476750"/>
            <a:ext cx="441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69D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visual-label"/>
          <p:cNvSpPr txBox="1"/>
          <p:nvPr/>
        </p:nvSpPr>
        <p:spPr>
          <a:xfrm xmlns:a="http://schemas.openxmlformats.org/drawingml/2006/main">
            <a:off x="914400" y="4819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769D2"/>
                </a:solidFill>
                <a:latin typeface="Inter"/>
                <a:ea typeface="Inter"/>
              </a:rPr>
              <a:t>THE IMAGE IS EVIDENCE, NOT FILL</a:t>
            </a:r>
            <a:endParaRPr lang="en-US"/>
          </a:p>
        </p:txBody>
      </p:sp>
      <p:sp>
        <p:nvSpPr>
          <p:cNvPr id="9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A969F"/>
                </a:solidFill>
                <a:latin typeface="Inter"/>
                <a:ea typeface="Inter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10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A969F"/>
                </a:solidFill>
                <a:latin typeface="Inter"/>
                <a:ea typeface="Inter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close-visual-fiel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6af8c9b5dff6e3a3_1"/>
          <a:srcRect xmlns:a="http://schemas.openxmlformats.org/drawingml/2006/main" l="0" t="34171" r="0" b="3417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close-paper-scrim"/>
          <p:cNvSpPr/>
          <p:nvPr/>
        </p:nvSpPr>
        <p:spPr>
          <a:xfrm xmlns:a="http://schemas.openxmlformats.org/drawingml/2006/main">
            <a:off x="0" y="0"/>
            <a:ext cx="7429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>
              <a:alpha val="96000"/>
            </a:srgbClr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los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69D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BLUEPRINT LECTURE · CLOS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769D2"/>
                </a:solidFill>
                <a:latin typeface="Inter"/>
                <a:ea typeface="Inter"/>
              </a:rPr>
              <a:t>BLUEPRINT LECTURE · CLOSE</a:t>
            </a:r>
            <a:endParaRPr lang="en-US"/>
          </a:p>
        </p:txBody>
      </p:sp>
      <p:sp>
        <p:nvSpPr>
          <p:cNvPr id="6" name="close-title"/>
          <p:cNvSpPr txBox="1"/>
          <p:nvPr/>
        </p:nvSpPr>
        <p:spPr>
          <a:xfrm xmlns:a="http://schemas.openxmlformats.org/drawingml/2006/main">
            <a:off x="914400" y="13144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32A3A"/>
                </a:solidFill>
                <a:latin typeface="Inter"/>
                <a:ea typeface="Inter"/>
              </a:rPr>
              <a:t>A cleared gate is a decision, not a universal claim</a:t>
            </a:r>
            <a:endParaRPr lang="en-US"/>
          </a:p>
        </p:txBody>
      </p:sp>
      <p:sp>
        <p:nvSpPr>
          <p:cNvPr id="7" name="close-basis"/>
          <p:cNvSpPr txBox="1"/>
          <p:nvPr/>
        </p:nvSpPr>
        <p:spPr>
          <a:xfrm xmlns:a="http://schemas.openxmlformats.org/drawingml/2006/main">
            <a:off x="952500" y="19812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A969F"/>
                </a:solidFill>
                <a:latin typeface="Inter"/>
                <a:ea typeface="Inter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8" name="clos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A969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769D2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10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A969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32A3A"/>
                </a:solidFill>
                <a:latin typeface="Inter"/>
                <a:ea typeface="Inter"/>
              </a:rPr>
              <a:t>Claim</a:t>
            </a:r>
            <a:endParaRPr lang="en-US"/>
          </a:p>
        </p:txBody>
      </p:sp>
      <p:sp>
        <p:nvSpPr>
          <p:cNvPr id="12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32A3A"/>
                </a:solidFill>
                <a:latin typeface="Inter"/>
                <a:ea typeface="Inter"/>
              </a:rPr>
              <a:t>The mechanism moved the measured outcome.</a:t>
            </a:r>
            <a:endParaRPr lang="en-US"/>
          </a:p>
        </p:txBody>
      </p:sp>
      <p:sp>
        <p:nvSpPr>
          <p:cNvPr id="13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32A3A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4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A969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32A3A"/>
                </a:solidFill>
                <a:latin typeface="Inter"/>
                <a:ea typeface="Inter"/>
              </a:rPr>
              <a:t>Boundary</a:t>
            </a:r>
            <a:endParaRPr lang="en-US"/>
          </a:p>
        </p:txBody>
      </p:sp>
      <p:sp>
        <p:nvSpPr>
          <p:cNvPr id="16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32A3A"/>
                </a:solidFill>
                <a:latin typeface="Inter"/>
                <a:ea typeface="Inter"/>
              </a:rPr>
              <a:t>The sample does not establish persistence.</a:t>
            </a:r>
            <a:endParaRPr lang="en-US"/>
          </a:p>
        </p:txBody>
      </p:sp>
      <p:sp>
        <p:nvSpPr>
          <p:cNvPr id="17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769D2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18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769D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32A3A"/>
                </a:solidFill>
                <a:latin typeface="Inter"/>
                <a:ea typeface="Inter"/>
              </a:rPr>
              <a:t>Next test</a:t>
            </a:r>
            <a:endParaRPr lang="en-US"/>
          </a:p>
        </p:txBody>
      </p:sp>
      <p:sp>
        <p:nvSpPr>
          <p:cNvPr id="20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32A3A"/>
                </a:solidFill>
                <a:latin typeface="Inter"/>
                <a:ea typeface="Inter"/>
              </a:rPr>
              <a:t>Replicate across a new region.</a:t>
            </a:r>
            <a:endParaRPr lang="en-US"/>
          </a:p>
        </p:txBody>
      </p:sp>
      <p:sp>
        <p:nvSpPr>
          <p:cNvPr id="21" name="next-panel"/>
          <p:cNvSpPr/>
          <p:nvPr/>
        </p:nvSpPr>
        <p:spPr>
          <a:xfrm xmlns:a="http://schemas.openxmlformats.org/drawingml/2006/main">
            <a:off x="10668000" y="3238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D2"/>
          </a:solidFill>
          <a:ln xmlns:a="http://schemas.openxmlformats.org/drawingml/2006/main" w="0">
            <a:solidFill>
              <a:srgbClr val="1769D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next-label"/>
          <p:cNvSpPr txBox="1"/>
          <p:nvPr/>
        </p:nvSpPr>
        <p:spPr>
          <a:xfrm xmlns:a="http://schemas.openxmlformats.org/drawingml/2006/main">
            <a:off x="110490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Inter"/>
                <a:ea typeface="Inter"/>
              </a:rPr>
              <a:t>NEXT MOVE</a:t>
            </a:r>
            <a:endParaRPr lang="en-US"/>
          </a:p>
        </p:txBody>
      </p:sp>
      <p:sp>
        <p:nvSpPr>
          <p:cNvPr id="23" name="next-text"/>
          <p:cNvSpPr txBox="1"/>
          <p:nvPr/>
        </p:nvSpPr>
        <p:spPr>
          <a:xfrm xmlns:a="http://schemas.openxmlformats.org/drawingml/2006/main">
            <a:off x="11049000" y="4038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FFFFF"/>
                </a:solidFill>
                <a:latin typeface="Inter"/>
                <a:ea typeface="Inter"/>
              </a:rPr>
              <a:t>Replicate the test</a:t>
            </a:r>
            <a:endParaRPr lang="en-US"/>
          </a:p>
        </p:txBody>
      </p:sp>
      <p:sp>
        <p:nvSpPr>
          <p:cNvPr id="24" name="next-foot"/>
          <p:cNvSpPr txBox="1"/>
          <p:nvPr/>
        </p:nvSpPr>
        <p:spPr>
          <a:xfrm xmlns:a="http://schemas.openxmlformats.org/drawingml/2006/main">
            <a:off x="11049000" y="5048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FFFFFF"/>
                </a:solidFill>
                <a:latin typeface="Inter"/>
                <a:ea typeface="Inter"/>
              </a:rPr>
              <a:t>Owner · reviewer · date</a:t>
            </a:r>
            <a:endParaRPr lang="en-US"/>
          </a:p>
        </p:txBody>
      </p:sp>
      <p:sp>
        <p:nvSpPr>
          <p:cNvPr id="2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A969F"/>
                </a:solidFill>
                <a:latin typeface="Inter"/>
                <a:ea typeface="Inter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2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A969F"/>
                </a:solidFill>
                <a:latin typeface="Inter"/>
                <a:ea typeface="Inter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