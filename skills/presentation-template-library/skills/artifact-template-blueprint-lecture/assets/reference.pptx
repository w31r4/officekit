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7c2e010b1d549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3bae7579f4c645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Weekly participation (%)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Control</c:v>
          </c:tx>
          <c:spPr>
            <a:solidFill>
              <a:srgbClr val="9AA0A6"/>
            </a:solidFill>
            <a:ln w="38100">
              <a:solidFill>
                <a:srgbClr val="9AA0A6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Baseline</c:v>
              </c:pt>
              <c:pt idx="1">
                <c:v>Week 1</c:v>
              </c:pt>
              <c:pt idx="2">
                <c:v>Week 2</c:v>
              </c:pt>
              <c:pt idx="3">
                <c:v>Week 3</c:v>
              </c:pt>
              <c:pt idx="4">
                <c:v>Week 4</c:v>
              </c:pt>
            </c:strLit>
          </c:cat>
          <c:val>
            <c:numLit>
              <c:formatCode>General</c:formatCode>
              <c:ptCount val="5"/>
              <c:pt idx="0">
                <c:v>11.2</c:v>
              </c:pt>
              <c:pt idx="1">
                <c:v>11.4</c:v>
              </c:pt>
              <c:pt idx="2">
                <c:v>11.1</c:v>
              </c:pt>
              <c:pt idx="3">
                <c:v>11.3</c:v>
              </c:pt>
              <c:pt idx="4">
                <c:v>11.2</c:v>
              </c:pt>
            </c:numLit>
          </c:val>
        </c:ser>
        <c:ser>
          <c:idx val="1"/>
          <c:order val="1"/>
          <c:tx>
            <c:v>Treatment</c:v>
          </c:tx>
          <c:spPr>
            <a:solidFill>
              <a:srgbClr val="4285F4"/>
            </a:solidFill>
            <a:ln w="50800">
              <a:solidFill>
                <a:srgbClr val="4285F4"/>
              </a:solidFill>
              <a:prstDash val="solid"/>
            </a:ln>
          </c:spPr>
          <c:marker>
            <c:symbol val="circle"/>
            <c:size val="8"/>
          </c:marker>
          <c:cat>
            <c:strLit>
              <c:ptCount val="5"/>
              <c:pt idx="0">
                <c:v>Baseline</c:v>
              </c:pt>
              <c:pt idx="1">
                <c:v>Week 1</c:v>
              </c:pt>
              <c:pt idx="2">
                <c:v>Week 2</c:v>
              </c:pt>
              <c:pt idx="3">
                <c:v>Week 3</c:v>
              </c:pt>
              <c:pt idx="4">
                <c:v>Week 4</c:v>
              </c:pt>
            </c:strLit>
          </c:cat>
          <c:val>
            <c:numLit>
              <c:formatCode>General</c:formatCode>
              <c:ptCount val="5"/>
              <c:pt idx="0">
                <c:v>11</c:v>
              </c:pt>
              <c:pt idx="1">
                <c:v>12.1</c:v>
              </c:pt>
              <c:pt idx="2">
                <c:v>13.4</c:v>
              </c:pt>
              <c:pt idx="3">
                <c:v>14.1</c:v>
              </c:pt>
              <c:pt idx="4">
                <c:v>14.8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paper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19150" y="666750"/>
            <a:ext cx="1360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76300"/>
            <a:ext cx="695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285F4"/>
                </a:solidFill>
                <a:latin typeface="Arial"/>
                <a:ea typeface="Arial"/>
              </a:rPr>
              <a:t>MODULE 03 · GRADUATE METHODS WORKSHOP</a:t>
            </a:r>
            <a:endParaRPr lang="en-US"/>
          </a:p>
        </p:txBody>
      </p:sp>
      <p:sp>
        <p:nvSpPr>
          <p:cNvPr id="5" name="date"/>
          <p:cNvSpPr txBox="1"/>
          <p:nvPr/>
        </p:nvSpPr>
        <p:spPr>
          <a:xfrm xmlns:a="http://schemas.openxmlformats.org/drawingml/2006/main">
            <a:off x="11715750" y="876300"/>
            <a:ext cx="2619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125">
                <a:solidFill>
                  <a:srgbClr val="9AA0A6"/>
                </a:solidFill>
                <a:latin typeface="Arial"/>
                <a:ea typeface="Arial"/>
              </a:rPr>
              <a:t>45 min · 2026-08-29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24000"/>
            <a:ext cx="809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02124"/>
                </a:solidFill>
                <a:latin typeface="Arial"/>
                <a:ea typeface="Arial"/>
              </a:rPr>
              <a:t>A measurable claim needs a clean test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00350"/>
            <a:ext cx="6572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4285F4"/>
                </a:solidFill>
                <a:latin typeface="Arial"/>
                <a:ea typeface="Arial"/>
              </a:rPr>
              <a:t>From research question to bounded evidence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429000"/>
            <a:ext cx="8420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D8DB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6766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AA0A6"/>
                </a:solidFill>
                <a:latin typeface="Arial"/>
                <a:ea typeface="Arial"/>
              </a:rPr>
              <a:t>Question · method · result · limitation</a:t>
            </a:r>
            <a:endParaRPr lang="en-US"/>
          </a:p>
        </p:txBody>
      </p:sp>
      <p:sp>
        <p:nvSpPr>
          <p:cNvPr id="10" name="cover-contribution"/>
          <p:cNvSpPr txBox="1"/>
          <p:nvPr/>
        </p:nvSpPr>
        <p:spPr>
          <a:xfrm xmlns:a="http://schemas.openxmlformats.org/drawingml/2006/main">
            <a:off x="952500" y="4667250"/>
            <a:ext cx="666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202124"/>
                </a:solidFill>
                <a:latin typeface="Arial"/>
                <a:ea typeface="Arial"/>
              </a:rPr>
              <a:t>A falsifiable hypothesis is useful only when the design makes its failure visible.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2390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AA0A6"/>
                </a:solidFill>
                <a:latin typeface="Arial"/>
                <a:ea typeface="Arial"/>
              </a:rPr>
              <a:t>Illustrative courseware · all figures fictional · source basis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7724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AA0A6"/>
                </a:solidFill>
                <a:latin typeface="Arial"/>
                <a:ea typeface="Arial"/>
              </a:rPr>
              <a:t>1 / 4</a:t>
            </a:r>
            <a:endParaRPr lang="en-US"/>
          </a:p>
        </p:txBody>
      </p:sp>
      <p:sp>
        <p:nvSpPr>
          <p:cNvPr id="13" name="anchor-building"/>
          <p:cNvSpPr/>
          <p:nvPr/>
        </p:nvSpPr>
        <p:spPr>
          <a:xfrm xmlns:a="http://schemas.openxmlformats.org/drawingml/2006/main">
            <a:off x="12096750" y="1962150"/>
            <a:ext cx="2381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CFA"/>
          </a:solidFill>
          <a:ln xmlns:a="http://schemas.openxmlformats.org/drawingml/2006/main" w="25400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building-deep"/>
          <p:cNvSpPr/>
          <p:nvPr/>
        </p:nvSpPr>
        <p:spPr>
          <a:xfrm xmlns:a="http://schemas.openxmlformats.org/drawingml/2006/main">
            <a:off x="13287375" y="1962150"/>
            <a:ext cx="11906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0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window-0-0"/>
          <p:cNvSpPr/>
          <p:nvPr/>
        </p:nvSpPr>
        <p:spPr>
          <a:xfrm xmlns:a="http://schemas.openxmlformats.org/drawingml/2006/main">
            <a:off x="12306300" y="228600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12700">
            <a:solidFill>
              <a:srgbClr val="0059B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window-0-1"/>
          <p:cNvSpPr/>
          <p:nvPr/>
        </p:nvSpPr>
        <p:spPr>
          <a:xfrm xmlns:a="http://schemas.openxmlformats.org/drawingml/2006/main">
            <a:off x="12820650" y="228600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12700">
            <a:solidFill>
              <a:srgbClr val="0059B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window-0-2"/>
          <p:cNvSpPr/>
          <p:nvPr/>
        </p:nvSpPr>
        <p:spPr>
          <a:xfrm xmlns:a="http://schemas.openxmlformats.org/drawingml/2006/main">
            <a:off x="13335000" y="228600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59B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window-1-0"/>
          <p:cNvSpPr/>
          <p:nvPr/>
        </p:nvSpPr>
        <p:spPr>
          <a:xfrm xmlns:a="http://schemas.openxmlformats.org/drawingml/2006/main">
            <a:off x="12306300" y="287655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12700">
            <a:solidFill>
              <a:srgbClr val="0059B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window-1-1"/>
          <p:cNvSpPr/>
          <p:nvPr/>
        </p:nvSpPr>
        <p:spPr>
          <a:xfrm xmlns:a="http://schemas.openxmlformats.org/drawingml/2006/main">
            <a:off x="12820650" y="287655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12700">
            <a:solidFill>
              <a:srgbClr val="0059B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window-1-2"/>
          <p:cNvSpPr/>
          <p:nvPr/>
        </p:nvSpPr>
        <p:spPr>
          <a:xfrm xmlns:a="http://schemas.openxmlformats.org/drawingml/2006/main">
            <a:off x="13335000" y="287655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59B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window-2-0"/>
          <p:cNvSpPr/>
          <p:nvPr/>
        </p:nvSpPr>
        <p:spPr>
          <a:xfrm xmlns:a="http://schemas.openxmlformats.org/drawingml/2006/main">
            <a:off x="12306300" y="346710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12700">
            <a:solidFill>
              <a:srgbClr val="0059B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window-2-1"/>
          <p:cNvSpPr/>
          <p:nvPr/>
        </p:nvSpPr>
        <p:spPr>
          <a:xfrm xmlns:a="http://schemas.openxmlformats.org/drawingml/2006/main">
            <a:off x="12820650" y="346710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12700">
            <a:solidFill>
              <a:srgbClr val="0059B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anchor-window-2-2"/>
          <p:cNvSpPr/>
          <p:nvPr/>
        </p:nvSpPr>
        <p:spPr>
          <a:xfrm xmlns:a="http://schemas.openxmlformats.org/drawingml/2006/main">
            <a:off x="13335000" y="3467100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59B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axis"/>
          <p:cNvSpPr/>
          <p:nvPr/>
        </p:nvSpPr>
        <p:spPr>
          <a:xfrm xmlns:a="http://schemas.openxmlformats.org/drawingml/2006/main">
            <a:off x="13277850" y="1790700"/>
            <a:ext cx="0" cy="304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0059B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dot"/>
          <p:cNvSpPr/>
          <p:nvPr/>
        </p:nvSpPr>
        <p:spPr>
          <a:xfrm xmlns:a="http://schemas.openxmlformats.org/drawingml/2006/main">
            <a:off x="13144500" y="2990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9BA"/>
          </a:solidFill>
          <a:ln xmlns:a="http://schemas.openxmlformats.org/drawingml/2006/main" w="0">
            <a:solidFill>
              <a:srgbClr val="0059B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Method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paper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19150" y="666750"/>
            <a:ext cx="1360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763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285F4"/>
                </a:solidFill>
                <a:latin typeface="Arial"/>
                <a:ea typeface="Arial"/>
              </a:rPr>
              <a:t>MODULE 03 · METHOD</a:t>
            </a:r>
            <a:endParaRPr lang="en-US"/>
          </a:p>
        </p:txBody>
      </p:sp>
      <p:sp>
        <p:nvSpPr>
          <p:cNvPr id="5" name="method-title"/>
          <p:cNvSpPr txBox="1"/>
          <p:nvPr/>
        </p:nvSpPr>
        <p:spPr>
          <a:xfrm xmlns:a="http://schemas.openxmlformats.org/drawingml/2006/main">
            <a:off x="914400" y="127635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02124"/>
                </a:solidFill>
                <a:latin typeface="Arial"/>
                <a:ea typeface="Arial"/>
              </a:rPr>
              <a:t>The design separates mechanism from natural drift</a:t>
            </a:r>
            <a:endParaRPr lang="en-US"/>
          </a:p>
        </p:txBody>
      </p:sp>
      <p:sp>
        <p:nvSpPr>
          <p:cNvPr id="6" name="method-basis"/>
          <p:cNvSpPr txBox="1"/>
          <p:nvPr/>
        </p:nvSpPr>
        <p:spPr>
          <a:xfrm xmlns:a="http://schemas.openxmlformats.org/drawingml/2006/main">
            <a:off x="952500" y="19812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AA0A6"/>
                </a:solidFill>
                <a:latin typeface="Arial"/>
                <a:ea typeface="Arial"/>
              </a:rPr>
              <a:t>Two groups, one intervention, and a pre-registered decision rule.</a:t>
            </a:r>
            <a:endParaRPr lang="en-US"/>
          </a:p>
        </p:txBody>
      </p:sp>
      <p:sp>
        <p:nvSpPr>
          <p:cNvPr id="7" name="titl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D8DB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step-number-0"/>
          <p:cNvSpPr txBox="1"/>
          <p:nvPr/>
        </p:nvSpPr>
        <p:spPr>
          <a:xfrm xmlns:a="http://schemas.openxmlformats.org/drawingml/2006/main">
            <a:off x="1104900" y="314325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4285F4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step-rule-0"/>
          <p:cNvSpPr/>
          <p:nvPr/>
        </p:nvSpPr>
        <p:spPr>
          <a:xfrm xmlns:a="http://schemas.openxmlformats.org/drawingml/2006/main">
            <a:off x="1962150" y="3295650"/>
            <a:ext cx="527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8DB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step-title-0"/>
          <p:cNvSpPr txBox="1"/>
          <p:nvPr/>
        </p:nvSpPr>
        <p:spPr>
          <a:xfrm xmlns:a="http://schemas.openxmlformats.org/drawingml/2006/main">
            <a:off x="2095500" y="31051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124"/>
                </a:solidFill>
                <a:latin typeface="Arial"/>
                <a:ea typeface="Arial"/>
              </a:rPr>
              <a:t>Question</a:t>
            </a:r>
            <a:endParaRPr lang="en-US"/>
          </a:p>
        </p:txBody>
      </p:sp>
      <p:sp>
        <p:nvSpPr>
          <p:cNvPr id="11" name="step-body-0"/>
          <p:cNvSpPr txBox="1"/>
          <p:nvPr/>
        </p:nvSpPr>
        <p:spPr>
          <a:xfrm xmlns:a="http://schemas.openxmlformats.org/drawingml/2006/main">
            <a:off x="4381500" y="31432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3C4043"/>
                </a:solidFill>
                <a:latin typeface="Arial"/>
                <a:ea typeface="Arial"/>
              </a:rPr>
              <a:t>Does the points rule change participation?</a:t>
            </a:r>
            <a:endParaRPr lang="en-US"/>
          </a:p>
        </p:txBody>
      </p:sp>
      <p:sp>
        <p:nvSpPr>
          <p:cNvPr id="12" name="step-number-1"/>
          <p:cNvSpPr txBox="1"/>
          <p:nvPr/>
        </p:nvSpPr>
        <p:spPr>
          <a:xfrm xmlns:a="http://schemas.openxmlformats.org/drawingml/2006/main">
            <a:off x="1104900" y="41433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4285F4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step-rule-1"/>
          <p:cNvSpPr/>
          <p:nvPr/>
        </p:nvSpPr>
        <p:spPr>
          <a:xfrm xmlns:a="http://schemas.openxmlformats.org/drawingml/2006/main">
            <a:off x="1962150" y="4295775"/>
            <a:ext cx="527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8DB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tep-title-1"/>
          <p:cNvSpPr txBox="1"/>
          <p:nvPr/>
        </p:nvSpPr>
        <p:spPr>
          <a:xfrm xmlns:a="http://schemas.openxmlformats.org/drawingml/2006/main">
            <a:off x="2095500" y="41052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124"/>
                </a:solidFill>
                <a:latin typeface="Arial"/>
                <a:ea typeface="Arial"/>
              </a:rPr>
              <a:t>Groups</a:t>
            </a:r>
            <a:endParaRPr lang="en-US"/>
          </a:p>
        </p:txBody>
      </p:sp>
      <p:sp>
        <p:nvSpPr>
          <p:cNvPr id="15" name="step-body-1"/>
          <p:cNvSpPr txBox="1"/>
          <p:nvPr/>
        </p:nvSpPr>
        <p:spPr>
          <a:xfrm xmlns:a="http://schemas.openxmlformats.org/drawingml/2006/main">
            <a:off x="4381500" y="4143375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3C4043"/>
                </a:solidFill>
                <a:latin typeface="Arial"/>
                <a:ea typeface="Arial"/>
              </a:rPr>
              <a:t>24 control · 24 treatment · same cabinet model</a:t>
            </a:r>
            <a:endParaRPr lang="en-US"/>
          </a:p>
        </p:txBody>
      </p:sp>
      <p:sp>
        <p:nvSpPr>
          <p:cNvPr id="16" name="step-number-2"/>
          <p:cNvSpPr txBox="1"/>
          <p:nvPr/>
        </p:nvSpPr>
        <p:spPr>
          <a:xfrm xmlns:a="http://schemas.openxmlformats.org/drawingml/2006/main">
            <a:off x="1104900" y="514350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4285F4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step-rule-2"/>
          <p:cNvSpPr/>
          <p:nvPr/>
        </p:nvSpPr>
        <p:spPr>
          <a:xfrm xmlns:a="http://schemas.openxmlformats.org/drawingml/2006/main">
            <a:off x="1962150" y="5295900"/>
            <a:ext cx="527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8DB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step-title-2"/>
          <p:cNvSpPr txBox="1"/>
          <p:nvPr/>
        </p:nvSpPr>
        <p:spPr>
          <a:xfrm xmlns:a="http://schemas.openxmlformats.org/drawingml/2006/main">
            <a:off x="2095500" y="51054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124"/>
                </a:solidFill>
                <a:latin typeface="Arial"/>
                <a:ea typeface="Arial"/>
              </a:rPr>
              <a:t>Window</a:t>
            </a:r>
            <a:endParaRPr lang="en-US"/>
          </a:p>
        </p:txBody>
      </p:sp>
      <p:sp>
        <p:nvSpPr>
          <p:cNvPr id="19" name="step-body-2"/>
          <p:cNvSpPr txBox="1"/>
          <p:nvPr/>
        </p:nvSpPr>
        <p:spPr>
          <a:xfrm xmlns:a="http://schemas.openxmlformats.org/drawingml/2006/main">
            <a:off x="4381500" y="51435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3C4043"/>
                </a:solidFill>
                <a:latin typeface="Arial"/>
                <a:ea typeface="Arial"/>
              </a:rPr>
              <a:t>3-week baseline · 4 valid weeks · exam week excluded</a:t>
            </a:r>
            <a:endParaRPr lang="en-US"/>
          </a:p>
        </p:txBody>
      </p:sp>
      <p:sp>
        <p:nvSpPr>
          <p:cNvPr id="20" name="step-number-3"/>
          <p:cNvSpPr txBox="1"/>
          <p:nvPr/>
        </p:nvSpPr>
        <p:spPr>
          <a:xfrm xmlns:a="http://schemas.openxmlformats.org/drawingml/2006/main">
            <a:off x="1104900" y="614362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4285F4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1" name="step-rule-3"/>
          <p:cNvSpPr/>
          <p:nvPr/>
        </p:nvSpPr>
        <p:spPr>
          <a:xfrm xmlns:a="http://schemas.openxmlformats.org/drawingml/2006/main">
            <a:off x="1962150" y="6296025"/>
            <a:ext cx="527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step-title-3"/>
          <p:cNvSpPr txBox="1"/>
          <p:nvPr/>
        </p:nvSpPr>
        <p:spPr>
          <a:xfrm xmlns:a="http://schemas.openxmlformats.org/drawingml/2006/main">
            <a:off x="2095500" y="610552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124"/>
                </a:solidFill>
                <a:latin typeface="Arial"/>
                <a:ea typeface="Arial"/>
              </a:rPr>
              <a:t>Decision</a:t>
            </a:r>
            <a:endParaRPr lang="en-US"/>
          </a:p>
        </p:txBody>
      </p:sp>
      <p:sp>
        <p:nvSpPr>
          <p:cNvPr id="23" name="step-body-3"/>
          <p:cNvSpPr txBox="1"/>
          <p:nvPr/>
        </p:nvSpPr>
        <p:spPr>
          <a:xfrm xmlns:a="http://schemas.openxmlformats.org/drawingml/2006/main">
            <a:off x="4381500" y="6143625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3C4043"/>
                </a:solidFill>
                <a:latin typeface="Arial"/>
                <a:ea typeface="Arial"/>
              </a:rPr>
              <a:t>≥2 pp lift and CI excludes zero → scale-up branch</a:t>
            </a:r>
            <a:endParaRPr lang="en-US"/>
          </a:p>
        </p:txBody>
      </p:sp>
      <p:sp>
        <p:nvSpPr>
          <p:cNvPr id="24" name="method-panel"/>
          <p:cNvSpPr/>
          <p:nvPr/>
        </p:nvSpPr>
        <p:spPr>
          <a:xfrm xmlns:a="http://schemas.openxmlformats.org/drawingml/2006/main">
            <a:off x="10477500" y="3143250"/>
            <a:ext cx="34290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CFA"/>
          </a:solidFill>
          <a:ln xmlns:a="http://schemas.openxmlformats.org/drawingml/2006/main" w="0">
            <a:solidFill>
              <a:srgbClr val="ADC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anel-label"/>
          <p:cNvSpPr txBox="1"/>
          <p:nvPr/>
        </p:nvSpPr>
        <p:spPr>
          <a:xfrm xmlns:a="http://schemas.openxmlformats.org/drawingml/2006/main">
            <a:off x="10858500" y="348615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059BA"/>
                </a:solidFill>
                <a:latin typeface="Arial"/>
                <a:ea typeface="Arial"/>
              </a:rPr>
              <a:t>PRE-REGISTERED</a:t>
            </a:r>
            <a:endParaRPr lang="en-US"/>
          </a:p>
        </p:txBody>
      </p:sp>
      <p:sp>
        <p:nvSpPr>
          <p:cNvPr id="26" name="panel-value"/>
          <p:cNvSpPr txBox="1"/>
          <p:nvPr/>
        </p:nvSpPr>
        <p:spPr>
          <a:xfrm xmlns:a="http://schemas.openxmlformats.org/drawingml/2006/main">
            <a:off x="10858500" y="3943350"/>
            <a:ext cx="247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0059BA"/>
                </a:solidFill>
                <a:latin typeface="Arial"/>
                <a:ea typeface="Arial"/>
              </a:rPr>
              <a:t>2 pp</a:t>
            </a:r>
            <a:endParaRPr lang="en-US"/>
          </a:p>
        </p:txBody>
      </p:sp>
      <p:sp>
        <p:nvSpPr>
          <p:cNvPr id="27" name="panel-caption"/>
          <p:cNvSpPr txBox="1"/>
          <p:nvPr/>
        </p:nvSpPr>
        <p:spPr>
          <a:xfrm xmlns:a="http://schemas.openxmlformats.org/drawingml/2006/main">
            <a:off x="10858500" y="45910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3C4043"/>
                </a:solidFill>
                <a:latin typeface="Arial"/>
                <a:ea typeface="Arial"/>
              </a:rPr>
              <a:t>minimum detectable lift</a:t>
            </a:r>
            <a:endParaRPr lang="en-US"/>
          </a:p>
        </p:txBody>
      </p:sp>
      <p:sp>
        <p:nvSpPr>
          <p:cNvPr id="28" name="panel-rule"/>
          <p:cNvSpPr/>
          <p:nvPr/>
        </p:nvSpPr>
        <p:spPr>
          <a:xfrm xmlns:a="http://schemas.openxmlformats.org/drawingml/2006/main">
            <a:off x="10858500" y="5124450"/>
            <a:ext cx="257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panel-foot"/>
          <p:cNvSpPr txBox="1"/>
          <p:nvPr/>
        </p:nvSpPr>
        <p:spPr>
          <a:xfrm xmlns:a="http://schemas.openxmlformats.org/drawingml/2006/main">
            <a:off x="10858500" y="53340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3C4043"/>
                </a:solidFill>
                <a:latin typeface="Arial"/>
                <a:ea typeface="Arial"/>
              </a:rPr>
              <a:t>No revision after launch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AA0A6"/>
                </a:solidFill>
                <a:latin typeface="Arial"/>
                <a:ea typeface="Arial"/>
              </a:rPr>
              <a:t>Source: illustrative experiment brief · sample and thresholds shown for calibration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AA0A6"/>
                </a:solidFill>
                <a:latin typeface="Arial"/>
                <a:ea typeface="Arial"/>
              </a:rPr>
              <a:t>2 / 4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Results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paper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19150" y="666750"/>
            <a:ext cx="1360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763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285F4"/>
                </a:solidFill>
                <a:latin typeface="Arial"/>
                <a:ea typeface="Arial"/>
              </a:rPr>
              <a:t>MODULE 03 · RESULTS</a:t>
            </a:r>
            <a:endParaRPr lang="en-US"/>
          </a:p>
        </p:txBody>
      </p:sp>
      <p:sp>
        <p:nvSpPr>
          <p:cNvPr id="5" name="results-title"/>
          <p:cNvSpPr txBox="1"/>
          <p:nvPr/>
        </p:nvSpPr>
        <p:spPr>
          <a:xfrm xmlns:a="http://schemas.openxmlformats.org/drawingml/2006/main">
            <a:off x="914400" y="127635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02124"/>
                </a:solidFill>
                <a:latin typeface="Arial"/>
                <a:ea typeface="Arial"/>
              </a:rPr>
              <a:t>The treatment clears the rule; uncertainty stays visible</a:t>
            </a:r>
            <a:endParaRPr lang="en-US"/>
          </a:p>
        </p:txBody>
      </p:sp>
      <p:sp>
        <p:nvSpPr>
          <p:cNvPr id="6" name="results-basis"/>
          <p:cNvSpPr txBox="1"/>
          <p:nvPr/>
        </p:nvSpPr>
        <p:spPr>
          <a:xfrm xmlns:a="http://schemas.openxmlformats.org/drawingml/2006/main">
            <a:off x="952500" y="19812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AA0A6"/>
                </a:solidFill>
                <a:latin typeface="Arial"/>
                <a:ea typeface="Arial"/>
              </a:rPr>
              <a:t>Weekly participation (%) · mean of 24 cabinets per group</a:t>
            </a:r>
            <a:endParaRPr lang="en-US"/>
          </a:p>
        </p:txBody>
      </p:sp>
      <p:sp>
        <p:nvSpPr>
          <p:cNvPr id="7" name="titl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D8DB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participation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28950"/>
          <a:ext xmlns:a="http://schemas.openxmlformats.org/drawingml/2006/main" cx="723900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bae7579f4c645e0"/>
          </a:graphicData>
        </a:graphic>
      </p:graphicFrame>
      <p:sp>
        <p:nvSpPr>
          <p:cNvPr id="9" name="chart-callout"/>
          <p:cNvSpPr txBox="1"/>
          <p:nvPr/>
        </p:nvSpPr>
        <p:spPr>
          <a:xfrm xmlns:a="http://schemas.openxmlformats.org/drawingml/2006/main">
            <a:off x="6572250" y="2990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2025" b="1">
                <a:solidFill>
                  <a:srgbClr val="4285F4"/>
                </a:solidFill>
                <a:latin typeface="Arial"/>
                <a:ea typeface="Arial"/>
              </a:rPr>
              <a:t>+3.6 pp</a:t>
            </a:r>
            <a:endParaRPr lang="en-US"/>
          </a:p>
        </p:txBody>
      </p:sp>
      <p:sp>
        <p:nvSpPr>
          <p:cNvPr id="10" name="chart-caption"/>
          <p:cNvSpPr txBox="1"/>
          <p:nvPr/>
        </p:nvSpPr>
        <p:spPr>
          <a:xfrm xmlns:a="http://schemas.openxmlformats.org/drawingml/2006/main">
            <a:off x="4762500" y="619125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125">
                <a:solidFill>
                  <a:srgbClr val="9AA0A6"/>
                </a:solidFill>
                <a:latin typeface="Arial"/>
                <a:ea typeface="Arial"/>
              </a:rPr>
              <a:t>95% CI: +1.2 to +6.2 pp · excludes zero</a:t>
            </a:r>
            <a:endParaRPr lang="en-US"/>
          </a:p>
        </p:txBody>
      </p:sp>
      <p:sp>
        <p:nvSpPr>
          <p:cNvPr id="11" name="results-rail"/>
          <p:cNvSpPr/>
          <p:nvPr/>
        </p:nvSpPr>
        <p:spPr>
          <a:xfrm xmlns:a="http://schemas.openxmlformats.org/drawingml/2006/main">
            <a:off x="9144000" y="3048000"/>
            <a:ext cx="0" cy="3257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D8DB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ail-title"/>
          <p:cNvSpPr txBox="1"/>
          <p:nvPr/>
        </p:nvSpPr>
        <p:spPr>
          <a:xfrm xmlns:a="http://schemas.openxmlformats.org/drawingml/2006/main">
            <a:off x="9620250" y="31242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A0A6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3" name="rail-number"/>
          <p:cNvSpPr txBox="1"/>
          <p:nvPr/>
        </p:nvSpPr>
        <p:spPr>
          <a:xfrm xmlns:a="http://schemas.openxmlformats.org/drawingml/2006/main">
            <a:off x="9620250" y="371475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4285F4"/>
                </a:solidFill>
                <a:latin typeface="Arial"/>
                <a:ea typeface="Arial"/>
              </a:rPr>
              <a:t>14.8%</a:t>
            </a:r>
            <a:endParaRPr lang="en-US"/>
          </a:p>
        </p:txBody>
      </p:sp>
      <p:sp>
        <p:nvSpPr>
          <p:cNvPr id="14" name="rail-label"/>
          <p:cNvSpPr txBox="1"/>
          <p:nvPr/>
        </p:nvSpPr>
        <p:spPr>
          <a:xfrm xmlns:a="http://schemas.openxmlformats.org/drawingml/2006/main">
            <a:off x="9620250" y="43434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3C4043"/>
                </a:solidFill>
                <a:latin typeface="Arial"/>
                <a:ea typeface="Arial"/>
              </a:rPr>
              <a:t>treatment participation</a:t>
            </a:r>
            <a:endParaRPr lang="en-US"/>
          </a:p>
        </p:txBody>
      </p:sp>
      <p:sp>
        <p:nvSpPr>
          <p:cNvPr id="15" name="rail-number-two"/>
          <p:cNvSpPr txBox="1"/>
          <p:nvPr/>
        </p:nvSpPr>
        <p:spPr>
          <a:xfrm xmlns:a="http://schemas.openxmlformats.org/drawingml/2006/main">
            <a:off x="9620250" y="497205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202124"/>
                </a:solidFill>
                <a:latin typeface="Arial"/>
                <a:ea typeface="Arial"/>
              </a:rPr>
              <a:t>11.2%</a:t>
            </a:r>
            <a:endParaRPr lang="en-US"/>
          </a:p>
        </p:txBody>
      </p:sp>
      <p:sp>
        <p:nvSpPr>
          <p:cNvPr id="16" name="rail-label-two"/>
          <p:cNvSpPr txBox="1"/>
          <p:nvPr/>
        </p:nvSpPr>
        <p:spPr>
          <a:xfrm xmlns:a="http://schemas.openxmlformats.org/drawingml/2006/main">
            <a:off x="9620250" y="56007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3C4043"/>
                </a:solidFill>
                <a:latin typeface="Arial"/>
                <a:ea typeface="Arial"/>
              </a:rPr>
              <a:t>control participation</a:t>
            </a:r>
            <a:endParaRPr lang="en-US"/>
          </a:p>
        </p:txBody>
      </p:sp>
      <p:sp>
        <p:nvSpPr>
          <p:cNvPr id="17" name="result-band"/>
          <p:cNvSpPr/>
          <p:nvPr/>
        </p:nvSpPr>
        <p:spPr>
          <a:xfrm xmlns:a="http://schemas.openxmlformats.org/drawingml/2006/main">
            <a:off x="914400" y="689610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DCCFA"/>
          </a:solidFill>
          <a:ln xmlns:a="http://schemas.openxmlformats.org/drawingml/2006/main" w="0">
            <a:solidFill>
              <a:srgbClr val="ADC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result-band-text"/>
          <p:cNvSpPr txBox="1"/>
          <p:nvPr/>
        </p:nvSpPr>
        <p:spPr>
          <a:xfrm xmlns:a="http://schemas.openxmlformats.org/drawingml/2006/main">
            <a:off x="1143000" y="7067550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0059BA"/>
                </a:solidFill>
                <a:latin typeface="Arial"/>
                <a:ea typeface="Arial"/>
              </a:rPr>
              <a:t>CONCLUSION  ·  The observed lift is compatible with the pre-registered mechanism, not proof of generalization.</a:t>
            </a:r>
            <a:endParaRPr lang="en-US"/>
          </a:p>
        </p:txBody>
      </p:sp>
      <p:sp>
        <p:nvSpPr>
          <p:cNvPr id="1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AA0A6"/>
                </a:solidFill>
                <a:latin typeface="Arial"/>
                <a:ea typeface="Arial"/>
              </a:rPr>
              <a:t>Source: illustrative experiment brief · mean values and confidence interval shown for calibration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AA0A6"/>
                </a:solidFill>
                <a:latin typeface="Arial"/>
                <a:ea typeface="Arial"/>
              </a:rPr>
              <a:t>3 / 4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Conclus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paper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19150" y="666750"/>
            <a:ext cx="1360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763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285F4"/>
                </a:solidFill>
                <a:latin typeface="Arial"/>
                <a:ea typeface="Arial"/>
              </a:rPr>
              <a:t>MODULE 03 · LIMITATIONS</a:t>
            </a:r>
            <a:endParaRPr lang="en-US"/>
          </a:p>
        </p:txBody>
      </p:sp>
      <p:sp>
        <p:nvSpPr>
          <p:cNvPr id="5" name="conclusion-title"/>
          <p:cNvSpPr txBox="1"/>
          <p:nvPr/>
        </p:nvSpPr>
        <p:spPr>
          <a:xfrm xmlns:a="http://schemas.openxmlformats.org/drawingml/2006/main">
            <a:off x="914400" y="127635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02124"/>
                </a:solidFill>
                <a:latin typeface="Arial"/>
                <a:ea typeface="Arial"/>
              </a:rPr>
              <a:t>A cleared gate is a decision, not a universal claim</a:t>
            </a:r>
            <a:endParaRPr lang="en-US"/>
          </a:p>
        </p:txBody>
      </p:sp>
      <p:sp>
        <p:nvSpPr>
          <p:cNvPr id="6" name="conclusion-basis"/>
          <p:cNvSpPr txBox="1"/>
          <p:nvPr/>
        </p:nvSpPr>
        <p:spPr>
          <a:xfrm xmlns:a="http://schemas.openxmlformats.org/drawingml/2006/main">
            <a:off x="952500" y="19812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AA0A6"/>
                </a:solidFill>
                <a:latin typeface="Arial"/>
                <a:ea typeface="Arial"/>
              </a:rPr>
              <a:t>Three conclusions remain inside the observed design.</a:t>
            </a:r>
            <a:endParaRPr lang="en-US"/>
          </a:p>
        </p:txBody>
      </p:sp>
      <p:sp>
        <p:nvSpPr>
          <p:cNvPr id="7" name="titl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D8DB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nclusion-number-0"/>
          <p:cNvSpPr txBox="1"/>
          <p:nvPr/>
        </p:nvSpPr>
        <p:spPr>
          <a:xfrm xmlns:a="http://schemas.openxmlformats.org/drawingml/2006/main">
            <a:off x="1104900" y="32385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4285F4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onclusion-rule-0"/>
          <p:cNvSpPr/>
          <p:nvPr/>
        </p:nvSpPr>
        <p:spPr>
          <a:xfrm xmlns:a="http://schemas.openxmlformats.org/drawingml/2006/main">
            <a:off x="2000250" y="3390900"/>
            <a:ext cx="533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8DB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onclusion-label-0"/>
          <p:cNvSpPr txBox="1"/>
          <p:nvPr/>
        </p:nvSpPr>
        <p:spPr>
          <a:xfrm xmlns:a="http://schemas.openxmlformats.org/drawingml/2006/main">
            <a:off x="2114550" y="32004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124"/>
                </a:solidFill>
                <a:latin typeface="Arial"/>
                <a:ea typeface="Arial"/>
              </a:rPr>
              <a:t>Mechanism</a:t>
            </a:r>
            <a:endParaRPr lang="en-US"/>
          </a:p>
        </p:txBody>
      </p:sp>
      <p:sp>
        <p:nvSpPr>
          <p:cNvPr id="11" name="conclusion-text-0"/>
          <p:cNvSpPr txBox="1"/>
          <p:nvPr/>
        </p:nvSpPr>
        <p:spPr>
          <a:xfrm xmlns:a="http://schemas.openxmlformats.org/drawingml/2006/main">
            <a:off x="4000500" y="323850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C4043"/>
                </a:solidFill>
                <a:latin typeface="Arial"/>
                <a:ea typeface="Arial"/>
              </a:rPr>
              <a:t>The points rule raised weekly participation in this four-week window.</a:t>
            </a:r>
            <a:endParaRPr lang="en-US"/>
          </a:p>
        </p:txBody>
      </p:sp>
      <p:sp>
        <p:nvSpPr>
          <p:cNvPr id="12" name="conclusion-number-1"/>
          <p:cNvSpPr txBox="1"/>
          <p:nvPr/>
        </p:nvSpPr>
        <p:spPr>
          <a:xfrm xmlns:a="http://schemas.openxmlformats.org/drawingml/2006/main">
            <a:off x="1104900" y="42862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124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onclusion-rule-1"/>
          <p:cNvSpPr/>
          <p:nvPr/>
        </p:nvSpPr>
        <p:spPr>
          <a:xfrm xmlns:a="http://schemas.openxmlformats.org/drawingml/2006/main">
            <a:off x="2000250" y="4438650"/>
            <a:ext cx="533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8DB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onclusion-label-1"/>
          <p:cNvSpPr txBox="1"/>
          <p:nvPr/>
        </p:nvSpPr>
        <p:spPr>
          <a:xfrm xmlns:a="http://schemas.openxmlformats.org/drawingml/2006/main">
            <a:off x="2114550" y="42481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124"/>
                </a:solidFill>
                <a:latin typeface="Arial"/>
                <a:ea typeface="Arial"/>
              </a:rPr>
              <a:t>Boundary</a:t>
            </a:r>
            <a:endParaRPr lang="en-US"/>
          </a:p>
        </p:txBody>
      </p:sp>
      <p:sp>
        <p:nvSpPr>
          <p:cNvPr id="15" name="conclusion-text-1"/>
          <p:cNvSpPr txBox="1"/>
          <p:nvPr/>
        </p:nvSpPr>
        <p:spPr>
          <a:xfrm xmlns:a="http://schemas.openxmlformats.org/drawingml/2006/main">
            <a:off x="4000500" y="428625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C4043"/>
                </a:solidFill>
                <a:latin typeface="Arial"/>
                <a:ea typeface="Arial"/>
              </a:rPr>
              <a:t>The sample cannot establish persistence beyond the registered sites.</a:t>
            </a:r>
            <a:endParaRPr lang="en-US"/>
          </a:p>
        </p:txBody>
      </p:sp>
      <p:sp>
        <p:nvSpPr>
          <p:cNvPr id="16" name="conclusion-number-2"/>
          <p:cNvSpPr txBox="1"/>
          <p:nvPr/>
        </p:nvSpPr>
        <p:spPr>
          <a:xfrm xmlns:a="http://schemas.openxmlformats.org/drawingml/2006/main">
            <a:off x="1104900" y="53340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059BA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onclusion-rule-2"/>
          <p:cNvSpPr/>
          <p:nvPr/>
        </p:nvSpPr>
        <p:spPr>
          <a:xfrm xmlns:a="http://schemas.openxmlformats.org/drawingml/2006/main">
            <a:off x="2000250" y="5486400"/>
            <a:ext cx="533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onclusion-label-2"/>
          <p:cNvSpPr txBox="1"/>
          <p:nvPr/>
        </p:nvSpPr>
        <p:spPr>
          <a:xfrm xmlns:a="http://schemas.openxmlformats.org/drawingml/2006/main">
            <a:off x="2114550" y="52959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124"/>
                </a:solidFill>
                <a:latin typeface="Arial"/>
                <a:ea typeface="Arial"/>
              </a:rPr>
              <a:t>Next test</a:t>
            </a:r>
            <a:endParaRPr lang="en-US"/>
          </a:p>
        </p:txBody>
      </p:sp>
      <p:sp>
        <p:nvSpPr>
          <p:cNvPr id="19" name="conclusion-text-2"/>
          <p:cNvSpPr txBox="1"/>
          <p:nvPr/>
        </p:nvSpPr>
        <p:spPr>
          <a:xfrm xmlns:a="http://schemas.openxmlformats.org/drawingml/2006/main">
            <a:off x="4000500" y="533400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C4043"/>
                </a:solidFill>
                <a:latin typeface="Arial"/>
                <a:ea typeface="Arial"/>
              </a:rPr>
              <a:t>Replicate across regions before changing the operating standard.</a:t>
            </a:r>
            <a:endParaRPr lang="en-US"/>
          </a:p>
        </p:txBody>
      </p:sp>
      <p:sp>
        <p:nvSpPr>
          <p:cNvPr id="20" name="open-question"/>
          <p:cNvSpPr/>
          <p:nvPr/>
        </p:nvSpPr>
        <p:spPr>
          <a:xfrm xmlns:a="http://schemas.openxmlformats.org/drawingml/2006/main">
            <a:off x="10477500" y="3200400"/>
            <a:ext cx="34290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9BA"/>
          </a:solidFill>
          <a:ln xmlns:a="http://schemas.openxmlformats.org/drawingml/2006/main" w="0">
            <a:solidFill>
              <a:srgbClr val="0059B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open-label"/>
          <p:cNvSpPr txBox="1"/>
          <p:nvPr/>
        </p:nvSpPr>
        <p:spPr>
          <a:xfrm xmlns:a="http://schemas.openxmlformats.org/drawingml/2006/main">
            <a:off x="10858500" y="35242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ADCCFA"/>
                </a:solidFill>
                <a:latin typeface="Arial"/>
                <a:ea typeface="Arial"/>
              </a:rPr>
              <a:t>OPEN QUESTION</a:t>
            </a:r>
            <a:endParaRPr lang="en-US"/>
          </a:p>
        </p:txBody>
      </p:sp>
      <p:sp>
        <p:nvSpPr>
          <p:cNvPr id="22" name="open-text"/>
          <p:cNvSpPr txBox="1"/>
          <p:nvPr/>
        </p:nvSpPr>
        <p:spPr>
          <a:xfrm xmlns:a="http://schemas.openxmlformats.org/drawingml/2006/main">
            <a:off x="10858500" y="4000500"/>
            <a:ext cx="266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Does the effect survive a new region?</a:t>
            </a:r>
            <a:endParaRPr lang="en-US"/>
          </a:p>
        </p:txBody>
      </p:sp>
      <p:sp>
        <p:nvSpPr>
          <p:cNvPr id="23" name="open-foot"/>
          <p:cNvSpPr txBox="1"/>
          <p:nvPr/>
        </p:nvSpPr>
        <p:spPr>
          <a:xfrm xmlns:a="http://schemas.openxmlformats.org/drawingml/2006/main">
            <a:off x="10858500" y="50482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DCCFA"/>
                </a:solidFill>
                <a:latin typeface="Arial"/>
                <a:ea typeface="Arial"/>
              </a:rPr>
              <a:t>Next sample · 48 sites · preregistered</a:t>
            </a:r>
            <a:endParaRPr lang="en-US"/>
          </a:p>
        </p:txBody>
      </p:sp>
      <p:sp>
        <p:nvSpPr>
          <p:cNvPr id="24" name="footer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AA0A6"/>
                </a:solidFill>
                <a:latin typeface="Arial"/>
                <a:ea typeface="Arial"/>
              </a:rPr>
              <a:t>Source: illustrative courseware · limitations are part of the result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AA0A6"/>
                </a:solidFill>
                <a:latin typeface="Arial"/>
                <a:ea typeface="Arial"/>
              </a:rPr>
              <a:t>4 / 4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