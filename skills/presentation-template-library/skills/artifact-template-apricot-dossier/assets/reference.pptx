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01b5ffa2f6b44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2e9a9d799668dd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ff1582c14d42a1a7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9df32179333a9f35_1" /><Relationship Type="http://schemas.openxmlformats.org/officeDocument/2006/relationships/chart" Target="/ppt/slides/charts/chart1.xml" Id="Rbd80a62848174ad7" /><Relationship Type="http://schemas.openxmlformats.org/officeDocument/2006/relationships/chart" Target="/ppt/slides/charts/chart2.xml" Id="Rf537fdb4fd464c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2930549abca3ae00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d71bfa074cda59bb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2e9a9d799668dd3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B63A42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4938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5736E"/>
            </a:solidFill>
            <a:ln w="38100">
              <a:solidFill>
                <a:srgbClr val="85736E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c2e9a9d799668dd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>
              <a:alpha val="100000"/>
            </a:srgbClr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63A42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0201E"/>
                </a:solidFill>
                <a:latin typeface="Arial"/>
                <a:ea typeface="Arial"/>
              </a:rPr>
              <a:t>Apricot Dossier: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63A42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1582c14d42a1a7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9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0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0201E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1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3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20201E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4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5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6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9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20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3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4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7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9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30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9df32179333a9f35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d80a62848174ad7"/>
          </a:graphicData>
        </a:graphic>
      </p:graphicFrame>
      <p:graphicFrame>
        <p:nvGraphicFramePr>
          <p:cNvPr id="1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37fdb4fd464cfd"/>
          </a:graphicData>
        </a:graphic>
      </p:graphicFrame>
      <p:sp>
        <p:nvSpPr>
          <p:cNvPr id="1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20201E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1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4938F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1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0201E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930549abca3ae00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9" name="decision-number-0"/>
          <p:cNvSpPr txBox="1"/>
          <p:nvPr/>
        </p:nvSpPr>
        <p:spPr>
          <a:xfrm xmlns:a="http://schemas.openxmlformats.org/drawingml/2006/main">
            <a:off x="1104900" y="33718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decision-rule-0"/>
          <p:cNvSpPr/>
          <p:nvPr/>
        </p:nvSpPr>
        <p:spPr>
          <a:xfrm xmlns:a="http://schemas.openxmlformats.org/drawingml/2006/main">
            <a:off x="2000250" y="35337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cision-label-0"/>
          <p:cNvSpPr txBox="1"/>
          <p:nvPr/>
        </p:nvSpPr>
        <p:spPr>
          <a:xfrm xmlns:a="http://schemas.openxmlformats.org/drawingml/2006/main">
            <a:off x="2209800" y="3324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2" name="decision-text-0"/>
          <p:cNvSpPr txBox="1"/>
          <p:nvPr/>
        </p:nvSpPr>
        <p:spPr>
          <a:xfrm xmlns:a="http://schemas.openxmlformats.org/drawingml/2006/main">
            <a:off x="4476750" y="3371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Demand is stable</a:t>
            </a:r>
            <a:endParaRPr lang="en-US"/>
          </a:p>
        </p:txBody>
      </p:sp>
      <p:sp>
        <p:nvSpPr>
          <p:cNvPr id="13" name="decision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decision-rule-1"/>
          <p:cNvSpPr/>
          <p:nvPr/>
        </p:nvSpPr>
        <p:spPr>
          <a:xfrm xmlns:a="http://schemas.openxmlformats.org/drawingml/2006/main">
            <a:off x="2000250" y="442912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decision-label-1"/>
          <p:cNvSpPr txBox="1"/>
          <p:nvPr/>
        </p:nvSpPr>
        <p:spPr>
          <a:xfrm xmlns:a="http://schemas.openxmlformats.org/drawingml/2006/main">
            <a:off x="2209800" y="4219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Constraint</a:t>
            </a:r>
            <a:endParaRPr lang="en-US"/>
          </a:p>
        </p:txBody>
      </p:sp>
      <p:sp>
        <p:nvSpPr>
          <p:cNvPr id="16" name="decision-text-1"/>
          <p:cNvSpPr txBox="1"/>
          <p:nvPr/>
        </p:nvSpPr>
        <p:spPr>
          <a:xfrm xmlns:a="http://schemas.openxmlformats.org/drawingml/2006/main">
            <a:off x="4476750" y="4267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variance</a:t>
            </a:r>
            <a:endParaRPr lang="en-US"/>
          </a:p>
        </p:txBody>
      </p:sp>
      <p:sp>
        <p:nvSpPr>
          <p:cNvPr id="17" name="decision-number-2"/>
          <p:cNvSpPr txBox="1"/>
          <p:nvPr/>
        </p:nvSpPr>
        <p:spPr>
          <a:xfrm xmlns:a="http://schemas.openxmlformats.org/drawingml/2006/main">
            <a:off x="1104900" y="5162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decision-rule-2"/>
          <p:cNvSpPr/>
          <p:nvPr/>
        </p:nvSpPr>
        <p:spPr>
          <a:xfrm xmlns:a="http://schemas.openxmlformats.org/drawingml/2006/main">
            <a:off x="2000250" y="53244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decision-label-2"/>
          <p:cNvSpPr txBox="1"/>
          <p:nvPr/>
        </p:nvSpPr>
        <p:spPr>
          <a:xfrm xmlns:a="http://schemas.openxmlformats.org/drawingml/2006/main">
            <a:off x="2209800" y="51149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decision-text-2"/>
          <p:cNvSpPr txBox="1"/>
          <p:nvPr/>
        </p:nvSpPr>
        <p:spPr>
          <a:xfrm xmlns:a="http://schemas.openxmlformats.org/drawingml/2006/main">
            <a:off x="4476750" y="5162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</a:t>
            </a:r>
            <a:endParaRPr lang="en-US"/>
          </a:p>
        </p:txBody>
      </p:sp>
      <p:sp>
        <p:nvSpPr>
          <p:cNvPr id="21" name="decision-summary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DECISION LOGIC</a:t>
            </a:r>
            <a:endParaRPr lang="en-US"/>
          </a:p>
        </p:txBody>
      </p:sp>
      <p:sp>
        <p:nvSpPr>
          <p:cNvPr id="22" name="decision-summary"/>
          <p:cNvSpPr txBox="1"/>
          <p:nvPr/>
        </p:nvSpPr>
        <p:spPr>
          <a:xfrm xmlns:a="http://schemas.openxmlformats.org/drawingml/2006/main">
            <a:off x="10287000" y="3810000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A page earns density when each line changes the choice.</a:t>
            </a:r>
            <a:endParaRPr lang="en-US"/>
          </a:p>
        </p:txBody>
      </p:sp>
      <p:sp>
        <p:nvSpPr>
          <p:cNvPr id="23" name="decision-callout"/>
          <p:cNvSpPr/>
          <p:nvPr/>
        </p:nvSpPr>
        <p:spPr>
          <a:xfrm xmlns:a="http://schemas.openxmlformats.org/drawingml/2006/main">
            <a:off x="10287000" y="5219700"/>
            <a:ext cx="323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decision-callout-text"/>
          <p:cNvSpPr txBox="1"/>
          <p:nvPr/>
        </p:nvSpPr>
        <p:spPr>
          <a:xfrm xmlns:a="http://schemas.openxmlformats.org/drawingml/2006/main">
            <a:off x="10572750" y="5476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ONE LEVER · ONE OWNER · ONE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>
              <a:alpha val="94000"/>
            </a:srgbClr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63A42"/>
                </a:solidFill>
                <a:latin typeface="Arial"/>
                <a:ea typeface="Arial"/>
              </a:rPr>
              <a:t>APRICOT DOSSIER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0201E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0201E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2e9a9d799668dd3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