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2fd02fecfc245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260725ec97288f31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34485ca5b8a9e954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a5c00489db854fa2_1" /><Relationship Type="http://schemas.openxmlformats.org/officeDocument/2006/relationships/chart" Target="/ppt/slides/charts/chart1.xml" Id="R3307f25c7c4d4970" /><Relationship Type="http://schemas.openxmlformats.org/officeDocument/2006/relationships/chart" Target="/ppt/slides/charts/chart2.xml" Id="R01649de8d8d440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7acdacea277813e8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06e55191024fa458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6.jpg" Id="rIdOfficeKitImage89634c5b24a89a02_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B63A42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4938F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85736E"/>
            </a:solidFill>
            <a:ln w="38100">
              <a:solidFill>
                <a:srgbClr val="85736E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260725ec97288f31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100000"/>
            </a:srgbClr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63A42"/>
                </a:solidFill>
                <a:latin typeface="Arial"/>
                <a:ea typeface="Arial"/>
              </a:rPr>
              <a:t>CONSULTING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20201E"/>
                </a:solidFill>
                <a:latin typeface="Arial"/>
                <a:ea typeface="Arial"/>
              </a:rPr>
              <a:t>Apricot Dossier: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B63A42"/>
                </a:solidFill>
                <a:latin typeface="Arial"/>
                <a:ea typeface="Arial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201E"/>
                </a:solidFill>
                <a:latin typeface="Arial"/>
                <a:ea typeface="Arial"/>
              </a:rPr>
              <a:t>The synthesis matters more than the inventory.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239500" y="1714500"/>
            <a:ext cx="2476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line"/>
          <p:cNvSpPr/>
          <p:nvPr/>
        </p:nvSpPr>
        <p:spPr>
          <a:xfrm xmlns:a="http://schemas.openxmlformats.org/drawingml/2006/main">
            <a:off x="11544300" y="3505200"/>
            <a:ext cx="1866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line-two"/>
          <p:cNvSpPr/>
          <p:nvPr/>
        </p:nvSpPr>
        <p:spPr>
          <a:xfrm xmlns:a="http://schemas.openxmlformats.org/drawingml/2006/main">
            <a:off x="11544300" y="3695700"/>
            <a:ext cx="194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dot"/>
          <p:cNvSpPr/>
          <p:nvPr/>
        </p:nvSpPr>
        <p:spPr>
          <a:xfrm xmlns:a="http://schemas.openxmlformats.org/drawingml/2006/main">
            <a:off x="13030200" y="2228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2"/>
          </a:solidFill>
          <a:ln xmlns:a="http://schemas.openxmlformats.org/drawingml/2006/main" w="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argument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4485ca5b8a9e954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argument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E">
              <a:alpha val="62000"/>
            </a:srgbClr>
          </a:solidFill>
          <a:ln xmlns:a="http://schemas.openxmlformats.org/drawingml/2006/main" w="0">
            <a:solidFill>
              <a:srgbClr val="2020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argument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APRICOT DOSSIER · ARGUMENT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APRICOT DOSSIER · ARGUMENT</a:t>
            </a:r>
            <a:endParaRPr lang="en-US"/>
          </a:p>
        </p:txBody>
      </p:sp>
      <p:sp>
        <p:nvSpPr>
          <p:cNvPr id="7" name="argument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One finding should reorganize the decision</a:t>
            </a:r>
            <a:endParaRPr lang="en-US"/>
          </a:p>
        </p:txBody>
      </p:sp>
      <p:sp>
        <p:nvSpPr>
          <p:cNvPr id="8" name="argument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Finding, implication, recommendation: evidence stays adjacent to the synthesis.</a:t>
            </a:r>
            <a:endParaRPr lang="en-US"/>
          </a:p>
        </p:txBody>
      </p:sp>
      <p:sp>
        <p:nvSpPr>
          <p:cNvPr id="9" name="finding"/>
          <p:cNvSpPr txBox="1"/>
          <p:nvPr/>
        </p:nvSpPr>
        <p:spPr>
          <a:xfrm xmlns:a="http://schemas.openxmlformats.org/drawingml/2006/main">
            <a:off x="1104900" y="3314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63A42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10" name="finding-text"/>
          <p:cNvSpPr txBox="1"/>
          <p:nvPr/>
        </p:nvSpPr>
        <p:spPr>
          <a:xfrm xmlns:a="http://schemas.openxmlformats.org/drawingml/2006/main">
            <a:off x="1104900" y="36957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20201E"/>
                </a:solidFill>
                <a:latin typeface="Arial"/>
                <a:ea typeface="Arial"/>
              </a:rPr>
              <a:t>The constraint is concentration, not demand.</a:t>
            </a:r>
            <a:endParaRPr lang="en-US"/>
          </a:p>
        </p:txBody>
      </p:sp>
      <p:sp>
        <p:nvSpPr>
          <p:cNvPr id="11" name="finding-rule"/>
          <p:cNvSpPr/>
          <p:nvPr/>
        </p:nvSpPr>
        <p:spPr>
          <a:xfrm xmlns:a="http://schemas.openxmlformats.org/drawingml/2006/main">
            <a:off x="1104900" y="4552950"/>
            <a:ext cx="670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implication"/>
          <p:cNvSpPr txBox="1"/>
          <p:nvPr/>
        </p:nvSpPr>
        <p:spPr>
          <a:xfrm xmlns:a="http://schemas.openxmlformats.org/drawingml/2006/main">
            <a:off x="110490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63A42"/>
                </a:solidFill>
                <a:latin typeface="Arial"/>
                <a:ea typeface="Arial"/>
              </a:rPr>
              <a:t>IMPLICATION</a:t>
            </a:r>
            <a:endParaRPr lang="en-US"/>
          </a:p>
        </p:txBody>
      </p:sp>
      <p:sp>
        <p:nvSpPr>
          <p:cNvPr id="13" name="implication-text"/>
          <p:cNvSpPr txBox="1"/>
          <p:nvPr/>
        </p:nvSpPr>
        <p:spPr>
          <a:xfrm xmlns:a="http://schemas.openxmlformats.org/drawingml/2006/main">
            <a:off x="1104900" y="5334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20201E"/>
                </a:solidFill>
                <a:latin typeface="Arial"/>
                <a:ea typeface="Arial"/>
              </a:rPr>
              <a:t>Protect the strongest channel before adding volume.</a:t>
            </a:r>
            <a:endParaRPr lang="en-US"/>
          </a:p>
        </p:txBody>
      </p:sp>
      <p:sp>
        <p:nvSpPr>
          <p:cNvPr id="14" name="pressure-label"/>
          <p:cNvSpPr txBox="1"/>
          <p:nvPr/>
        </p:nvSpPr>
        <p:spPr>
          <a:xfrm xmlns:a="http://schemas.openxmlformats.org/drawingml/2006/main">
            <a:off x="1104900" y="6153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PRESSURE PROFILE · CURRENT CASE</a:t>
            </a:r>
            <a:endParaRPr lang="en-US"/>
          </a:p>
        </p:txBody>
      </p:sp>
      <p:sp>
        <p:nvSpPr>
          <p:cNvPr id="15" name="pressure-name-0"/>
          <p:cNvSpPr txBox="1"/>
          <p:nvPr/>
        </p:nvSpPr>
        <p:spPr>
          <a:xfrm xmlns:a="http://schemas.openxmlformats.org/drawingml/2006/main">
            <a:off x="1104900" y="6515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Concentration</a:t>
            </a:r>
            <a:endParaRPr lang="en-US"/>
          </a:p>
        </p:txBody>
      </p:sp>
      <p:sp>
        <p:nvSpPr>
          <p:cNvPr id="16" name="pressure-track-0"/>
          <p:cNvSpPr/>
          <p:nvPr/>
        </p:nvSpPr>
        <p:spPr>
          <a:xfrm xmlns:a="http://schemas.openxmlformats.org/drawingml/2006/main">
            <a:off x="3028950" y="65341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pressure-fill-0"/>
          <p:cNvSpPr/>
          <p:nvPr/>
        </p:nvSpPr>
        <p:spPr>
          <a:xfrm xmlns:a="http://schemas.openxmlformats.org/drawingml/2006/main">
            <a:off x="3028950" y="6534150"/>
            <a:ext cx="3590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2"/>
          </a:solidFill>
          <a:ln xmlns:a="http://schemas.openxmlformats.org/drawingml/2006/main" w="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pressure-value-0"/>
          <p:cNvSpPr txBox="1"/>
          <p:nvPr/>
        </p:nvSpPr>
        <p:spPr>
          <a:xfrm xmlns:a="http://schemas.openxmlformats.org/drawingml/2006/main">
            <a:off x="7600950" y="64865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20201E"/>
                </a:solidFill>
                <a:latin typeface="Arial"/>
                <a:ea typeface="Arial"/>
              </a:rPr>
              <a:t>82%</a:t>
            </a:r>
            <a:endParaRPr lang="en-US"/>
          </a:p>
        </p:txBody>
      </p:sp>
      <p:sp>
        <p:nvSpPr>
          <p:cNvPr id="19" name="pressure-name-1"/>
          <p:cNvSpPr txBox="1"/>
          <p:nvPr/>
        </p:nvSpPr>
        <p:spPr>
          <a:xfrm xmlns:a="http://schemas.openxmlformats.org/drawingml/2006/main">
            <a:off x="1104900" y="6838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Price power</a:t>
            </a:r>
            <a:endParaRPr lang="en-US"/>
          </a:p>
        </p:txBody>
      </p:sp>
      <p:sp>
        <p:nvSpPr>
          <p:cNvPr id="20" name="pressure-track-1"/>
          <p:cNvSpPr/>
          <p:nvPr/>
        </p:nvSpPr>
        <p:spPr>
          <a:xfrm xmlns:a="http://schemas.openxmlformats.org/drawingml/2006/main">
            <a:off x="3028950" y="685800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pressure-fill-1"/>
          <p:cNvSpPr/>
          <p:nvPr/>
        </p:nvSpPr>
        <p:spPr>
          <a:xfrm xmlns:a="http://schemas.openxmlformats.org/drawingml/2006/main">
            <a:off x="3028950" y="6858000"/>
            <a:ext cx="24574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38F"/>
          </a:solidFill>
          <a:ln xmlns:a="http://schemas.openxmlformats.org/drawingml/2006/main" w="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pressure-value-1"/>
          <p:cNvSpPr txBox="1"/>
          <p:nvPr/>
        </p:nvSpPr>
        <p:spPr>
          <a:xfrm xmlns:a="http://schemas.openxmlformats.org/drawingml/2006/main">
            <a:off x="7600950" y="6810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20201E"/>
                </a:solidFill>
                <a:latin typeface="Arial"/>
                <a:ea typeface="Arial"/>
              </a:rPr>
              <a:t>56%</a:t>
            </a:r>
            <a:endParaRPr lang="en-US"/>
          </a:p>
        </p:txBody>
      </p:sp>
      <p:sp>
        <p:nvSpPr>
          <p:cNvPr id="23" name="pressure-name-2"/>
          <p:cNvSpPr txBox="1"/>
          <p:nvPr/>
        </p:nvSpPr>
        <p:spPr>
          <a:xfrm xmlns:a="http://schemas.openxmlformats.org/drawingml/2006/main">
            <a:off x="1104900" y="71628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Operating friction</a:t>
            </a:r>
            <a:endParaRPr lang="en-US"/>
          </a:p>
        </p:txBody>
      </p:sp>
      <p:sp>
        <p:nvSpPr>
          <p:cNvPr id="24" name="pressure-track-2"/>
          <p:cNvSpPr/>
          <p:nvPr/>
        </p:nvSpPr>
        <p:spPr>
          <a:xfrm xmlns:a="http://schemas.openxmlformats.org/drawingml/2006/main">
            <a:off x="3028950" y="71818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essure-fill-2"/>
          <p:cNvSpPr/>
          <p:nvPr/>
        </p:nvSpPr>
        <p:spPr>
          <a:xfrm xmlns:a="http://schemas.openxmlformats.org/drawingml/2006/main">
            <a:off x="3028950" y="7181850"/>
            <a:ext cx="1485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38F"/>
          </a:solidFill>
          <a:ln xmlns:a="http://schemas.openxmlformats.org/drawingml/2006/main" w="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pressure-value-2"/>
          <p:cNvSpPr txBox="1"/>
          <p:nvPr/>
        </p:nvSpPr>
        <p:spPr>
          <a:xfrm xmlns:a="http://schemas.openxmlformats.org/drawingml/2006/main">
            <a:off x="7600950" y="71342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 b="1">
                <a:solidFill>
                  <a:srgbClr val="20201E"/>
                </a:solidFill>
                <a:latin typeface="Arial"/>
                <a:ea typeface="Arial"/>
              </a:rPr>
              <a:t>34%</a:t>
            </a:r>
            <a:endParaRPr lang="en-US"/>
          </a:p>
        </p:txBody>
      </p:sp>
      <p:sp>
        <p:nvSpPr>
          <p:cNvPr id="27" name="recommendation"/>
          <p:cNvSpPr/>
          <p:nvPr/>
        </p:nvSpPr>
        <p:spPr>
          <a:xfrm xmlns:a="http://schemas.openxmlformats.org/drawingml/2006/main">
            <a:off x="9906000" y="32385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2"/>
          </a:solidFill>
          <a:ln xmlns:a="http://schemas.openxmlformats.org/drawingml/2006/main" w="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8" name="recommendation-label"/>
          <p:cNvSpPr txBox="1"/>
          <p:nvPr/>
        </p:nvSpPr>
        <p:spPr>
          <a:xfrm xmlns:a="http://schemas.openxmlformats.org/drawingml/2006/main">
            <a:off x="10287000" y="3600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RECOMMENDATION</a:t>
            </a:r>
            <a:endParaRPr lang="en-US"/>
          </a:p>
        </p:txBody>
      </p:sp>
      <p:sp>
        <p:nvSpPr>
          <p:cNvPr id="29" name="recommendation-text"/>
          <p:cNvSpPr txBox="1"/>
          <p:nvPr/>
        </p:nvSpPr>
        <p:spPr>
          <a:xfrm xmlns:a="http://schemas.openxmlformats.org/drawingml/2006/main">
            <a:off x="10287000" y="409575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325" b="1">
                <a:solidFill>
                  <a:srgbClr val="FFFFFF"/>
                </a:solidFill>
                <a:latin typeface="Arial"/>
                <a:ea typeface="Arial"/>
              </a:rPr>
              <a:t>One constrained move</a:t>
            </a:r>
            <a:endParaRPr lang="en-US"/>
          </a:p>
        </p:txBody>
      </p:sp>
      <p:sp>
        <p:nvSpPr>
          <p:cNvPr id="30" name="recommendation-foot"/>
          <p:cNvSpPr txBox="1"/>
          <p:nvPr/>
        </p:nvSpPr>
        <p:spPr>
          <a:xfrm xmlns:a="http://schemas.openxmlformats.org/drawingml/2006/main">
            <a:off x="102870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FFFFF"/>
                </a:solidFill>
                <a:latin typeface="Arial"/>
                <a:ea typeface="Arial"/>
              </a:rPr>
              <a:t>subject to the next evidence gate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evidenc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a5c00489db854fa2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evidenc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E">
              <a:alpha val="62000"/>
            </a:srgbClr>
          </a:solidFill>
          <a:ln xmlns:a="http://schemas.openxmlformats.org/drawingml/2006/main" w="0">
            <a:solidFill>
              <a:srgbClr val="2020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videnc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APRICOT DOSSIER · EVIDENC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APRICOT DOSSIER · EVIDENCE</a:t>
            </a:r>
            <a:endParaRPr lang="en-US"/>
          </a:p>
        </p:txBody>
      </p:sp>
      <p:sp>
        <p:nvSpPr>
          <p:cNvPr id="7" name="evidenc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evidence narrows the decision to one lever</a:t>
            </a:r>
            <a:endParaRPr lang="en-US"/>
          </a:p>
        </p:txBody>
      </p:sp>
      <p:sp>
        <p:nvSpPr>
          <p:cNvPr id="8" name="evidenc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Comparable cases · same basis · direct labels instead of a legend-only chart.</a:t>
            </a:r>
            <a:endParaRPr lang="en-US"/>
          </a:p>
        </p:txBody>
      </p:sp>
      <p:graphicFrame>
        <p:nvGraphicFramePr>
          <p:cNvPr id="9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07f25c7c4d4970"/>
          </a:graphicData>
        </a:graphic>
      </p:graphicFrame>
      <p:graphicFrame>
        <p:nvGraphicFramePr>
          <p:cNvPr id="10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649de8d8d440d9"/>
          </a:graphicData>
        </a:graphic>
      </p:graphicFrame>
      <p:sp>
        <p:nvSpPr>
          <p:cNvPr id="11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13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20201E"/>
                </a:solidFill>
                <a:latin typeface="Arial"/>
                <a:ea typeface="Arial"/>
              </a:rPr>
              <a:t>The comparison narrows the move.</a:t>
            </a:r>
            <a:endParaRPr lang="en-US"/>
          </a:p>
        </p:txBody>
      </p:sp>
      <p:sp>
        <p:nvSpPr>
          <p:cNvPr id="14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4938F"/>
                </a:solidFill>
                <a:latin typeface="Arial"/>
                <a:ea typeface="Arial"/>
              </a:rPr>
              <a:t>Locate the constraint; choose the lever.</a:t>
            </a:r>
            <a:endParaRPr lang="en-US"/>
          </a:p>
        </p:txBody>
      </p:sp>
      <p:sp>
        <p:nvSpPr>
          <p:cNvPr id="15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20201E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7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8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detai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7acdacea277813e8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detai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E">
              <a:alpha val="62000"/>
            </a:srgbClr>
          </a:solidFill>
          <a:ln xmlns:a="http://schemas.openxmlformats.org/drawingml/2006/main" w="0">
            <a:solidFill>
              <a:srgbClr val="2020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detai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APRICOT DOSSIER · DETAIL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APRICOT DOSSIER · DETAIL</a:t>
            </a:r>
            <a:endParaRPr lang="en-US"/>
          </a:p>
        </p:txBody>
      </p:sp>
      <p:sp>
        <p:nvSpPr>
          <p:cNvPr id="7" name="detai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A decision page needs a visible sequence</a:t>
            </a:r>
            <a:endParaRPr lang="en-US"/>
          </a:p>
        </p:txBody>
      </p:sp>
      <p:sp>
        <p:nvSpPr>
          <p:cNvPr id="8" name="detail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Finding → constraint → move · each line changes the choice.</a:t>
            </a:r>
            <a:endParaRPr lang="en-US"/>
          </a:p>
        </p:txBody>
      </p:sp>
      <p:sp>
        <p:nvSpPr>
          <p:cNvPr id="9" name="decision-number-0"/>
          <p:cNvSpPr txBox="1"/>
          <p:nvPr/>
        </p:nvSpPr>
        <p:spPr>
          <a:xfrm xmlns:a="http://schemas.openxmlformats.org/drawingml/2006/main">
            <a:off x="1104900" y="33718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B63A42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0" name="decision-rule-0"/>
          <p:cNvSpPr/>
          <p:nvPr/>
        </p:nvSpPr>
        <p:spPr>
          <a:xfrm xmlns:a="http://schemas.openxmlformats.org/drawingml/2006/main">
            <a:off x="2000250" y="353377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decision-label-0"/>
          <p:cNvSpPr txBox="1"/>
          <p:nvPr/>
        </p:nvSpPr>
        <p:spPr>
          <a:xfrm xmlns:a="http://schemas.openxmlformats.org/drawingml/2006/main">
            <a:off x="2209800" y="33242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 b="1">
                <a:solidFill>
                  <a:srgbClr val="20201E"/>
                </a:solidFill>
                <a:latin typeface="Arial"/>
                <a:ea typeface="Arial"/>
              </a:rPr>
              <a:t>Signal</a:t>
            </a:r>
            <a:endParaRPr lang="en-US"/>
          </a:p>
        </p:txBody>
      </p:sp>
      <p:sp>
        <p:nvSpPr>
          <p:cNvPr id="12" name="decision-text-0"/>
          <p:cNvSpPr txBox="1"/>
          <p:nvPr/>
        </p:nvSpPr>
        <p:spPr>
          <a:xfrm xmlns:a="http://schemas.openxmlformats.org/drawingml/2006/main">
            <a:off x="4476750" y="3371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Demand is stable</a:t>
            </a:r>
            <a:endParaRPr lang="en-US"/>
          </a:p>
        </p:txBody>
      </p:sp>
      <p:sp>
        <p:nvSpPr>
          <p:cNvPr id="13" name="decision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B63A42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4" name="decision-rule-1"/>
          <p:cNvSpPr/>
          <p:nvPr/>
        </p:nvSpPr>
        <p:spPr>
          <a:xfrm xmlns:a="http://schemas.openxmlformats.org/drawingml/2006/main">
            <a:off x="2000250" y="442912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decision-label-1"/>
          <p:cNvSpPr txBox="1"/>
          <p:nvPr/>
        </p:nvSpPr>
        <p:spPr>
          <a:xfrm xmlns:a="http://schemas.openxmlformats.org/drawingml/2006/main">
            <a:off x="2209800" y="4219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 b="1">
                <a:solidFill>
                  <a:srgbClr val="20201E"/>
                </a:solidFill>
                <a:latin typeface="Arial"/>
                <a:ea typeface="Arial"/>
              </a:rPr>
              <a:t>Constraint</a:t>
            </a:r>
            <a:endParaRPr lang="en-US"/>
          </a:p>
        </p:txBody>
      </p:sp>
      <p:sp>
        <p:nvSpPr>
          <p:cNvPr id="16" name="decision-text-1"/>
          <p:cNvSpPr txBox="1"/>
          <p:nvPr/>
        </p:nvSpPr>
        <p:spPr>
          <a:xfrm xmlns:a="http://schemas.openxmlformats.org/drawingml/2006/main">
            <a:off x="4476750" y="4267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Concentration drives variance</a:t>
            </a:r>
            <a:endParaRPr lang="en-US"/>
          </a:p>
        </p:txBody>
      </p:sp>
      <p:sp>
        <p:nvSpPr>
          <p:cNvPr id="17" name="decision-number-2"/>
          <p:cNvSpPr txBox="1"/>
          <p:nvPr/>
        </p:nvSpPr>
        <p:spPr>
          <a:xfrm xmlns:a="http://schemas.openxmlformats.org/drawingml/2006/main">
            <a:off x="1104900" y="5162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B63A42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8" name="decision-rule-2"/>
          <p:cNvSpPr/>
          <p:nvPr/>
        </p:nvSpPr>
        <p:spPr>
          <a:xfrm xmlns:a="http://schemas.openxmlformats.org/drawingml/2006/main">
            <a:off x="2000250" y="5324475"/>
            <a:ext cx="704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decision-label-2"/>
          <p:cNvSpPr txBox="1"/>
          <p:nvPr/>
        </p:nvSpPr>
        <p:spPr>
          <a:xfrm xmlns:a="http://schemas.openxmlformats.org/drawingml/2006/main">
            <a:off x="2209800" y="51149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 b="1">
                <a:solidFill>
                  <a:srgbClr val="20201E"/>
                </a:solidFill>
                <a:latin typeface="Arial"/>
                <a:ea typeface="Arial"/>
              </a:rPr>
              <a:t>Move</a:t>
            </a:r>
            <a:endParaRPr lang="en-US"/>
          </a:p>
        </p:txBody>
      </p:sp>
      <p:sp>
        <p:nvSpPr>
          <p:cNvPr id="20" name="decision-text-2"/>
          <p:cNvSpPr txBox="1"/>
          <p:nvPr/>
        </p:nvSpPr>
        <p:spPr>
          <a:xfrm xmlns:a="http://schemas.openxmlformats.org/drawingml/2006/main">
            <a:off x="4476750" y="5162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Protect the strongest channel</a:t>
            </a:r>
            <a:endParaRPr lang="en-US"/>
          </a:p>
        </p:txBody>
      </p:sp>
      <p:sp>
        <p:nvSpPr>
          <p:cNvPr id="21" name="decision-summary-label"/>
          <p:cNvSpPr txBox="1"/>
          <p:nvPr/>
        </p:nvSpPr>
        <p:spPr>
          <a:xfrm xmlns:a="http://schemas.openxmlformats.org/drawingml/2006/main">
            <a:off x="10287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63A42"/>
                </a:solidFill>
                <a:latin typeface="Arial"/>
                <a:ea typeface="Arial"/>
              </a:rPr>
              <a:t>DECISION LOGIC</a:t>
            </a:r>
            <a:endParaRPr lang="en-US"/>
          </a:p>
        </p:txBody>
      </p:sp>
      <p:sp>
        <p:nvSpPr>
          <p:cNvPr id="22" name="decision-summary"/>
          <p:cNvSpPr txBox="1"/>
          <p:nvPr/>
        </p:nvSpPr>
        <p:spPr>
          <a:xfrm xmlns:a="http://schemas.openxmlformats.org/drawingml/2006/main">
            <a:off x="10287000" y="38100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0201E"/>
                </a:solidFill>
                <a:latin typeface="Arial"/>
                <a:ea typeface="Arial"/>
              </a:rPr>
              <a:t>A page earns density when each line changes the choice.</a:t>
            </a:r>
            <a:endParaRPr lang="en-US"/>
          </a:p>
        </p:txBody>
      </p:sp>
      <p:sp>
        <p:nvSpPr>
          <p:cNvPr id="23" name="decision-callout"/>
          <p:cNvSpPr/>
          <p:nvPr/>
        </p:nvSpPr>
        <p:spPr>
          <a:xfrm xmlns:a="http://schemas.openxmlformats.org/drawingml/2006/main">
            <a:off x="10287000" y="52197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2"/>
          </a:solidFill>
          <a:ln xmlns:a="http://schemas.openxmlformats.org/drawingml/2006/main" w="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decision-callout-text"/>
          <p:cNvSpPr txBox="1"/>
          <p:nvPr/>
        </p:nvSpPr>
        <p:spPr>
          <a:xfrm xmlns:a="http://schemas.openxmlformats.org/drawingml/2006/main">
            <a:off x="10572750" y="5476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ONE LEVER · ONE OWNER · ONE DATE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bg>
      <p:bgPr>
        <a:blipFill xmlns:a="http://schemas.openxmlformats.org/drawingml/2006/main">
          <a:blip xmlns:r="http://schemas.openxmlformats.org/officeDocument/2006/relationships" r:embed="rIdOfficeKitImage06e55191024fa458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-reading-plane"/>
          <p:cNvSpPr/>
          <p:nvPr/>
        </p:nvSpPr>
        <p:spPr>
          <a:xfrm xmlns:a="http://schemas.openxmlformats.org/drawingml/2006/main">
            <a:off x="0" y="0"/>
            <a:ext cx="7810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4000"/>
            </a:srgbClr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section-eyebrow"/>
          <p:cNvSpPr txBox="1"/>
          <p:nvPr/>
        </p:nvSpPr>
        <p:spPr>
          <a:xfrm xmlns:a="http://schemas.openxmlformats.org/drawingml/2006/main">
            <a:off x="914400" y="91440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B63A42"/>
                </a:solidFill>
                <a:latin typeface="Arial"/>
                <a:ea typeface="Arial"/>
              </a:rPr>
              <a:t>APRICOT DOSSIER · SECTION</a:t>
            </a:r>
            <a:endParaRPr lang="en-US"/>
          </a:p>
        </p:txBody>
      </p:sp>
      <p:sp>
        <p:nvSpPr>
          <p:cNvPr id="4" name="section-title"/>
          <p:cNvSpPr txBox="1"/>
          <p:nvPr/>
        </p:nvSpPr>
        <p:spPr>
          <a:xfrm xmlns:a="http://schemas.openxmlformats.org/drawingml/2006/main">
            <a:off x="914400" y="1657350"/>
            <a:ext cx="5905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450" b="1">
                <a:solidFill>
                  <a:srgbClr val="20201E"/>
                </a:solidFill>
                <a:latin typeface="Arial"/>
                <a:ea typeface="Arial"/>
              </a:rPr>
              <a:t>Make the choice legible</a:t>
            </a:r>
            <a:endParaRPr lang="en-US"/>
          </a:p>
        </p:txBody>
      </p:sp>
      <p:sp>
        <p:nvSpPr>
          <p:cNvPr id="5" name="section-rule"/>
          <p:cNvSpPr/>
          <p:nvPr/>
        </p:nvSpPr>
        <p:spPr>
          <a:xfrm xmlns:a="http://schemas.openxmlformats.org/drawingml/2006/main">
            <a:off x="914400" y="3181350"/>
            <a:ext cx="499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section-body"/>
          <p:cNvSpPr txBox="1"/>
          <p:nvPr/>
        </p:nvSpPr>
        <p:spPr>
          <a:xfrm xmlns:a="http://schemas.openxmlformats.org/drawingml/2006/main">
            <a:off x="914400" y="360045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0201E"/>
                </a:solidFill>
                <a:latin typeface="Arial"/>
                <a:ea typeface="Arial"/>
              </a:rPr>
              <a:t>A single visual cue can make the recommendation easier to remember.</a:t>
            </a:r>
            <a:endParaRPr lang="en-US"/>
          </a:p>
        </p:txBody>
      </p:sp>
      <p:sp>
        <p:nvSpPr>
          <p:cNvPr id="7" name="section-note"/>
          <p:cNvSpPr txBox="1"/>
          <p:nvPr/>
        </p:nvSpPr>
        <p:spPr>
          <a:xfrm xmlns:a="http://schemas.openxmlformats.org/drawingml/2006/main">
            <a:off x="914400" y="5238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B63A42"/>
                </a:solidFill>
                <a:latin typeface="Arial"/>
                <a:ea typeface="Arial"/>
              </a:rPr>
              <a:t>ONE IMAGE · ONE THESIS · ONE TURN</a:t>
            </a:r>
            <a:endParaRPr lang="en-US"/>
          </a:p>
        </p:txBody>
      </p:sp>
      <p:sp>
        <p:nvSpPr>
          <p:cNvPr id="8" name="section-next"/>
          <p:cNvSpPr txBox="1"/>
          <p:nvPr/>
        </p:nvSpPr>
        <p:spPr>
          <a:xfrm xmlns:a="http://schemas.openxmlformats.org/drawingml/2006/main">
            <a:off x="914400" y="57721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0201E"/>
                </a:solidFill>
                <a:latin typeface="Arial"/>
                <a:ea typeface="Arial"/>
              </a:rPr>
              <a:t>Approve one lever</a:t>
            </a:r>
            <a:endParaRPr lang="en-US"/>
          </a:p>
        </p:txBody>
      </p:sp>
      <p:sp>
        <p:nvSpPr>
          <p:cNvPr id="9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0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FFFD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clos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9634c5b24a89a02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clos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1E">
              <a:alpha val="62000"/>
            </a:srgbClr>
          </a:solidFill>
          <a:ln xmlns:a="http://schemas.openxmlformats.org/drawingml/2006/main" w="0">
            <a:solidFill>
              <a:srgbClr val="20201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los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APRICOT DOSSIER · CLOS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B63A42"/>
                </a:solidFill>
                <a:latin typeface="Arial"/>
                <a:ea typeface="Arial"/>
              </a:rPr>
              <a:t>APRICOT DOSSIER · CLOSE</a:t>
            </a:r>
            <a:endParaRPr lang="en-US"/>
          </a:p>
        </p:txBody>
      </p:sp>
      <p:sp>
        <p:nvSpPr>
          <p:cNvPr id="7" name="clos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Arial"/>
                <a:ea typeface="Arial"/>
              </a:rPr>
              <a:t>The recommendation is narrow by design</a:t>
            </a:r>
            <a:endParaRPr lang="en-US"/>
          </a:p>
        </p:txBody>
      </p:sp>
      <p:sp>
        <p:nvSpPr>
          <p:cNvPr id="8" name="clos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B63A42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1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0201E"/>
                </a:solidFill>
                <a:latin typeface="Arial"/>
                <a:ea typeface="Arial"/>
              </a:rPr>
              <a:t>Finding</a:t>
            </a:r>
            <a:endParaRPr lang="en-US"/>
          </a:p>
        </p:txBody>
      </p:sp>
      <p:sp>
        <p:nvSpPr>
          <p:cNvPr id="1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Concentration drives the variance.</a:t>
            </a:r>
            <a:endParaRPr lang="en-US"/>
          </a:p>
        </p:txBody>
      </p:sp>
      <p:sp>
        <p:nvSpPr>
          <p:cNvPr id="1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0201E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4938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0201E"/>
                </a:solidFill>
                <a:latin typeface="Arial"/>
                <a:ea typeface="Arial"/>
              </a:rPr>
              <a:t>Choice</a:t>
            </a:r>
            <a:endParaRPr lang="en-US"/>
          </a:p>
        </p:txBody>
      </p:sp>
      <p:sp>
        <p:nvSpPr>
          <p:cNvPr id="1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Protect the strongest channel first.</a:t>
            </a:r>
            <a:endParaRPr lang="en-US"/>
          </a:p>
        </p:txBody>
      </p:sp>
      <p:sp>
        <p:nvSpPr>
          <p:cNvPr id="1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B63A42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0201E"/>
                </a:solidFill>
                <a:latin typeface="Arial"/>
                <a:ea typeface="Arial"/>
              </a:rPr>
              <a:t>Owner</a:t>
            </a:r>
            <a:endParaRPr lang="en-US"/>
          </a:p>
        </p:txBody>
      </p:sp>
      <p:sp>
        <p:nvSpPr>
          <p:cNvPr id="2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0201E"/>
                </a:solidFill>
                <a:latin typeface="Arial"/>
                <a:ea typeface="Arial"/>
              </a:rPr>
              <a:t>Return with a gated decision.</a:t>
            </a:r>
            <a:endParaRPr lang="en-US"/>
          </a:p>
        </p:txBody>
      </p:sp>
      <p:sp>
        <p:nvSpPr>
          <p:cNvPr id="2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3A42"/>
          </a:solidFill>
          <a:ln xmlns:a="http://schemas.openxmlformats.org/drawingml/2006/main" w="0">
            <a:solidFill>
              <a:srgbClr val="B63A42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Arial"/>
                <a:ea typeface="Arial"/>
              </a:rPr>
              <a:t>Approve one lever</a:t>
            </a:r>
            <a:endParaRPr lang="en-US"/>
          </a:p>
        </p:txBody>
      </p:sp>
      <p:sp>
        <p:nvSpPr>
          <p:cNvPr id="2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4938F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