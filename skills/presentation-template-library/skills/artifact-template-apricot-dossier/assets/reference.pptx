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83a8f4c98b9a4ce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c2e9a9d799668dd3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ff1582c14d42a1a7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9df32179333a9f35_1" /><Relationship Type="http://schemas.openxmlformats.org/officeDocument/2006/relationships/chart" Target="/ppt/slides/charts/chart1.xml" Id="Re361149c715c4d2b" /><Relationship Type="http://schemas.openxmlformats.org/officeDocument/2006/relationships/chart" Target="/ppt/slides/charts/chart2.xml" Id="R7f2ddc62caeb4bf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2930549abca3ae00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d71bfa074cda59bb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6.jpg" Id="rIdOfficeKitImage4786b3004943cd8a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B63A42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4938F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85736E"/>
            </a:solidFill>
            <a:ln w="38100">
              <a:solidFill>
                <a:srgbClr val="85736E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c2e9a9d799668dd3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>
              <a:alpha val="100000"/>
            </a:srgbClr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63A42"/>
                </a:solidFill>
                <a:latin typeface="Arial"/>
                <a:ea typeface="Arial"/>
              </a:rPr>
              <a:t>CONSULTING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20201E"/>
                </a:solidFill>
                <a:latin typeface="Arial"/>
                <a:ea typeface="Arial"/>
              </a:rPr>
              <a:t>Apricot Dossier: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B63A42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0201E"/>
                </a:solidFill>
                <a:latin typeface="Arial"/>
                <a:ea typeface="Arial"/>
              </a:rPr>
              <a:t>The synthesis matters more than the inventory.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3A42"/>
          </a:solidFill>
          <a:ln xmlns:a="http://schemas.openxmlformats.org/drawingml/2006/main" w="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f1582c14d42a1a7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1E">
              <a:alpha val="62000"/>
            </a:srgbClr>
          </a:solidFill>
          <a:ln xmlns:a="http://schemas.openxmlformats.org/drawingml/2006/main" w="0">
            <a:solidFill>
              <a:srgbClr val="2020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APRICOT DOSSIER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APRICOT DOSSIER · ARGUMENT</a:t>
            </a:r>
            <a:endParaRPr lang="en-US"/>
          </a:p>
        </p:txBody>
      </p:sp>
      <p:sp>
        <p:nvSpPr>
          <p:cNvPr id="7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One finding should reorganize the decision</a:t>
            </a:r>
            <a:endParaRPr lang="en-US"/>
          </a:p>
        </p:txBody>
      </p:sp>
      <p:sp>
        <p:nvSpPr>
          <p:cNvPr id="8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Finding, implication, recommendation: evidence stays adjacent to the synthesis.</a:t>
            </a:r>
            <a:endParaRPr lang="en-US"/>
          </a:p>
        </p:txBody>
      </p:sp>
      <p:sp>
        <p:nvSpPr>
          <p:cNvPr id="9" name="finding"/>
          <p:cNvSpPr txBox="1"/>
          <p:nvPr/>
        </p:nvSpPr>
        <p:spPr>
          <a:xfrm xmlns:a="http://schemas.openxmlformats.org/drawingml/2006/main">
            <a:off x="1104900" y="3314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63A42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10" name="finding-text"/>
          <p:cNvSpPr txBox="1"/>
          <p:nvPr/>
        </p:nvSpPr>
        <p:spPr>
          <a:xfrm xmlns:a="http://schemas.openxmlformats.org/drawingml/2006/main">
            <a:off x="1104900" y="369570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20201E"/>
                </a:solidFill>
                <a:latin typeface="Arial"/>
                <a:ea typeface="Arial"/>
              </a:rPr>
              <a:t>The constraint is concentration, not demand.</a:t>
            </a:r>
            <a:endParaRPr lang="en-US"/>
          </a:p>
        </p:txBody>
      </p:sp>
      <p:sp>
        <p:nvSpPr>
          <p:cNvPr id="11" name="finding-rule"/>
          <p:cNvSpPr/>
          <p:nvPr/>
        </p:nvSpPr>
        <p:spPr>
          <a:xfrm xmlns:a="http://schemas.openxmlformats.org/drawingml/2006/main">
            <a:off x="1104900" y="4552950"/>
            <a:ext cx="670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implication"/>
          <p:cNvSpPr txBox="1"/>
          <p:nvPr/>
        </p:nvSpPr>
        <p:spPr>
          <a:xfrm xmlns:a="http://schemas.openxmlformats.org/drawingml/2006/main">
            <a:off x="1104900" y="4953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63A42"/>
                </a:solidFill>
                <a:latin typeface="Arial"/>
                <a:ea typeface="Arial"/>
              </a:rPr>
              <a:t>IMPLICATION</a:t>
            </a:r>
            <a:endParaRPr lang="en-US"/>
          </a:p>
        </p:txBody>
      </p:sp>
      <p:sp>
        <p:nvSpPr>
          <p:cNvPr id="13" name="implication-text"/>
          <p:cNvSpPr txBox="1"/>
          <p:nvPr/>
        </p:nvSpPr>
        <p:spPr>
          <a:xfrm xmlns:a="http://schemas.openxmlformats.org/drawingml/2006/main">
            <a:off x="1104900" y="533400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20201E"/>
                </a:solidFill>
                <a:latin typeface="Arial"/>
                <a:ea typeface="Arial"/>
              </a:rPr>
              <a:t>Protect the strongest channel before adding volume.</a:t>
            </a:r>
            <a:endParaRPr lang="en-US"/>
          </a:p>
        </p:txBody>
      </p:sp>
      <p:sp>
        <p:nvSpPr>
          <p:cNvPr id="14" name="pressure-label"/>
          <p:cNvSpPr txBox="1"/>
          <p:nvPr/>
        </p:nvSpPr>
        <p:spPr>
          <a:xfrm xmlns:a="http://schemas.openxmlformats.org/drawingml/2006/main">
            <a:off x="1104900" y="6153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PRESSURE PROFILE · CURRENT CASE</a:t>
            </a:r>
            <a:endParaRPr lang="en-US"/>
          </a:p>
        </p:txBody>
      </p:sp>
      <p:sp>
        <p:nvSpPr>
          <p:cNvPr id="15" name="pressure-name-0"/>
          <p:cNvSpPr txBox="1"/>
          <p:nvPr/>
        </p:nvSpPr>
        <p:spPr>
          <a:xfrm xmlns:a="http://schemas.openxmlformats.org/drawingml/2006/main">
            <a:off x="1104900" y="65151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Concentration</a:t>
            </a:r>
            <a:endParaRPr lang="en-US"/>
          </a:p>
        </p:txBody>
      </p:sp>
      <p:sp>
        <p:nvSpPr>
          <p:cNvPr id="16" name="pressure-track-0"/>
          <p:cNvSpPr/>
          <p:nvPr/>
        </p:nvSpPr>
        <p:spPr>
          <a:xfrm xmlns:a="http://schemas.openxmlformats.org/drawingml/2006/main">
            <a:off x="3028950" y="65341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pressure-fill-0"/>
          <p:cNvSpPr/>
          <p:nvPr/>
        </p:nvSpPr>
        <p:spPr>
          <a:xfrm xmlns:a="http://schemas.openxmlformats.org/drawingml/2006/main">
            <a:off x="3028950" y="6534150"/>
            <a:ext cx="35909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3A42"/>
          </a:solidFill>
          <a:ln xmlns:a="http://schemas.openxmlformats.org/drawingml/2006/main" w="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pressure-value-0"/>
          <p:cNvSpPr txBox="1"/>
          <p:nvPr/>
        </p:nvSpPr>
        <p:spPr>
          <a:xfrm xmlns:a="http://schemas.openxmlformats.org/drawingml/2006/main">
            <a:off x="7600950" y="64865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20201E"/>
                </a:solidFill>
                <a:latin typeface="Arial"/>
                <a:ea typeface="Arial"/>
              </a:rPr>
              <a:t>82%</a:t>
            </a:r>
            <a:endParaRPr lang="en-US"/>
          </a:p>
        </p:txBody>
      </p:sp>
      <p:sp>
        <p:nvSpPr>
          <p:cNvPr id="19" name="pressure-name-1"/>
          <p:cNvSpPr txBox="1"/>
          <p:nvPr/>
        </p:nvSpPr>
        <p:spPr>
          <a:xfrm xmlns:a="http://schemas.openxmlformats.org/drawingml/2006/main">
            <a:off x="1104900" y="68389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Price power</a:t>
            </a:r>
            <a:endParaRPr lang="en-US"/>
          </a:p>
        </p:txBody>
      </p:sp>
      <p:sp>
        <p:nvSpPr>
          <p:cNvPr id="20" name="pressure-track-1"/>
          <p:cNvSpPr/>
          <p:nvPr/>
        </p:nvSpPr>
        <p:spPr>
          <a:xfrm xmlns:a="http://schemas.openxmlformats.org/drawingml/2006/main">
            <a:off x="3028950" y="685800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essure-fill-1"/>
          <p:cNvSpPr/>
          <p:nvPr/>
        </p:nvSpPr>
        <p:spPr>
          <a:xfrm xmlns:a="http://schemas.openxmlformats.org/drawingml/2006/main">
            <a:off x="3028950" y="6858000"/>
            <a:ext cx="2457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938F"/>
          </a:solidFill>
          <a:ln xmlns:a="http://schemas.openxmlformats.org/drawingml/2006/main" w="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pressure-value-1"/>
          <p:cNvSpPr txBox="1"/>
          <p:nvPr/>
        </p:nvSpPr>
        <p:spPr>
          <a:xfrm xmlns:a="http://schemas.openxmlformats.org/drawingml/2006/main">
            <a:off x="7600950" y="68103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20201E"/>
                </a:solidFill>
                <a:latin typeface="Arial"/>
                <a:ea typeface="Arial"/>
              </a:rPr>
              <a:t>56%</a:t>
            </a:r>
            <a:endParaRPr lang="en-US"/>
          </a:p>
        </p:txBody>
      </p:sp>
      <p:sp>
        <p:nvSpPr>
          <p:cNvPr id="23" name="pressure-name-2"/>
          <p:cNvSpPr txBox="1"/>
          <p:nvPr/>
        </p:nvSpPr>
        <p:spPr>
          <a:xfrm xmlns:a="http://schemas.openxmlformats.org/drawingml/2006/main">
            <a:off x="1104900" y="71628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Operating friction</a:t>
            </a:r>
            <a:endParaRPr lang="en-US"/>
          </a:p>
        </p:txBody>
      </p:sp>
      <p:sp>
        <p:nvSpPr>
          <p:cNvPr id="24" name="pressure-track-2"/>
          <p:cNvSpPr/>
          <p:nvPr/>
        </p:nvSpPr>
        <p:spPr>
          <a:xfrm xmlns:a="http://schemas.openxmlformats.org/drawingml/2006/main">
            <a:off x="3028950" y="71818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essure-fill-2"/>
          <p:cNvSpPr/>
          <p:nvPr/>
        </p:nvSpPr>
        <p:spPr>
          <a:xfrm xmlns:a="http://schemas.openxmlformats.org/drawingml/2006/main">
            <a:off x="3028950" y="7181850"/>
            <a:ext cx="1485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4938F"/>
          </a:solidFill>
          <a:ln xmlns:a="http://schemas.openxmlformats.org/drawingml/2006/main" w="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pressure-value-2"/>
          <p:cNvSpPr txBox="1"/>
          <p:nvPr/>
        </p:nvSpPr>
        <p:spPr>
          <a:xfrm xmlns:a="http://schemas.openxmlformats.org/drawingml/2006/main">
            <a:off x="7600950" y="71342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20201E"/>
                </a:solidFill>
                <a:latin typeface="Arial"/>
                <a:ea typeface="Arial"/>
              </a:rPr>
              <a:t>34%</a:t>
            </a:r>
            <a:endParaRPr lang="en-US"/>
          </a:p>
        </p:txBody>
      </p:sp>
      <p:sp>
        <p:nvSpPr>
          <p:cNvPr id="27" name="recommendation"/>
          <p:cNvSpPr/>
          <p:nvPr/>
        </p:nvSpPr>
        <p:spPr>
          <a:xfrm xmlns:a="http://schemas.openxmlformats.org/drawingml/2006/main">
            <a:off x="9906000" y="3238500"/>
            <a:ext cx="4000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3A42"/>
          </a:solidFill>
          <a:ln xmlns:a="http://schemas.openxmlformats.org/drawingml/2006/main" w="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recommendation-label"/>
          <p:cNvSpPr txBox="1"/>
          <p:nvPr/>
        </p:nvSpPr>
        <p:spPr>
          <a:xfrm xmlns:a="http://schemas.openxmlformats.org/drawingml/2006/main">
            <a:off x="10287000" y="36004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RECOMMENDATION</a:t>
            </a:r>
            <a:endParaRPr lang="en-US"/>
          </a:p>
        </p:txBody>
      </p:sp>
      <p:sp>
        <p:nvSpPr>
          <p:cNvPr id="29" name="recommendation-text"/>
          <p:cNvSpPr txBox="1"/>
          <p:nvPr/>
        </p:nvSpPr>
        <p:spPr>
          <a:xfrm xmlns:a="http://schemas.openxmlformats.org/drawingml/2006/main">
            <a:off x="10287000" y="4095750"/>
            <a:ext cx="304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325" b="1">
                <a:solidFill>
                  <a:srgbClr val="FFFFFF"/>
                </a:solidFill>
                <a:latin typeface="Arial"/>
                <a:ea typeface="Arial"/>
              </a:rPr>
              <a:t>One constrained move</a:t>
            </a:r>
            <a:endParaRPr lang="en-US"/>
          </a:p>
        </p:txBody>
      </p:sp>
      <p:sp>
        <p:nvSpPr>
          <p:cNvPr id="30" name="recommendation-foot"/>
          <p:cNvSpPr txBox="1"/>
          <p:nvPr/>
        </p:nvSpPr>
        <p:spPr>
          <a:xfrm xmlns:a="http://schemas.openxmlformats.org/drawingml/2006/main">
            <a:off x="10287000" y="5067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FFFFF"/>
                </a:solidFill>
                <a:latin typeface="Arial"/>
                <a:ea typeface="Arial"/>
              </a:rPr>
              <a:t>subject to the next evidence gate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9df32179333a9f35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1E">
              <a:alpha val="62000"/>
            </a:srgbClr>
          </a:solidFill>
          <a:ln xmlns:a="http://schemas.openxmlformats.org/drawingml/2006/main" w="0">
            <a:solidFill>
              <a:srgbClr val="2020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APRICOT DOSSIER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APRICOT DOSSIER · EVIDENCE</a:t>
            </a:r>
            <a:endParaRPr lang="en-US"/>
          </a:p>
        </p:txBody>
      </p:sp>
      <p:sp>
        <p:nvSpPr>
          <p:cNvPr id="7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evidence narrows the decision to one lever</a:t>
            </a:r>
            <a:endParaRPr lang="en-US"/>
          </a:p>
        </p:txBody>
      </p:sp>
      <p:sp>
        <p:nvSpPr>
          <p:cNvPr id="8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Comparable cases · same basis · direct labels instead of a legend-only chart.</a:t>
            </a:r>
            <a:endParaRPr lang="en-US"/>
          </a:p>
        </p:txBody>
      </p:sp>
      <p:graphicFrame>
        <p:nvGraphicFramePr>
          <p:cNvPr id="9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361149c715c4d2b"/>
          </a:graphicData>
        </a:graphic>
      </p:graphicFrame>
      <p:graphicFrame>
        <p:nvGraphicFramePr>
          <p:cNvPr id="10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f2ddc62caeb4bfd"/>
          </a:graphicData>
        </a:graphic>
      </p:graphicFrame>
      <p:sp>
        <p:nvSpPr>
          <p:cNvPr id="11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13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20201E"/>
                </a:solidFill>
                <a:latin typeface="Arial"/>
                <a:ea typeface="Arial"/>
              </a:rPr>
              <a:t>The comparison narrows the move.</a:t>
            </a:r>
            <a:endParaRPr lang="en-US"/>
          </a:p>
        </p:txBody>
      </p:sp>
      <p:sp>
        <p:nvSpPr>
          <p:cNvPr id="14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4938F"/>
                </a:solidFill>
                <a:latin typeface="Arial"/>
                <a:ea typeface="Arial"/>
              </a:rPr>
              <a:t>Locate the constraint; choose the lever.</a:t>
            </a:r>
            <a:endParaRPr lang="en-US"/>
          </a:p>
        </p:txBody>
      </p:sp>
      <p:sp>
        <p:nvSpPr>
          <p:cNvPr id="15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20201E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7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8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2930549abca3ae00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1E">
              <a:alpha val="62000"/>
            </a:srgbClr>
          </a:solidFill>
          <a:ln xmlns:a="http://schemas.openxmlformats.org/drawingml/2006/main" w="0">
            <a:solidFill>
              <a:srgbClr val="2020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APRICOT DOSSIER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APRICOT DOSSIER · DETAIL</a:t>
            </a:r>
            <a:endParaRPr lang="en-US"/>
          </a:p>
        </p:txBody>
      </p:sp>
      <p:sp>
        <p:nvSpPr>
          <p:cNvPr id="7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A decision page needs a visible sequence</a:t>
            </a:r>
            <a:endParaRPr lang="en-US"/>
          </a:p>
        </p:txBody>
      </p:sp>
      <p:sp>
        <p:nvSpPr>
          <p:cNvPr id="8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Finding → constraint → move · each line changes the choice.</a:t>
            </a:r>
            <a:endParaRPr lang="en-US"/>
          </a:p>
        </p:txBody>
      </p:sp>
      <p:sp>
        <p:nvSpPr>
          <p:cNvPr id="9" name="decision-number-0"/>
          <p:cNvSpPr txBox="1"/>
          <p:nvPr/>
        </p:nvSpPr>
        <p:spPr>
          <a:xfrm xmlns:a="http://schemas.openxmlformats.org/drawingml/2006/main">
            <a:off x="1104900" y="33718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B63A42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0" name="decision-rule-0"/>
          <p:cNvSpPr/>
          <p:nvPr/>
        </p:nvSpPr>
        <p:spPr>
          <a:xfrm xmlns:a="http://schemas.openxmlformats.org/drawingml/2006/main">
            <a:off x="2000250" y="3533775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decision-label-0"/>
          <p:cNvSpPr txBox="1"/>
          <p:nvPr/>
        </p:nvSpPr>
        <p:spPr>
          <a:xfrm xmlns:a="http://schemas.openxmlformats.org/drawingml/2006/main">
            <a:off x="2209800" y="33242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 b="1">
                <a:solidFill>
                  <a:srgbClr val="20201E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12" name="decision-text-0"/>
          <p:cNvSpPr txBox="1"/>
          <p:nvPr/>
        </p:nvSpPr>
        <p:spPr>
          <a:xfrm xmlns:a="http://schemas.openxmlformats.org/drawingml/2006/main">
            <a:off x="4476750" y="33718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Demand is stable</a:t>
            </a:r>
            <a:endParaRPr lang="en-US"/>
          </a:p>
        </p:txBody>
      </p:sp>
      <p:sp>
        <p:nvSpPr>
          <p:cNvPr id="13" name="decision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B63A42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4" name="decision-rule-1"/>
          <p:cNvSpPr/>
          <p:nvPr/>
        </p:nvSpPr>
        <p:spPr>
          <a:xfrm xmlns:a="http://schemas.openxmlformats.org/drawingml/2006/main">
            <a:off x="2000250" y="4429125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decision-label-1"/>
          <p:cNvSpPr txBox="1"/>
          <p:nvPr/>
        </p:nvSpPr>
        <p:spPr>
          <a:xfrm xmlns:a="http://schemas.openxmlformats.org/drawingml/2006/main">
            <a:off x="2209800" y="42195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 b="1">
                <a:solidFill>
                  <a:srgbClr val="20201E"/>
                </a:solidFill>
                <a:latin typeface="Arial"/>
                <a:ea typeface="Arial"/>
              </a:rPr>
              <a:t>Constraint</a:t>
            </a:r>
            <a:endParaRPr lang="en-US"/>
          </a:p>
        </p:txBody>
      </p:sp>
      <p:sp>
        <p:nvSpPr>
          <p:cNvPr id="16" name="decision-text-1"/>
          <p:cNvSpPr txBox="1"/>
          <p:nvPr/>
        </p:nvSpPr>
        <p:spPr>
          <a:xfrm xmlns:a="http://schemas.openxmlformats.org/drawingml/2006/main">
            <a:off x="4476750" y="42672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Concentration drives variance</a:t>
            </a:r>
            <a:endParaRPr lang="en-US"/>
          </a:p>
        </p:txBody>
      </p:sp>
      <p:sp>
        <p:nvSpPr>
          <p:cNvPr id="17" name="decision-number-2"/>
          <p:cNvSpPr txBox="1"/>
          <p:nvPr/>
        </p:nvSpPr>
        <p:spPr>
          <a:xfrm xmlns:a="http://schemas.openxmlformats.org/drawingml/2006/main">
            <a:off x="1104900" y="51625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B63A42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8" name="decision-rule-2"/>
          <p:cNvSpPr/>
          <p:nvPr/>
        </p:nvSpPr>
        <p:spPr>
          <a:xfrm xmlns:a="http://schemas.openxmlformats.org/drawingml/2006/main">
            <a:off x="2000250" y="5324475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decision-label-2"/>
          <p:cNvSpPr txBox="1"/>
          <p:nvPr/>
        </p:nvSpPr>
        <p:spPr>
          <a:xfrm xmlns:a="http://schemas.openxmlformats.org/drawingml/2006/main">
            <a:off x="2209800" y="51149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 b="1">
                <a:solidFill>
                  <a:srgbClr val="20201E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20" name="decision-text-2"/>
          <p:cNvSpPr txBox="1"/>
          <p:nvPr/>
        </p:nvSpPr>
        <p:spPr>
          <a:xfrm xmlns:a="http://schemas.openxmlformats.org/drawingml/2006/main">
            <a:off x="4476750" y="51625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Protect the strongest channel</a:t>
            </a:r>
            <a:endParaRPr lang="en-US"/>
          </a:p>
        </p:txBody>
      </p:sp>
      <p:sp>
        <p:nvSpPr>
          <p:cNvPr id="21" name="decision-summary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63A42"/>
                </a:solidFill>
                <a:latin typeface="Arial"/>
                <a:ea typeface="Arial"/>
              </a:rPr>
              <a:t>DECISION LOGIC</a:t>
            </a:r>
            <a:endParaRPr lang="en-US"/>
          </a:p>
        </p:txBody>
      </p:sp>
      <p:sp>
        <p:nvSpPr>
          <p:cNvPr id="22" name="decision-summary"/>
          <p:cNvSpPr txBox="1"/>
          <p:nvPr/>
        </p:nvSpPr>
        <p:spPr>
          <a:xfrm xmlns:a="http://schemas.openxmlformats.org/drawingml/2006/main">
            <a:off x="10287000" y="3810000"/>
            <a:ext cx="3238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0201E"/>
                </a:solidFill>
                <a:latin typeface="Arial"/>
                <a:ea typeface="Arial"/>
              </a:rPr>
              <a:t>A page earns density when each line changes the choice.</a:t>
            </a:r>
            <a:endParaRPr lang="en-US"/>
          </a:p>
        </p:txBody>
      </p:sp>
      <p:sp>
        <p:nvSpPr>
          <p:cNvPr id="23" name="decision-callout"/>
          <p:cNvSpPr/>
          <p:nvPr/>
        </p:nvSpPr>
        <p:spPr>
          <a:xfrm xmlns:a="http://schemas.openxmlformats.org/drawingml/2006/main">
            <a:off x="10287000" y="5219700"/>
            <a:ext cx="3238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3A42"/>
          </a:solidFill>
          <a:ln xmlns:a="http://schemas.openxmlformats.org/drawingml/2006/main" w="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decision-callout-text"/>
          <p:cNvSpPr txBox="1"/>
          <p:nvPr/>
        </p:nvSpPr>
        <p:spPr>
          <a:xfrm xmlns:a="http://schemas.openxmlformats.org/drawingml/2006/main">
            <a:off x="10572750" y="5476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ONE LEVER · ONE OWNER · ONE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d71bfa074cda59bb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section-reading-plane"/>
          <p:cNvSpPr/>
          <p:nvPr/>
        </p:nvSpPr>
        <p:spPr>
          <a:xfrm xmlns:a="http://schemas.openxmlformats.org/drawingml/2006/main">
            <a:off x="0" y="0"/>
            <a:ext cx="7810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>
              <a:alpha val="94000"/>
            </a:srgbClr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section-eyebrow"/>
          <p:cNvSpPr txBox="1"/>
          <p:nvPr/>
        </p:nvSpPr>
        <p:spPr>
          <a:xfrm xmlns:a="http://schemas.openxmlformats.org/drawingml/2006/main">
            <a:off x="914400" y="914400"/>
            <a:ext cx="609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B63A42"/>
                </a:solidFill>
                <a:latin typeface="Arial"/>
                <a:ea typeface="Arial"/>
              </a:rPr>
              <a:t>APRICOT DOSSIER · SECTION</a:t>
            </a:r>
            <a:endParaRPr lang="en-US"/>
          </a:p>
        </p:txBody>
      </p:sp>
      <p:sp>
        <p:nvSpPr>
          <p:cNvPr id="4" name="section-title"/>
          <p:cNvSpPr txBox="1"/>
          <p:nvPr/>
        </p:nvSpPr>
        <p:spPr>
          <a:xfrm xmlns:a="http://schemas.openxmlformats.org/drawingml/2006/main">
            <a:off x="914400" y="1657350"/>
            <a:ext cx="5905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450" b="1">
                <a:solidFill>
                  <a:srgbClr val="20201E"/>
                </a:solidFill>
                <a:latin typeface="Arial"/>
                <a:ea typeface="Arial"/>
              </a:rPr>
              <a:t>Make the choice legible</a:t>
            </a:r>
            <a:endParaRPr lang="en-US"/>
          </a:p>
        </p:txBody>
      </p:sp>
      <p:sp>
        <p:nvSpPr>
          <p:cNvPr id="5" name="section-rule"/>
          <p:cNvSpPr/>
          <p:nvPr/>
        </p:nvSpPr>
        <p:spPr>
          <a:xfrm xmlns:a="http://schemas.openxmlformats.org/drawingml/2006/main">
            <a:off x="914400" y="3181350"/>
            <a:ext cx="4991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section-body"/>
          <p:cNvSpPr txBox="1"/>
          <p:nvPr/>
        </p:nvSpPr>
        <p:spPr>
          <a:xfrm xmlns:a="http://schemas.openxmlformats.org/drawingml/2006/main">
            <a:off x="914400" y="3600450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20201E"/>
                </a:solidFill>
                <a:latin typeface="Arial"/>
                <a:ea typeface="Arial"/>
              </a:rPr>
              <a:t>A single visual cue can make the recommendation easier to remember.</a:t>
            </a:r>
            <a:endParaRPr lang="en-US"/>
          </a:p>
        </p:txBody>
      </p:sp>
      <p:sp>
        <p:nvSpPr>
          <p:cNvPr id="7" name="section-note"/>
          <p:cNvSpPr txBox="1"/>
          <p:nvPr/>
        </p:nvSpPr>
        <p:spPr>
          <a:xfrm xmlns:a="http://schemas.openxmlformats.org/drawingml/2006/main">
            <a:off x="914400" y="52387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B63A42"/>
                </a:solidFill>
                <a:latin typeface="Arial"/>
                <a:ea typeface="Arial"/>
              </a:rPr>
              <a:t>ONE IMAGE · ONE THESIS · ONE TURN</a:t>
            </a:r>
            <a:endParaRPr lang="en-US"/>
          </a:p>
        </p:txBody>
      </p:sp>
      <p:sp>
        <p:nvSpPr>
          <p:cNvPr id="8" name="section-next"/>
          <p:cNvSpPr txBox="1"/>
          <p:nvPr/>
        </p:nvSpPr>
        <p:spPr>
          <a:xfrm xmlns:a="http://schemas.openxmlformats.org/drawingml/2006/main">
            <a:off x="914400" y="577215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20201E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0">
            <a:solidFill>
              <a:srgbClr val="FFFD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4786b3004943cd8a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1E">
              <a:alpha val="62000"/>
            </a:srgbClr>
          </a:solidFill>
          <a:ln xmlns:a="http://schemas.openxmlformats.org/drawingml/2006/main" w="0">
            <a:solidFill>
              <a:srgbClr val="2020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APRICOT DOSSIER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B63A42"/>
                </a:solidFill>
                <a:latin typeface="Arial"/>
                <a:ea typeface="Arial"/>
              </a:rPr>
              <a:t>APRICOT DOSSIER · CLOSE</a:t>
            </a:r>
            <a:endParaRPr lang="en-US"/>
          </a:p>
        </p:txBody>
      </p:sp>
      <p:sp>
        <p:nvSpPr>
          <p:cNvPr id="7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recommendation is narrow by design</a:t>
            </a:r>
            <a:endParaRPr lang="en-US"/>
          </a:p>
        </p:txBody>
      </p:sp>
      <p:sp>
        <p:nvSpPr>
          <p:cNvPr id="8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B63A42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0201E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1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Concentration drives the variance.</a:t>
            </a:r>
            <a:endParaRPr lang="en-US"/>
          </a:p>
        </p:txBody>
      </p:sp>
      <p:sp>
        <p:nvSpPr>
          <p:cNvPr id="1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0201E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493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0201E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Protect the strongest channel first.</a:t>
            </a:r>
            <a:endParaRPr lang="en-US"/>
          </a:p>
        </p:txBody>
      </p:sp>
      <p:sp>
        <p:nvSpPr>
          <p:cNvPr id="1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B63A42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20201E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2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20201E"/>
                </a:solidFill>
                <a:latin typeface="Arial"/>
                <a:ea typeface="Arial"/>
              </a:rPr>
              <a:t>Return with a gated decision.</a:t>
            </a:r>
            <a:endParaRPr lang="en-US"/>
          </a:p>
        </p:txBody>
      </p:sp>
      <p:sp>
        <p:nvSpPr>
          <p:cNvPr id="2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3A42"/>
          </a:solidFill>
          <a:ln xmlns:a="http://schemas.openxmlformats.org/drawingml/2006/main" w="0">
            <a:solidFill>
              <a:srgbClr val="B63A42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2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4938F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