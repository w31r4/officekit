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4d16aaed4614d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d71bfa074cda59bb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7650495d0c3b8602_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3.jpg" Id="rIdOfficeKitImagee4bd683f73b7a543_1" /><Relationship Type="http://schemas.openxmlformats.org/officeDocument/2006/relationships/chart" Target="/ppt/slides/charts/chart1.xml" Id="R204de4c9085d45e2" /><Relationship Type="http://schemas.openxmlformats.org/officeDocument/2006/relationships/chart" Target="/ppt/slides/charts/chart2.xml" Id="R26cb3670313649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4.jpg" Id="rIdOfficeKitImageff1582c14d42a1a7_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5.jpg" Id="rIdOfficeKitImagec7b73f8fac405495_1" /><Relationship Type="http://schemas.openxmlformats.org/officeDocument/2006/relationships/chart" Target="/ppt/slides/charts/chart3.xml" Id="R4194efca43ae470a" /><Relationship Type="http://schemas.openxmlformats.org/officeDocument/2006/relationships/chart" Target="/ppt/slides/charts/chart4.xml" Id="R44979800bace48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6.jpg" Id="rIdOfficeKitImage2930549abca3ae00_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Primary signal · observed versus reference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B63A42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94938F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Driver trend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Driver</c:v>
          </c:tx>
          <c:spPr>
            <a:solidFill>
              <a:srgbClr val="85736E"/>
            </a:solidFill>
            <a:ln w="38100">
              <a:solidFill>
                <a:srgbClr val="85736E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22</c:v>
              </c:pt>
              <c:pt idx="1">
                <c:v>28</c:v>
              </c:pt>
              <c:pt idx="2">
                <c:v>34</c:v>
              </c:pt>
              <c:pt idx="3">
                <c:v>39</c:v>
              </c:pt>
              <c:pt idx="4">
                <c:v>45</c:v>
              </c:pt>
              <c:pt idx="5">
                <c:v>51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charts/chart3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B63A42"/>
            </a:solidFill>
          </c:spP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charts/chart4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Context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Context</c:v>
          </c:tx>
          <c:spPr>
            <a:solidFill>
              <a:srgbClr val="85736E"/>
            </a:solidFill>
            <a:ln w="38100">
              <a:solidFill>
                <a:srgbClr val="85736E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claim">
    <p:bg>
      <p:bgPr>
        <a:blipFill xmlns:a="http://schemas.openxmlformats.org/drawingml/2006/main">
          <a:blip xmlns:r="http://schemas.openxmlformats.org/officeDocument/2006/relationships" r:embed="rIdOfficeKitImaged71bfa074cda59bb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ver-paper-scrim"/>
          <p:cNvSpPr/>
          <p:nvPr/>
        </p:nvSpPr>
        <p:spPr>
          <a:xfrm xmlns:a="http://schemas.openxmlformats.org/drawingml/2006/main">
            <a:off x="0" y="0"/>
            <a:ext cx="9525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100000"/>
            </a:srgbClr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B63A42"/>
                </a:solidFill>
                <a:latin typeface="Arial"/>
                <a:ea typeface="Arial"/>
              </a:rPr>
              <a:t>CONSULTING · OFFICEKIT CALIBRATION</a:t>
            </a:r>
            <a:endParaRPr lang="en-US"/>
          </a:p>
        </p:txBody>
      </p:sp>
      <p:sp>
        <p:nvSpPr>
          <p:cNvPr id="5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20201E"/>
                </a:solidFill>
                <a:latin typeface="Arial"/>
                <a:ea typeface="Arial"/>
              </a:rPr>
              <a:t>Apricot Dossier: a claim worth testing</a:t>
            </a:r>
            <a:endParaRPr lang="en-US"/>
          </a:p>
        </p:txBody>
      </p:sp>
      <p:sp>
        <p:nvSpPr>
          <p:cNvPr id="6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B63A42"/>
                </a:solidFill>
                <a:latin typeface="Arial"/>
                <a:ea typeface="Arial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7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0201E"/>
                </a:solidFill>
                <a:latin typeface="Arial"/>
                <a:ea typeface="Arial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9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0201E"/>
                </a:solidFill>
                <a:latin typeface="Arial"/>
                <a:ea typeface="Arial"/>
              </a:rPr>
              <a:t>The synthesis matters more than the inventory.</a:t>
            </a:r>
            <a:endParaRPr lang="en-US"/>
          </a:p>
        </p:txBody>
      </p:sp>
      <p:sp>
        <p:nvSpPr>
          <p:cNvPr id="10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1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  <p:sp>
        <p:nvSpPr>
          <p:cNvPr id="12" name="anchor-field"/>
          <p:cNvSpPr/>
          <p:nvPr/>
        </p:nvSpPr>
        <p:spPr>
          <a:xfrm xmlns:a="http://schemas.openxmlformats.org/drawingml/2006/main">
            <a:off x="11239500" y="171450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anchor-line"/>
          <p:cNvSpPr/>
          <p:nvPr/>
        </p:nvSpPr>
        <p:spPr>
          <a:xfrm xmlns:a="http://schemas.openxmlformats.org/drawingml/2006/main">
            <a:off x="11544300" y="3505200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nchor-line-two"/>
          <p:cNvSpPr/>
          <p:nvPr/>
        </p:nvSpPr>
        <p:spPr>
          <a:xfrm xmlns:a="http://schemas.openxmlformats.org/drawingml/2006/main">
            <a:off x="11544300" y="36957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nchor-dot"/>
          <p:cNvSpPr/>
          <p:nvPr/>
        </p:nvSpPr>
        <p:spPr>
          <a:xfrm xmlns:a="http://schemas.openxmlformats.org/drawingml/2006/main">
            <a:off x="13030200" y="2228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2"/>
          </a:solidFill>
          <a:ln xmlns:a="http://schemas.openxmlformats.org/drawingml/2006/main" w="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argument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7650495d0c3b8602_1"/>
          <a:srcRect xmlns:a="http://schemas.openxmlformats.org/drawingml/2006/main" l="0" t="47258" r="0" b="472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argument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1E">
              <a:alpha val="62000"/>
            </a:srgbClr>
          </a:solidFill>
          <a:ln xmlns:a="http://schemas.openxmlformats.org/drawingml/2006/main" w="0">
            <a:solidFill>
              <a:srgbClr val="20201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argument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APRICOT DOSSIER · ARGUMENT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B63A42"/>
                </a:solidFill>
                <a:latin typeface="Arial"/>
                <a:ea typeface="Arial"/>
              </a:rPr>
              <a:t>APRICOT DOSSIER · ARGUMENT</a:t>
            </a:r>
            <a:endParaRPr lang="en-US"/>
          </a:p>
        </p:txBody>
      </p:sp>
      <p:sp>
        <p:nvSpPr>
          <p:cNvPr id="7" name="argument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One finding should reorganize the decision</a:t>
            </a:r>
            <a:endParaRPr lang="en-US"/>
          </a:p>
        </p:txBody>
      </p:sp>
      <p:sp>
        <p:nvSpPr>
          <p:cNvPr id="8" name="argument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Finding, implication, recommendation: evidence stays adjacent to the synthesis.</a:t>
            </a:r>
            <a:endParaRPr lang="en-US"/>
          </a:p>
        </p:txBody>
      </p:sp>
      <p:sp>
        <p:nvSpPr>
          <p:cNvPr id="9" name="finding"/>
          <p:cNvSpPr txBox="1"/>
          <p:nvPr/>
        </p:nvSpPr>
        <p:spPr>
          <a:xfrm xmlns:a="http://schemas.openxmlformats.org/drawingml/2006/main">
            <a:off x="1104900" y="3314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B63A42"/>
                </a:solidFill>
                <a:latin typeface="Arial"/>
                <a:ea typeface="Arial"/>
              </a:rPr>
              <a:t>FINDING</a:t>
            </a:r>
            <a:endParaRPr lang="en-US"/>
          </a:p>
        </p:txBody>
      </p:sp>
      <p:sp>
        <p:nvSpPr>
          <p:cNvPr id="10" name="finding-text"/>
          <p:cNvSpPr txBox="1"/>
          <p:nvPr/>
        </p:nvSpPr>
        <p:spPr>
          <a:xfrm xmlns:a="http://schemas.openxmlformats.org/drawingml/2006/main">
            <a:off x="1104900" y="36957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20201E"/>
                </a:solidFill>
                <a:latin typeface="Arial"/>
                <a:ea typeface="Arial"/>
              </a:rPr>
              <a:t>The constraint is concentration, not demand.</a:t>
            </a:r>
            <a:endParaRPr lang="en-US"/>
          </a:p>
        </p:txBody>
      </p:sp>
      <p:sp>
        <p:nvSpPr>
          <p:cNvPr id="11" name="finding-rule"/>
          <p:cNvSpPr/>
          <p:nvPr/>
        </p:nvSpPr>
        <p:spPr>
          <a:xfrm xmlns:a="http://schemas.openxmlformats.org/drawingml/2006/main">
            <a:off x="1104900" y="4552950"/>
            <a:ext cx="670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implication"/>
          <p:cNvSpPr txBox="1"/>
          <p:nvPr/>
        </p:nvSpPr>
        <p:spPr>
          <a:xfrm xmlns:a="http://schemas.openxmlformats.org/drawingml/2006/main">
            <a:off x="1104900" y="4953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B63A42"/>
                </a:solidFill>
                <a:latin typeface="Arial"/>
                <a:ea typeface="Arial"/>
              </a:rPr>
              <a:t>IMPLICATION</a:t>
            </a:r>
            <a:endParaRPr lang="en-US"/>
          </a:p>
        </p:txBody>
      </p:sp>
      <p:sp>
        <p:nvSpPr>
          <p:cNvPr id="13" name="implication-text"/>
          <p:cNvSpPr txBox="1"/>
          <p:nvPr/>
        </p:nvSpPr>
        <p:spPr>
          <a:xfrm xmlns:a="http://schemas.openxmlformats.org/drawingml/2006/main">
            <a:off x="1104900" y="53340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>
                <a:solidFill>
                  <a:srgbClr val="20201E"/>
                </a:solidFill>
                <a:latin typeface="Arial"/>
                <a:ea typeface="Arial"/>
              </a:rPr>
              <a:t>Protect the strongest channel before adding volume.</a:t>
            </a:r>
            <a:endParaRPr lang="en-US"/>
          </a:p>
        </p:txBody>
      </p:sp>
      <p:sp>
        <p:nvSpPr>
          <p:cNvPr id="14" name="pressure-label"/>
          <p:cNvSpPr txBox="1"/>
          <p:nvPr/>
        </p:nvSpPr>
        <p:spPr>
          <a:xfrm xmlns:a="http://schemas.openxmlformats.org/drawingml/2006/main">
            <a:off x="1104900" y="6153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B63A42"/>
                </a:solidFill>
                <a:latin typeface="Arial"/>
                <a:ea typeface="Arial"/>
              </a:rPr>
              <a:t>PRESSURE PROFILE · CURRENT CASE</a:t>
            </a:r>
            <a:endParaRPr lang="en-US"/>
          </a:p>
        </p:txBody>
      </p:sp>
      <p:sp>
        <p:nvSpPr>
          <p:cNvPr id="15" name="pressure-name-0"/>
          <p:cNvSpPr txBox="1"/>
          <p:nvPr/>
        </p:nvSpPr>
        <p:spPr>
          <a:xfrm xmlns:a="http://schemas.openxmlformats.org/drawingml/2006/main">
            <a:off x="1104900" y="6515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Concentration</a:t>
            </a:r>
            <a:endParaRPr lang="en-US"/>
          </a:p>
        </p:txBody>
      </p:sp>
      <p:sp>
        <p:nvSpPr>
          <p:cNvPr id="16" name="pressure-track-0"/>
          <p:cNvSpPr/>
          <p:nvPr/>
        </p:nvSpPr>
        <p:spPr>
          <a:xfrm xmlns:a="http://schemas.openxmlformats.org/drawingml/2006/main">
            <a:off x="3028950" y="653415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pressure-fill-0"/>
          <p:cNvSpPr/>
          <p:nvPr/>
        </p:nvSpPr>
        <p:spPr>
          <a:xfrm xmlns:a="http://schemas.openxmlformats.org/drawingml/2006/main">
            <a:off x="3028950" y="6534150"/>
            <a:ext cx="3590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2"/>
          </a:solidFill>
          <a:ln xmlns:a="http://schemas.openxmlformats.org/drawingml/2006/main" w="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pressure-value-0"/>
          <p:cNvSpPr txBox="1"/>
          <p:nvPr/>
        </p:nvSpPr>
        <p:spPr>
          <a:xfrm xmlns:a="http://schemas.openxmlformats.org/drawingml/2006/main">
            <a:off x="7600950" y="64865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20201E"/>
                </a:solidFill>
                <a:latin typeface="Arial"/>
                <a:ea typeface="Arial"/>
              </a:rPr>
              <a:t>82%</a:t>
            </a:r>
            <a:endParaRPr lang="en-US"/>
          </a:p>
        </p:txBody>
      </p:sp>
      <p:sp>
        <p:nvSpPr>
          <p:cNvPr id="19" name="pressure-name-1"/>
          <p:cNvSpPr txBox="1"/>
          <p:nvPr/>
        </p:nvSpPr>
        <p:spPr>
          <a:xfrm xmlns:a="http://schemas.openxmlformats.org/drawingml/2006/main">
            <a:off x="1104900" y="6838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Price power</a:t>
            </a:r>
            <a:endParaRPr lang="en-US"/>
          </a:p>
        </p:txBody>
      </p:sp>
      <p:sp>
        <p:nvSpPr>
          <p:cNvPr id="20" name="pressure-track-1"/>
          <p:cNvSpPr/>
          <p:nvPr/>
        </p:nvSpPr>
        <p:spPr>
          <a:xfrm xmlns:a="http://schemas.openxmlformats.org/drawingml/2006/main">
            <a:off x="3028950" y="685800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pressure-fill-1"/>
          <p:cNvSpPr/>
          <p:nvPr/>
        </p:nvSpPr>
        <p:spPr>
          <a:xfrm xmlns:a="http://schemas.openxmlformats.org/drawingml/2006/main">
            <a:off x="3028950" y="6858000"/>
            <a:ext cx="2457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938F"/>
          </a:solidFill>
          <a:ln xmlns:a="http://schemas.openxmlformats.org/drawingml/2006/main" w="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pressure-value-1"/>
          <p:cNvSpPr txBox="1"/>
          <p:nvPr/>
        </p:nvSpPr>
        <p:spPr>
          <a:xfrm xmlns:a="http://schemas.openxmlformats.org/drawingml/2006/main">
            <a:off x="7600950" y="6810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20201E"/>
                </a:solidFill>
                <a:latin typeface="Arial"/>
                <a:ea typeface="Arial"/>
              </a:rPr>
              <a:t>56%</a:t>
            </a:r>
            <a:endParaRPr lang="en-US"/>
          </a:p>
        </p:txBody>
      </p:sp>
      <p:sp>
        <p:nvSpPr>
          <p:cNvPr id="23" name="pressure-name-2"/>
          <p:cNvSpPr txBox="1"/>
          <p:nvPr/>
        </p:nvSpPr>
        <p:spPr>
          <a:xfrm xmlns:a="http://schemas.openxmlformats.org/drawingml/2006/main">
            <a:off x="1104900" y="7162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Operating friction</a:t>
            </a:r>
            <a:endParaRPr lang="en-US"/>
          </a:p>
        </p:txBody>
      </p:sp>
      <p:sp>
        <p:nvSpPr>
          <p:cNvPr id="24" name="pressure-track-2"/>
          <p:cNvSpPr/>
          <p:nvPr/>
        </p:nvSpPr>
        <p:spPr>
          <a:xfrm xmlns:a="http://schemas.openxmlformats.org/drawingml/2006/main">
            <a:off x="3028950" y="718185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essure-fill-2"/>
          <p:cNvSpPr/>
          <p:nvPr/>
        </p:nvSpPr>
        <p:spPr>
          <a:xfrm xmlns:a="http://schemas.openxmlformats.org/drawingml/2006/main">
            <a:off x="3028950" y="7181850"/>
            <a:ext cx="1485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938F"/>
          </a:solidFill>
          <a:ln xmlns:a="http://schemas.openxmlformats.org/drawingml/2006/main" w="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pressure-value-2"/>
          <p:cNvSpPr txBox="1"/>
          <p:nvPr/>
        </p:nvSpPr>
        <p:spPr>
          <a:xfrm xmlns:a="http://schemas.openxmlformats.org/drawingml/2006/main">
            <a:off x="7600950" y="7134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20201E"/>
                </a:solidFill>
                <a:latin typeface="Arial"/>
                <a:ea typeface="Arial"/>
              </a:rPr>
              <a:t>34%</a:t>
            </a:r>
            <a:endParaRPr lang="en-US"/>
          </a:p>
        </p:txBody>
      </p:sp>
      <p:sp>
        <p:nvSpPr>
          <p:cNvPr id="27" name="recommendation"/>
          <p:cNvSpPr/>
          <p:nvPr/>
        </p:nvSpPr>
        <p:spPr>
          <a:xfrm xmlns:a="http://schemas.openxmlformats.org/drawingml/2006/main">
            <a:off x="9906000" y="323850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2"/>
          </a:solidFill>
          <a:ln xmlns:a="http://schemas.openxmlformats.org/drawingml/2006/main" w="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8" name="recommendation-label"/>
          <p:cNvSpPr txBox="1"/>
          <p:nvPr/>
        </p:nvSpPr>
        <p:spPr>
          <a:xfrm xmlns:a="http://schemas.openxmlformats.org/drawingml/2006/main">
            <a:off x="10287000" y="3600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RECOMMENDATION</a:t>
            </a:r>
            <a:endParaRPr lang="en-US"/>
          </a:p>
        </p:txBody>
      </p:sp>
      <p:sp>
        <p:nvSpPr>
          <p:cNvPr id="29" name="recommendation-text"/>
          <p:cNvSpPr txBox="1"/>
          <p:nvPr/>
        </p:nvSpPr>
        <p:spPr>
          <a:xfrm xmlns:a="http://schemas.openxmlformats.org/drawingml/2006/main">
            <a:off x="10287000" y="40957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325" b="1">
                <a:solidFill>
                  <a:srgbClr val="FFFFFF"/>
                </a:solidFill>
                <a:latin typeface="Arial"/>
                <a:ea typeface="Arial"/>
              </a:rPr>
              <a:t>One constrained move</a:t>
            </a:r>
            <a:endParaRPr lang="en-US"/>
          </a:p>
        </p:txBody>
      </p:sp>
      <p:sp>
        <p:nvSpPr>
          <p:cNvPr id="30" name="recommendation-foot"/>
          <p:cNvSpPr txBox="1"/>
          <p:nvPr/>
        </p:nvSpPr>
        <p:spPr>
          <a:xfrm xmlns:a="http://schemas.openxmlformats.org/drawingml/2006/main">
            <a:off x="10287000" y="5067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  <a:latin typeface="Arial"/>
                <a:ea typeface="Arial"/>
              </a:rPr>
              <a:t>subject to the next evidence gate</a:t>
            </a:r>
            <a:endParaRPr lang="en-US"/>
          </a:p>
        </p:txBody>
      </p:sp>
      <p:sp>
        <p:nvSpPr>
          <p:cNvPr id="31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32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evidence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e4bd683f73b7a543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evidence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1E">
              <a:alpha val="62000"/>
            </a:srgbClr>
          </a:solidFill>
          <a:ln xmlns:a="http://schemas.openxmlformats.org/drawingml/2006/main" w="0">
            <a:solidFill>
              <a:srgbClr val="20201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evidence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APRICOT DOSSIER · EVIDENCE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B63A42"/>
                </a:solidFill>
                <a:latin typeface="Arial"/>
                <a:ea typeface="Arial"/>
              </a:rPr>
              <a:t>APRICOT DOSSIER · EVIDENCE</a:t>
            </a:r>
            <a:endParaRPr lang="en-US"/>
          </a:p>
        </p:txBody>
      </p:sp>
      <p:sp>
        <p:nvSpPr>
          <p:cNvPr id="7" name="evidence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The evidence narrows the decision to one lever</a:t>
            </a:r>
            <a:endParaRPr lang="en-US"/>
          </a:p>
        </p:txBody>
      </p:sp>
      <p:sp>
        <p:nvSpPr>
          <p:cNvPr id="8" name="evidence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Comparable cases · same basis · direct labels instead of a legend-only chart.</a:t>
            </a:r>
            <a:endParaRPr lang="en-US"/>
          </a:p>
        </p:txBody>
      </p:sp>
      <p:graphicFrame>
        <p:nvGraphicFramePr>
          <p:cNvPr id="9" name="dense-prim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048000"/>
          <a:ext xmlns:a="http://schemas.openxmlformats.org/drawingml/2006/main" cx="6286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4de4c9085d45e2"/>
          </a:graphicData>
        </a:graphic>
      </p:graphicFrame>
      <p:graphicFrame>
        <p:nvGraphicFramePr>
          <p:cNvPr id="10" name="dense-second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658100" y="3048000"/>
          <a:ext xmlns:a="http://schemas.openxmlformats.org/drawingml/2006/main" cx="3143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cb36703136493a"/>
          </a:graphicData>
        </a:graphic>
      </p:graphicFrame>
      <p:sp>
        <p:nvSpPr>
          <p:cNvPr id="11" name="dense-read-rule"/>
          <p:cNvSpPr/>
          <p:nvPr/>
        </p:nvSpPr>
        <p:spPr>
          <a:xfrm xmlns:a="http://schemas.openxmlformats.org/drawingml/2006/main">
            <a:off x="11315700" y="33147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dense-read-label"/>
          <p:cNvSpPr txBox="1"/>
          <p:nvPr/>
        </p:nvSpPr>
        <p:spPr>
          <a:xfrm xmlns:a="http://schemas.openxmlformats.org/drawingml/2006/main">
            <a:off x="11315700" y="35433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B63A42"/>
                </a:solidFill>
                <a:latin typeface="Arial"/>
                <a:ea typeface="Arial"/>
              </a:rPr>
              <a:t>READ-THROUGH</a:t>
            </a:r>
            <a:endParaRPr lang="en-US"/>
          </a:p>
        </p:txBody>
      </p:sp>
      <p:sp>
        <p:nvSpPr>
          <p:cNvPr id="13" name="dense-read-title"/>
          <p:cNvSpPr txBox="1"/>
          <p:nvPr/>
        </p:nvSpPr>
        <p:spPr>
          <a:xfrm xmlns:a="http://schemas.openxmlformats.org/drawingml/2006/main">
            <a:off x="11315700" y="4000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20201E"/>
                </a:solidFill>
                <a:latin typeface="Arial"/>
                <a:ea typeface="Arial"/>
              </a:rPr>
              <a:t>The comparison narrows the move.</a:t>
            </a:r>
            <a:endParaRPr lang="en-US"/>
          </a:p>
        </p:txBody>
      </p:sp>
      <p:sp>
        <p:nvSpPr>
          <p:cNvPr id="14" name="dense-read-body"/>
          <p:cNvSpPr txBox="1"/>
          <p:nvPr/>
        </p:nvSpPr>
        <p:spPr>
          <a:xfrm xmlns:a="http://schemas.openxmlformats.org/drawingml/2006/main">
            <a:off x="11315700" y="49530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4938F"/>
                </a:solidFill>
                <a:latin typeface="Arial"/>
                <a:ea typeface="Arial"/>
              </a:rPr>
              <a:t>Locate the constraint; choose the lever.</a:t>
            </a:r>
            <a:endParaRPr lang="en-US"/>
          </a:p>
        </p:txBody>
      </p:sp>
      <p:sp>
        <p:nvSpPr>
          <p:cNvPr id="15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20201E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7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8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detail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ff1582c14d42a1a7_1"/>
          <a:srcRect xmlns:a="http://schemas.openxmlformats.org/drawingml/2006/main" l="0" t="47258" r="0" b="472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detail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1E">
              <a:alpha val="62000"/>
            </a:srgbClr>
          </a:solidFill>
          <a:ln xmlns:a="http://schemas.openxmlformats.org/drawingml/2006/main" w="0">
            <a:solidFill>
              <a:srgbClr val="20201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detail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APRICOT DOSSIER · DETAIL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B63A42"/>
                </a:solidFill>
                <a:latin typeface="Arial"/>
                <a:ea typeface="Arial"/>
              </a:rPr>
              <a:t>APRICOT DOSSIER · DETAIL</a:t>
            </a:r>
            <a:endParaRPr lang="en-US"/>
          </a:p>
        </p:txBody>
      </p:sp>
      <p:sp>
        <p:nvSpPr>
          <p:cNvPr id="7" name="detail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A decision page needs a visible sequence</a:t>
            </a:r>
            <a:endParaRPr lang="en-US"/>
          </a:p>
        </p:txBody>
      </p:sp>
      <p:sp>
        <p:nvSpPr>
          <p:cNvPr id="8" name="detail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Finding → constraint → move · each line changes the choice.</a:t>
            </a:r>
            <a:endParaRPr lang="en-US"/>
          </a:p>
        </p:txBody>
      </p:sp>
      <p:sp>
        <p:nvSpPr>
          <p:cNvPr id="9" name="decision-number-0"/>
          <p:cNvSpPr txBox="1"/>
          <p:nvPr/>
        </p:nvSpPr>
        <p:spPr>
          <a:xfrm xmlns:a="http://schemas.openxmlformats.org/drawingml/2006/main">
            <a:off x="1104900" y="33718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B63A42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0" name="decision-rule-0"/>
          <p:cNvSpPr/>
          <p:nvPr/>
        </p:nvSpPr>
        <p:spPr>
          <a:xfrm xmlns:a="http://schemas.openxmlformats.org/drawingml/2006/main">
            <a:off x="2000250" y="3533775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decision-label-0"/>
          <p:cNvSpPr txBox="1"/>
          <p:nvPr/>
        </p:nvSpPr>
        <p:spPr>
          <a:xfrm xmlns:a="http://schemas.openxmlformats.org/drawingml/2006/main">
            <a:off x="2209800" y="3324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 b="1">
                <a:solidFill>
                  <a:srgbClr val="20201E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12" name="decision-text-0"/>
          <p:cNvSpPr txBox="1"/>
          <p:nvPr/>
        </p:nvSpPr>
        <p:spPr>
          <a:xfrm xmlns:a="http://schemas.openxmlformats.org/drawingml/2006/main">
            <a:off x="4476750" y="3371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0201E"/>
                </a:solidFill>
                <a:latin typeface="Arial"/>
                <a:ea typeface="Arial"/>
              </a:rPr>
              <a:t>Demand is stable</a:t>
            </a:r>
            <a:endParaRPr lang="en-US"/>
          </a:p>
        </p:txBody>
      </p:sp>
      <p:sp>
        <p:nvSpPr>
          <p:cNvPr id="13" name="decision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B63A42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4" name="decision-rule-1"/>
          <p:cNvSpPr/>
          <p:nvPr/>
        </p:nvSpPr>
        <p:spPr>
          <a:xfrm xmlns:a="http://schemas.openxmlformats.org/drawingml/2006/main">
            <a:off x="2000250" y="4429125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decision-label-1"/>
          <p:cNvSpPr txBox="1"/>
          <p:nvPr/>
        </p:nvSpPr>
        <p:spPr>
          <a:xfrm xmlns:a="http://schemas.openxmlformats.org/drawingml/2006/main">
            <a:off x="2209800" y="42195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 b="1">
                <a:solidFill>
                  <a:srgbClr val="20201E"/>
                </a:solidFill>
                <a:latin typeface="Arial"/>
                <a:ea typeface="Arial"/>
              </a:rPr>
              <a:t>Constraint</a:t>
            </a:r>
            <a:endParaRPr lang="en-US"/>
          </a:p>
        </p:txBody>
      </p:sp>
      <p:sp>
        <p:nvSpPr>
          <p:cNvPr id="16" name="decision-text-1"/>
          <p:cNvSpPr txBox="1"/>
          <p:nvPr/>
        </p:nvSpPr>
        <p:spPr>
          <a:xfrm xmlns:a="http://schemas.openxmlformats.org/drawingml/2006/main">
            <a:off x="4476750" y="4267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0201E"/>
                </a:solidFill>
                <a:latin typeface="Arial"/>
                <a:ea typeface="Arial"/>
              </a:rPr>
              <a:t>Concentration drives variance</a:t>
            </a:r>
            <a:endParaRPr lang="en-US"/>
          </a:p>
        </p:txBody>
      </p:sp>
      <p:sp>
        <p:nvSpPr>
          <p:cNvPr id="17" name="decision-number-2"/>
          <p:cNvSpPr txBox="1"/>
          <p:nvPr/>
        </p:nvSpPr>
        <p:spPr>
          <a:xfrm xmlns:a="http://schemas.openxmlformats.org/drawingml/2006/main">
            <a:off x="1104900" y="5162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B63A42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8" name="decision-rule-2"/>
          <p:cNvSpPr/>
          <p:nvPr/>
        </p:nvSpPr>
        <p:spPr>
          <a:xfrm xmlns:a="http://schemas.openxmlformats.org/drawingml/2006/main">
            <a:off x="2000250" y="5324475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decision-label-2"/>
          <p:cNvSpPr txBox="1"/>
          <p:nvPr/>
        </p:nvSpPr>
        <p:spPr>
          <a:xfrm xmlns:a="http://schemas.openxmlformats.org/drawingml/2006/main">
            <a:off x="2209800" y="51149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 b="1">
                <a:solidFill>
                  <a:srgbClr val="20201E"/>
                </a:solidFill>
                <a:latin typeface="Arial"/>
                <a:ea typeface="Arial"/>
              </a:rPr>
              <a:t>Move</a:t>
            </a:r>
            <a:endParaRPr lang="en-US"/>
          </a:p>
        </p:txBody>
      </p:sp>
      <p:sp>
        <p:nvSpPr>
          <p:cNvPr id="20" name="decision-text-2"/>
          <p:cNvSpPr txBox="1"/>
          <p:nvPr/>
        </p:nvSpPr>
        <p:spPr>
          <a:xfrm xmlns:a="http://schemas.openxmlformats.org/drawingml/2006/main">
            <a:off x="4476750" y="5162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0201E"/>
                </a:solidFill>
                <a:latin typeface="Arial"/>
                <a:ea typeface="Arial"/>
              </a:rPr>
              <a:t>Protect the strongest channel</a:t>
            </a:r>
            <a:endParaRPr lang="en-US"/>
          </a:p>
        </p:txBody>
      </p:sp>
      <p:sp>
        <p:nvSpPr>
          <p:cNvPr id="21" name="decision-summary-label"/>
          <p:cNvSpPr txBox="1"/>
          <p:nvPr/>
        </p:nvSpPr>
        <p:spPr>
          <a:xfrm xmlns:a="http://schemas.openxmlformats.org/drawingml/2006/main">
            <a:off x="10287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B63A42"/>
                </a:solidFill>
                <a:latin typeface="Arial"/>
                <a:ea typeface="Arial"/>
              </a:rPr>
              <a:t>DECISION LOGIC</a:t>
            </a:r>
            <a:endParaRPr lang="en-US"/>
          </a:p>
        </p:txBody>
      </p:sp>
      <p:sp>
        <p:nvSpPr>
          <p:cNvPr id="22" name="decision-summary"/>
          <p:cNvSpPr txBox="1"/>
          <p:nvPr/>
        </p:nvSpPr>
        <p:spPr>
          <a:xfrm xmlns:a="http://schemas.openxmlformats.org/drawingml/2006/main">
            <a:off x="10287000" y="3810000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20201E"/>
                </a:solidFill>
                <a:latin typeface="Arial"/>
                <a:ea typeface="Arial"/>
              </a:rPr>
              <a:t>A page earns density when each line changes the choice.</a:t>
            </a:r>
            <a:endParaRPr lang="en-US"/>
          </a:p>
        </p:txBody>
      </p:sp>
      <p:sp>
        <p:nvSpPr>
          <p:cNvPr id="23" name="decision-callout"/>
          <p:cNvSpPr/>
          <p:nvPr/>
        </p:nvSpPr>
        <p:spPr>
          <a:xfrm xmlns:a="http://schemas.openxmlformats.org/drawingml/2006/main">
            <a:off x="10287000" y="52197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2"/>
          </a:solidFill>
          <a:ln xmlns:a="http://schemas.openxmlformats.org/drawingml/2006/main" w="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decision-callout-text"/>
          <p:cNvSpPr txBox="1"/>
          <p:nvPr/>
        </p:nvSpPr>
        <p:spPr>
          <a:xfrm xmlns:a="http://schemas.openxmlformats.org/drawingml/2006/main">
            <a:off x="10572750" y="54768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ONE LEVER · ONE OWNER · ONE DATE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visual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c7b73f8fac405495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visual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1E">
              <a:alpha val="62000"/>
            </a:srgbClr>
          </a:solidFill>
          <a:ln xmlns:a="http://schemas.openxmlformats.org/drawingml/2006/main" w="0">
            <a:solidFill>
              <a:srgbClr val="20201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visual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APRICOT DOSSIER · VISUAL CARRIER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B63A42"/>
                </a:solidFill>
                <a:latin typeface="Arial"/>
                <a:ea typeface="Arial"/>
              </a:rPr>
              <a:t>APRICOT DOSSIER · VISUAL CARRIER</a:t>
            </a:r>
            <a:endParaRPr lang="en-US"/>
          </a:p>
        </p:txBody>
      </p:sp>
      <p:sp>
        <p:nvSpPr>
          <p:cNvPr id="7" name="visual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Make the choice legible</a:t>
            </a:r>
            <a:endParaRPr lang="en-US"/>
          </a:p>
        </p:txBody>
      </p:sp>
      <p:sp>
        <p:nvSpPr>
          <p:cNvPr id="8" name="visual-body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A single visual cue can make the recommendation easier to remember.</a:t>
            </a:r>
            <a:endParaRPr lang="en-US"/>
          </a:p>
        </p:txBody>
      </p:sp>
      <p:graphicFrame>
        <p:nvGraphicFramePr>
          <p:cNvPr id="9" name="dense-visual-bars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14400" y="3028950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94efca43ae470a"/>
          </a:graphicData>
        </a:graphic>
      </p:graphicFrame>
      <p:graphicFrame>
        <p:nvGraphicFramePr>
          <p:cNvPr id="10" name="dense-visual-lin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667500" y="3028950"/>
          <a:ext xmlns:a="http://schemas.openxmlformats.org/drawingml/2006/main" cx="3810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979800bace48e9"/>
          </a:graphicData>
        </a:graphic>
      </p:graphicFrame>
      <p:sp>
        <p:nvSpPr>
          <p:cNvPr id="11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B63A42"/>
                </a:solidFill>
                <a:latin typeface="Arial"/>
                <a:ea typeface="Arial"/>
              </a:rPr>
              <a:t>CARRIER</a:t>
            </a:r>
            <a:endParaRPr lang="en-US"/>
          </a:p>
        </p:txBody>
      </p:sp>
      <p:sp>
        <p:nvSpPr>
          <p:cNvPr id="13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20201E"/>
                </a:solidFill>
                <a:latin typeface="Arial"/>
                <a:ea typeface="Arial"/>
              </a:rPr>
              <a:t>Choice before inventory</a:t>
            </a:r>
            <a:endParaRPr lang="en-US"/>
          </a:p>
        </p:txBody>
      </p:sp>
      <p:sp>
        <p:nvSpPr>
          <p:cNvPr id="14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4938F"/>
                </a:solidFill>
                <a:latin typeface="Arial"/>
                <a:ea typeface="Arial"/>
              </a:rPr>
              <a:t>Read the mark, unit, and basis.</a:t>
            </a:r>
            <a:endParaRPr lang="en-US"/>
          </a:p>
        </p:txBody>
      </p:sp>
      <p:sp>
        <p:nvSpPr>
          <p:cNvPr id="1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1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close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2930549abca3ae00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close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1E">
              <a:alpha val="62000"/>
            </a:srgbClr>
          </a:solidFill>
          <a:ln xmlns:a="http://schemas.openxmlformats.org/drawingml/2006/main" w="0">
            <a:solidFill>
              <a:srgbClr val="20201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close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APRICOT DOSSIER · CLOSE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B63A42"/>
                </a:solidFill>
                <a:latin typeface="Arial"/>
                <a:ea typeface="Arial"/>
              </a:rPr>
              <a:t>APRICOT DOSSIER · CLOSE</a:t>
            </a:r>
            <a:endParaRPr lang="en-US"/>
          </a:p>
        </p:txBody>
      </p:sp>
      <p:sp>
        <p:nvSpPr>
          <p:cNvPr id="7" name="close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The recommendation is narrow by design</a:t>
            </a:r>
            <a:endParaRPr lang="en-US"/>
          </a:p>
        </p:txBody>
      </p:sp>
      <p:sp>
        <p:nvSpPr>
          <p:cNvPr id="8" name="close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9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B63A42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0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0201E"/>
                </a:solidFill>
                <a:latin typeface="Arial"/>
                <a:ea typeface="Arial"/>
              </a:rPr>
              <a:t>Finding</a:t>
            </a:r>
            <a:endParaRPr lang="en-US"/>
          </a:p>
        </p:txBody>
      </p:sp>
      <p:sp>
        <p:nvSpPr>
          <p:cNvPr id="12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0201E"/>
                </a:solidFill>
                <a:latin typeface="Arial"/>
                <a:ea typeface="Arial"/>
              </a:rPr>
              <a:t>Concentration drives the variance.</a:t>
            </a:r>
            <a:endParaRPr lang="en-US"/>
          </a:p>
        </p:txBody>
      </p:sp>
      <p:sp>
        <p:nvSpPr>
          <p:cNvPr id="13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0201E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4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0201E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6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0201E"/>
                </a:solidFill>
                <a:latin typeface="Arial"/>
                <a:ea typeface="Arial"/>
              </a:rPr>
              <a:t>Protect the strongest channel first.</a:t>
            </a:r>
            <a:endParaRPr lang="en-US"/>
          </a:p>
        </p:txBody>
      </p:sp>
      <p:sp>
        <p:nvSpPr>
          <p:cNvPr id="17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B63A42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8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0201E"/>
                </a:solidFill>
                <a:latin typeface="Arial"/>
                <a:ea typeface="Arial"/>
              </a:rPr>
              <a:t>Owner</a:t>
            </a:r>
            <a:endParaRPr lang="en-US"/>
          </a:p>
        </p:txBody>
      </p:sp>
      <p:sp>
        <p:nvSpPr>
          <p:cNvPr id="20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0201E"/>
                </a:solidFill>
                <a:latin typeface="Arial"/>
                <a:ea typeface="Arial"/>
              </a:rPr>
              <a:t>Return with a gated decision.</a:t>
            </a:r>
            <a:endParaRPr lang="en-US"/>
          </a:p>
        </p:txBody>
      </p:sp>
      <p:sp>
        <p:nvSpPr>
          <p:cNvPr id="21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2"/>
          </a:solidFill>
          <a:ln xmlns:a="http://schemas.openxmlformats.org/drawingml/2006/main" w="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23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Arial"/>
                <a:ea typeface="Arial"/>
              </a:rPr>
              <a:t>Approve one lever</a:t>
            </a:r>
            <a:endParaRPr lang="en-US"/>
          </a:p>
        </p:txBody>
      </p:sp>
      <p:sp>
        <p:nvSpPr>
          <p:cNvPr id="24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