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f6bc1c5524f4fa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solidFill>
              <a:srgbClr val="FB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88A78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7352F"/>
                </a:solidFill>
                <a:latin typeface="Inter"/>
                <a:ea typeface="Inter"/>
              </a:rPr>
              <a:t>Tidal Research: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188A78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52F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352F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solidFill>
              <a:srgbClr val="FB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IDAL RESEARCH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88A78"/>
                </a:solidFill>
                <a:latin typeface="Inter"/>
                <a:ea typeface="Inter"/>
              </a:rPr>
              <a:t>TIDAL RESEARCH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52F"/>
                </a:solidFill>
                <a:latin typeface="Inter"/>
                <a:ea typeface="Inter"/>
              </a:rPr>
              <a:t>The method keeps mechanism separate from drift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9C99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88A7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11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52F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12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88A7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15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52F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16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88A7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9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52F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20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88A78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22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188A78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23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E9C99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solidFill>
              <a:srgbClr val="FB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IDAL RESEARCH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88A78"/>
                </a:solidFill>
                <a:latin typeface="Inter"/>
                <a:ea typeface="Inter"/>
              </a:rPr>
              <a:t>TIDAL RESEARCH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52F"/>
                </a:solidFill>
                <a:latin typeface="Inter"/>
                <a:ea typeface="Inter"/>
              </a:rPr>
              <a:t>The result clears the rule; uncertainty remains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9C99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timeline-label"/>
          <p:cNvSpPr txBox="1"/>
          <p:nvPr/>
        </p:nvSpPr>
        <p:spPr>
          <a:xfrm xmlns:a="http://schemas.openxmlformats.org/drawingml/2006/main">
            <a:off x="1066800" y="32385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88A78"/>
                </a:solidFill>
                <a:latin typeface="Inter"/>
                <a:ea typeface="Inter"/>
              </a:rPr>
              <a:t>EVOLUTION / TRANSITION</a:t>
            </a:r>
            <a:endParaRPr lang="en-US"/>
          </a:p>
        </p:txBody>
      </p:sp>
      <p:sp>
        <p:nvSpPr>
          <p:cNvPr id="9" name="timeline-axis"/>
          <p:cNvSpPr/>
          <p:nvPr/>
        </p:nvSpPr>
        <p:spPr>
          <a:xfrm xmlns:a="http://schemas.openxmlformats.org/drawingml/2006/main">
            <a:off x="1219200" y="47625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timeline-node-0"/>
          <p:cNvSpPr/>
          <p:nvPr/>
        </p:nvSpPr>
        <p:spPr>
          <a:xfrm xmlns:a="http://schemas.openxmlformats.org/drawingml/2006/main">
            <a:off x="1066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254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timeline-number-0"/>
          <p:cNvSpPr txBox="1"/>
          <p:nvPr/>
        </p:nvSpPr>
        <p:spPr>
          <a:xfrm xmlns:a="http://schemas.openxmlformats.org/drawingml/2006/main">
            <a:off x="952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88A7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2" name="timeline-label-0"/>
          <p:cNvSpPr txBox="1"/>
          <p:nvPr/>
        </p:nvSpPr>
        <p:spPr>
          <a:xfrm xmlns:a="http://schemas.openxmlformats.org/drawingml/2006/main">
            <a:off x="533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352F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13" name="timeline-text-0"/>
          <p:cNvSpPr txBox="1"/>
          <p:nvPr/>
        </p:nvSpPr>
        <p:spPr>
          <a:xfrm xmlns:a="http://schemas.openxmlformats.org/drawingml/2006/main">
            <a:off x="323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14" name="timeline-node-1"/>
          <p:cNvSpPr/>
          <p:nvPr/>
        </p:nvSpPr>
        <p:spPr>
          <a:xfrm xmlns:a="http://schemas.openxmlformats.org/drawingml/2006/main">
            <a:off x="36385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254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timeline-number-1"/>
          <p:cNvSpPr txBox="1"/>
          <p:nvPr/>
        </p:nvSpPr>
        <p:spPr>
          <a:xfrm xmlns:a="http://schemas.openxmlformats.org/drawingml/2006/main">
            <a:off x="35242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88A7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6" name="timeline-label-1"/>
          <p:cNvSpPr txBox="1"/>
          <p:nvPr/>
        </p:nvSpPr>
        <p:spPr>
          <a:xfrm xmlns:a="http://schemas.openxmlformats.org/drawingml/2006/main">
            <a:off x="31051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352F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17" name="timeline-text-1"/>
          <p:cNvSpPr txBox="1"/>
          <p:nvPr/>
        </p:nvSpPr>
        <p:spPr>
          <a:xfrm xmlns:a="http://schemas.openxmlformats.org/drawingml/2006/main">
            <a:off x="28956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18" name="timeline-node-2"/>
          <p:cNvSpPr/>
          <p:nvPr/>
        </p:nvSpPr>
        <p:spPr>
          <a:xfrm xmlns:a="http://schemas.openxmlformats.org/drawingml/2006/main">
            <a:off x="62103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254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timeline-number-2"/>
          <p:cNvSpPr txBox="1"/>
          <p:nvPr/>
        </p:nvSpPr>
        <p:spPr>
          <a:xfrm xmlns:a="http://schemas.openxmlformats.org/drawingml/2006/main">
            <a:off x="60960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88A7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0" name="timeline-label-2"/>
          <p:cNvSpPr txBox="1"/>
          <p:nvPr/>
        </p:nvSpPr>
        <p:spPr>
          <a:xfrm xmlns:a="http://schemas.openxmlformats.org/drawingml/2006/main">
            <a:off x="56769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352F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21" name="timeline-text-2"/>
          <p:cNvSpPr txBox="1"/>
          <p:nvPr/>
        </p:nvSpPr>
        <p:spPr>
          <a:xfrm xmlns:a="http://schemas.openxmlformats.org/drawingml/2006/main">
            <a:off x="54673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22" name="timeline-node-3"/>
          <p:cNvSpPr/>
          <p:nvPr/>
        </p:nvSpPr>
        <p:spPr>
          <a:xfrm xmlns:a="http://schemas.openxmlformats.org/drawingml/2006/main">
            <a:off x="87820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254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imeline-number-3"/>
          <p:cNvSpPr txBox="1"/>
          <p:nvPr/>
        </p:nvSpPr>
        <p:spPr>
          <a:xfrm xmlns:a="http://schemas.openxmlformats.org/drawingml/2006/main">
            <a:off x="86677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88A78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4" name="timeline-label-3"/>
          <p:cNvSpPr txBox="1"/>
          <p:nvPr/>
        </p:nvSpPr>
        <p:spPr>
          <a:xfrm xmlns:a="http://schemas.openxmlformats.org/drawingml/2006/main">
            <a:off x="82486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352F"/>
                </a:solidFill>
                <a:latin typeface="Inter"/>
                <a:ea typeface="Inter"/>
              </a:rPr>
              <a:t>Move</a:t>
            </a:r>
            <a:endParaRPr lang="en-US"/>
          </a:p>
        </p:txBody>
      </p:sp>
      <p:sp>
        <p:nvSpPr>
          <p:cNvPr id="25" name="timeline-text-3"/>
          <p:cNvSpPr txBox="1"/>
          <p:nvPr/>
        </p:nvSpPr>
        <p:spPr>
          <a:xfrm xmlns:a="http://schemas.openxmlformats.org/drawingml/2006/main">
            <a:off x="80391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26" name="timeline-node-4"/>
          <p:cNvSpPr/>
          <p:nvPr/>
        </p:nvSpPr>
        <p:spPr>
          <a:xfrm xmlns:a="http://schemas.openxmlformats.org/drawingml/2006/main">
            <a:off x="11353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254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timeline-number-4"/>
          <p:cNvSpPr txBox="1"/>
          <p:nvPr/>
        </p:nvSpPr>
        <p:spPr>
          <a:xfrm xmlns:a="http://schemas.openxmlformats.org/drawingml/2006/main">
            <a:off x="11239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88A78"/>
                </a:solidFill>
                <a:latin typeface="Inter"/>
                <a:ea typeface="Inter"/>
              </a:rPr>
              <a:t>05</a:t>
            </a:r>
            <a:endParaRPr lang="en-US"/>
          </a:p>
        </p:txBody>
      </p:sp>
      <p:sp>
        <p:nvSpPr>
          <p:cNvPr id="28" name="timeline-label-4"/>
          <p:cNvSpPr txBox="1"/>
          <p:nvPr/>
        </p:nvSpPr>
        <p:spPr>
          <a:xfrm xmlns:a="http://schemas.openxmlformats.org/drawingml/2006/main">
            <a:off x="10820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352F"/>
                </a:solidFill>
                <a:latin typeface="Inter"/>
                <a:ea typeface="Inter"/>
              </a:rPr>
              <a:t>Scale</a:t>
            </a:r>
            <a:endParaRPr lang="en-US"/>
          </a:p>
        </p:txBody>
      </p:sp>
      <p:sp>
        <p:nvSpPr>
          <p:cNvPr id="29" name="timeline-text-4"/>
          <p:cNvSpPr txBox="1"/>
          <p:nvPr/>
        </p:nvSpPr>
        <p:spPr>
          <a:xfrm xmlns:a="http://schemas.openxmlformats.org/drawingml/2006/main">
            <a:off x="10610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Repeat what held</a:t>
            </a:r>
            <a:endParaRPr lang="en-US"/>
          </a:p>
        </p:txBody>
      </p:sp>
      <p:sp>
        <p:nvSpPr>
          <p:cNvPr id="30" name="timeline-read-label"/>
          <p:cNvSpPr txBox="1"/>
          <p:nvPr/>
        </p:nvSpPr>
        <p:spPr>
          <a:xfrm xmlns:a="http://schemas.openxmlformats.org/drawingml/2006/main">
            <a:off x="1066800" y="6667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188A78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31" name="timeline-read"/>
          <p:cNvSpPr txBox="1"/>
          <p:nvPr/>
        </p:nvSpPr>
        <p:spPr>
          <a:xfrm xmlns:a="http://schemas.openxmlformats.org/drawingml/2006/main">
            <a:off x="3333750" y="66294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425" b="1">
                <a:solidFill>
                  <a:srgbClr val="17352F"/>
                </a:solidFill>
                <a:latin typeface="Inter"/>
                <a:ea typeface="Inter"/>
              </a:rPr>
              <a:t>A sequence is useful when each handoff changes what can happen next.</a:t>
            </a:r>
            <a:endParaRPr lang="en-US"/>
          </a:p>
        </p:txBody>
      </p:sp>
      <p:sp>
        <p:nvSpPr>
          <p:cNvPr id="32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352F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3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3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solidFill>
              <a:srgbClr val="FB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IDAL RESEARCH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88A78"/>
                </a:solidFill>
                <a:latin typeface="Inter"/>
                <a:ea typeface="Inter"/>
              </a:rPr>
              <a:t>TIDAL RESEARCH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52F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9C99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381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88A7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52F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E9C99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381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88A7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52F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E9C99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381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88A7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52F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E9C99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88A78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52F"/>
                </a:solidFill>
                <a:latin typeface="Inter"/>
                <a:ea typeface="Inter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E9C99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88A78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352F"/>
                </a:solidFill>
                <a:latin typeface="Inter"/>
                <a:ea typeface="Inter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9C99"/>
                </a:solidFill>
                <a:latin typeface="Inter"/>
                <a:ea typeface="Inter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solidFill>
              <a:srgbClr val="FB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IDAL RESEARCH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88A78"/>
                </a:solidFill>
                <a:latin typeface="Inter"/>
                <a:ea typeface="Inter"/>
              </a:rPr>
              <a:t>TIDAL RESEARCH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52F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9C99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381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188A7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1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Observe</a:t>
            </a:r>
            <a:endParaRPr lang="en-US"/>
          </a:p>
        </p:txBody>
      </p:sp>
      <p:sp>
        <p:nvSpPr>
          <p:cNvPr id="12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9C99"/>
                </a:solidFill>
                <a:latin typeface="Inter"/>
                <a:ea typeface="Inter"/>
              </a:rPr>
              <a:t>Find the signal</a:t>
            </a:r>
            <a:endParaRPr lang="en-US"/>
          </a:p>
        </p:txBody>
      </p:sp>
      <p:sp>
        <p:nvSpPr>
          <p:cNvPr id="13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381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188A7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5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Explain</a:t>
            </a:r>
            <a:endParaRPr lang="en-US"/>
          </a:p>
        </p:txBody>
      </p:sp>
      <p:sp>
        <p:nvSpPr>
          <p:cNvPr id="16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9C99"/>
                </a:solidFill>
                <a:latin typeface="Inter"/>
                <a:ea typeface="Inter"/>
              </a:rPr>
              <a:t>Name the mechanism</a:t>
            </a:r>
            <a:endParaRPr lang="en-US"/>
          </a:p>
        </p:txBody>
      </p:sp>
      <p:sp>
        <p:nvSpPr>
          <p:cNvPr id="17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381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188A7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9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Choose</a:t>
            </a:r>
            <a:endParaRPr lang="en-US"/>
          </a:p>
        </p:txBody>
      </p:sp>
      <p:sp>
        <p:nvSpPr>
          <p:cNvPr id="20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9C99"/>
                </a:solidFill>
                <a:latin typeface="Inter"/>
                <a:ea typeface="Inter"/>
              </a:rPr>
              <a:t>Set the condition</a:t>
            </a:r>
            <a:endParaRPr lang="en-US"/>
          </a:p>
        </p:txBody>
      </p:sp>
      <p:sp>
        <p:nvSpPr>
          <p:cNvPr id="21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3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Act</a:t>
            </a:r>
            <a:endParaRPr lang="en-US"/>
          </a:p>
        </p:txBody>
      </p:sp>
      <p:sp>
        <p:nvSpPr>
          <p:cNvPr id="24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9C99"/>
                </a:solidFill>
                <a:latin typeface="Inter"/>
                <a:ea typeface="Inter"/>
              </a:rPr>
              <a:t>Return with proof</a:t>
            </a:r>
            <a:endParaRPr lang="en-US"/>
          </a:p>
        </p:txBody>
      </p:sp>
      <p:sp>
        <p:nvSpPr>
          <p:cNvPr id="25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88A78"/>
                </a:solidFill>
                <a:latin typeface="Inter"/>
                <a:ea typeface="Inter"/>
              </a:rPr>
              <a:t>PROCESS CARRIER</a:t>
            </a:r>
            <a:endParaRPr lang="en-US"/>
          </a:p>
        </p:txBody>
      </p:sp>
      <p:sp>
        <p:nvSpPr>
          <p:cNvPr id="27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7352F"/>
                </a:solidFill>
                <a:latin typeface="Inter"/>
                <a:ea typeface="Inter"/>
              </a:rPr>
              <a:t>A relationship earns a line.</a:t>
            </a:r>
            <a:endParaRPr lang="en-US"/>
          </a:p>
        </p:txBody>
      </p:sp>
      <p:sp>
        <p:nvSpPr>
          <p:cNvPr id="28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9C99"/>
                </a:solidFill>
                <a:latin typeface="Inter"/>
                <a:ea typeface="Inter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29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88A78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31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352F"/>
                </a:solidFill>
                <a:latin typeface="Inter"/>
                <a:ea typeface="Inter"/>
              </a:rPr>
              <a:t>Pattern before caveat</a:t>
            </a:r>
            <a:endParaRPr lang="en-US"/>
          </a:p>
        </p:txBody>
      </p:sp>
      <p:sp>
        <p:nvSpPr>
          <p:cNvPr id="32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E9C99"/>
                </a:solidFill>
                <a:latin typeface="Inter"/>
                <a:ea typeface="Inter"/>
              </a:rPr>
              <a:t>Crop, contrast and source role are reviewed before delivery.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solidFill>
              <a:srgbClr val="FB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IDAL RESEARCH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88A78"/>
                </a:solidFill>
                <a:latin typeface="Inter"/>
                <a:ea typeface="Inter"/>
              </a:rPr>
              <a:t>TIDAL RESEARCH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52F"/>
                </a:solidFill>
                <a:latin typeface="Inter"/>
                <a:ea typeface="Inter"/>
              </a:rPr>
              <a:t>A cleared gate is a decision, not a universal claim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9C99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8A7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52F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352F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52F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8A7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52F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