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28f8a38a2bb45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chart" Target="/ppt/slides/charts/chart1.xml" Id="Rd5dabe1dc5c94a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Observed signal over the study window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v>Primary</c:v>
          </c:tx>
          <c:spPr>
            <a:solidFill>
              <a:srgbClr val="188A78"/>
            </a:solidFill>
            <a:ln w="50800">
              <a:solidFill>
                <a:srgbClr val="188A78"/>
              </a:solidFill>
              <a:prstDash val="solid"/>
            </a:ln>
          </c:spPr>
          <c:marker>
            <c:symbol val="circle"/>
            <c:size val="8"/>
          </c:marker>
          <c:cat>
            <c:strLit>
              <c:ptCount val="5"/>
              <c:pt idx="0">
                <c:v>Baseline</c:v>
              </c:pt>
              <c:pt idx="1">
                <c:v>Phase 1</c:v>
              </c:pt>
              <c:pt idx="2">
                <c:v>Phase 2</c:v>
              </c:pt>
              <c:pt idx="3">
                <c:v>Phase 3</c:v>
              </c:pt>
              <c:pt idx="4">
                <c:v>Close</c:v>
              </c:pt>
            </c:strLit>
          </c:cat>
          <c:val>
            <c:numLit>
              <c:formatCode>General</c:formatCode>
              <c:ptCount val="5"/>
              <c:pt idx="0">
                <c:v>42</c:v>
              </c:pt>
              <c:pt idx="1">
                <c:v>48</c:v>
              </c:pt>
              <c:pt idx="2">
                <c:v>54</c:v>
              </c:pt>
              <c:pt idx="3">
                <c:v>61</c:v>
              </c:pt>
              <c:pt idx="4">
                <c:v>68</c:v>
              </c:pt>
            </c:numLit>
          </c:val>
        </c:ser>
        <c:ser>
          <c:idx val="1"/>
          <c:order val="1"/>
          <c:tx>
            <c:v>Reference</c:v>
          </c:tx>
          <c:spPr>
            <a:solidFill>
              <a:srgbClr val="8E9C99"/>
            </a:solidFill>
            <a:ln w="38100">
              <a:solidFill>
                <a:srgbClr val="8E9C99"/>
              </a:solidFill>
              <a:prstDash val="solid"/>
            </a:ln>
          </c:spPr>
          <c:marker>
            <c:symbol val="circle"/>
            <c:size val="7"/>
          </c:marker>
          <c:cat>
            <c:strLit>
              <c:ptCount val="5"/>
              <c:pt idx="0">
                <c:v>Baseline</c:v>
              </c:pt>
              <c:pt idx="1">
                <c:v>Phase 1</c:v>
              </c:pt>
              <c:pt idx="2">
                <c:v>Phase 2</c:v>
              </c:pt>
              <c:pt idx="3">
                <c:v>Phase 3</c:v>
              </c:pt>
              <c:pt idx="4">
                <c:v>Close</c:v>
              </c:pt>
            </c:strLit>
          </c:cat>
          <c:val>
            <c:numLit>
              <c:formatCode>General</c:formatCode>
              <c:ptCount val="5"/>
              <c:pt idx="0">
                <c:v>40</c:v>
              </c:pt>
              <c:pt idx="1">
                <c:v>42</c:v>
              </c:pt>
              <c:pt idx="2">
                <c:v>44</c:v>
              </c:pt>
              <c:pt idx="3">
                <c:v>45</c:v>
              </c:pt>
              <c:pt idx="4">
                <c:v>46</c:v>
              </c:pt>
            </c:numLit>
          </c:val>
        </c:ser>
        <c:axId val="1"/>
        <c:axId val="2"/>
      </c:line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legend>
      <c:legendPos val="r"/>
      <c:layout/>
    </c:legend>
    <c:plotVisOnly val="1"/>
  </c:chart>
</c:chartSpace>
</file>

<file path=ppt/slides/slide1.xml><?xml version="1.0" encoding="utf-8"?>
<p:sld xmlns:p="http://schemas.openxmlformats.org/presentationml/2006/main">
  <p:cSld name="Opening claim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0">
            <a:solidFill>
              <a:srgbClr val="FBFCF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88A7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eyebrow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188A78"/>
                </a:solidFill>
                <a:latin typeface="Inter"/>
                <a:ea typeface="Inter"/>
              </a:rPr>
              <a:t>ACADEMIC · OFFICEKIT CALIBRATION</a:t>
            </a:r>
            <a:endParaRPr lang="en-US"/>
          </a:p>
        </p:txBody>
      </p:sp>
      <p:sp>
        <p:nvSpPr>
          <p:cNvPr id="5" name="cover-title"/>
          <p:cNvSpPr txBox="1"/>
          <p:nvPr/>
        </p:nvSpPr>
        <p:spPr>
          <a:xfrm xmlns:a="http://schemas.openxmlformats.org/drawingml/2006/main">
            <a:off x="914400" y="1571625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7352F"/>
                </a:solidFill>
                <a:latin typeface="Inter"/>
                <a:ea typeface="Inter"/>
              </a:rPr>
              <a:t>Tidal Research: a claim worth testing</a:t>
            </a:r>
            <a:endParaRPr lang="en-US"/>
          </a:p>
        </p:txBody>
      </p:sp>
      <p:sp>
        <p:nvSpPr>
          <p:cNvPr id="6" name="cover-subtitle"/>
          <p:cNvSpPr txBox="1"/>
          <p:nvPr/>
        </p:nvSpPr>
        <p:spPr>
          <a:xfrm xmlns:a="http://schemas.openxmlformats.org/drawingml/2006/main">
            <a:off x="952500" y="2857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>
                <a:solidFill>
                  <a:srgbClr val="188A78"/>
                </a:solidFill>
                <a:latin typeface="Inter"/>
                <a:ea typeface="Inter"/>
              </a:rPr>
              <a:t>A clean-room reference for evidence, direction, and a decision.</a:t>
            </a:r>
            <a:endParaRPr lang="en-US"/>
          </a:p>
        </p:txBody>
      </p:sp>
      <p:sp>
        <p:nvSpPr>
          <p:cNvPr id="7" name="cover-rule"/>
          <p:cNvSpPr/>
          <p:nvPr/>
        </p:nvSpPr>
        <p:spPr>
          <a:xfrm xmlns:a="http://schemas.openxmlformats.org/drawingml/2006/main">
            <a:off x="914400" y="3524250"/>
            <a:ext cx="765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E9C9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over-basis"/>
          <p:cNvSpPr txBox="1"/>
          <p:nvPr/>
        </p:nvSpPr>
        <p:spPr>
          <a:xfrm xmlns:a="http://schemas.openxmlformats.org/drawingml/2006/main">
            <a:off x="952500" y="376237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7352F"/>
                </a:solidFill>
                <a:latin typeface="Inter"/>
                <a:ea typeface="Inter"/>
              </a:rPr>
              <a:t>One visual language · four page roles · native editable objects</a:t>
            </a:r>
            <a:endParaRPr lang="en-US"/>
          </a:p>
        </p:txBody>
      </p:sp>
      <p:sp>
        <p:nvSpPr>
          <p:cNvPr id="9" name="cover-thesis"/>
          <p:cNvSpPr txBox="1"/>
          <p:nvPr/>
        </p:nvSpPr>
        <p:spPr>
          <a:xfrm xmlns:a="http://schemas.openxmlformats.org/drawingml/2006/main">
            <a:off x="952500" y="4810125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7352F"/>
                </a:solidFill>
                <a:latin typeface="Inter"/>
                <a:ea typeface="Inter"/>
              </a:rPr>
              <a:t>A falsifiable claim is a design decision.</a:t>
            </a:r>
            <a:endParaRPr lang="en-US"/>
          </a:p>
        </p:txBody>
      </p:sp>
      <p:sp>
        <p:nvSpPr>
          <p:cNvPr id="10" name="cover-source"/>
          <p:cNvSpPr txBox="1"/>
          <p:nvPr/>
        </p:nvSpPr>
        <p:spPr>
          <a:xfrm xmlns:a="http://schemas.openxmlformats.org/drawingml/2006/main">
            <a:off x="952500" y="73152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E9C99"/>
                </a:solidFill>
                <a:latin typeface="Inter"/>
                <a:ea typeface="Inter"/>
              </a:rPr>
              <a:t>OfficeKit original clean-room calibration · fictional content · 2026-08-29</a:t>
            </a:r>
            <a:endParaRPr lang="en-US"/>
          </a:p>
        </p:txBody>
      </p:sp>
      <p:sp>
        <p:nvSpPr>
          <p:cNvPr id="11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E9C99"/>
                </a:solidFill>
                <a:latin typeface="Inter"/>
                <a:ea typeface="Inter"/>
              </a:rPr>
              <a:t>1 / 6</a:t>
            </a:r>
            <a:endParaRPr lang="en-US"/>
          </a:p>
        </p:txBody>
      </p:sp>
      <p:sp>
        <p:nvSpPr>
          <p:cNvPr id="12" name="anchor-field"/>
          <p:cNvSpPr/>
          <p:nvPr/>
        </p:nvSpPr>
        <p:spPr>
          <a:xfrm xmlns:a="http://schemas.openxmlformats.org/drawingml/2006/main">
            <a:off x="11620500" y="1790700"/>
            <a:ext cx="2095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25400">
            <a:solidFill>
              <a:srgbClr val="188A7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anchor-grid-0-0"/>
          <p:cNvSpPr/>
          <p:nvPr/>
        </p:nvSpPr>
        <p:spPr>
          <a:xfrm xmlns:a="http://schemas.openxmlformats.org/drawingml/2006/main">
            <a:off x="119253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A78"/>
          </a:solidFill>
          <a:ln xmlns:a="http://schemas.openxmlformats.org/drawingml/2006/main" w="12700">
            <a:solidFill>
              <a:srgbClr val="188A7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anchor-grid-0-1"/>
          <p:cNvSpPr/>
          <p:nvPr/>
        </p:nvSpPr>
        <p:spPr>
          <a:xfrm xmlns:a="http://schemas.openxmlformats.org/drawingml/2006/main">
            <a:off x="124206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A78"/>
          </a:solidFill>
          <a:ln xmlns:a="http://schemas.openxmlformats.org/drawingml/2006/main" w="12700">
            <a:solidFill>
              <a:srgbClr val="188A7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anchor-grid-0-2"/>
          <p:cNvSpPr/>
          <p:nvPr/>
        </p:nvSpPr>
        <p:spPr>
          <a:xfrm xmlns:a="http://schemas.openxmlformats.org/drawingml/2006/main">
            <a:off x="129159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12700">
            <a:solidFill>
              <a:srgbClr val="188A7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anchor-grid-1-0"/>
          <p:cNvSpPr/>
          <p:nvPr/>
        </p:nvSpPr>
        <p:spPr>
          <a:xfrm xmlns:a="http://schemas.openxmlformats.org/drawingml/2006/main">
            <a:off x="119253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A78"/>
          </a:solidFill>
          <a:ln xmlns:a="http://schemas.openxmlformats.org/drawingml/2006/main" w="12700">
            <a:solidFill>
              <a:srgbClr val="188A7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7" name="anchor-grid-1-1"/>
          <p:cNvSpPr/>
          <p:nvPr/>
        </p:nvSpPr>
        <p:spPr>
          <a:xfrm xmlns:a="http://schemas.openxmlformats.org/drawingml/2006/main">
            <a:off x="124206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A78"/>
          </a:solidFill>
          <a:ln xmlns:a="http://schemas.openxmlformats.org/drawingml/2006/main" w="12700">
            <a:solidFill>
              <a:srgbClr val="188A7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anchor-grid-1-2"/>
          <p:cNvSpPr/>
          <p:nvPr/>
        </p:nvSpPr>
        <p:spPr>
          <a:xfrm xmlns:a="http://schemas.openxmlformats.org/drawingml/2006/main">
            <a:off x="129159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12700">
            <a:solidFill>
              <a:srgbClr val="188A7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anchor-grid-2-0"/>
          <p:cNvSpPr/>
          <p:nvPr/>
        </p:nvSpPr>
        <p:spPr>
          <a:xfrm xmlns:a="http://schemas.openxmlformats.org/drawingml/2006/main">
            <a:off x="119253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A78"/>
          </a:solidFill>
          <a:ln xmlns:a="http://schemas.openxmlformats.org/drawingml/2006/main" w="12700">
            <a:solidFill>
              <a:srgbClr val="188A7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0" name="anchor-grid-2-1"/>
          <p:cNvSpPr/>
          <p:nvPr/>
        </p:nvSpPr>
        <p:spPr>
          <a:xfrm xmlns:a="http://schemas.openxmlformats.org/drawingml/2006/main">
            <a:off x="124206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A78"/>
          </a:solidFill>
          <a:ln xmlns:a="http://schemas.openxmlformats.org/drawingml/2006/main" w="12700">
            <a:solidFill>
              <a:srgbClr val="188A7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anchor-grid-2-2"/>
          <p:cNvSpPr/>
          <p:nvPr/>
        </p:nvSpPr>
        <p:spPr>
          <a:xfrm xmlns:a="http://schemas.openxmlformats.org/drawingml/2006/main">
            <a:off x="129159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12700">
            <a:solidFill>
              <a:srgbClr val="188A7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anchor-axis"/>
          <p:cNvSpPr/>
          <p:nvPr/>
        </p:nvSpPr>
        <p:spPr>
          <a:xfrm xmlns:a="http://schemas.openxmlformats.org/drawingml/2006/main">
            <a:off x="12668250" y="1638300"/>
            <a:ext cx="0" cy="2743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17352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0">
            <a:solidFill>
              <a:srgbClr val="FBFCF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argument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88A7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TIDAL RESEARCH · ARGUMENT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188A78"/>
                </a:solidFill>
                <a:latin typeface="Inter"/>
                <a:ea typeface="Inter"/>
              </a:rPr>
              <a:t>TIDAL RESEARCH · ARGUMENT</a:t>
            </a:r>
            <a:endParaRPr lang="en-US"/>
          </a:p>
        </p:txBody>
      </p:sp>
      <p:sp>
        <p:nvSpPr>
          <p:cNvPr id="5" name="argument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7352F"/>
                </a:solidFill>
                <a:latin typeface="Inter"/>
                <a:ea typeface="Inter"/>
              </a:rPr>
              <a:t>The method keeps mechanism separate from drift</a:t>
            </a:r>
            <a:endParaRPr lang="en-US"/>
          </a:p>
        </p:txBody>
      </p:sp>
      <p:sp>
        <p:nvSpPr>
          <p:cNvPr id="6" name="argument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E9C99"/>
                </a:solidFill>
                <a:latin typeface="Inter"/>
                <a:ea typeface="Inter"/>
              </a:rPr>
              <a:t>Question → method → result → limitation, without marketing language.</a:t>
            </a:r>
            <a:endParaRPr lang="en-US"/>
          </a:p>
        </p:txBody>
      </p:sp>
      <p:sp>
        <p:nvSpPr>
          <p:cNvPr id="7" name="argument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E9C9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academic-number-0"/>
          <p:cNvSpPr txBox="1"/>
          <p:nvPr/>
        </p:nvSpPr>
        <p:spPr>
          <a:xfrm xmlns:a="http://schemas.openxmlformats.org/drawingml/2006/main">
            <a:off x="1104900" y="32385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88A78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9" name="academic-rule-0"/>
          <p:cNvSpPr/>
          <p:nvPr/>
        </p:nvSpPr>
        <p:spPr>
          <a:xfrm xmlns:a="http://schemas.openxmlformats.org/drawingml/2006/main">
            <a:off x="2000250" y="33909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E9C9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academic-label-0"/>
          <p:cNvSpPr txBox="1"/>
          <p:nvPr/>
        </p:nvSpPr>
        <p:spPr>
          <a:xfrm xmlns:a="http://schemas.openxmlformats.org/drawingml/2006/main">
            <a:off x="2114550" y="3200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352F"/>
                </a:solidFill>
                <a:latin typeface="Inter"/>
                <a:ea typeface="Inter"/>
              </a:rPr>
              <a:t>Question</a:t>
            </a:r>
            <a:endParaRPr lang="en-US"/>
          </a:p>
        </p:txBody>
      </p:sp>
      <p:sp>
        <p:nvSpPr>
          <p:cNvPr id="11" name="academic-text-0"/>
          <p:cNvSpPr txBox="1"/>
          <p:nvPr/>
        </p:nvSpPr>
        <p:spPr>
          <a:xfrm xmlns:a="http://schemas.openxmlformats.org/drawingml/2006/main">
            <a:off x="4095750" y="32385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7352F"/>
                </a:solidFill>
                <a:latin typeface="Inter"/>
                <a:ea typeface="Inter"/>
              </a:rPr>
              <a:t>Can the intervention move the outcome?</a:t>
            </a:r>
            <a:endParaRPr lang="en-US"/>
          </a:p>
        </p:txBody>
      </p:sp>
      <p:sp>
        <p:nvSpPr>
          <p:cNvPr id="12" name="academic-number-1"/>
          <p:cNvSpPr txBox="1"/>
          <p:nvPr/>
        </p:nvSpPr>
        <p:spPr>
          <a:xfrm xmlns:a="http://schemas.openxmlformats.org/drawingml/2006/main">
            <a:off x="1104900" y="41910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88A78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13" name="academic-rule-1"/>
          <p:cNvSpPr/>
          <p:nvPr/>
        </p:nvSpPr>
        <p:spPr>
          <a:xfrm xmlns:a="http://schemas.openxmlformats.org/drawingml/2006/main">
            <a:off x="2000250" y="43434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E9C9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academic-label-1"/>
          <p:cNvSpPr txBox="1"/>
          <p:nvPr/>
        </p:nvSpPr>
        <p:spPr>
          <a:xfrm xmlns:a="http://schemas.openxmlformats.org/drawingml/2006/main">
            <a:off x="2114550" y="41529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352F"/>
                </a:solidFill>
                <a:latin typeface="Inter"/>
                <a:ea typeface="Inter"/>
              </a:rPr>
              <a:t>Method</a:t>
            </a:r>
            <a:endParaRPr lang="en-US"/>
          </a:p>
        </p:txBody>
      </p:sp>
      <p:sp>
        <p:nvSpPr>
          <p:cNvPr id="15" name="academic-text-1"/>
          <p:cNvSpPr txBox="1"/>
          <p:nvPr/>
        </p:nvSpPr>
        <p:spPr>
          <a:xfrm xmlns:a="http://schemas.openxmlformats.org/drawingml/2006/main">
            <a:off x="4095750" y="41910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7352F"/>
                </a:solidFill>
                <a:latin typeface="Inter"/>
                <a:ea typeface="Inter"/>
              </a:rPr>
              <a:t>Two groups, one rule, registered before launch.</a:t>
            </a:r>
            <a:endParaRPr lang="en-US"/>
          </a:p>
        </p:txBody>
      </p:sp>
      <p:sp>
        <p:nvSpPr>
          <p:cNvPr id="16" name="academic-number-2"/>
          <p:cNvSpPr txBox="1"/>
          <p:nvPr/>
        </p:nvSpPr>
        <p:spPr>
          <a:xfrm xmlns:a="http://schemas.openxmlformats.org/drawingml/2006/main">
            <a:off x="1104900" y="51435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88A78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17" name="academic-rule-2"/>
          <p:cNvSpPr/>
          <p:nvPr/>
        </p:nvSpPr>
        <p:spPr>
          <a:xfrm xmlns:a="http://schemas.openxmlformats.org/drawingml/2006/main">
            <a:off x="2000250" y="52959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E9C9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academic-label-2"/>
          <p:cNvSpPr txBox="1"/>
          <p:nvPr/>
        </p:nvSpPr>
        <p:spPr>
          <a:xfrm xmlns:a="http://schemas.openxmlformats.org/drawingml/2006/main">
            <a:off x="2114550" y="5105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352F"/>
                </a:solidFill>
                <a:latin typeface="Inter"/>
                <a:ea typeface="Inter"/>
              </a:rPr>
              <a:t>Boundary</a:t>
            </a:r>
            <a:endParaRPr lang="en-US"/>
          </a:p>
        </p:txBody>
      </p:sp>
      <p:sp>
        <p:nvSpPr>
          <p:cNvPr id="19" name="academic-text-2"/>
          <p:cNvSpPr txBox="1"/>
          <p:nvPr/>
        </p:nvSpPr>
        <p:spPr>
          <a:xfrm xmlns:a="http://schemas.openxmlformats.org/drawingml/2006/main">
            <a:off x="4095750" y="51435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7352F"/>
                </a:solidFill>
                <a:latin typeface="Inter"/>
                <a:ea typeface="Inter"/>
              </a:rPr>
              <a:t>The result applies to this window and sample.</a:t>
            </a:r>
            <a:endParaRPr lang="en-US"/>
          </a:p>
        </p:txBody>
      </p:sp>
      <p:sp>
        <p:nvSpPr>
          <p:cNvPr id="20" name="method-panel"/>
          <p:cNvSpPr/>
          <p:nvPr/>
        </p:nvSpPr>
        <p:spPr>
          <a:xfrm xmlns:a="http://schemas.openxmlformats.org/drawingml/2006/main">
            <a:off x="10287000" y="3238500"/>
            <a:ext cx="3619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E9C9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method-label"/>
          <p:cNvSpPr txBox="1"/>
          <p:nvPr/>
        </p:nvSpPr>
        <p:spPr>
          <a:xfrm xmlns:a="http://schemas.openxmlformats.org/drawingml/2006/main">
            <a:off x="10668000" y="35718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188A78"/>
                </a:solidFill>
                <a:latin typeface="Inter"/>
                <a:ea typeface="Inter"/>
              </a:rPr>
              <a:t>REGISTERED RULE</a:t>
            </a:r>
            <a:endParaRPr lang="en-US"/>
          </a:p>
        </p:txBody>
      </p:sp>
      <p:sp>
        <p:nvSpPr>
          <p:cNvPr id="22" name="method-value"/>
          <p:cNvSpPr txBox="1"/>
          <p:nvPr/>
        </p:nvSpPr>
        <p:spPr>
          <a:xfrm xmlns:a="http://schemas.openxmlformats.org/drawingml/2006/main">
            <a:off x="10668000" y="4048125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750" b="1">
                <a:solidFill>
                  <a:srgbClr val="188A78"/>
                </a:solidFill>
                <a:latin typeface="Inter"/>
                <a:ea typeface="Inter"/>
              </a:rPr>
              <a:t>≥ 2 pp</a:t>
            </a:r>
            <a:endParaRPr lang="en-US"/>
          </a:p>
        </p:txBody>
      </p:sp>
      <p:sp>
        <p:nvSpPr>
          <p:cNvPr id="23" name="method-foot"/>
          <p:cNvSpPr txBox="1"/>
          <p:nvPr/>
        </p:nvSpPr>
        <p:spPr>
          <a:xfrm xmlns:a="http://schemas.openxmlformats.org/drawingml/2006/main">
            <a:off x="10668000" y="47625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E9C99"/>
                </a:solidFill>
                <a:latin typeface="Inter"/>
                <a:ea typeface="Inter"/>
              </a:rPr>
              <a:t>confidence interval excludes zero</a:t>
            </a:r>
            <a:endParaRPr lang="en-US"/>
          </a:p>
        </p:txBody>
      </p:sp>
      <p:sp>
        <p:nvSpPr>
          <p:cNvPr id="24" name="source"/>
          <p:cNvSpPr txBox="1"/>
          <p:nvPr/>
        </p:nvSpPr>
        <p:spPr>
          <a:xfrm xmlns:a="http://schemas.openxmlformats.org/drawingml/2006/main">
            <a:off x="914400" y="7810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E9C99"/>
                </a:solidFill>
                <a:latin typeface="Inter"/>
                <a:ea typeface="Inter"/>
              </a:rPr>
              <a:t>Source: illustrative calibration brief · every claim is fictional and bounded</a:t>
            </a:r>
            <a:endParaRPr lang="en-US"/>
          </a:p>
        </p:txBody>
      </p:sp>
      <p:sp>
        <p:nvSpPr>
          <p:cNvPr id="25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E9C99"/>
                </a:solidFill>
                <a:latin typeface="Inter"/>
                <a:ea typeface="Inter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0">
            <a:solidFill>
              <a:srgbClr val="FBFCF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evidenc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88A7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TIDAL RESEARCH · EVIDENC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188A78"/>
                </a:solidFill>
                <a:latin typeface="Inter"/>
                <a:ea typeface="Inter"/>
              </a:rPr>
              <a:t>TIDAL RESEARCH · EVIDENCE</a:t>
            </a:r>
            <a:endParaRPr lang="en-US"/>
          </a:p>
        </p:txBody>
      </p:sp>
      <p:sp>
        <p:nvSpPr>
          <p:cNvPr id="5" name="evidenc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7352F"/>
                </a:solidFill>
                <a:latin typeface="Inter"/>
                <a:ea typeface="Inter"/>
              </a:rPr>
              <a:t>The result clears the rule; uncertainty remains visible</a:t>
            </a:r>
            <a:endParaRPr lang="en-US"/>
          </a:p>
        </p:txBody>
      </p:sp>
      <p:sp>
        <p:nvSpPr>
          <p:cNvPr id="6" name="evidenc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E9C99"/>
                </a:solidFill>
                <a:latin typeface="Inter"/>
                <a:ea typeface="Inter"/>
              </a:rPr>
              <a:t>Illustrative measure · mean of 24 observations · 95% CI shown in the read-through.</a:t>
            </a:r>
            <a:endParaRPr lang="en-US"/>
          </a:p>
        </p:txBody>
      </p:sp>
      <p:sp>
        <p:nvSpPr>
          <p:cNvPr id="7" name="evidenc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E9C9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8" name="evidence-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1047750" y="3048000"/>
          <a:ext xmlns:a="http://schemas.openxmlformats.org/drawingml/2006/main" cx="790575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dabe1dc5c94aa9"/>
          </a:graphicData>
        </a:graphic>
      </p:graphicFrame>
      <p:sp>
        <p:nvSpPr>
          <p:cNvPr id="9" name="metric"/>
          <p:cNvSpPr txBox="1"/>
          <p:nvPr/>
        </p:nvSpPr>
        <p:spPr>
          <a:xfrm xmlns:a="http://schemas.openxmlformats.org/drawingml/2006/main">
            <a:off x="9906000" y="333375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4800" b="1">
                <a:solidFill>
                  <a:srgbClr val="188A78"/>
                </a:solidFill>
                <a:latin typeface="Inter"/>
                <a:ea typeface="Inter"/>
              </a:rPr>
              <a:t>68</a:t>
            </a:r>
            <a:endParaRPr lang="en-US"/>
          </a:p>
        </p:txBody>
      </p:sp>
      <p:sp>
        <p:nvSpPr>
          <p:cNvPr id="10" name="metric-label"/>
          <p:cNvSpPr txBox="1"/>
          <p:nvPr/>
        </p:nvSpPr>
        <p:spPr>
          <a:xfrm xmlns:a="http://schemas.openxmlformats.org/drawingml/2006/main">
            <a:off x="9906000" y="4143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E9C99"/>
                </a:solidFill>
                <a:latin typeface="Inter"/>
                <a:ea typeface="Inter"/>
              </a:rPr>
              <a:t>participation index · week 4</a:t>
            </a:r>
            <a:endParaRPr lang="en-US"/>
          </a:p>
        </p:txBody>
      </p:sp>
      <p:sp>
        <p:nvSpPr>
          <p:cNvPr id="11" name="rail-rule"/>
          <p:cNvSpPr/>
          <p:nvPr/>
        </p:nvSpPr>
        <p:spPr>
          <a:xfrm xmlns:a="http://schemas.openxmlformats.org/drawingml/2006/main">
            <a:off x="9906000" y="4810125"/>
            <a:ext cx="376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E9C9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read-through"/>
          <p:cNvSpPr txBox="1"/>
          <p:nvPr/>
        </p:nvSpPr>
        <p:spPr>
          <a:xfrm xmlns:a="http://schemas.openxmlformats.org/drawingml/2006/main">
            <a:off x="9906000" y="514350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352F"/>
                </a:solidFill>
                <a:latin typeface="Inter"/>
                <a:ea typeface="Inter"/>
              </a:rPr>
              <a:t>The observed lift is compatible with the registered mechanism, not proof of generalization.</a:t>
            </a:r>
            <a:endParaRPr lang="en-US"/>
          </a:p>
        </p:txBody>
      </p:sp>
      <p:sp>
        <p:nvSpPr>
          <p:cNvPr id="13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17352F"/>
                </a:solidFill>
                <a:latin typeface="Inter"/>
                <a:ea typeface="Inter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1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E9C99"/>
                </a:solidFill>
                <a:latin typeface="Inter"/>
                <a:ea typeface="Inter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1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E9C99"/>
                </a:solidFill>
                <a:latin typeface="Inter"/>
                <a:ea typeface="Inter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0">
            <a:solidFill>
              <a:srgbClr val="FBFCF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detai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88A7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TIDAL RESEARCH · DETAIL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188A78"/>
                </a:solidFill>
                <a:latin typeface="Inter"/>
                <a:ea typeface="Inter"/>
              </a:rPr>
              <a:t>TIDAL RESEARCH · DETAIL</a:t>
            </a:r>
            <a:endParaRPr lang="en-US"/>
          </a:p>
        </p:txBody>
      </p:sp>
      <p:sp>
        <p:nvSpPr>
          <p:cNvPr id="5" name="detai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7352F"/>
                </a:solidFill>
                <a:latin typeface="Inter"/>
                <a:ea typeface="Inter"/>
              </a:rPr>
              <a:t>The table keeps the result honest</a:t>
            </a:r>
            <a:endParaRPr lang="en-US"/>
          </a:p>
        </p:txBody>
      </p:sp>
      <p:sp>
        <p:nvSpPr>
          <p:cNvPr id="6" name="detail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E9C99"/>
                </a:solidFill>
                <a:latin typeface="Inter"/>
                <a:ea typeface="Inter"/>
              </a:rPr>
              <a:t>Structured comparison · method, window, measure and boundary remain adjacent.</a:t>
            </a:r>
            <a:endParaRPr lang="en-US"/>
          </a:p>
        </p:txBody>
      </p:sp>
      <p:sp>
        <p:nvSpPr>
          <p:cNvPr id="7" name="detai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E9C9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process-axis"/>
          <p:cNvSpPr/>
          <p:nvPr/>
        </p:nvSpPr>
        <p:spPr>
          <a:xfrm xmlns:a="http://schemas.openxmlformats.org/drawingml/2006/main">
            <a:off x="1390650" y="4114800"/>
            <a:ext cx="883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E9C9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process-node-0"/>
          <p:cNvSpPr/>
          <p:nvPr/>
        </p:nvSpPr>
        <p:spPr>
          <a:xfrm xmlns:a="http://schemas.openxmlformats.org/drawingml/2006/main">
            <a:off x="121920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38100">
            <a:solidFill>
              <a:srgbClr val="17352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process-number-0"/>
          <p:cNvSpPr txBox="1"/>
          <p:nvPr/>
        </p:nvSpPr>
        <p:spPr>
          <a:xfrm xmlns:a="http://schemas.openxmlformats.org/drawingml/2006/main">
            <a:off x="120015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188A78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11" name="process-label-0"/>
          <p:cNvSpPr txBox="1"/>
          <p:nvPr/>
        </p:nvSpPr>
        <p:spPr>
          <a:xfrm xmlns:a="http://schemas.openxmlformats.org/drawingml/2006/main">
            <a:off x="171450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7352F"/>
                </a:solidFill>
                <a:latin typeface="Inter"/>
                <a:ea typeface="Inter"/>
              </a:rPr>
              <a:t>Frame</a:t>
            </a:r>
            <a:endParaRPr lang="en-US"/>
          </a:p>
        </p:txBody>
      </p:sp>
      <p:sp>
        <p:nvSpPr>
          <p:cNvPr id="12" name="process-text-0"/>
          <p:cNvSpPr txBox="1"/>
          <p:nvPr/>
        </p:nvSpPr>
        <p:spPr>
          <a:xfrm xmlns:a="http://schemas.openxmlformats.org/drawingml/2006/main">
            <a:off x="171450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E9C99"/>
                </a:solidFill>
                <a:latin typeface="Inter"/>
                <a:ea typeface="Inter"/>
              </a:rPr>
              <a:t>Name the question</a:t>
            </a:r>
            <a:endParaRPr lang="en-US"/>
          </a:p>
        </p:txBody>
      </p:sp>
      <p:sp>
        <p:nvSpPr>
          <p:cNvPr id="13" name="process-separator-0"/>
          <p:cNvSpPr/>
          <p:nvPr/>
        </p:nvSpPr>
        <p:spPr>
          <a:xfrm xmlns:a="http://schemas.openxmlformats.org/drawingml/2006/main">
            <a:off x="167640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E9C9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process-node-1"/>
          <p:cNvSpPr/>
          <p:nvPr/>
        </p:nvSpPr>
        <p:spPr>
          <a:xfrm xmlns:a="http://schemas.openxmlformats.org/drawingml/2006/main">
            <a:off x="352425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38100">
            <a:solidFill>
              <a:srgbClr val="17352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process-number-1"/>
          <p:cNvSpPr txBox="1"/>
          <p:nvPr/>
        </p:nvSpPr>
        <p:spPr>
          <a:xfrm xmlns:a="http://schemas.openxmlformats.org/drawingml/2006/main">
            <a:off x="350520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188A78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16" name="process-label-1"/>
          <p:cNvSpPr txBox="1"/>
          <p:nvPr/>
        </p:nvSpPr>
        <p:spPr>
          <a:xfrm xmlns:a="http://schemas.openxmlformats.org/drawingml/2006/main">
            <a:off x="401955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7352F"/>
                </a:solidFill>
                <a:latin typeface="Inter"/>
                <a:ea typeface="Inter"/>
              </a:rPr>
              <a:t>Test</a:t>
            </a:r>
            <a:endParaRPr lang="en-US"/>
          </a:p>
        </p:txBody>
      </p:sp>
      <p:sp>
        <p:nvSpPr>
          <p:cNvPr id="17" name="process-text-1"/>
          <p:cNvSpPr txBox="1"/>
          <p:nvPr/>
        </p:nvSpPr>
        <p:spPr>
          <a:xfrm xmlns:a="http://schemas.openxmlformats.org/drawingml/2006/main">
            <a:off x="401955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E9C99"/>
                </a:solidFill>
                <a:latin typeface="Inter"/>
                <a:ea typeface="Inter"/>
              </a:rPr>
              <a:t>Hold the rule</a:t>
            </a:r>
            <a:endParaRPr lang="en-US"/>
          </a:p>
        </p:txBody>
      </p:sp>
      <p:sp>
        <p:nvSpPr>
          <p:cNvPr id="18" name="process-separator-1"/>
          <p:cNvSpPr/>
          <p:nvPr/>
        </p:nvSpPr>
        <p:spPr>
          <a:xfrm xmlns:a="http://schemas.openxmlformats.org/drawingml/2006/main">
            <a:off x="398145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E9C9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process-node-2"/>
          <p:cNvSpPr/>
          <p:nvPr/>
        </p:nvSpPr>
        <p:spPr>
          <a:xfrm xmlns:a="http://schemas.openxmlformats.org/drawingml/2006/main">
            <a:off x="582930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38100">
            <a:solidFill>
              <a:srgbClr val="17352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0" name="process-number-2"/>
          <p:cNvSpPr txBox="1"/>
          <p:nvPr/>
        </p:nvSpPr>
        <p:spPr>
          <a:xfrm xmlns:a="http://schemas.openxmlformats.org/drawingml/2006/main">
            <a:off x="581025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188A78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21" name="process-label-2"/>
          <p:cNvSpPr txBox="1"/>
          <p:nvPr/>
        </p:nvSpPr>
        <p:spPr>
          <a:xfrm xmlns:a="http://schemas.openxmlformats.org/drawingml/2006/main">
            <a:off x="632460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7352F"/>
                </a:solidFill>
                <a:latin typeface="Inter"/>
                <a:ea typeface="Inter"/>
              </a:rPr>
              <a:t>Read</a:t>
            </a:r>
            <a:endParaRPr lang="en-US"/>
          </a:p>
        </p:txBody>
      </p:sp>
      <p:sp>
        <p:nvSpPr>
          <p:cNvPr id="22" name="process-text-2"/>
          <p:cNvSpPr txBox="1"/>
          <p:nvPr/>
        </p:nvSpPr>
        <p:spPr>
          <a:xfrm xmlns:a="http://schemas.openxmlformats.org/drawingml/2006/main">
            <a:off x="632460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E9C99"/>
                </a:solidFill>
                <a:latin typeface="Inter"/>
                <a:ea typeface="Inter"/>
              </a:rPr>
              <a:t>Separate signal</a:t>
            </a:r>
            <a:endParaRPr lang="en-US"/>
          </a:p>
        </p:txBody>
      </p:sp>
      <p:sp>
        <p:nvSpPr>
          <p:cNvPr id="23" name="process-separator-2"/>
          <p:cNvSpPr/>
          <p:nvPr/>
        </p:nvSpPr>
        <p:spPr>
          <a:xfrm xmlns:a="http://schemas.openxmlformats.org/drawingml/2006/main">
            <a:off x="628650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E9C9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4" name="process-node-3"/>
          <p:cNvSpPr/>
          <p:nvPr/>
        </p:nvSpPr>
        <p:spPr>
          <a:xfrm xmlns:a="http://schemas.openxmlformats.org/drawingml/2006/main">
            <a:off x="813435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A78"/>
          </a:solidFill>
          <a:ln xmlns:a="http://schemas.openxmlformats.org/drawingml/2006/main" w="38100">
            <a:solidFill>
              <a:srgbClr val="188A7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process-number-3"/>
          <p:cNvSpPr txBox="1"/>
          <p:nvPr/>
        </p:nvSpPr>
        <p:spPr>
          <a:xfrm xmlns:a="http://schemas.openxmlformats.org/drawingml/2006/main">
            <a:off x="811530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188A78"/>
                </a:solidFill>
                <a:latin typeface="Inter"/>
                <a:ea typeface="Inter"/>
              </a:rPr>
              <a:t>04</a:t>
            </a:r>
            <a:endParaRPr lang="en-US"/>
          </a:p>
        </p:txBody>
      </p:sp>
      <p:sp>
        <p:nvSpPr>
          <p:cNvPr id="26" name="process-label-3"/>
          <p:cNvSpPr txBox="1"/>
          <p:nvPr/>
        </p:nvSpPr>
        <p:spPr>
          <a:xfrm xmlns:a="http://schemas.openxmlformats.org/drawingml/2006/main">
            <a:off x="862965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7352F"/>
                </a:solidFill>
                <a:latin typeface="Inter"/>
                <a:ea typeface="Inter"/>
              </a:rPr>
              <a:t>Decide</a:t>
            </a:r>
            <a:endParaRPr lang="en-US"/>
          </a:p>
        </p:txBody>
      </p:sp>
      <p:sp>
        <p:nvSpPr>
          <p:cNvPr id="27" name="process-text-3"/>
          <p:cNvSpPr txBox="1"/>
          <p:nvPr/>
        </p:nvSpPr>
        <p:spPr>
          <a:xfrm xmlns:a="http://schemas.openxmlformats.org/drawingml/2006/main">
            <a:off x="862965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E9C99"/>
                </a:solidFill>
                <a:latin typeface="Inter"/>
                <a:ea typeface="Inter"/>
              </a:rPr>
              <a:t>Set the next gate</a:t>
            </a:r>
            <a:endParaRPr lang="en-US"/>
          </a:p>
        </p:txBody>
      </p:sp>
      <p:sp>
        <p:nvSpPr>
          <p:cNvPr id="28" name="process-read-label"/>
          <p:cNvSpPr txBox="1"/>
          <p:nvPr/>
        </p:nvSpPr>
        <p:spPr>
          <a:xfrm xmlns:a="http://schemas.openxmlformats.org/drawingml/2006/main">
            <a:off x="10668000" y="3333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188A78"/>
                </a:solidFill>
                <a:latin typeface="Inter"/>
                <a:ea typeface="Inter"/>
              </a:rPr>
              <a:t>READ-THROUGH</a:t>
            </a:r>
            <a:endParaRPr lang="en-US"/>
          </a:p>
        </p:txBody>
      </p:sp>
      <p:sp>
        <p:nvSpPr>
          <p:cNvPr id="29" name="process-read-title"/>
          <p:cNvSpPr txBox="1"/>
          <p:nvPr/>
        </p:nvSpPr>
        <p:spPr>
          <a:xfrm xmlns:a="http://schemas.openxmlformats.org/drawingml/2006/main">
            <a:off x="10668000" y="38100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75" b="1">
                <a:solidFill>
                  <a:srgbClr val="17352F"/>
                </a:solidFill>
                <a:latin typeface="Inter"/>
                <a:ea typeface="Inter"/>
              </a:rPr>
              <a:t>The sequence is the evidence.</a:t>
            </a:r>
            <a:endParaRPr lang="en-US"/>
          </a:p>
        </p:txBody>
      </p:sp>
      <p:sp>
        <p:nvSpPr>
          <p:cNvPr id="30" name="process-read-body"/>
          <p:cNvSpPr txBox="1"/>
          <p:nvPr/>
        </p:nvSpPr>
        <p:spPr>
          <a:xfrm xmlns:a="http://schemas.openxmlformats.org/drawingml/2006/main">
            <a:off x="10668000" y="476250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E9C99"/>
                </a:solidFill>
                <a:latin typeface="Inter"/>
                <a:ea typeface="Inter"/>
              </a:rPr>
              <a:t>Keep each handoff adjacent to the condition that unlocks it; do not turn a real dependency into a decorative arrow.</a:t>
            </a:r>
            <a:endParaRPr lang="en-US"/>
          </a:p>
        </p:txBody>
      </p:sp>
      <p:sp>
        <p:nvSpPr>
          <p:cNvPr id="31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E9C99"/>
                </a:solidFill>
                <a:latin typeface="Inter"/>
                <a:ea typeface="Inter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32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E9C99"/>
                </a:solidFill>
                <a:latin typeface="Inter"/>
                <a:ea typeface="Inter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0">
            <a:solidFill>
              <a:srgbClr val="FBFCF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visua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88A7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TIDAL RESEARCH · VISUAL CARRIER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188A78"/>
                </a:solidFill>
                <a:latin typeface="Inter"/>
                <a:ea typeface="Inter"/>
              </a:rPr>
              <a:t>TIDAL RESEARCH · VISUAL CARRIER</a:t>
            </a:r>
            <a:endParaRPr lang="en-US"/>
          </a:p>
        </p:txBody>
      </p:sp>
      <p:sp>
        <p:nvSpPr>
          <p:cNvPr id="5" name="visua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7352F"/>
                </a:solidFill>
                <a:latin typeface="Inter"/>
                <a:ea typeface="Inter"/>
              </a:rPr>
              <a:t>Evidence has a texture</a:t>
            </a:r>
            <a:endParaRPr lang="en-US"/>
          </a:p>
        </p:txBody>
      </p:sp>
      <p:sp>
        <p:nvSpPr>
          <p:cNvPr id="6" name="visual-body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E9C99"/>
                </a:solidFill>
                <a:latin typeface="Inter"/>
                <a:ea typeface="Inter"/>
              </a:rPr>
              <a:t>Use a visual carrier when the audience needs to see a pattern before reading the caveat.</a:t>
            </a:r>
            <a:endParaRPr lang="en-US"/>
          </a:p>
        </p:txBody>
      </p:sp>
      <p:sp>
        <p:nvSpPr>
          <p:cNvPr id="7" name="visua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E9C9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visual-process-rail"/>
          <p:cNvSpPr/>
          <p:nvPr/>
        </p:nvSpPr>
        <p:spPr>
          <a:xfrm xmlns:a="http://schemas.openxmlformats.org/drawingml/2006/main">
            <a:off x="1447800" y="3524250"/>
            <a:ext cx="0" cy="2647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E9C9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visual-process-node-0"/>
          <p:cNvSpPr/>
          <p:nvPr/>
        </p:nvSpPr>
        <p:spPr>
          <a:xfrm xmlns:a="http://schemas.openxmlformats.org/drawingml/2006/main">
            <a:off x="1257300" y="3352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38100">
            <a:solidFill>
              <a:srgbClr val="17352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visual-process-number-0"/>
          <p:cNvSpPr txBox="1"/>
          <p:nvPr/>
        </p:nvSpPr>
        <p:spPr>
          <a:xfrm xmlns:a="http://schemas.openxmlformats.org/drawingml/2006/main">
            <a:off x="1238250" y="346710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188A78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11" name="visual-process-label-0"/>
          <p:cNvSpPr txBox="1"/>
          <p:nvPr/>
        </p:nvSpPr>
        <p:spPr>
          <a:xfrm xmlns:a="http://schemas.openxmlformats.org/drawingml/2006/main">
            <a:off x="1943100" y="3371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352F"/>
                </a:solidFill>
                <a:latin typeface="Inter"/>
                <a:ea typeface="Inter"/>
              </a:rPr>
              <a:t>Observe</a:t>
            </a:r>
            <a:endParaRPr lang="en-US"/>
          </a:p>
        </p:txBody>
      </p:sp>
      <p:sp>
        <p:nvSpPr>
          <p:cNvPr id="12" name="visual-process-text-0"/>
          <p:cNvSpPr txBox="1"/>
          <p:nvPr/>
        </p:nvSpPr>
        <p:spPr>
          <a:xfrm xmlns:a="http://schemas.openxmlformats.org/drawingml/2006/main">
            <a:off x="3829050" y="34004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E9C99"/>
                </a:solidFill>
                <a:latin typeface="Inter"/>
                <a:ea typeface="Inter"/>
              </a:rPr>
              <a:t>Find the signal</a:t>
            </a:r>
            <a:endParaRPr lang="en-US"/>
          </a:p>
        </p:txBody>
      </p:sp>
      <p:sp>
        <p:nvSpPr>
          <p:cNvPr id="13" name="visual-process-node-1"/>
          <p:cNvSpPr/>
          <p:nvPr/>
        </p:nvSpPr>
        <p:spPr>
          <a:xfrm xmlns:a="http://schemas.openxmlformats.org/drawingml/2006/main">
            <a:off x="1257300" y="4095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38100">
            <a:solidFill>
              <a:srgbClr val="17352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visual-process-number-1"/>
          <p:cNvSpPr txBox="1"/>
          <p:nvPr/>
        </p:nvSpPr>
        <p:spPr>
          <a:xfrm xmlns:a="http://schemas.openxmlformats.org/drawingml/2006/main">
            <a:off x="1238250" y="42100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188A78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15" name="visual-process-label-1"/>
          <p:cNvSpPr txBox="1"/>
          <p:nvPr/>
        </p:nvSpPr>
        <p:spPr>
          <a:xfrm xmlns:a="http://schemas.openxmlformats.org/drawingml/2006/main">
            <a:off x="1943100" y="4114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352F"/>
                </a:solidFill>
                <a:latin typeface="Inter"/>
                <a:ea typeface="Inter"/>
              </a:rPr>
              <a:t>Explain</a:t>
            </a:r>
            <a:endParaRPr lang="en-US"/>
          </a:p>
        </p:txBody>
      </p:sp>
      <p:sp>
        <p:nvSpPr>
          <p:cNvPr id="16" name="visual-process-text-1"/>
          <p:cNvSpPr txBox="1"/>
          <p:nvPr/>
        </p:nvSpPr>
        <p:spPr>
          <a:xfrm xmlns:a="http://schemas.openxmlformats.org/drawingml/2006/main">
            <a:off x="3829050" y="41433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E9C99"/>
                </a:solidFill>
                <a:latin typeface="Inter"/>
                <a:ea typeface="Inter"/>
              </a:rPr>
              <a:t>Name the mechanism</a:t>
            </a:r>
            <a:endParaRPr lang="en-US"/>
          </a:p>
        </p:txBody>
      </p:sp>
      <p:sp>
        <p:nvSpPr>
          <p:cNvPr id="17" name="visual-process-node-2"/>
          <p:cNvSpPr/>
          <p:nvPr/>
        </p:nvSpPr>
        <p:spPr>
          <a:xfrm xmlns:a="http://schemas.openxmlformats.org/drawingml/2006/main">
            <a:off x="1257300" y="4838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38100">
            <a:solidFill>
              <a:srgbClr val="17352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visual-process-number-2"/>
          <p:cNvSpPr txBox="1"/>
          <p:nvPr/>
        </p:nvSpPr>
        <p:spPr>
          <a:xfrm xmlns:a="http://schemas.openxmlformats.org/drawingml/2006/main">
            <a:off x="1238250" y="495300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188A78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19" name="visual-process-label-2"/>
          <p:cNvSpPr txBox="1"/>
          <p:nvPr/>
        </p:nvSpPr>
        <p:spPr>
          <a:xfrm xmlns:a="http://schemas.openxmlformats.org/drawingml/2006/main">
            <a:off x="1943100" y="4857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352F"/>
                </a:solidFill>
                <a:latin typeface="Inter"/>
                <a:ea typeface="Inter"/>
              </a:rPr>
              <a:t>Choose</a:t>
            </a:r>
            <a:endParaRPr lang="en-US"/>
          </a:p>
        </p:txBody>
      </p:sp>
      <p:sp>
        <p:nvSpPr>
          <p:cNvPr id="20" name="visual-process-text-2"/>
          <p:cNvSpPr txBox="1"/>
          <p:nvPr/>
        </p:nvSpPr>
        <p:spPr>
          <a:xfrm xmlns:a="http://schemas.openxmlformats.org/drawingml/2006/main">
            <a:off x="3829050" y="48863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E9C99"/>
                </a:solidFill>
                <a:latin typeface="Inter"/>
                <a:ea typeface="Inter"/>
              </a:rPr>
              <a:t>Set the condition</a:t>
            </a:r>
            <a:endParaRPr lang="en-US"/>
          </a:p>
        </p:txBody>
      </p:sp>
      <p:sp>
        <p:nvSpPr>
          <p:cNvPr id="21" name="visual-process-node-3"/>
          <p:cNvSpPr/>
          <p:nvPr/>
        </p:nvSpPr>
        <p:spPr>
          <a:xfrm xmlns:a="http://schemas.openxmlformats.org/drawingml/2006/main">
            <a:off x="1257300" y="5581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A78"/>
          </a:solidFill>
          <a:ln xmlns:a="http://schemas.openxmlformats.org/drawingml/2006/main" w="38100">
            <a:solidFill>
              <a:srgbClr val="188A7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visual-process-number-3"/>
          <p:cNvSpPr txBox="1"/>
          <p:nvPr/>
        </p:nvSpPr>
        <p:spPr>
          <a:xfrm xmlns:a="http://schemas.openxmlformats.org/drawingml/2006/main">
            <a:off x="1238250" y="56959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FFFFFF"/>
                </a:solidFill>
                <a:latin typeface="Inter"/>
                <a:ea typeface="Inter"/>
              </a:rPr>
              <a:t>04</a:t>
            </a:r>
            <a:endParaRPr lang="en-US"/>
          </a:p>
        </p:txBody>
      </p:sp>
      <p:sp>
        <p:nvSpPr>
          <p:cNvPr id="23" name="visual-process-label-3"/>
          <p:cNvSpPr txBox="1"/>
          <p:nvPr/>
        </p:nvSpPr>
        <p:spPr>
          <a:xfrm xmlns:a="http://schemas.openxmlformats.org/drawingml/2006/main">
            <a:off x="1943100" y="5600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352F"/>
                </a:solidFill>
                <a:latin typeface="Inter"/>
                <a:ea typeface="Inter"/>
              </a:rPr>
              <a:t>Act</a:t>
            </a:r>
            <a:endParaRPr lang="en-US"/>
          </a:p>
        </p:txBody>
      </p:sp>
      <p:sp>
        <p:nvSpPr>
          <p:cNvPr id="24" name="visual-process-text-3"/>
          <p:cNvSpPr txBox="1"/>
          <p:nvPr/>
        </p:nvSpPr>
        <p:spPr>
          <a:xfrm xmlns:a="http://schemas.openxmlformats.org/drawingml/2006/main">
            <a:off x="3829050" y="56292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E9C99"/>
                </a:solidFill>
                <a:latin typeface="Inter"/>
                <a:ea typeface="Inter"/>
              </a:rPr>
              <a:t>Return with proof</a:t>
            </a:r>
            <a:endParaRPr lang="en-US"/>
          </a:p>
        </p:txBody>
      </p:sp>
      <p:sp>
        <p:nvSpPr>
          <p:cNvPr id="25" name="visual-process-rule"/>
          <p:cNvSpPr/>
          <p:nvPr/>
        </p:nvSpPr>
        <p:spPr>
          <a:xfrm xmlns:a="http://schemas.openxmlformats.org/drawingml/2006/main">
            <a:off x="7239000" y="3486150"/>
            <a:ext cx="0" cy="2705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E9C9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6" name="visual-process-note-label"/>
          <p:cNvSpPr txBox="1"/>
          <p:nvPr/>
        </p:nvSpPr>
        <p:spPr>
          <a:xfrm xmlns:a="http://schemas.openxmlformats.org/drawingml/2006/main">
            <a:off x="8001000" y="3562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188A78"/>
                </a:solidFill>
                <a:latin typeface="Inter"/>
                <a:ea typeface="Inter"/>
              </a:rPr>
              <a:t>PROCESS CARRIER</a:t>
            </a:r>
            <a:endParaRPr lang="en-US"/>
          </a:p>
        </p:txBody>
      </p:sp>
      <p:sp>
        <p:nvSpPr>
          <p:cNvPr id="27" name="visual-process-note-title"/>
          <p:cNvSpPr txBox="1"/>
          <p:nvPr/>
        </p:nvSpPr>
        <p:spPr>
          <a:xfrm xmlns:a="http://schemas.openxmlformats.org/drawingml/2006/main">
            <a:off x="8001000" y="4038600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17352F"/>
                </a:solidFill>
                <a:latin typeface="Inter"/>
                <a:ea typeface="Inter"/>
              </a:rPr>
              <a:t>A relationship earns a line.</a:t>
            </a:r>
            <a:endParaRPr lang="en-US"/>
          </a:p>
        </p:txBody>
      </p:sp>
      <p:sp>
        <p:nvSpPr>
          <p:cNvPr id="28" name="visual-process-note-body"/>
          <p:cNvSpPr txBox="1"/>
          <p:nvPr/>
        </p:nvSpPr>
        <p:spPr>
          <a:xfrm xmlns:a="http://schemas.openxmlformats.org/drawingml/2006/main">
            <a:off x="8001000" y="50482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E9C99"/>
                </a:solidFill>
                <a:latin typeface="Inter"/>
                <a:ea typeface="Inter"/>
              </a:rPr>
              <a:t>Use sequence, direction and conditions to make the mechanism visible. If the relationship is not real, remove the arrow.</a:t>
            </a:r>
            <a:endParaRPr lang="en-US"/>
          </a:p>
        </p:txBody>
      </p:sp>
      <p:sp>
        <p:nvSpPr>
          <p:cNvPr id="29" name="visual-note"/>
          <p:cNvSpPr/>
          <p:nvPr/>
        </p:nvSpPr>
        <p:spPr>
          <a:xfrm xmlns:a="http://schemas.openxmlformats.org/drawingml/2006/main">
            <a:off x="8858250" y="33337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E9C9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0" name="visual-note-label"/>
          <p:cNvSpPr txBox="1"/>
          <p:nvPr/>
        </p:nvSpPr>
        <p:spPr>
          <a:xfrm xmlns:a="http://schemas.openxmlformats.org/drawingml/2006/main">
            <a:off x="9239250" y="3695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188A78"/>
                </a:solidFill>
                <a:latin typeface="Inter"/>
                <a:ea typeface="Inter"/>
              </a:rPr>
              <a:t>CARRIER</a:t>
            </a:r>
            <a:endParaRPr lang="en-US"/>
          </a:p>
        </p:txBody>
      </p:sp>
      <p:sp>
        <p:nvSpPr>
          <p:cNvPr id="31" name="visual-note-text"/>
          <p:cNvSpPr txBox="1"/>
          <p:nvPr/>
        </p:nvSpPr>
        <p:spPr>
          <a:xfrm xmlns:a="http://schemas.openxmlformats.org/drawingml/2006/main">
            <a:off x="9239250" y="4171950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7352F"/>
                </a:solidFill>
                <a:latin typeface="Inter"/>
                <a:ea typeface="Inter"/>
              </a:rPr>
              <a:t>Pattern before caveat</a:t>
            </a:r>
            <a:endParaRPr lang="en-US"/>
          </a:p>
        </p:txBody>
      </p:sp>
      <p:sp>
        <p:nvSpPr>
          <p:cNvPr id="32" name="visual-note-foot"/>
          <p:cNvSpPr txBox="1"/>
          <p:nvPr/>
        </p:nvSpPr>
        <p:spPr>
          <a:xfrm xmlns:a="http://schemas.openxmlformats.org/drawingml/2006/main">
            <a:off x="9239250" y="52197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E9C99"/>
                </a:solidFill>
                <a:latin typeface="Inter"/>
                <a:ea typeface="Inter"/>
              </a:rPr>
              <a:t>Crop, contrast and source role are reviewed before delivery.</a:t>
            </a:r>
            <a:endParaRPr lang="en-US"/>
          </a:p>
        </p:txBody>
      </p:sp>
      <p:sp>
        <p:nvSpPr>
          <p:cNvPr id="33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E9C99"/>
                </a:solidFill>
                <a:latin typeface="Inter"/>
                <a:ea typeface="Inter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34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E9C99"/>
                </a:solidFill>
                <a:latin typeface="Inter"/>
                <a:ea typeface="Inter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0">
            <a:solidFill>
              <a:srgbClr val="FBFCF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clos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88A7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TIDAL RESEARCH · CLOS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188A78"/>
                </a:solidFill>
                <a:latin typeface="Inter"/>
                <a:ea typeface="Inter"/>
              </a:rPr>
              <a:t>TIDAL RESEARCH · CLOSE</a:t>
            </a:r>
            <a:endParaRPr lang="en-US"/>
          </a:p>
        </p:txBody>
      </p:sp>
      <p:sp>
        <p:nvSpPr>
          <p:cNvPr id="5" name="clos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7352F"/>
                </a:solidFill>
                <a:latin typeface="Inter"/>
                <a:ea typeface="Inter"/>
              </a:rPr>
              <a:t>A cleared gate is a decision, not a universal claim</a:t>
            </a:r>
            <a:endParaRPr lang="en-US"/>
          </a:p>
        </p:txBody>
      </p:sp>
      <p:sp>
        <p:nvSpPr>
          <p:cNvPr id="6" name="clos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E9C99"/>
                </a:solidFill>
                <a:latin typeface="Inter"/>
                <a:ea typeface="Inter"/>
              </a:rPr>
              <a:t>A reference page must leave the reader with a bounded next move.</a:t>
            </a:r>
            <a:endParaRPr lang="en-US"/>
          </a:p>
        </p:txBody>
      </p:sp>
      <p:sp>
        <p:nvSpPr>
          <p:cNvPr id="7" name="clos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E9C9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lose-number-0"/>
          <p:cNvSpPr txBox="1"/>
          <p:nvPr/>
        </p:nvSpPr>
        <p:spPr>
          <a:xfrm xmlns:a="http://schemas.openxmlformats.org/drawingml/2006/main">
            <a:off x="1104900" y="3219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88A78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9" name="close-row-rule-0"/>
          <p:cNvSpPr/>
          <p:nvPr/>
        </p:nvSpPr>
        <p:spPr>
          <a:xfrm xmlns:a="http://schemas.openxmlformats.org/drawingml/2006/main">
            <a:off x="2000250" y="33718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E9C9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close-label-0"/>
          <p:cNvSpPr txBox="1"/>
          <p:nvPr/>
        </p:nvSpPr>
        <p:spPr>
          <a:xfrm xmlns:a="http://schemas.openxmlformats.org/drawingml/2006/main">
            <a:off x="21145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352F"/>
                </a:solidFill>
                <a:latin typeface="Inter"/>
                <a:ea typeface="Inter"/>
              </a:rPr>
              <a:t>Claim</a:t>
            </a:r>
            <a:endParaRPr lang="en-US"/>
          </a:p>
        </p:txBody>
      </p:sp>
      <p:sp>
        <p:nvSpPr>
          <p:cNvPr id="11" name="close-text-0"/>
          <p:cNvSpPr txBox="1"/>
          <p:nvPr/>
        </p:nvSpPr>
        <p:spPr>
          <a:xfrm xmlns:a="http://schemas.openxmlformats.org/drawingml/2006/main">
            <a:off x="4495800" y="32194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7352F"/>
                </a:solidFill>
                <a:latin typeface="Inter"/>
                <a:ea typeface="Inter"/>
              </a:rPr>
              <a:t>The mechanism moved the measured outcome.</a:t>
            </a:r>
            <a:endParaRPr lang="en-US"/>
          </a:p>
        </p:txBody>
      </p:sp>
      <p:sp>
        <p:nvSpPr>
          <p:cNvPr id="12" name="close-number-1"/>
          <p:cNvSpPr txBox="1"/>
          <p:nvPr/>
        </p:nvSpPr>
        <p:spPr>
          <a:xfrm xmlns:a="http://schemas.openxmlformats.org/drawingml/2006/main">
            <a:off x="11049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7352F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13" name="close-row-rule-1"/>
          <p:cNvSpPr/>
          <p:nvPr/>
        </p:nvSpPr>
        <p:spPr>
          <a:xfrm xmlns:a="http://schemas.openxmlformats.org/drawingml/2006/main">
            <a:off x="2000250" y="44196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E9C9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close-label-1"/>
          <p:cNvSpPr txBox="1"/>
          <p:nvPr/>
        </p:nvSpPr>
        <p:spPr>
          <a:xfrm xmlns:a="http://schemas.openxmlformats.org/drawingml/2006/main">
            <a:off x="2114550" y="4229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352F"/>
                </a:solidFill>
                <a:latin typeface="Inter"/>
                <a:ea typeface="Inter"/>
              </a:rPr>
              <a:t>Boundary</a:t>
            </a:r>
            <a:endParaRPr lang="en-US"/>
          </a:p>
        </p:txBody>
      </p:sp>
      <p:sp>
        <p:nvSpPr>
          <p:cNvPr id="15" name="close-text-1"/>
          <p:cNvSpPr txBox="1"/>
          <p:nvPr/>
        </p:nvSpPr>
        <p:spPr>
          <a:xfrm xmlns:a="http://schemas.openxmlformats.org/drawingml/2006/main">
            <a:off x="4495800" y="4267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7352F"/>
                </a:solidFill>
                <a:latin typeface="Inter"/>
                <a:ea typeface="Inter"/>
              </a:rPr>
              <a:t>The sample does not establish persistence.</a:t>
            </a:r>
            <a:endParaRPr lang="en-US"/>
          </a:p>
        </p:txBody>
      </p:sp>
      <p:sp>
        <p:nvSpPr>
          <p:cNvPr id="16" name="close-number-2"/>
          <p:cNvSpPr txBox="1"/>
          <p:nvPr/>
        </p:nvSpPr>
        <p:spPr>
          <a:xfrm xmlns:a="http://schemas.openxmlformats.org/drawingml/2006/main">
            <a:off x="1104900" y="5314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88A78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17" name="close-row-rule-2"/>
          <p:cNvSpPr/>
          <p:nvPr/>
        </p:nvSpPr>
        <p:spPr>
          <a:xfrm xmlns:a="http://schemas.openxmlformats.org/drawingml/2006/main">
            <a:off x="2000250" y="54673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88A7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close-label-2"/>
          <p:cNvSpPr txBox="1"/>
          <p:nvPr/>
        </p:nvSpPr>
        <p:spPr>
          <a:xfrm xmlns:a="http://schemas.openxmlformats.org/drawingml/2006/main">
            <a:off x="2114550" y="527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352F"/>
                </a:solidFill>
                <a:latin typeface="Inter"/>
                <a:ea typeface="Inter"/>
              </a:rPr>
              <a:t>Next test</a:t>
            </a:r>
            <a:endParaRPr lang="en-US"/>
          </a:p>
        </p:txBody>
      </p:sp>
      <p:sp>
        <p:nvSpPr>
          <p:cNvPr id="19" name="close-text-2"/>
          <p:cNvSpPr txBox="1"/>
          <p:nvPr/>
        </p:nvSpPr>
        <p:spPr>
          <a:xfrm xmlns:a="http://schemas.openxmlformats.org/drawingml/2006/main">
            <a:off x="4495800" y="5314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7352F"/>
                </a:solidFill>
                <a:latin typeface="Inter"/>
                <a:ea typeface="Inter"/>
              </a:rPr>
              <a:t>Replicate across a new region.</a:t>
            </a:r>
            <a:endParaRPr lang="en-US"/>
          </a:p>
        </p:txBody>
      </p:sp>
      <p:sp>
        <p:nvSpPr>
          <p:cNvPr id="20" name="next-panel"/>
          <p:cNvSpPr/>
          <p:nvPr/>
        </p:nvSpPr>
        <p:spPr>
          <a:xfrm xmlns:a="http://schemas.openxmlformats.org/drawingml/2006/main">
            <a:off x="10668000" y="3238500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A78"/>
          </a:solidFill>
          <a:ln xmlns:a="http://schemas.openxmlformats.org/drawingml/2006/main" w="0">
            <a:solidFill>
              <a:srgbClr val="188A7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next-label"/>
          <p:cNvSpPr txBox="1"/>
          <p:nvPr/>
        </p:nvSpPr>
        <p:spPr>
          <a:xfrm xmlns:a="http://schemas.openxmlformats.org/drawingml/2006/main">
            <a:off x="11049000" y="3562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FFFFF"/>
                </a:solidFill>
                <a:latin typeface="Inter"/>
                <a:ea typeface="Inter"/>
              </a:rPr>
              <a:t>NEXT MOVE</a:t>
            </a:r>
            <a:endParaRPr lang="en-US"/>
          </a:p>
        </p:txBody>
      </p:sp>
      <p:sp>
        <p:nvSpPr>
          <p:cNvPr id="22" name="next-text"/>
          <p:cNvSpPr txBox="1"/>
          <p:nvPr/>
        </p:nvSpPr>
        <p:spPr>
          <a:xfrm xmlns:a="http://schemas.openxmlformats.org/drawingml/2006/main">
            <a:off x="11049000" y="40386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FFFFFF"/>
                </a:solidFill>
                <a:latin typeface="Inter"/>
                <a:ea typeface="Inter"/>
              </a:rPr>
              <a:t>Replicate the test</a:t>
            </a:r>
            <a:endParaRPr lang="en-US"/>
          </a:p>
        </p:txBody>
      </p:sp>
      <p:sp>
        <p:nvSpPr>
          <p:cNvPr id="23" name="next-foot"/>
          <p:cNvSpPr txBox="1"/>
          <p:nvPr/>
        </p:nvSpPr>
        <p:spPr>
          <a:xfrm xmlns:a="http://schemas.openxmlformats.org/drawingml/2006/main">
            <a:off x="11049000" y="5048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FFFFFF"/>
                </a:solidFill>
                <a:latin typeface="Inter"/>
                <a:ea typeface="Inter"/>
              </a:rPr>
              <a:t>Owner · reviewer · date</a:t>
            </a:r>
            <a:endParaRPr lang="en-US"/>
          </a:p>
        </p:txBody>
      </p:sp>
      <p:sp>
        <p:nvSpPr>
          <p:cNvPr id="2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E9C99"/>
                </a:solidFill>
                <a:latin typeface="Inter"/>
                <a:ea typeface="Inter"/>
              </a:rPr>
              <a:t>OfficeKit original clean-room calibration · reference deck is editable and inspectable</a:t>
            </a:r>
            <a:endParaRPr lang="en-US"/>
          </a:p>
        </p:txBody>
      </p:sp>
      <p:sp>
        <p:nvSpPr>
          <p:cNvPr id="2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E9C99"/>
                </a:solidFill>
                <a:latin typeface="Inter"/>
                <a:ea typeface="Inter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