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3f9dbfa4f3c48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7afcded34c2e4a25" /><Relationship Type="http://schemas.openxmlformats.org/officeDocument/2006/relationships/chart" Target="/ppt/slides/charts/chart2.xml" Id="R2a8724017eec4a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Primary signal · observed versus reference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E2534B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90908F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Driver trend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Driver</c:v>
          </c:tx>
          <c:spPr>
            <a:solidFill>
              <a:srgbClr val="72787F"/>
            </a:solidFill>
            <a:ln w="38100">
              <a:solidFill>
                <a:srgbClr val="72787F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28</c:v>
              </c:pt>
              <c:pt idx="2">
                <c:v>34</c:v>
              </c:pt>
              <c:pt idx="3">
                <c:v>39</c:v>
              </c:pt>
              <c:pt idx="4">
                <c:v>45</c:v>
              </c:pt>
              <c:pt idx="5">
                <c:v>51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253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2534B"/>
                </a:solidFill>
                <a:latin typeface="Arial"/>
                <a:ea typeface="Arial"/>
              </a:rPr>
              <a:t>CONSULTING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81716"/>
                </a:solidFill>
                <a:latin typeface="Arial"/>
                <a:ea typeface="Arial"/>
              </a:rPr>
              <a:t>Coral Growth Brief: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E2534B"/>
                </a:solidFill>
                <a:latin typeface="Arial"/>
                <a:ea typeface="Arial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7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1716"/>
                </a:solidFill>
                <a:latin typeface="Arial"/>
                <a:ea typeface="Arial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81716"/>
                </a:solidFill>
                <a:latin typeface="Arial"/>
                <a:ea typeface="Arial"/>
              </a:rPr>
              <a:t>The synthesis matters more than the inventory.</a:t>
            </a:r>
            <a:endParaRPr lang="en-US"/>
          </a:p>
        </p:txBody>
      </p:sp>
      <p:sp>
        <p:nvSpPr>
          <p:cNvPr id="10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08F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08F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  <p:sp>
        <p:nvSpPr>
          <p:cNvPr id="12" name="anchor-field"/>
          <p:cNvSpPr/>
          <p:nvPr/>
        </p:nvSpPr>
        <p:spPr>
          <a:xfrm xmlns:a="http://schemas.openxmlformats.org/drawingml/2006/main">
            <a:off x="11239500" y="17145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anchor-line"/>
          <p:cNvSpPr/>
          <p:nvPr/>
        </p:nvSpPr>
        <p:spPr>
          <a:xfrm xmlns:a="http://schemas.openxmlformats.org/drawingml/2006/main">
            <a:off x="11544300" y="350520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E253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line-two"/>
          <p:cNvSpPr/>
          <p:nvPr/>
        </p:nvSpPr>
        <p:spPr>
          <a:xfrm xmlns:a="http://schemas.openxmlformats.org/drawingml/2006/main">
            <a:off x="11544300" y="36957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dot"/>
          <p:cNvSpPr/>
          <p:nvPr/>
        </p:nvSpPr>
        <p:spPr>
          <a:xfrm xmlns:a="http://schemas.openxmlformats.org/drawingml/2006/main">
            <a:off x="1303020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34B"/>
          </a:solidFill>
          <a:ln xmlns:a="http://schemas.openxmlformats.org/drawingml/2006/main" w="0">
            <a:solidFill>
              <a:srgbClr val="E253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253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RAL GROWTH BRIEF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2534B"/>
                </a:solidFill>
                <a:latin typeface="Arial"/>
                <a:ea typeface="Arial"/>
              </a:rPr>
              <a:t>CORAL GROWTH BRIEF · ARGUMENT</a:t>
            </a:r>
            <a:endParaRPr lang="en-US"/>
          </a:p>
        </p:txBody>
      </p:sp>
      <p:sp>
        <p:nvSpPr>
          <p:cNvPr id="5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81716"/>
                </a:solidFill>
                <a:latin typeface="Arial"/>
                <a:ea typeface="Arial"/>
              </a:rPr>
              <a:t>One finding should reorganize the decision</a:t>
            </a:r>
            <a:endParaRPr lang="en-US"/>
          </a:p>
        </p:txBody>
      </p:sp>
      <p:sp>
        <p:nvSpPr>
          <p:cNvPr id="6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908F"/>
                </a:solidFill>
                <a:latin typeface="Arial"/>
                <a:ea typeface="Arial"/>
              </a:rPr>
              <a:t>Finding, implication, recommendation: evidence stays adjacent to the synthesis.</a:t>
            </a:r>
            <a:endParaRPr lang="en-US"/>
          </a:p>
        </p:txBody>
      </p:sp>
      <p:sp>
        <p:nvSpPr>
          <p:cNvPr id="7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nding"/>
          <p:cNvSpPr txBox="1"/>
          <p:nvPr/>
        </p:nvSpPr>
        <p:spPr>
          <a:xfrm xmlns:a="http://schemas.openxmlformats.org/drawingml/2006/main">
            <a:off x="1104900" y="3314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E2534B"/>
                </a:solidFill>
                <a:latin typeface="Arial"/>
                <a:ea typeface="Arial"/>
              </a:rPr>
              <a:t>FINDING</a:t>
            </a:r>
            <a:endParaRPr lang="en-US"/>
          </a:p>
        </p:txBody>
      </p:sp>
      <p:sp>
        <p:nvSpPr>
          <p:cNvPr id="9" name="finding-text"/>
          <p:cNvSpPr txBox="1"/>
          <p:nvPr/>
        </p:nvSpPr>
        <p:spPr>
          <a:xfrm xmlns:a="http://schemas.openxmlformats.org/drawingml/2006/main">
            <a:off x="1104900" y="36957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81716"/>
                </a:solidFill>
                <a:latin typeface="Arial"/>
                <a:ea typeface="Arial"/>
              </a:rPr>
              <a:t>The constraint is concentration, not demand.</a:t>
            </a:r>
            <a:endParaRPr lang="en-US"/>
          </a:p>
        </p:txBody>
      </p:sp>
      <p:sp>
        <p:nvSpPr>
          <p:cNvPr id="10" name="finding-rule"/>
          <p:cNvSpPr/>
          <p:nvPr/>
        </p:nvSpPr>
        <p:spPr>
          <a:xfrm xmlns:a="http://schemas.openxmlformats.org/drawingml/2006/main">
            <a:off x="1104900" y="4552950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implication"/>
          <p:cNvSpPr txBox="1"/>
          <p:nvPr/>
        </p:nvSpPr>
        <p:spPr>
          <a:xfrm xmlns:a="http://schemas.openxmlformats.org/drawingml/2006/main">
            <a:off x="1104900" y="4953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E2534B"/>
                </a:solidFill>
                <a:latin typeface="Arial"/>
                <a:ea typeface="Arial"/>
              </a:rPr>
              <a:t>IMPLICATION</a:t>
            </a:r>
            <a:endParaRPr lang="en-US"/>
          </a:p>
        </p:txBody>
      </p:sp>
      <p:sp>
        <p:nvSpPr>
          <p:cNvPr id="12" name="implication-text"/>
          <p:cNvSpPr txBox="1"/>
          <p:nvPr/>
        </p:nvSpPr>
        <p:spPr>
          <a:xfrm xmlns:a="http://schemas.openxmlformats.org/drawingml/2006/main">
            <a:off x="1104900" y="53340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>
                <a:solidFill>
                  <a:srgbClr val="181716"/>
                </a:solidFill>
                <a:latin typeface="Arial"/>
                <a:ea typeface="Arial"/>
              </a:rPr>
              <a:t>Protect the strongest channel before adding volume.</a:t>
            </a:r>
            <a:endParaRPr lang="en-US"/>
          </a:p>
        </p:txBody>
      </p:sp>
      <p:sp>
        <p:nvSpPr>
          <p:cNvPr id="13" name="pressure-label"/>
          <p:cNvSpPr txBox="1"/>
          <p:nvPr/>
        </p:nvSpPr>
        <p:spPr>
          <a:xfrm xmlns:a="http://schemas.openxmlformats.org/drawingml/2006/main">
            <a:off x="1104900" y="6153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E2534B"/>
                </a:solidFill>
                <a:latin typeface="Arial"/>
                <a:ea typeface="Arial"/>
              </a:rPr>
              <a:t>PRESSURE PROFILE · CURRENT CASE</a:t>
            </a:r>
            <a:endParaRPr lang="en-US"/>
          </a:p>
        </p:txBody>
      </p:sp>
      <p:sp>
        <p:nvSpPr>
          <p:cNvPr id="14" name="pressure-name-0"/>
          <p:cNvSpPr txBox="1"/>
          <p:nvPr/>
        </p:nvSpPr>
        <p:spPr>
          <a:xfrm xmlns:a="http://schemas.openxmlformats.org/drawingml/2006/main">
            <a:off x="1104900" y="6515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08F"/>
                </a:solidFill>
                <a:latin typeface="Arial"/>
                <a:ea typeface="Arial"/>
              </a:rPr>
              <a:t>Concentration</a:t>
            </a:r>
            <a:endParaRPr lang="en-US"/>
          </a:p>
        </p:txBody>
      </p:sp>
      <p:sp>
        <p:nvSpPr>
          <p:cNvPr id="15" name="pressure-track-0"/>
          <p:cNvSpPr/>
          <p:nvPr/>
        </p:nvSpPr>
        <p:spPr>
          <a:xfrm xmlns:a="http://schemas.openxmlformats.org/drawingml/2006/main">
            <a:off x="3028950" y="65341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pressure-fill-0"/>
          <p:cNvSpPr/>
          <p:nvPr/>
        </p:nvSpPr>
        <p:spPr>
          <a:xfrm xmlns:a="http://schemas.openxmlformats.org/drawingml/2006/main">
            <a:off x="3028950" y="6534150"/>
            <a:ext cx="3590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34B"/>
          </a:solidFill>
          <a:ln xmlns:a="http://schemas.openxmlformats.org/drawingml/2006/main" w="0">
            <a:solidFill>
              <a:srgbClr val="E253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pressure-value-0"/>
          <p:cNvSpPr txBox="1"/>
          <p:nvPr/>
        </p:nvSpPr>
        <p:spPr>
          <a:xfrm xmlns:a="http://schemas.openxmlformats.org/drawingml/2006/main">
            <a:off x="7600950" y="64865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81716"/>
                </a:solidFill>
                <a:latin typeface="Arial"/>
                <a:ea typeface="Arial"/>
              </a:rPr>
              <a:t>82%</a:t>
            </a:r>
            <a:endParaRPr lang="en-US"/>
          </a:p>
        </p:txBody>
      </p:sp>
      <p:sp>
        <p:nvSpPr>
          <p:cNvPr id="18" name="pressure-name-1"/>
          <p:cNvSpPr txBox="1"/>
          <p:nvPr/>
        </p:nvSpPr>
        <p:spPr>
          <a:xfrm xmlns:a="http://schemas.openxmlformats.org/drawingml/2006/main">
            <a:off x="1104900" y="6838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08F"/>
                </a:solidFill>
                <a:latin typeface="Arial"/>
                <a:ea typeface="Arial"/>
              </a:rPr>
              <a:t>Price power</a:t>
            </a:r>
            <a:endParaRPr lang="en-US"/>
          </a:p>
        </p:txBody>
      </p:sp>
      <p:sp>
        <p:nvSpPr>
          <p:cNvPr id="19" name="pressure-track-1"/>
          <p:cNvSpPr/>
          <p:nvPr/>
        </p:nvSpPr>
        <p:spPr>
          <a:xfrm xmlns:a="http://schemas.openxmlformats.org/drawingml/2006/main">
            <a:off x="3028950" y="685800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essure-fill-1"/>
          <p:cNvSpPr/>
          <p:nvPr/>
        </p:nvSpPr>
        <p:spPr>
          <a:xfrm xmlns:a="http://schemas.openxmlformats.org/drawingml/2006/main">
            <a:off x="3028950" y="6858000"/>
            <a:ext cx="2457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908F"/>
          </a:solidFill>
          <a:ln xmlns:a="http://schemas.openxmlformats.org/drawingml/2006/main" w="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pressure-value-1"/>
          <p:cNvSpPr txBox="1"/>
          <p:nvPr/>
        </p:nvSpPr>
        <p:spPr>
          <a:xfrm xmlns:a="http://schemas.openxmlformats.org/drawingml/2006/main">
            <a:off x="7600950" y="6810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81716"/>
                </a:solidFill>
                <a:latin typeface="Arial"/>
                <a:ea typeface="Arial"/>
              </a:rPr>
              <a:t>56%</a:t>
            </a:r>
            <a:endParaRPr lang="en-US"/>
          </a:p>
        </p:txBody>
      </p:sp>
      <p:sp>
        <p:nvSpPr>
          <p:cNvPr id="22" name="pressure-name-2"/>
          <p:cNvSpPr txBox="1"/>
          <p:nvPr/>
        </p:nvSpPr>
        <p:spPr>
          <a:xfrm xmlns:a="http://schemas.openxmlformats.org/drawingml/2006/main">
            <a:off x="1104900" y="7162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08F"/>
                </a:solidFill>
                <a:latin typeface="Arial"/>
                <a:ea typeface="Arial"/>
              </a:rPr>
              <a:t>Operating friction</a:t>
            </a:r>
            <a:endParaRPr lang="en-US"/>
          </a:p>
        </p:txBody>
      </p:sp>
      <p:sp>
        <p:nvSpPr>
          <p:cNvPr id="23" name="pressure-track-2"/>
          <p:cNvSpPr/>
          <p:nvPr/>
        </p:nvSpPr>
        <p:spPr>
          <a:xfrm xmlns:a="http://schemas.openxmlformats.org/drawingml/2006/main">
            <a:off x="3028950" y="71818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essure-fill-2"/>
          <p:cNvSpPr/>
          <p:nvPr/>
        </p:nvSpPr>
        <p:spPr>
          <a:xfrm xmlns:a="http://schemas.openxmlformats.org/drawingml/2006/main">
            <a:off x="3028950" y="7181850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908F"/>
          </a:solidFill>
          <a:ln xmlns:a="http://schemas.openxmlformats.org/drawingml/2006/main" w="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essure-value-2"/>
          <p:cNvSpPr txBox="1"/>
          <p:nvPr/>
        </p:nvSpPr>
        <p:spPr>
          <a:xfrm xmlns:a="http://schemas.openxmlformats.org/drawingml/2006/main">
            <a:off x="7600950" y="7134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181716"/>
                </a:solidFill>
                <a:latin typeface="Arial"/>
                <a:ea typeface="Arial"/>
              </a:rPr>
              <a:t>34%</a:t>
            </a:r>
            <a:endParaRPr lang="en-US"/>
          </a:p>
        </p:txBody>
      </p:sp>
      <p:sp>
        <p:nvSpPr>
          <p:cNvPr id="26" name="recommendation"/>
          <p:cNvSpPr/>
          <p:nvPr/>
        </p:nvSpPr>
        <p:spPr>
          <a:xfrm xmlns:a="http://schemas.openxmlformats.org/drawingml/2006/main">
            <a:off x="9906000" y="323850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34B"/>
          </a:solidFill>
          <a:ln xmlns:a="http://schemas.openxmlformats.org/drawingml/2006/main" w="0">
            <a:solidFill>
              <a:srgbClr val="E253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recommendation-label"/>
          <p:cNvSpPr txBox="1"/>
          <p:nvPr/>
        </p:nvSpPr>
        <p:spPr>
          <a:xfrm xmlns:a="http://schemas.openxmlformats.org/drawingml/2006/main">
            <a:off x="10287000" y="3600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RECOMMENDATION</a:t>
            </a:r>
            <a:endParaRPr lang="en-US"/>
          </a:p>
        </p:txBody>
      </p:sp>
      <p:sp>
        <p:nvSpPr>
          <p:cNvPr id="28" name="recommendation-text"/>
          <p:cNvSpPr txBox="1"/>
          <p:nvPr/>
        </p:nvSpPr>
        <p:spPr>
          <a:xfrm xmlns:a="http://schemas.openxmlformats.org/drawingml/2006/main">
            <a:off x="10287000" y="40957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325" b="1">
                <a:solidFill>
                  <a:srgbClr val="FFFFFF"/>
                </a:solidFill>
                <a:latin typeface="Arial"/>
                <a:ea typeface="Arial"/>
              </a:rPr>
              <a:t>One constrained move</a:t>
            </a:r>
            <a:endParaRPr lang="en-US"/>
          </a:p>
        </p:txBody>
      </p:sp>
      <p:sp>
        <p:nvSpPr>
          <p:cNvPr id="29" name="recommendation-foot"/>
          <p:cNvSpPr txBox="1"/>
          <p:nvPr/>
        </p:nvSpPr>
        <p:spPr>
          <a:xfrm xmlns:a="http://schemas.openxmlformats.org/drawingml/2006/main">
            <a:off x="10287000" y="5067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Arial"/>
                <a:ea typeface="Arial"/>
              </a:rPr>
              <a:t>subject to the next evidence gate</a:t>
            </a:r>
            <a:endParaRPr lang="en-US"/>
          </a:p>
        </p:txBody>
      </p:sp>
      <p:sp>
        <p:nvSpPr>
          <p:cNvPr id="30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08F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3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08F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253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RAL GROWTH BRIEF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2534B"/>
                </a:solidFill>
                <a:latin typeface="Arial"/>
                <a:ea typeface="Arial"/>
              </a:rPr>
              <a:t>CORAL GROWTH BRIEF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81716"/>
                </a:solidFill>
                <a:latin typeface="Arial"/>
                <a:ea typeface="Arial"/>
              </a:rPr>
              <a:t>The evidence narrows the decision to one lever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908F"/>
                </a:solidFill>
                <a:latin typeface="Arial"/>
                <a:ea typeface="Arial"/>
              </a:rPr>
              <a:t>Comparable cases · same basis · direct labels instead of a legend-only chart.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dense-prim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048000"/>
          <a:ext xmlns:a="http://schemas.openxmlformats.org/drawingml/2006/main" cx="6286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fcded34c2e4a25"/>
          </a:graphicData>
        </a:graphic>
      </p:graphicFrame>
      <p:graphicFrame>
        <p:nvGraphicFramePr>
          <p:cNvPr id="9" name="dense-second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658100" y="3048000"/>
          <a:ext xmlns:a="http://schemas.openxmlformats.org/drawingml/2006/main" cx="3143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8724017eec4aa0"/>
          </a:graphicData>
        </a:graphic>
      </p:graphicFrame>
      <p:sp>
        <p:nvSpPr>
          <p:cNvPr id="10" name="dense-read-rule"/>
          <p:cNvSpPr/>
          <p:nvPr/>
        </p:nvSpPr>
        <p:spPr>
          <a:xfrm xmlns:a="http://schemas.openxmlformats.org/drawingml/2006/main">
            <a:off x="11315700" y="33147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253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dense-read-label"/>
          <p:cNvSpPr txBox="1"/>
          <p:nvPr/>
        </p:nvSpPr>
        <p:spPr>
          <a:xfrm xmlns:a="http://schemas.openxmlformats.org/drawingml/2006/main">
            <a:off x="11315700" y="3543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E2534B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12" name="dense-read-title"/>
          <p:cNvSpPr txBox="1"/>
          <p:nvPr/>
        </p:nvSpPr>
        <p:spPr>
          <a:xfrm xmlns:a="http://schemas.openxmlformats.org/drawingml/2006/main">
            <a:off x="11315700" y="4000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181716"/>
                </a:solidFill>
                <a:latin typeface="Arial"/>
                <a:ea typeface="Arial"/>
              </a:rPr>
              <a:t>The comparison narrows the move.</a:t>
            </a:r>
            <a:endParaRPr lang="en-US"/>
          </a:p>
        </p:txBody>
      </p:sp>
      <p:sp>
        <p:nvSpPr>
          <p:cNvPr id="13" name="dense-read-body"/>
          <p:cNvSpPr txBox="1"/>
          <p:nvPr/>
        </p:nvSpPr>
        <p:spPr>
          <a:xfrm xmlns:a="http://schemas.openxmlformats.org/drawingml/2006/main">
            <a:off x="11315700" y="49530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0908F"/>
                </a:solidFill>
                <a:latin typeface="Arial"/>
                <a:ea typeface="Arial"/>
              </a:rPr>
              <a:t>Locate the constraint; choose the lever.</a:t>
            </a:r>
            <a:endParaRPr lang="en-US"/>
          </a:p>
        </p:txBody>
      </p:sp>
      <p:sp>
        <p:nvSpPr>
          <p:cNvPr id="14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81716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08F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08F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253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RAL GROWTH BRIEF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2534B"/>
                </a:solidFill>
                <a:latin typeface="Arial"/>
                <a:ea typeface="Arial"/>
              </a:rPr>
              <a:t>CORAL GROWTH BRIEF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81716"/>
                </a:solidFill>
                <a:latin typeface="Arial"/>
                <a:ea typeface="Arial"/>
              </a:rPr>
              <a:t>A decision page needs a visible sequence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908F"/>
                </a:solidFill>
                <a:latin typeface="Arial"/>
                <a:ea typeface="Arial"/>
              </a:rPr>
              <a:t>Finding → constraint → move · each line changes the choice.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8171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E2534B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1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81716"/>
                </a:solidFill>
                <a:latin typeface="Arial"/>
                <a:ea typeface="Arial"/>
              </a:rPr>
              <a:t>Frame</a:t>
            </a:r>
            <a:endParaRPr lang="en-US"/>
          </a:p>
        </p:txBody>
      </p:sp>
      <p:sp>
        <p:nvSpPr>
          <p:cNvPr id="12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0908F"/>
                </a:solidFill>
                <a:latin typeface="Arial"/>
                <a:ea typeface="Arial"/>
              </a:rPr>
              <a:t>Name the question</a:t>
            </a:r>
            <a:endParaRPr lang="en-US"/>
          </a:p>
        </p:txBody>
      </p:sp>
      <p:sp>
        <p:nvSpPr>
          <p:cNvPr id="13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8171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E2534B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6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81716"/>
                </a:solidFill>
                <a:latin typeface="Arial"/>
                <a:ea typeface="Arial"/>
              </a:rPr>
              <a:t>Test</a:t>
            </a:r>
            <a:endParaRPr lang="en-US"/>
          </a:p>
        </p:txBody>
      </p:sp>
      <p:sp>
        <p:nvSpPr>
          <p:cNvPr id="17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0908F"/>
                </a:solidFill>
                <a:latin typeface="Arial"/>
                <a:ea typeface="Arial"/>
              </a:rPr>
              <a:t>Hold the rule</a:t>
            </a:r>
            <a:endParaRPr lang="en-US"/>
          </a:p>
        </p:txBody>
      </p:sp>
      <p:sp>
        <p:nvSpPr>
          <p:cNvPr id="18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8171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E2534B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21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81716"/>
                </a:solidFill>
                <a:latin typeface="Arial"/>
                <a:ea typeface="Arial"/>
              </a:rPr>
              <a:t>Read</a:t>
            </a:r>
            <a:endParaRPr lang="en-US"/>
          </a:p>
        </p:txBody>
      </p:sp>
      <p:sp>
        <p:nvSpPr>
          <p:cNvPr id="22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0908F"/>
                </a:solidFill>
                <a:latin typeface="Arial"/>
                <a:ea typeface="Arial"/>
              </a:rPr>
              <a:t>Separate signal</a:t>
            </a:r>
            <a:endParaRPr lang="en-US"/>
          </a:p>
        </p:txBody>
      </p:sp>
      <p:sp>
        <p:nvSpPr>
          <p:cNvPr id="23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34B"/>
          </a:solidFill>
          <a:ln xmlns:a="http://schemas.openxmlformats.org/drawingml/2006/main" w="38100">
            <a:solidFill>
              <a:srgbClr val="E253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E2534B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26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81716"/>
                </a:solidFill>
                <a:latin typeface="Arial"/>
                <a:ea typeface="Arial"/>
              </a:rPr>
              <a:t>Decide</a:t>
            </a:r>
            <a:endParaRPr lang="en-US"/>
          </a:p>
        </p:txBody>
      </p:sp>
      <p:sp>
        <p:nvSpPr>
          <p:cNvPr id="27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0908F"/>
                </a:solidFill>
                <a:latin typeface="Arial"/>
                <a:ea typeface="Arial"/>
              </a:rPr>
              <a:t>Set the next gate</a:t>
            </a:r>
            <a:endParaRPr lang="en-US"/>
          </a:p>
        </p:txBody>
      </p:sp>
      <p:sp>
        <p:nvSpPr>
          <p:cNvPr id="28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E2534B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29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81716"/>
                </a:solidFill>
                <a:latin typeface="Arial"/>
                <a:ea typeface="Arial"/>
              </a:rPr>
              <a:t>The sequence is the evidence.</a:t>
            </a:r>
            <a:endParaRPr lang="en-US"/>
          </a:p>
        </p:txBody>
      </p:sp>
      <p:sp>
        <p:nvSpPr>
          <p:cNvPr id="30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908F"/>
                </a:solidFill>
                <a:latin typeface="Arial"/>
                <a:ea typeface="Arial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31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08F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2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08F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253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RAL GROWTH BRIEF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2534B"/>
                </a:solidFill>
                <a:latin typeface="Arial"/>
                <a:ea typeface="Arial"/>
              </a:rPr>
              <a:t>CORAL GROWTH BRIEF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81716"/>
                </a:solidFill>
                <a:latin typeface="Arial"/>
                <a:ea typeface="Arial"/>
              </a:rPr>
              <a:t>Make the choice legible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908F"/>
                </a:solidFill>
                <a:latin typeface="Arial"/>
                <a:ea typeface="Arial"/>
              </a:rPr>
              <a:t>A single visual cue can make the recommendation easier to remember.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visual-process-rail"/>
          <p:cNvSpPr/>
          <p:nvPr/>
        </p:nvSpPr>
        <p:spPr>
          <a:xfrm xmlns:a="http://schemas.openxmlformats.org/drawingml/2006/main">
            <a:off x="1447800" y="3524250"/>
            <a:ext cx="0" cy="2647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visual-process-node-0"/>
          <p:cNvSpPr/>
          <p:nvPr/>
        </p:nvSpPr>
        <p:spPr>
          <a:xfrm xmlns:a="http://schemas.openxmlformats.org/drawingml/2006/main">
            <a:off x="12573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8171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visual-process-number-0"/>
          <p:cNvSpPr txBox="1"/>
          <p:nvPr/>
        </p:nvSpPr>
        <p:spPr>
          <a:xfrm xmlns:a="http://schemas.openxmlformats.org/drawingml/2006/main">
            <a:off x="1238250" y="34671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E2534B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1" name="visual-process-label-0"/>
          <p:cNvSpPr txBox="1"/>
          <p:nvPr/>
        </p:nvSpPr>
        <p:spPr>
          <a:xfrm xmlns:a="http://schemas.openxmlformats.org/drawingml/2006/main">
            <a:off x="19431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1716"/>
                </a:solidFill>
                <a:latin typeface="Arial"/>
                <a:ea typeface="Arial"/>
              </a:rPr>
              <a:t>Observe</a:t>
            </a:r>
            <a:endParaRPr lang="en-US"/>
          </a:p>
        </p:txBody>
      </p:sp>
      <p:sp>
        <p:nvSpPr>
          <p:cNvPr id="12" name="visual-process-text-0"/>
          <p:cNvSpPr txBox="1"/>
          <p:nvPr/>
        </p:nvSpPr>
        <p:spPr>
          <a:xfrm xmlns:a="http://schemas.openxmlformats.org/drawingml/2006/main">
            <a:off x="3829050" y="34004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908F"/>
                </a:solidFill>
                <a:latin typeface="Arial"/>
                <a:ea typeface="Arial"/>
              </a:rPr>
              <a:t>Find the signal</a:t>
            </a:r>
            <a:endParaRPr lang="en-US"/>
          </a:p>
        </p:txBody>
      </p:sp>
      <p:sp>
        <p:nvSpPr>
          <p:cNvPr id="13" name="visual-process-node-1"/>
          <p:cNvSpPr/>
          <p:nvPr/>
        </p:nvSpPr>
        <p:spPr>
          <a:xfrm xmlns:a="http://schemas.openxmlformats.org/drawingml/2006/main">
            <a:off x="12573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8171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process-number-1"/>
          <p:cNvSpPr txBox="1"/>
          <p:nvPr/>
        </p:nvSpPr>
        <p:spPr>
          <a:xfrm xmlns:a="http://schemas.openxmlformats.org/drawingml/2006/main">
            <a:off x="1238250" y="42100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E2534B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5" name="visual-process-label-1"/>
          <p:cNvSpPr txBox="1"/>
          <p:nvPr/>
        </p:nvSpPr>
        <p:spPr>
          <a:xfrm xmlns:a="http://schemas.openxmlformats.org/drawingml/2006/main">
            <a:off x="1943100" y="4114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1716"/>
                </a:solidFill>
                <a:latin typeface="Arial"/>
                <a:ea typeface="Arial"/>
              </a:rPr>
              <a:t>Explain</a:t>
            </a:r>
            <a:endParaRPr lang="en-US"/>
          </a:p>
        </p:txBody>
      </p:sp>
      <p:sp>
        <p:nvSpPr>
          <p:cNvPr id="16" name="visual-process-text-1"/>
          <p:cNvSpPr txBox="1"/>
          <p:nvPr/>
        </p:nvSpPr>
        <p:spPr>
          <a:xfrm xmlns:a="http://schemas.openxmlformats.org/drawingml/2006/main">
            <a:off x="3829050" y="4143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908F"/>
                </a:solidFill>
                <a:latin typeface="Arial"/>
                <a:ea typeface="Arial"/>
              </a:rPr>
              <a:t>Name the mechanism</a:t>
            </a:r>
            <a:endParaRPr lang="en-US"/>
          </a:p>
        </p:txBody>
      </p:sp>
      <p:sp>
        <p:nvSpPr>
          <p:cNvPr id="17" name="visual-process-node-2"/>
          <p:cNvSpPr/>
          <p:nvPr/>
        </p:nvSpPr>
        <p:spPr>
          <a:xfrm xmlns:a="http://schemas.openxmlformats.org/drawingml/2006/main">
            <a:off x="1257300" y="4838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81716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visual-process-number-2"/>
          <p:cNvSpPr txBox="1"/>
          <p:nvPr/>
        </p:nvSpPr>
        <p:spPr>
          <a:xfrm xmlns:a="http://schemas.openxmlformats.org/drawingml/2006/main">
            <a:off x="1238250" y="49530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E2534B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9" name="visual-process-label-2"/>
          <p:cNvSpPr txBox="1"/>
          <p:nvPr/>
        </p:nvSpPr>
        <p:spPr>
          <a:xfrm xmlns:a="http://schemas.openxmlformats.org/drawingml/2006/main">
            <a:off x="194310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1716"/>
                </a:solidFill>
                <a:latin typeface="Arial"/>
                <a:ea typeface="Arial"/>
              </a:rPr>
              <a:t>Choose</a:t>
            </a:r>
            <a:endParaRPr lang="en-US"/>
          </a:p>
        </p:txBody>
      </p:sp>
      <p:sp>
        <p:nvSpPr>
          <p:cNvPr id="20" name="visual-process-text-2"/>
          <p:cNvSpPr txBox="1"/>
          <p:nvPr/>
        </p:nvSpPr>
        <p:spPr>
          <a:xfrm xmlns:a="http://schemas.openxmlformats.org/drawingml/2006/main">
            <a:off x="3829050" y="4886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908F"/>
                </a:solidFill>
                <a:latin typeface="Arial"/>
                <a:ea typeface="Arial"/>
              </a:rPr>
              <a:t>Set the condition</a:t>
            </a:r>
            <a:endParaRPr lang="en-US"/>
          </a:p>
        </p:txBody>
      </p:sp>
      <p:sp>
        <p:nvSpPr>
          <p:cNvPr id="21" name="visual-process-node-3"/>
          <p:cNvSpPr/>
          <p:nvPr/>
        </p:nvSpPr>
        <p:spPr>
          <a:xfrm xmlns:a="http://schemas.openxmlformats.org/drawingml/2006/main">
            <a:off x="1257300" y="558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534B"/>
          </a:solidFill>
          <a:ln xmlns:a="http://schemas.openxmlformats.org/drawingml/2006/main" w="38100">
            <a:solidFill>
              <a:srgbClr val="E253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visual-process-number-3"/>
          <p:cNvSpPr txBox="1"/>
          <p:nvPr/>
        </p:nvSpPr>
        <p:spPr>
          <a:xfrm xmlns:a="http://schemas.openxmlformats.org/drawingml/2006/main">
            <a:off x="1238250" y="5695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/>
          </a:p>
        </p:txBody>
      </p:sp>
      <p:sp>
        <p:nvSpPr>
          <p:cNvPr id="23" name="visual-process-label-3"/>
          <p:cNvSpPr txBox="1"/>
          <p:nvPr/>
        </p:nvSpPr>
        <p:spPr>
          <a:xfrm xmlns:a="http://schemas.openxmlformats.org/drawingml/2006/main">
            <a:off x="1943100" y="560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1716"/>
                </a:solidFill>
                <a:latin typeface="Arial"/>
                <a:ea typeface="Arial"/>
              </a:rPr>
              <a:t>Act</a:t>
            </a:r>
            <a:endParaRPr lang="en-US"/>
          </a:p>
        </p:txBody>
      </p:sp>
      <p:sp>
        <p:nvSpPr>
          <p:cNvPr id="24" name="visual-process-text-3"/>
          <p:cNvSpPr txBox="1"/>
          <p:nvPr/>
        </p:nvSpPr>
        <p:spPr>
          <a:xfrm xmlns:a="http://schemas.openxmlformats.org/drawingml/2006/main">
            <a:off x="3829050" y="5629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908F"/>
                </a:solidFill>
                <a:latin typeface="Arial"/>
                <a:ea typeface="Arial"/>
              </a:rPr>
              <a:t>Return with proof</a:t>
            </a:r>
            <a:endParaRPr lang="en-US"/>
          </a:p>
        </p:txBody>
      </p:sp>
      <p:sp>
        <p:nvSpPr>
          <p:cNvPr id="25" name="visual-process-rule"/>
          <p:cNvSpPr/>
          <p:nvPr/>
        </p:nvSpPr>
        <p:spPr>
          <a:xfrm xmlns:a="http://schemas.openxmlformats.org/drawingml/2006/main">
            <a:off x="7239000" y="348615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visual-process-note-label"/>
          <p:cNvSpPr txBox="1"/>
          <p:nvPr/>
        </p:nvSpPr>
        <p:spPr>
          <a:xfrm xmlns:a="http://schemas.openxmlformats.org/drawingml/2006/main">
            <a:off x="8001000" y="3562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E2534B"/>
                </a:solidFill>
                <a:latin typeface="Arial"/>
                <a:ea typeface="Arial"/>
              </a:rPr>
              <a:t>PROCESS CARRIER</a:t>
            </a:r>
            <a:endParaRPr lang="en-US"/>
          </a:p>
        </p:txBody>
      </p:sp>
      <p:sp>
        <p:nvSpPr>
          <p:cNvPr id="27" name="visual-process-note-title"/>
          <p:cNvSpPr txBox="1"/>
          <p:nvPr/>
        </p:nvSpPr>
        <p:spPr>
          <a:xfrm xmlns:a="http://schemas.openxmlformats.org/drawingml/2006/main">
            <a:off x="8001000" y="40386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181716"/>
                </a:solidFill>
                <a:latin typeface="Arial"/>
                <a:ea typeface="Arial"/>
              </a:rPr>
              <a:t>A relationship earns a line.</a:t>
            </a:r>
            <a:endParaRPr lang="en-US"/>
          </a:p>
        </p:txBody>
      </p:sp>
      <p:sp>
        <p:nvSpPr>
          <p:cNvPr id="28" name="visual-process-note-body"/>
          <p:cNvSpPr txBox="1"/>
          <p:nvPr/>
        </p:nvSpPr>
        <p:spPr>
          <a:xfrm xmlns:a="http://schemas.openxmlformats.org/drawingml/2006/main">
            <a:off x="8001000" y="5048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0908F"/>
                </a:solidFill>
                <a:latin typeface="Arial"/>
                <a:ea typeface="Arial"/>
              </a:rPr>
              <a:t>Use sequence, direction and conditions to make the mechanism visible. If the relationship is not real, remove the arrow.</a:t>
            </a:r>
            <a:endParaRPr lang="en-US"/>
          </a:p>
        </p:txBody>
      </p:sp>
      <p:sp>
        <p:nvSpPr>
          <p:cNvPr id="29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E2534B"/>
                </a:solidFill>
                <a:latin typeface="Arial"/>
                <a:ea typeface="Arial"/>
              </a:rPr>
              <a:t>CARRIER</a:t>
            </a:r>
            <a:endParaRPr lang="en-US"/>
          </a:p>
        </p:txBody>
      </p:sp>
      <p:sp>
        <p:nvSpPr>
          <p:cNvPr id="31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81716"/>
                </a:solidFill>
                <a:latin typeface="Arial"/>
                <a:ea typeface="Arial"/>
              </a:rPr>
              <a:t>Choice before inventory</a:t>
            </a:r>
            <a:endParaRPr lang="en-US"/>
          </a:p>
        </p:txBody>
      </p:sp>
      <p:sp>
        <p:nvSpPr>
          <p:cNvPr id="32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0908F"/>
                </a:solidFill>
                <a:latin typeface="Arial"/>
                <a:ea typeface="Arial"/>
              </a:rPr>
              <a:t>Read the mark, unit, and basis.</a:t>
            </a:r>
            <a:endParaRPr lang="en-US"/>
          </a:p>
        </p:txBody>
      </p:sp>
      <p:sp>
        <p:nvSpPr>
          <p:cNvPr id="33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08F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34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08F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253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RAL GROWTH BRIEF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2534B"/>
                </a:solidFill>
                <a:latin typeface="Arial"/>
                <a:ea typeface="Arial"/>
              </a:rPr>
              <a:t>CORAL GROWTH BRIEF · CLOSE</a:t>
            </a:r>
            <a:endParaRPr lang="en-US"/>
          </a:p>
        </p:txBody>
      </p:sp>
      <p:sp>
        <p:nvSpPr>
          <p:cNvPr id="5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81716"/>
                </a:solidFill>
                <a:latin typeface="Arial"/>
                <a:ea typeface="Arial"/>
              </a:rPr>
              <a:t>The recommendation is narrow by design</a:t>
            </a:r>
            <a:endParaRPr lang="en-US"/>
          </a:p>
        </p:txBody>
      </p:sp>
      <p:sp>
        <p:nvSpPr>
          <p:cNvPr id="6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0908F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7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E2534B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9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1716"/>
                </a:solidFill>
                <a:latin typeface="Arial"/>
                <a:ea typeface="Arial"/>
              </a:rPr>
              <a:t>Finding</a:t>
            </a:r>
            <a:endParaRPr lang="en-US"/>
          </a:p>
        </p:txBody>
      </p:sp>
      <p:sp>
        <p:nvSpPr>
          <p:cNvPr id="11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1716"/>
                </a:solidFill>
                <a:latin typeface="Arial"/>
                <a:ea typeface="Arial"/>
              </a:rPr>
              <a:t>Concentration drives the variance.</a:t>
            </a:r>
            <a:endParaRPr lang="en-US"/>
          </a:p>
        </p:txBody>
      </p:sp>
      <p:sp>
        <p:nvSpPr>
          <p:cNvPr id="12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81716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3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090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1716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5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1716"/>
                </a:solidFill>
                <a:latin typeface="Arial"/>
                <a:ea typeface="Arial"/>
              </a:rPr>
              <a:t>Protect the strongest channel first.</a:t>
            </a:r>
            <a:endParaRPr lang="en-US"/>
          </a:p>
        </p:txBody>
      </p:sp>
      <p:sp>
        <p:nvSpPr>
          <p:cNvPr id="16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E2534B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7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253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1716"/>
                </a:solidFill>
                <a:latin typeface="Arial"/>
                <a:ea typeface="Arial"/>
              </a:rPr>
              <a:t>Owner</a:t>
            </a:r>
            <a:endParaRPr lang="en-US"/>
          </a:p>
        </p:txBody>
      </p:sp>
      <p:sp>
        <p:nvSpPr>
          <p:cNvPr id="19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1716"/>
                </a:solidFill>
                <a:latin typeface="Arial"/>
                <a:ea typeface="Arial"/>
              </a:rPr>
              <a:t>Return with a gated decision.</a:t>
            </a:r>
            <a:endParaRPr lang="en-US"/>
          </a:p>
        </p:txBody>
      </p:sp>
      <p:sp>
        <p:nvSpPr>
          <p:cNvPr id="20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34B"/>
          </a:solidFill>
          <a:ln xmlns:a="http://schemas.openxmlformats.org/drawingml/2006/main" w="0">
            <a:solidFill>
              <a:srgbClr val="E2534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2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Arial"/>
                <a:ea typeface="Arial"/>
              </a:rPr>
              <a:t>Approve one lever</a:t>
            </a:r>
            <a:endParaRPr lang="en-US"/>
          </a:p>
        </p:txBody>
      </p:sp>
      <p:sp>
        <p:nvSpPr>
          <p:cNvPr id="23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0908F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0908F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