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3bd2d86dbdb4b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e425a7c66b022d4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10e4539a68783891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e425a7c66b022d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24B"/>
                </a:solidFill>
                <a:latin typeface="Arial"/>
                <a:ea typeface="Arial"/>
              </a:rPr>
              <a:t>Coastal Analysis: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0C9ED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7324B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DIRECT-LABELLED DISTRIBUTION</a:t>
            </a:r>
            <a:endParaRPr lang="en-US"/>
          </a:p>
        </p:txBody>
      </p:sp>
      <p:sp>
        <p:nvSpPr>
          <p:cNvPr id="9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CE6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84B">
              <a:alpha val="48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>
              <a:alpha val="76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84B">
              <a:alpha val="48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>
              <a:alpha val="76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>
              <a:alpha val="48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784B">
              <a:alpha val="76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324B"/>
                </a:solidFill>
                <a:latin typeface="Arial"/>
                <a:ea typeface="Arial"/>
              </a:rPr>
              <a:t>North · 42%</a:t>
            </a:r>
            <a:endParaRPr lang="en-US"/>
          </a:p>
        </p:txBody>
      </p:sp>
      <p:sp>
        <p:nvSpPr>
          <p:cNvPr id="18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324B"/>
                </a:solidFill>
                <a:latin typeface="Arial"/>
                <a:ea typeface="Arial"/>
              </a:rPr>
              <a:t>Central · 68%</a:t>
            </a:r>
            <a:endParaRPr lang="en-US"/>
          </a:p>
        </p:txBody>
      </p:sp>
      <p:sp>
        <p:nvSpPr>
          <p:cNvPr id="20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324B"/>
                </a:solidFill>
                <a:latin typeface="Arial"/>
                <a:ea typeface="Arial"/>
              </a:rPr>
              <a:t>East · 55%</a:t>
            </a:r>
            <a:endParaRPr lang="en-US"/>
          </a:p>
        </p:txBody>
      </p:sp>
      <p:sp>
        <p:nvSpPr>
          <p:cNvPr id="22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324B"/>
                </a:solidFill>
                <a:latin typeface="Arial"/>
                <a:ea typeface="Arial"/>
              </a:rPr>
              <a:t>South · 31%</a:t>
            </a:r>
            <a:endParaRPr lang="en-US"/>
          </a:p>
        </p:txBody>
      </p:sp>
      <p:sp>
        <p:nvSpPr>
          <p:cNvPr id="24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5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The geography changes the decision.</a:t>
            </a:r>
            <a:endParaRPr lang="en-US"/>
          </a:p>
        </p:txBody>
      </p:sp>
      <p:sp>
        <p:nvSpPr>
          <p:cNvPr id="26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24B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24B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10e4539a6878389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7324B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324B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