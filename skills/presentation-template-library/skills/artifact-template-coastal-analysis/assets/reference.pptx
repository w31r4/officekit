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45fe9237eea45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092dd3ee80187530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3d2daa19b25e4e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083106afebc7d419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 by cohort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0C9ED0"/>
            </a:solidFill>
          </c:spP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51</c:v>
              </c:pt>
              <c:pt idx="2">
                <c:v>58</c:v>
              </c:pt>
              <c:pt idx="3">
                <c:v>64</c:v>
              </c:pt>
              <c:pt idx="4">
                <c:v>68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909DA9"/>
            </a:solidFill>
          </c:spP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40</c:v>
              </c:pt>
              <c:pt idx="1">
                <c:v>43</c:v>
              </c:pt>
              <c:pt idx="2">
                <c:v>45</c:v>
              </c:pt>
              <c:pt idx="3">
                <c:v>47</c:v>
              </c:pt>
              <c:pt idx="4">
                <c:v>48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092dd3ee80187530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C9ED0"/>
                </a:solidFill>
                <a:latin typeface="Arial"/>
                <a:ea typeface="Arial"/>
              </a:rPr>
              <a:t>CONSULTING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7324B"/>
                </a:solidFill>
                <a:latin typeface="Arial"/>
                <a:ea typeface="Arial"/>
              </a:rPr>
              <a:t>Coastal Analysis: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0C9ED0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7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324B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7324B"/>
                </a:solidFill>
                <a:latin typeface="Arial"/>
                <a:ea typeface="Arial"/>
              </a:rPr>
              <a:t>The synthesis matters more than the inventory.</a:t>
            </a:r>
            <a:endParaRPr lang="en-US"/>
          </a:p>
        </p:txBody>
      </p:sp>
      <p:sp>
        <p:nvSpPr>
          <p:cNvPr id="10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12" name="anchor-field"/>
          <p:cNvSpPr/>
          <p:nvPr/>
        </p:nvSpPr>
        <p:spPr>
          <a:xfrm xmlns:a="http://schemas.openxmlformats.org/drawingml/2006/main">
            <a:off x="11239500" y="17145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anchor-line"/>
          <p:cNvSpPr/>
          <p:nvPr/>
        </p:nvSpPr>
        <p:spPr>
          <a:xfrm xmlns:a="http://schemas.openxmlformats.org/drawingml/2006/main">
            <a:off x="11544300" y="350520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line-two"/>
          <p:cNvSpPr/>
          <p:nvPr/>
        </p:nvSpPr>
        <p:spPr>
          <a:xfrm xmlns:a="http://schemas.openxmlformats.org/drawingml/2006/main">
            <a:off x="11544300" y="36957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dot"/>
          <p:cNvSpPr/>
          <p:nvPr/>
        </p:nvSpPr>
        <p:spPr>
          <a:xfrm xmlns:a="http://schemas.openxmlformats.org/drawingml/2006/main">
            <a:off x="1303020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ED0"/>
          </a:solidFill>
          <a:ln xmlns:a="http://schemas.openxmlformats.org/drawingml/2006/main" w="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ASTAL ANALYSIS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C9ED0"/>
                </a:solidFill>
                <a:latin typeface="Arial"/>
                <a:ea typeface="Arial"/>
              </a:rPr>
              <a:t>COASTAL ANALYSIS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24B"/>
                </a:solidFill>
                <a:latin typeface="Arial"/>
                <a:ea typeface="Arial"/>
              </a:rPr>
              <a:t>One finding should reorganize the decision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9DA9"/>
                </a:solidFill>
                <a:latin typeface="Arial"/>
                <a:ea typeface="Arial"/>
              </a:rPr>
              <a:t>Finding, implication, recommendation: evidence stays adjacent to the synthesis.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nding"/>
          <p:cNvSpPr txBox="1"/>
          <p:nvPr/>
        </p:nvSpPr>
        <p:spPr>
          <a:xfrm xmlns:a="http://schemas.openxmlformats.org/drawingml/2006/main">
            <a:off x="1104900" y="3314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0C9ED0"/>
                </a:solidFill>
                <a:latin typeface="Arial"/>
                <a:ea typeface="Arial"/>
              </a:rPr>
              <a:t>FINDING</a:t>
            </a:r>
            <a:endParaRPr lang="en-US"/>
          </a:p>
        </p:txBody>
      </p:sp>
      <p:sp>
        <p:nvSpPr>
          <p:cNvPr id="9" name="finding-text"/>
          <p:cNvSpPr txBox="1"/>
          <p:nvPr/>
        </p:nvSpPr>
        <p:spPr>
          <a:xfrm xmlns:a="http://schemas.openxmlformats.org/drawingml/2006/main">
            <a:off x="1104900" y="36957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7324B"/>
                </a:solidFill>
                <a:latin typeface="Arial"/>
                <a:ea typeface="Arial"/>
              </a:rPr>
              <a:t>The constraint is concentration, not demand.</a:t>
            </a:r>
            <a:endParaRPr lang="en-US"/>
          </a:p>
        </p:txBody>
      </p:sp>
      <p:sp>
        <p:nvSpPr>
          <p:cNvPr id="10" name="finding-rule"/>
          <p:cNvSpPr/>
          <p:nvPr/>
        </p:nvSpPr>
        <p:spPr>
          <a:xfrm xmlns:a="http://schemas.openxmlformats.org/drawingml/2006/main">
            <a:off x="1104900" y="4552950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implication"/>
          <p:cNvSpPr txBox="1"/>
          <p:nvPr/>
        </p:nvSpPr>
        <p:spPr>
          <a:xfrm xmlns:a="http://schemas.openxmlformats.org/drawingml/2006/main">
            <a:off x="1104900" y="4953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0C9ED0"/>
                </a:solidFill>
                <a:latin typeface="Arial"/>
                <a:ea typeface="Arial"/>
              </a:rPr>
              <a:t>IMPLICATION</a:t>
            </a:r>
            <a:endParaRPr lang="en-US"/>
          </a:p>
        </p:txBody>
      </p:sp>
      <p:sp>
        <p:nvSpPr>
          <p:cNvPr id="12" name="implication-text"/>
          <p:cNvSpPr txBox="1"/>
          <p:nvPr/>
        </p:nvSpPr>
        <p:spPr>
          <a:xfrm xmlns:a="http://schemas.openxmlformats.org/drawingml/2006/main">
            <a:off x="1104900" y="53340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17324B"/>
                </a:solidFill>
                <a:latin typeface="Arial"/>
                <a:ea typeface="Arial"/>
              </a:rPr>
              <a:t>Protect the strongest channel before adding volume.</a:t>
            </a:r>
            <a:endParaRPr lang="en-US"/>
          </a:p>
        </p:txBody>
      </p:sp>
      <p:sp>
        <p:nvSpPr>
          <p:cNvPr id="13" name="pressure-label"/>
          <p:cNvSpPr txBox="1"/>
          <p:nvPr/>
        </p:nvSpPr>
        <p:spPr>
          <a:xfrm xmlns:a="http://schemas.openxmlformats.org/drawingml/2006/main">
            <a:off x="1104900" y="6153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0C9ED0"/>
                </a:solidFill>
                <a:latin typeface="Arial"/>
                <a:ea typeface="Arial"/>
              </a:rPr>
              <a:t>PRESSURE PROFILE · CURRENT CASE</a:t>
            </a:r>
            <a:endParaRPr lang="en-US"/>
          </a:p>
        </p:txBody>
      </p:sp>
      <p:sp>
        <p:nvSpPr>
          <p:cNvPr id="14" name="pressure-name-0"/>
          <p:cNvSpPr txBox="1"/>
          <p:nvPr/>
        </p:nvSpPr>
        <p:spPr>
          <a:xfrm xmlns:a="http://schemas.openxmlformats.org/drawingml/2006/main">
            <a:off x="1104900" y="6515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Concentration</a:t>
            </a:r>
            <a:endParaRPr lang="en-US"/>
          </a:p>
        </p:txBody>
      </p:sp>
      <p:sp>
        <p:nvSpPr>
          <p:cNvPr id="15" name="pressure-track-0"/>
          <p:cNvSpPr/>
          <p:nvPr/>
        </p:nvSpPr>
        <p:spPr>
          <a:xfrm xmlns:a="http://schemas.openxmlformats.org/drawingml/2006/main">
            <a:off x="3028950" y="65341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pressure-fill-0"/>
          <p:cNvSpPr/>
          <p:nvPr/>
        </p:nvSpPr>
        <p:spPr>
          <a:xfrm xmlns:a="http://schemas.openxmlformats.org/drawingml/2006/main">
            <a:off x="3028950" y="6534150"/>
            <a:ext cx="3590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ED0"/>
          </a:solidFill>
          <a:ln xmlns:a="http://schemas.openxmlformats.org/drawingml/2006/main" w="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pressure-value-0"/>
          <p:cNvSpPr txBox="1"/>
          <p:nvPr/>
        </p:nvSpPr>
        <p:spPr>
          <a:xfrm xmlns:a="http://schemas.openxmlformats.org/drawingml/2006/main">
            <a:off x="7600950" y="64865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7324B"/>
                </a:solidFill>
                <a:latin typeface="Arial"/>
                <a:ea typeface="Arial"/>
              </a:rPr>
              <a:t>82%</a:t>
            </a:r>
            <a:endParaRPr lang="en-US"/>
          </a:p>
        </p:txBody>
      </p:sp>
      <p:sp>
        <p:nvSpPr>
          <p:cNvPr id="18" name="pressure-name-1"/>
          <p:cNvSpPr txBox="1"/>
          <p:nvPr/>
        </p:nvSpPr>
        <p:spPr>
          <a:xfrm xmlns:a="http://schemas.openxmlformats.org/drawingml/2006/main">
            <a:off x="1104900" y="6838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Price power</a:t>
            </a:r>
            <a:endParaRPr lang="en-US"/>
          </a:p>
        </p:txBody>
      </p:sp>
      <p:sp>
        <p:nvSpPr>
          <p:cNvPr id="19" name="pressure-track-1"/>
          <p:cNvSpPr/>
          <p:nvPr/>
        </p:nvSpPr>
        <p:spPr>
          <a:xfrm xmlns:a="http://schemas.openxmlformats.org/drawingml/2006/main">
            <a:off x="3028950" y="685800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essure-fill-1"/>
          <p:cNvSpPr/>
          <p:nvPr/>
        </p:nvSpPr>
        <p:spPr>
          <a:xfrm xmlns:a="http://schemas.openxmlformats.org/drawingml/2006/main">
            <a:off x="3028950" y="6858000"/>
            <a:ext cx="2457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9DA9"/>
          </a:solidFill>
          <a:ln xmlns:a="http://schemas.openxmlformats.org/drawingml/2006/main" w="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pressure-value-1"/>
          <p:cNvSpPr txBox="1"/>
          <p:nvPr/>
        </p:nvSpPr>
        <p:spPr>
          <a:xfrm xmlns:a="http://schemas.openxmlformats.org/drawingml/2006/main">
            <a:off x="7600950" y="6810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7324B"/>
                </a:solidFill>
                <a:latin typeface="Arial"/>
                <a:ea typeface="Arial"/>
              </a:rPr>
              <a:t>56%</a:t>
            </a:r>
            <a:endParaRPr lang="en-US"/>
          </a:p>
        </p:txBody>
      </p:sp>
      <p:sp>
        <p:nvSpPr>
          <p:cNvPr id="22" name="pressure-name-2"/>
          <p:cNvSpPr txBox="1"/>
          <p:nvPr/>
        </p:nvSpPr>
        <p:spPr>
          <a:xfrm xmlns:a="http://schemas.openxmlformats.org/drawingml/2006/main">
            <a:off x="1104900" y="7162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Operating friction</a:t>
            </a:r>
            <a:endParaRPr lang="en-US"/>
          </a:p>
        </p:txBody>
      </p:sp>
      <p:sp>
        <p:nvSpPr>
          <p:cNvPr id="23" name="pressure-track-2"/>
          <p:cNvSpPr/>
          <p:nvPr/>
        </p:nvSpPr>
        <p:spPr>
          <a:xfrm xmlns:a="http://schemas.openxmlformats.org/drawingml/2006/main">
            <a:off x="3028950" y="71818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essure-fill-2"/>
          <p:cNvSpPr/>
          <p:nvPr/>
        </p:nvSpPr>
        <p:spPr>
          <a:xfrm xmlns:a="http://schemas.openxmlformats.org/drawingml/2006/main">
            <a:off x="3028950" y="7181850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9DA9"/>
          </a:solidFill>
          <a:ln xmlns:a="http://schemas.openxmlformats.org/drawingml/2006/main" w="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essure-value-2"/>
          <p:cNvSpPr txBox="1"/>
          <p:nvPr/>
        </p:nvSpPr>
        <p:spPr>
          <a:xfrm xmlns:a="http://schemas.openxmlformats.org/drawingml/2006/main">
            <a:off x="7600950" y="7134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7324B"/>
                </a:solidFill>
                <a:latin typeface="Arial"/>
                <a:ea typeface="Arial"/>
              </a:rPr>
              <a:t>34%</a:t>
            </a:r>
            <a:endParaRPr lang="en-US"/>
          </a:p>
        </p:txBody>
      </p:sp>
      <p:sp>
        <p:nvSpPr>
          <p:cNvPr id="26" name="recommendation"/>
          <p:cNvSpPr/>
          <p:nvPr/>
        </p:nvSpPr>
        <p:spPr>
          <a:xfrm xmlns:a="http://schemas.openxmlformats.org/drawingml/2006/main">
            <a:off x="9906000" y="323850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ED0"/>
          </a:solidFill>
          <a:ln xmlns:a="http://schemas.openxmlformats.org/drawingml/2006/main" w="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recommendation-label"/>
          <p:cNvSpPr txBox="1"/>
          <p:nvPr/>
        </p:nvSpPr>
        <p:spPr>
          <a:xfrm xmlns:a="http://schemas.openxmlformats.org/drawingml/2006/main">
            <a:off x="10287000" y="3600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RECOMMENDATION</a:t>
            </a:r>
            <a:endParaRPr lang="en-US"/>
          </a:p>
        </p:txBody>
      </p:sp>
      <p:sp>
        <p:nvSpPr>
          <p:cNvPr id="28" name="recommendation-text"/>
          <p:cNvSpPr txBox="1"/>
          <p:nvPr/>
        </p:nvSpPr>
        <p:spPr>
          <a:xfrm xmlns:a="http://schemas.openxmlformats.org/drawingml/2006/main">
            <a:off x="10287000" y="40957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325" b="1">
                <a:solidFill>
                  <a:srgbClr val="FFFFFF"/>
                </a:solidFill>
                <a:latin typeface="Arial"/>
                <a:ea typeface="Arial"/>
              </a:rPr>
              <a:t>One constrained move</a:t>
            </a:r>
            <a:endParaRPr lang="en-US"/>
          </a:p>
        </p:txBody>
      </p:sp>
      <p:sp>
        <p:nvSpPr>
          <p:cNvPr id="29" name="recommendation-foot"/>
          <p:cNvSpPr txBox="1"/>
          <p:nvPr/>
        </p:nvSpPr>
        <p:spPr>
          <a:xfrm xmlns:a="http://schemas.openxmlformats.org/drawingml/2006/main">
            <a:off x="10287000" y="5067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Arial"/>
                <a:ea typeface="Arial"/>
              </a:rPr>
              <a:t>subject to the next evidence gate</a:t>
            </a:r>
            <a:endParaRPr lang="en-US"/>
          </a:p>
        </p:txBody>
      </p:sp>
      <p:sp>
        <p:nvSpPr>
          <p:cNvPr id="30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3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ASTAL ANALYSIS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C9ED0"/>
                </a:solidFill>
                <a:latin typeface="Arial"/>
                <a:ea typeface="Arial"/>
              </a:rPr>
              <a:t>COASTAL ANALYSIS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24B"/>
                </a:solidFill>
                <a:latin typeface="Arial"/>
                <a:ea typeface="Arial"/>
              </a:rPr>
              <a:t>The evidence narrows the decision to one lever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9DA9"/>
                </a:solidFill>
                <a:latin typeface="Arial"/>
                <a:ea typeface="Arial"/>
              </a:rPr>
              <a:t>Comparable cases · same basis · direct labels instead of a legend-only chart.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evidence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1047750" y="3048000"/>
          <a:ext xmlns:a="http://schemas.openxmlformats.org/drawingml/2006/main" cx="7905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2daa19b25e4e9b"/>
          </a:graphicData>
        </a:graphic>
      </p:graphicFrame>
      <p:sp>
        <p:nvSpPr>
          <p:cNvPr id="9" name="metric"/>
          <p:cNvSpPr txBox="1"/>
          <p:nvPr/>
        </p:nvSpPr>
        <p:spPr>
          <a:xfrm xmlns:a="http://schemas.openxmlformats.org/drawingml/2006/main">
            <a:off x="9906000" y="3333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0C9ED0"/>
                </a:solidFill>
                <a:latin typeface="Arial"/>
                <a:ea typeface="Arial"/>
              </a:rPr>
              <a:t>68</a:t>
            </a:r>
            <a:endParaRPr lang="en-US"/>
          </a:p>
        </p:txBody>
      </p:sp>
      <p:sp>
        <p:nvSpPr>
          <p:cNvPr id="10" name="metric-label"/>
          <p:cNvSpPr txBox="1"/>
          <p:nvPr/>
        </p:nvSpPr>
        <p:spPr>
          <a:xfrm xmlns:a="http://schemas.openxmlformats.org/drawingml/2006/main">
            <a:off x="9906000" y="4143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9DA9"/>
                </a:solidFill>
                <a:latin typeface="Arial"/>
                <a:ea typeface="Arial"/>
              </a:rPr>
              <a:t>decision confidence · current case</a:t>
            </a:r>
            <a:endParaRPr lang="en-US"/>
          </a:p>
        </p:txBody>
      </p:sp>
      <p:sp>
        <p:nvSpPr>
          <p:cNvPr id="11" name="rail-rule"/>
          <p:cNvSpPr/>
          <p:nvPr/>
        </p:nvSpPr>
        <p:spPr>
          <a:xfrm xmlns:a="http://schemas.openxmlformats.org/drawingml/2006/main">
            <a:off x="9906000" y="4810125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read-through"/>
          <p:cNvSpPr txBox="1"/>
          <p:nvPr/>
        </p:nvSpPr>
        <p:spPr>
          <a:xfrm xmlns:a="http://schemas.openxmlformats.org/drawingml/2006/main">
            <a:off x="9906000" y="5143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24B"/>
                </a:solidFill>
                <a:latin typeface="Arial"/>
                <a:ea typeface="Arial"/>
              </a:rPr>
              <a:t>The next question is which lever moves the constraint, not whether the signal exists.</a:t>
            </a:r>
            <a:endParaRPr lang="en-US"/>
          </a:p>
        </p:txBody>
      </p:sp>
      <p:sp>
        <p:nvSpPr>
          <p:cNvPr id="13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7324B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ASTAL ANALYSIS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C9ED0"/>
                </a:solidFill>
                <a:latin typeface="Arial"/>
                <a:ea typeface="Arial"/>
              </a:rPr>
              <a:t>COASTAL ANALYSIS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24B"/>
                </a:solidFill>
                <a:latin typeface="Arial"/>
                <a:ea typeface="Arial"/>
              </a:rPr>
              <a:t>A decision page needs a visible sequence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9DA9"/>
                </a:solidFill>
                <a:latin typeface="Arial"/>
                <a:ea typeface="Arial"/>
              </a:rPr>
              <a:t>Finding → constraint → move · each line changes the choice.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32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0C9ED0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1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324B"/>
                </a:solidFill>
                <a:latin typeface="Arial"/>
                <a:ea typeface="Arial"/>
              </a:rPr>
              <a:t>Frame</a:t>
            </a:r>
            <a:endParaRPr lang="en-US"/>
          </a:p>
        </p:txBody>
      </p:sp>
      <p:sp>
        <p:nvSpPr>
          <p:cNvPr id="12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09DA9"/>
                </a:solidFill>
                <a:latin typeface="Arial"/>
                <a:ea typeface="Arial"/>
              </a:rPr>
              <a:t>Name the question</a:t>
            </a:r>
            <a:endParaRPr lang="en-US"/>
          </a:p>
        </p:txBody>
      </p:sp>
      <p:sp>
        <p:nvSpPr>
          <p:cNvPr id="13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32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0C9ED0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6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324B"/>
                </a:solidFill>
                <a:latin typeface="Arial"/>
                <a:ea typeface="Arial"/>
              </a:rPr>
              <a:t>Test</a:t>
            </a:r>
            <a:endParaRPr lang="en-US"/>
          </a:p>
        </p:txBody>
      </p:sp>
      <p:sp>
        <p:nvSpPr>
          <p:cNvPr id="17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09DA9"/>
                </a:solidFill>
                <a:latin typeface="Arial"/>
                <a:ea typeface="Arial"/>
              </a:rPr>
              <a:t>Hold the rule</a:t>
            </a:r>
            <a:endParaRPr lang="en-US"/>
          </a:p>
        </p:txBody>
      </p:sp>
      <p:sp>
        <p:nvSpPr>
          <p:cNvPr id="18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32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0C9ED0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21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324B"/>
                </a:solidFill>
                <a:latin typeface="Arial"/>
                <a:ea typeface="Arial"/>
              </a:rPr>
              <a:t>Read</a:t>
            </a:r>
            <a:endParaRPr lang="en-US"/>
          </a:p>
        </p:txBody>
      </p:sp>
      <p:sp>
        <p:nvSpPr>
          <p:cNvPr id="22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09DA9"/>
                </a:solidFill>
                <a:latin typeface="Arial"/>
                <a:ea typeface="Arial"/>
              </a:rPr>
              <a:t>Separate signal</a:t>
            </a:r>
            <a:endParaRPr lang="en-US"/>
          </a:p>
        </p:txBody>
      </p:sp>
      <p:sp>
        <p:nvSpPr>
          <p:cNvPr id="23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9ED0"/>
          </a:solidFill>
          <a:ln xmlns:a="http://schemas.openxmlformats.org/drawingml/2006/main" w="381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0C9ED0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26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324B"/>
                </a:solidFill>
                <a:latin typeface="Arial"/>
                <a:ea typeface="Arial"/>
              </a:rPr>
              <a:t>Decide</a:t>
            </a:r>
            <a:endParaRPr lang="en-US"/>
          </a:p>
        </p:txBody>
      </p:sp>
      <p:sp>
        <p:nvSpPr>
          <p:cNvPr id="27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09DA9"/>
                </a:solidFill>
                <a:latin typeface="Arial"/>
                <a:ea typeface="Arial"/>
              </a:rPr>
              <a:t>Set the next gate</a:t>
            </a:r>
            <a:endParaRPr lang="en-US"/>
          </a:p>
        </p:txBody>
      </p:sp>
      <p:sp>
        <p:nvSpPr>
          <p:cNvPr id="28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0C9ED0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29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7324B"/>
                </a:solidFill>
                <a:latin typeface="Arial"/>
                <a:ea typeface="Arial"/>
              </a:rPr>
              <a:t>The sequence is the evidence.</a:t>
            </a:r>
            <a:endParaRPr lang="en-US"/>
          </a:p>
        </p:txBody>
      </p:sp>
      <p:sp>
        <p:nvSpPr>
          <p:cNvPr id="30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9DA9"/>
                </a:solidFill>
                <a:latin typeface="Arial"/>
                <a:ea typeface="Arial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31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2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bg>
      <p:bgPr>
        <a:blipFill xmlns:a="http://schemas.openxmlformats.org/drawingml/2006/main">
          <a:blip xmlns:r="http://schemas.openxmlformats.org/officeDocument/2006/relationships" r:embed="rIdOfficeKitImage083106afebc7d419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-reading-plane"/>
          <p:cNvSpPr/>
          <p:nvPr/>
        </p:nvSpPr>
        <p:spPr>
          <a:xfrm xmlns:a="http://schemas.openxmlformats.org/drawingml/2006/main">
            <a:off x="0" y="0"/>
            <a:ext cx="7810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section-eyebrow"/>
          <p:cNvSpPr txBox="1"/>
          <p:nvPr/>
        </p:nvSpPr>
        <p:spPr>
          <a:xfrm xmlns:a="http://schemas.openxmlformats.org/drawingml/2006/main">
            <a:off x="914400" y="9144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C9ED0"/>
                </a:solidFill>
                <a:latin typeface="Arial"/>
                <a:ea typeface="Arial"/>
              </a:rPr>
              <a:t>COASTAL ANALYSIS · SECTION</a:t>
            </a:r>
            <a:endParaRPr lang="en-US"/>
          </a:p>
        </p:txBody>
      </p:sp>
      <p:sp>
        <p:nvSpPr>
          <p:cNvPr id="4" name="section-title"/>
          <p:cNvSpPr txBox="1"/>
          <p:nvPr/>
        </p:nvSpPr>
        <p:spPr>
          <a:xfrm xmlns:a="http://schemas.openxmlformats.org/drawingml/2006/main">
            <a:off x="914400" y="1657350"/>
            <a:ext cx="590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450" b="1">
                <a:solidFill>
                  <a:srgbClr val="17324B"/>
                </a:solidFill>
                <a:latin typeface="Arial"/>
                <a:ea typeface="Arial"/>
              </a:rPr>
              <a:t>Make the choice legible</a:t>
            </a:r>
            <a:endParaRPr lang="en-US"/>
          </a:p>
        </p:txBody>
      </p:sp>
      <p:sp>
        <p:nvSpPr>
          <p:cNvPr id="5" name="section-rule"/>
          <p:cNvSpPr/>
          <p:nvPr/>
        </p:nvSpPr>
        <p:spPr>
          <a:xfrm xmlns:a="http://schemas.openxmlformats.org/drawingml/2006/main">
            <a:off x="914400" y="3181350"/>
            <a:ext cx="499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section-body"/>
          <p:cNvSpPr txBox="1"/>
          <p:nvPr/>
        </p:nvSpPr>
        <p:spPr>
          <a:xfrm xmlns:a="http://schemas.openxmlformats.org/drawingml/2006/main">
            <a:off x="914400" y="360045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7324B"/>
                </a:solidFill>
                <a:latin typeface="Arial"/>
                <a:ea typeface="Arial"/>
              </a:rPr>
              <a:t>A single visual cue can make the recommendation easier to remember.</a:t>
            </a:r>
            <a:endParaRPr lang="en-US"/>
          </a:p>
        </p:txBody>
      </p:sp>
      <p:sp>
        <p:nvSpPr>
          <p:cNvPr id="7" name="section-note"/>
          <p:cNvSpPr txBox="1"/>
          <p:nvPr/>
        </p:nvSpPr>
        <p:spPr>
          <a:xfrm xmlns:a="http://schemas.openxmlformats.org/drawingml/2006/main">
            <a:off x="914400" y="523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0C9ED0"/>
                </a:solidFill>
                <a:latin typeface="Arial"/>
                <a:ea typeface="Arial"/>
              </a:rPr>
              <a:t>ONE IMAGE · ONE THESIS · ONE TURN</a:t>
            </a:r>
            <a:endParaRPr lang="en-US"/>
          </a:p>
        </p:txBody>
      </p:sp>
      <p:sp>
        <p:nvSpPr>
          <p:cNvPr id="8" name="section-next"/>
          <p:cNvSpPr txBox="1"/>
          <p:nvPr/>
        </p:nvSpPr>
        <p:spPr>
          <a:xfrm xmlns:a="http://schemas.openxmlformats.org/drawingml/2006/main">
            <a:off x="914400" y="57721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7324B"/>
                </a:solidFill>
                <a:latin typeface="Arial"/>
                <a:ea typeface="Arial"/>
              </a:rPr>
              <a:t>Approve one lever</a:t>
            </a:r>
            <a:endParaRPr lang="en-US"/>
          </a:p>
        </p:txBody>
      </p:sp>
      <p:sp>
        <p:nvSpPr>
          <p:cNvPr id="9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10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ASTAL ANALYSIS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C9ED0"/>
                </a:solidFill>
                <a:latin typeface="Arial"/>
                <a:ea typeface="Arial"/>
              </a:rPr>
              <a:t>COASTAL ANALYSIS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24B"/>
                </a:solidFill>
                <a:latin typeface="Arial"/>
                <a:ea typeface="Arial"/>
              </a:rPr>
              <a:t>The recommendation is narrow by design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9DA9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0C9ED0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24B"/>
                </a:solidFill>
                <a:latin typeface="Arial"/>
                <a:ea typeface="Arial"/>
              </a:rPr>
              <a:t>Finding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324B"/>
                </a:solidFill>
                <a:latin typeface="Arial"/>
                <a:ea typeface="Arial"/>
              </a:rPr>
              <a:t>Concentration drives the variance.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7324B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24B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324B"/>
                </a:solidFill>
                <a:latin typeface="Arial"/>
                <a:ea typeface="Arial"/>
              </a:rPr>
              <a:t>Protect the strongest channel first.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0C9ED0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24B"/>
                </a:solidFill>
                <a:latin typeface="Arial"/>
                <a:ea typeface="Arial"/>
              </a:rPr>
              <a:t>Owner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324B"/>
                </a:solidFill>
                <a:latin typeface="Arial"/>
                <a:ea typeface="Arial"/>
              </a:rPr>
              <a:t>Return with a gated decision.</a:t>
            </a:r>
            <a:endParaRPr lang="en-US"/>
          </a:p>
        </p:txBody>
      </p:sp>
      <p:sp>
        <p:nvSpPr>
          <p:cNvPr id="20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ED0"/>
          </a:solidFill>
          <a:ln xmlns:a="http://schemas.openxmlformats.org/drawingml/2006/main" w="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Arial"/>
                <a:ea typeface="Arial"/>
              </a:rPr>
              <a:t>Approve one lever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