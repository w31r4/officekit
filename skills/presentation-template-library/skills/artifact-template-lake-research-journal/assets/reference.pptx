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b15352810df46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5c7e4c11c5e540a3" /><Relationship Type="http://schemas.openxmlformats.org/officeDocument/2006/relationships/chart" Target="/ppt/slides/charts/chart2.xml" Id="R21449fb7cc404e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70508F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4DA8D3"/>
            </a:solidFill>
            <a:ln w="38100">
              <a:solidFill>
                <a:srgbClr val="4DA8D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6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DA0B0"/>
                </a:solidFill>
                <a:latin typeface="Arial"/>
                <a:ea typeface="Arial"/>
              </a:rPr>
              <a:t>RESEARCH NOTE · 2026</a:t>
            </a:r>
            <a:endParaRPr lang="en-US"/>
          </a:p>
        </p:txBody>
      </p:sp>
      <p:sp>
        <p:nvSpPr>
          <p:cNvPr id="7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AFCFD"/>
                </a:solidFill>
                <a:latin typeface="Arial"/>
                <a:ea typeface="Arial"/>
              </a:rPr>
              <a:t>Lake Research Journal: a claim worth testing</a:t>
            </a:r>
            <a:endParaRPr lang="en-US"/>
          </a:p>
        </p:txBody>
      </p:sp>
      <p:sp>
        <p:nvSpPr>
          <p:cNvPr id="8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DA0B0"/>
                </a:solidFill>
                <a:latin typeface="Arial"/>
                <a:ea typeface="Arial"/>
              </a:rPr>
              <a:t>A clean-room reference for bounded financial decisions.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AFCFD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70508F"/>
                </a:solidFill>
                <a:latin typeface="Arial"/>
                <a:ea typeface="Arial"/>
              </a:rPr>
              <a:t>142.0</a:t>
            </a:r>
            <a:endParaRPr lang="en-US"/>
          </a:p>
        </p:txBody>
      </p:sp>
      <p:sp>
        <p:nvSpPr>
          <p:cNvPr id="11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units funded · Q2</a:t>
            </a:r>
            <a:endParaRPr lang="en-US"/>
          </a:p>
        </p:txBody>
      </p:sp>
      <p:sp>
        <p:nvSpPr>
          <p:cNvPr id="12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AFCFD"/>
                </a:solidFill>
                <a:latin typeface="Arial"/>
                <a:ea typeface="Arial"/>
              </a:rPr>
              <a:t>4.1×</a:t>
            </a:r>
            <a:endParaRPr lang="en-US"/>
          </a:p>
        </p:txBody>
      </p:sp>
      <p:sp>
        <p:nvSpPr>
          <p:cNvPr id="13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14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AFCFD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15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16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DA0B0"/>
                </a:solidFill>
                <a:latin typeface="Arial"/>
                <a:ea typeface="Arial"/>
              </a:rPr>
              <a:t>26</a:t>
            </a:r>
            <a:endParaRPr lang="en-US"/>
          </a:p>
        </p:txBody>
      </p:sp>
      <p:sp>
        <p:nvSpPr>
          <p:cNvPr id="17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>
              <a:alpha val="10000"/>
            </a:srgbClr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DA0B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70508F"/>
                </a:solidFill>
                <a:latin typeface="Arial"/>
                <a:ea typeface="Arial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A0B0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3D5C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A0B0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7e4c11c5e540a3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449fb7cc404e9b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DA0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DA0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0508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AFCFD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>
              <a:alpha val="10000"/>
            </a:srgbClr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AFCFD"/>
                </a:solidFill>
                <a:latin typeface="Arial"/>
                <a:ea typeface="Arial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