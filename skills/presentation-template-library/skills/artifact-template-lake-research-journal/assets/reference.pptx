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869c9d650b94ff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2e9a9d799668dd3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3ceaba2f46014c9c" /><Relationship Type="http://schemas.openxmlformats.org/officeDocument/2006/relationships/chart" Target="/ppt/slides/charts/chart2.xml" Id="R4cdaa152de234ae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70508F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4DA8D3"/>
            </a:solidFill>
            <a:ln w="38100">
              <a:solidFill>
                <a:srgbClr val="4DA8D3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proposition">
    <p:bg>
      <p:bgPr>
        <a:blipFill xmlns:a="http://schemas.openxmlformats.org/drawingml/2006/main">
          <a:blip xmlns:r="http://schemas.openxmlformats.org/officeDocument/2006/relationships" r:embed="rIdOfficeKitImagec2e9a9d799668dd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hoto-scrim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5C">
              <a:alpha val="58000"/>
            </a:srgbClr>
          </a:solidFill>
          <a:ln xmlns:a="http://schemas.openxmlformats.org/drawingml/2006/main" w="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over-reading-plane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5C">
              <a:alpha val="78000"/>
            </a:srgbClr>
          </a:solidFill>
          <a:ln xmlns:a="http://schemas.openxmlformats.org/drawingml/2006/main" w="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ver-evidence-field"/>
          <p:cNvSpPr/>
          <p:nvPr/>
        </p:nvSpPr>
        <p:spPr>
          <a:xfrm xmlns:a="http://schemas.openxmlformats.org/drawingml/2006/main">
            <a:off x="8667750" y="0"/>
            <a:ext cx="657225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>
              <a:alpha val="12000"/>
            </a:srgbClr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over-gold-line"/>
          <p:cNvSpPr/>
          <p:nvPr/>
        </p:nvSpPr>
        <p:spPr>
          <a:xfrm xmlns:a="http://schemas.openxmlformats.org/drawingml/2006/main">
            <a:off x="914400" y="15621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eyebrow"/>
          <p:cNvSpPr txBox="1"/>
          <p:nvPr/>
        </p:nvSpPr>
        <p:spPr>
          <a:xfrm xmlns:a="http://schemas.openxmlformats.org/drawingml/2006/main">
            <a:off x="914400" y="85725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FINANCE · OFFICEKIT CALIBRATION</a:t>
            </a:r>
            <a:endParaRPr lang="en-US"/>
          </a:p>
        </p:txBody>
      </p:sp>
      <p:sp>
        <p:nvSpPr>
          <p:cNvPr id="7" name="cover-date"/>
          <p:cNvSpPr txBox="1"/>
          <p:nvPr/>
        </p:nvSpPr>
        <p:spPr>
          <a:xfrm xmlns:a="http://schemas.openxmlformats.org/drawingml/2006/main">
            <a:off x="11239500" y="876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125">
                <a:solidFill>
                  <a:srgbClr val="8DA0B0"/>
                </a:solidFill>
                <a:latin typeface="Arial"/>
                <a:ea typeface="Arial"/>
              </a:rPr>
              <a:t>RESEARCH NOTE · 2026</a:t>
            </a:r>
            <a:endParaRPr lang="en-US"/>
          </a:p>
        </p:txBody>
      </p:sp>
      <p:sp>
        <p:nvSpPr>
          <p:cNvPr id="8" name="cover-title"/>
          <p:cNvSpPr txBox="1"/>
          <p:nvPr/>
        </p:nvSpPr>
        <p:spPr>
          <a:xfrm xmlns:a="http://schemas.openxmlformats.org/drawingml/2006/main">
            <a:off x="914400" y="1981200"/>
            <a:ext cx="723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AFCFD"/>
                </a:solidFill>
                <a:latin typeface="Arial"/>
                <a:ea typeface="Arial"/>
              </a:rPr>
              <a:t>Lake Research Journal: a claim worth testing</a:t>
            </a:r>
            <a:endParaRPr lang="en-US"/>
          </a:p>
        </p:txBody>
      </p:sp>
      <p:sp>
        <p:nvSpPr>
          <p:cNvPr id="9" name="cover-subtitle"/>
          <p:cNvSpPr txBox="1"/>
          <p:nvPr/>
        </p:nvSpPr>
        <p:spPr>
          <a:xfrm xmlns:a="http://schemas.openxmlformats.org/drawingml/2006/main">
            <a:off x="952500" y="340995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8DA0B0"/>
                </a:solidFill>
                <a:latin typeface="Arial"/>
                <a:ea typeface="Arial"/>
              </a:rPr>
              <a:t>A clean-room reference for bounded financial decisions.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114800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AFCFD"/>
                </a:solidFill>
                <a:latin typeface="Arial"/>
                <a:ea typeface="Arial"/>
              </a:rPr>
              <a:t>A ledger turns evidence into a bounded stance.</a:t>
            </a:r>
            <a:endParaRPr lang="en-US"/>
          </a:p>
        </p:txBody>
      </p:sp>
      <p:sp>
        <p:nvSpPr>
          <p:cNvPr id="11" name="cover-metric-one"/>
          <p:cNvSpPr txBox="1"/>
          <p:nvPr/>
        </p:nvSpPr>
        <p:spPr>
          <a:xfrm xmlns:a="http://schemas.openxmlformats.org/drawingml/2006/main">
            <a:off x="952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70508F"/>
                </a:solidFill>
                <a:latin typeface="Arial"/>
                <a:ea typeface="Arial"/>
              </a:rPr>
              <a:t>142.0</a:t>
            </a:r>
            <a:endParaRPr lang="en-US"/>
          </a:p>
        </p:txBody>
      </p:sp>
      <p:sp>
        <p:nvSpPr>
          <p:cNvPr id="12" name="cover-metric-one-caption"/>
          <p:cNvSpPr txBox="1"/>
          <p:nvPr/>
        </p:nvSpPr>
        <p:spPr>
          <a:xfrm xmlns:a="http://schemas.openxmlformats.org/drawingml/2006/main">
            <a:off x="952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Arial"/>
                <a:ea typeface="Arial"/>
              </a:rPr>
              <a:t>units funded · Q2</a:t>
            </a:r>
            <a:endParaRPr lang="en-US"/>
          </a:p>
        </p:txBody>
      </p:sp>
      <p:sp>
        <p:nvSpPr>
          <p:cNvPr id="13" name="cover-metric-two"/>
          <p:cNvSpPr txBox="1"/>
          <p:nvPr/>
        </p:nvSpPr>
        <p:spPr>
          <a:xfrm xmlns:a="http://schemas.openxmlformats.org/drawingml/2006/main">
            <a:off x="3238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AFCFD"/>
                </a:solidFill>
                <a:latin typeface="Arial"/>
                <a:ea typeface="Arial"/>
              </a:rPr>
              <a:t>4.1×</a:t>
            </a:r>
            <a:endParaRPr lang="en-US"/>
          </a:p>
        </p:txBody>
      </p:sp>
      <p:sp>
        <p:nvSpPr>
          <p:cNvPr id="14" name="cover-metric-two-caption"/>
          <p:cNvSpPr txBox="1"/>
          <p:nvPr/>
        </p:nvSpPr>
        <p:spPr>
          <a:xfrm xmlns:a="http://schemas.openxmlformats.org/drawingml/2006/main">
            <a:off x="3238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Arial"/>
                <a:ea typeface="Arial"/>
              </a:rPr>
              <a:t>coverage · month end</a:t>
            </a:r>
            <a:endParaRPr lang="en-US"/>
          </a:p>
        </p:txBody>
      </p:sp>
      <p:sp>
        <p:nvSpPr>
          <p:cNvPr id="15" name="cover-metric-three"/>
          <p:cNvSpPr txBox="1"/>
          <p:nvPr/>
        </p:nvSpPr>
        <p:spPr>
          <a:xfrm xmlns:a="http://schemas.openxmlformats.org/drawingml/2006/main">
            <a:off x="5524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AFCFD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16" name="cover-metric-three-caption"/>
          <p:cNvSpPr txBox="1"/>
          <p:nvPr/>
        </p:nvSpPr>
        <p:spPr>
          <a:xfrm xmlns:a="http://schemas.openxmlformats.org/drawingml/2006/main">
            <a:off x="5524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Arial"/>
                <a:ea typeface="Arial"/>
              </a:rPr>
              <a:t>top two regions</a:t>
            </a:r>
            <a:endParaRPr lang="en-US"/>
          </a:p>
        </p:txBody>
      </p:sp>
      <p:sp>
        <p:nvSpPr>
          <p:cNvPr id="17" name="cover-watermark"/>
          <p:cNvSpPr txBox="1"/>
          <p:nvPr/>
        </p:nvSpPr>
        <p:spPr>
          <a:xfrm xmlns:a="http://schemas.openxmlformats.org/drawingml/2006/main">
            <a:off x="10572750" y="18097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050">
                <a:solidFill>
                  <a:srgbClr val="8DA0B0"/>
                </a:solidFill>
                <a:latin typeface="Arial"/>
                <a:ea typeface="Arial"/>
              </a:rPr>
              <a:t>26</a:t>
            </a:r>
            <a:endParaRPr lang="en-US"/>
          </a:p>
        </p:txBody>
      </p:sp>
      <p:sp>
        <p:nvSpPr>
          <p:cNvPr id="18" name="basis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>
              <a:alpha val="10000"/>
            </a:srgbClr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basis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Illustrative ledger · values fictional · read the unit, period, and decision threshold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867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5C"/>
          </a:solidFill>
          <a:ln xmlns:a="http://schemas.openxmlformats.org/drawingml/2006/main" w="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7810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FINANCE · STANCE</a:t>
            </a:r>
            <a:endParaRPr lang="en-US"/>
          </a:p>
        </p:txBody>
      </p:sp>
      <p:sp>
        <p:nvSpPr>
          <p:cNvPr id="4" name="argument-title"/>
          <p:cNvSpPr txBox="1"/>
          <p:nvPr/>
        </p:nvSpPr>
        <p:spPr>
          <a:xfrm xmlns:a="http://schemas.openxmlformats.org/drawingml/2006/main">
            <a:off x="914400" y="1257300"/>
            <a:ext cx="857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AFCFD"/>
                </a:solidFill>
                <a:latin typeface="Arial"/>
                <a:ea typeface="Arial"/>
              </a:rPr>
              <a:t>The ledger supports a narrow allocation, not a broad acceleration</a:t>
            </a:r>
            <a:endParaRPr lang="en-US"/>
          </a:p>
        </p:txBody>
      </p:sp>
      <p:sp>
        <p:nvSpPr>
          <p:cNvPr id="5" name="argument-basis"/>
          <p:cNvSpPr txBox="1"/>
          <p:nvPr/>
        </p:nvSpPr>
        <p:spPr>
          <a:xfrm xmlns:a="http://schemas.openxmlformats.org/drawingml/2006/main">
            <a:off x="952500" y="25717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Three observations separate the signal from the momentum.</a:t>
            </a:r>
            <a:endParaRPr lang="en-US"/>
          </a:p>
        </p:txBody>
      </p:sp>
      <p:sp>
        <p:nvSpPr>
          <p:cNvPr id="6" name="stance-number-0"/>
          <p:cNvSpPr txBox="1"/>
          <p:nvPr/>
        </p:nvSpPr>
        <p:spPr>
          <a:xfrm xmlns:a="http://schemas.openxmlformats.org/drawingml/2006/main">
            <a:off x="1066800" y="35052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DA0B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7" name="stance-0"/>
          <p:cNvSpPr txBox="1"/>
          <p:nvPr/>
        </p:nvSpPr>
        <p:spPr>
          <a:xfrm xmlns:a="http://schemas.openxmlformats.org/drawingml/2006/main">
            <a:off x="2095500" y="35052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AFCFD"/>
                </a:solidFill>
                <a:latin typeface="Arial"/>
                <a:ea typeface="Arial"/>
              </a:rPr>
              <a:t>Funding is up, but late-stage deals are fewer.</a:t>
            </a:r>
            <a:endParaRPr lang="en-US"/>
          </a:p>
        </p:txBody>
      </p:sp>
      <p:sp>
        <p:nvSpPr>
          <p:cNvPr id="8" name="stance-detail-0"/>
          <p:cNvSpPr txBox="1"/>
          <p:nvPr/>
        </p:nvSpPr>
        <p:spPr>
          <a:xfrm xmlns:a="http://schemas.openxmlformats.org/drawingml/2006/main">
            <a:off x="2095500" y="39243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142.0 units funded; 58 active sites.</a:t>
            </a:r>
            <a:endParaRPr lang="en-US"/>
          </a:p>
        </p:txBody>
      </p:sp>
      <p:sp>
        <p:nvSpPr>
          <p:cNvPr id="9" name="stance-rule-0"/>
          <p:cNvSpPr/>
          <p:nvPr/>
        </p:nvSpPr>
        <p:spPr>
          <a:xfrm xmlns:a="http://schemas.openxmlformats.org/drawingml/2006/main">
            <a:off x="2095500" y="43434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stance-number-1"/>
          <p:cNvSpPr txBox="1"/>
          <p:nvPr/>
        </p:nvSpPr>
        <p:spPr>
          <a:xfrm xmlns:a="http://schemas.openxmlformats.org/drawingml/2006/main">
            <a:off x="1066800" y="46291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DA0B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1" name="stance-1"/>
          <p:cNvSpPr txBox="1"/>
          <p:nvPr/>
        </p:nvSpPr>
        <p:spPr>
          <a:xfrm xmlns:a="http://schemas.openxmlformats.org/drawingml/2006/main">
            <a:off x="2095500" y="462915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AFCFD"/>
                </a:solidFill>
                <a:latin typeface="Arial"/>
                <a:ea typeface="Arial"/>
              </a:rPr>
              <a:t>Throughput improved without expanding the footprint.</a:t>
            </a:r>
            <a:endParaRPr lang="en-US"/>
          </a:p>
        </p:txBody>
      </p:sp>
      <p:sp>
        <p:nvSpPr>
          <p:cNvPr id="12" name="stance-detail-1"/>
          <p:cNvSpPr txBox="1"/>
          <p:nvPr/>
        </p:nvSpPr>
        <p:spPr>
          <a:xfrm xmlns:a="http://schemas.openxmlformats.org/drawingml/2006/main">
            <a:off x="2095500" y="504825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Output per site is up 18% quarter on quarter.</a:t>
            </a:r>
            <a:endParaRPr lang="en-US"/>
          </a:p>
        </p:txBody>
      </p:sp>
      <p:sp>
        <p:nvSpPr>
          <p:cNvPr id="13" name="stance-rule-1"/>
          <p:cNvSpPr/>
          <p:nvPr/>
        </p:nvSpPr>
        <p:spPr>
          <a:xfrm xmlns:a="http://schemas.openxmlformats.org/drawingml/2006/main">
            <a:off x="2095500" y="546735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tance-number-2"/>
          <p:cNvSpPr txBox="1"/>
          <p:nvPr/>
        </p:nvSpPr>
        <p:spPr>
          <a:xfrm xmlns:a="http://schemas.openxmlformats.org/drawingml/2006/main">
            <a:off x="1066800" y="57531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DA0B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5" name="stance-2"/>
          <p:cNvSpPr txBox="1"/>
          <p:nvPr/>
        </p:nvSpPr>
        <p:spPr>
          <a:xfrm xmlns:a="http://schemas.openxmlformats.org/drawingml/2006/main">
            <a:off x="2095500" y="57531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AFCFD"/>
                </a:solidFill>
                <a:latin typeface="Arial"/>
                <a:ea typeface="Arial"/>
              </a:rPr>
              <a:t>The next decision is concentration, not acceleration.</a:t>
            </a:r>
            <a:endParaRPr lang="en-US"/>
          </a:p>
        </p:txBody>
      </p:sp>
      <p:sp>
        <p:nvSpPr>
          <p:cNvPr id="16" name="stance-detail-2"/>
          <p:cNvSpPr txBox="1"/>
          <p:nvPr/>
        </p:nvSpPr>
        <p:spPr>
          <a:xfrm xmlns:a="http://schemas.openxmlformats.org/drawingml/2006/main">
            <a:off x="2095500" y="61722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Two regions now carry 61% of active volume.</a:t>
            </a:r>
            <a:endParaRPr lang="en-US"/>
          </a:p>
        </p:txBody>
      </p:sp>
      <p:sp>
        <p:nvSpPr>
          <p:cNvPr id="17" name="stance-rule-2"/>
          <p:cNvSpPr/>
          <p:nvPr/>
        </p:nvSpPr>
        <p:spPr>
          <a:xfrm xmlns:a="http://schemas.openxmlformats.org/drawingml/2006/main">
            <a:off x="2095500" y="65913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stance-rail"/>
          <p:cNvSpPr/>
          <p:nvPr/>
        </p:nvSpPr>
        <p:spPr>
          <a:xfrm xmlns:a="http://schemas.openxmlformats.org/drawingml/2006/main">
            <a:off x="11163300" y="3276600"/>
            <a:ext cx="0" cy="3676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stance-rail-label"/>
          <p:cNvSpPr txBox="1"/>
          <p:nvPr/>
        </p:nvSpPr>
        <p:spPr>
          <a:xfrm xmlns:a="http://schemas.openxmlformats.org/drawingml/2006/main">
            <a:off x="1152525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DA0B0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0" name="stance-rail-value"/>
          <p:cNvSpPr txBox="1"/>
          <p:nvPr/>
        </p:nvSpPr>
        <p:spPr>
          <a:xfrm xmlns:a="http://schemas.openxmlformats.org/drawingml/2006/main">
            <a:off x="11525250" y="39814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70508F"/>
                </a:solidFill>
                <a:latin typeface="Arial"/>
                <a:ea typeface="Arial"/>
              </a:rPr>
              <a:t>18%</a:t>
            </a:r>
            <a:endParaRPr lang="en-US"/>
          </a:p>
        </p:txBody>
      </p:sp>
      <p:sp>
        <p:nvSpPr>
          <p:cNvPr id="21" name="stance-rail-caption"/>
          <p:cNvSpPr txBox="1"/>
          <p:nvPr/>
        </p:nvSpPr>
        <p:spPr>
          <a:xfrm xmlns:a="http://schemas.openxmlformats.org/drawingml/2006/main">
            <a:off x="11525250" y="46101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output per site</a:t>
            </a:r>
            <a:endParaRPr lang="en-US"/>
          </a:p>
        </p:txBody>
      </p:sp>
      <p:sp>
        <p:nvSpPr>
          <p:cNvPr id="22" name="stance-rail-value-two"/>
          <p:cNvSpPr txBox="1"/>
          <p:nvPr/>
        </p:nvSpPr>
        <p:spPr>
          <a:xfrm xmlns:a="http://schemas.openxmlformats.org/drawingml/2006/main">
            <a:off x="11525250" y="54292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AFCFD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23" name="stance-rail-caption-two"/>
          <p:cNvSpPr txBox="1"/>
          <p:nvPr/>
        </p:nvSpPr>
        <p:spPr>
          <a:xfrm xmlns:a="http://schemas.openxmlformats.org/drawingml/2006/main">
            <a:off x="11525250" y="60579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volume in two regions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LAKE RESEARCH JOURNAL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508F"/>
                </a:solidFill>
                <a:latin typeface="Arial"/>
                <a:ea typeface="Arial"/>
              </a:rPr>
              <a:t>LAKE RESEARCH JOURNAL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D5C"/>
                </a:solidFill>
                <a:latin typeface="Arial"/>
                <a:ea typeface="Arial"/>
              </a:rPr>
              <a:t>The ledger moves, but the threshold still governs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D5C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DA0B0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3D5C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LAKE RESEARCH JOURNAL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508F"/>
                </a:solidFill>
                <a:latin typeface="Arial"/>
                <a:ea typeface="Arial"/>
              </a:rPr>
              <a:t>LAKE RESEARCH JOURNAL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D5C"/>
                </a:solidFill>
                <a:latin typeface="Arial"/>
                <a:ea typeface="Arial"/>
              </a:rPr>
              <a:t>The ledger carries the assumptions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D5C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DA0B0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1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LAKE RESEARCH JOURNAL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508F"/>
                </a:solidFill>
                <a:latin typeface="Arial"/>
                <a:ea typeface="Arial"/>
              </a:rPr>
              <a:t>LAKE RESEARCH JOURNAL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D5C"/>
                </a:solidFill>
                <a:latin typeface="Arial"/>
                <a:ea typeface="Arial"/>
              </a:rPr>
              <a:t>A visual field can carry a signal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ceaba2f46014c9c"/>
          </a:graphicData>
        </a:graphic>
      </p:graphicFrame>
      <p:graphicFrame>
        <p:nvGraphicFramePr>
          <p:cNvPr id="9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cdaa152de234aed"/>
          </a:graphicData>
        </a:graphic>
      </p:graphicFrame>
      <p:sp>
        <p:nvSpPr>
          <p:cNvPr id="10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12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D5C"/>
                </a:solidFill>
                <a:latin typeface="Arial"/>
                <a:ea typeface="Arial"/>
              </a:rPr>
              <a:t>Signal before decoration</a:t>
            </a:r>
            <a:endParaRPr lang="en-US"/>
          </a:p>
        </p:txBody>
      </p:sp>
      <p:sp>
        <p:nvSpPr>
          <p:cNvPr id="13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5C"/>
          </a:solidFill>
          <a:ln xmlns:a="http://schemas.openxmlformats.org/drawingml/2006/main" w="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191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FINANCE · DECISION</a:t>
            </a:r>
            <a:endParaRPr lang="en-US"/>
          </a:p>
        </p:txBody>
      </p:sp>
      <p:sp>
        <p:nvSpPr>
          <p:cNvPr id="4" name="close-title"/>
          <p:cNvSpPr txBox="1"/>
          <p:nvPr/>
        </p:nvSpPr>
        <p:spPr>
          <a:xfrm xmlns:a="http://schemas.openxmlformats.org/drawingml/2006/main">
            <a:off x="914400" y="13144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AFCFD"/>
                </a:solidFill>
                <a:latin typeface="Arial"/>
                <a:ea typeface="Arial"/>
              </a:rPr>
              <a:t>Fund the proven constraint, then measure the next one</a:t>
            </a:r>
            <a:endParaRPr lang="en-US"/>
          </a:p>
        </p:txBody>
      </p:sp>
      <p:sp>
        <p:nvSpPr>
          <p:cNvPr id="5" name="close-basis"/>
          <p:cNvSpPr txBox="1"/>
          <p:nvPr/>
        </p:nvSpPr>
        <p:spPr>
          <a:xfrm xmlns:a="http://schemas.openxmlformats.org/drawingml/2006/main">
            <a:off x="952500" y="24193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A decision is bounded by the evidence it is willing to revisit.</a:t>
            </a:r>
            <a:endParaRPr lang="en-US"/>
          </a:p>
        </p:txBody>
      </p:sp>
      <p:sp>
        <p:nvSpPr>
          <p:cNvPr id="6" name="close-number-0"/>
          <p:cNvSpPr txBox="1"/>
          <p:nvPr/>
        </p:nvSpPr>
        <p:spPr>
          <a:xfrm xmlns:a="http://schemas.openxmlformats.org/drawingml/2006/main">
            <a:off x="1104900" y="34861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DA0B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7" name="close-row-rule-0"/>
          <p:cNvSpPr/>
          <p:nvPr/>
        </p:nvSpPr>
        <p:spPr>
          <a:xfrm xmlns:a="http://schemas.openxmlformats.org/drawingml/2006/main">
            <a:off x="2038350" y="36385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label-0"/>
          <p:cNvSpPr txBox="1"/>
          <p:nvPr/>
        </p:nvSpPr>
        <p:spPr>
          <a:xfrm xmlns:a="http://schemas.openxmlformats.org/drawingml/2006/main">
            <a:off x="2190750" y="34480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AFCFD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9" name="close-text-0"/>
          <p:cNvSpPr txBox="1"/>
          <p:nvPr/>
        </p:nvSpPr>
        <p:spPr>
          <a:xfrm xmlns:a="http://schemas.openxmlformats.org/drawingml/2006/main">
            <a:off x="4476750" y="34861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Cash conversion remains positive.</a:t>
            </a:r>
            <a:endParaRPr lang="en-US"/>
          </a:p>
        </p:txBody>
      </p:sp>
      <p:sp>
        <p:nvSpPr>
          <p:cNvPr id="10" name="close-number-1"/>
          <p:cNvSpPr txBox="1"/>
          <p:nvPr/>
        </p:nvSpPr>
        <p:spPr>
          <a:xfrm xmlns:a="http://schemas.openxmlformats.org/drawingml/2006/main">
            <a:off x="1104900" y="45529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DA0B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1" name="close-row-rule-1"/>
          <p:cNvSpPr/>
          <p:nvPr/>
        </p:nvSpPr>
        <p:spPr>
          <a:xfrm xmlns:a="http://schemas.openxmlformats.org/drawingml/2006/main">
            <a:off x="2038350" y="47053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close-label-1"/>
          <p:cNvSpPr txBox="1"/>
          <p:nvPr/>
        </p:nvSpPr>
        <p:spPr>
          <a:xfrm xmlns:a="http://schemas.openxmlformats.org/drawingml/2006/main">
            <a:off x="2190750" y="45148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AFCFD"/>
                </a:solidFill>
                <a:latin typeface="Arial"/>
                <a:ea typeface="Arial"/>
              </a:rPr>
              <a:t>Risk</a:t>
            </a:r>
            <a:endParaRPr lang="en-US"/>
          </a:p>
        </p:txBody>
      </p:sp>
      <p:sp>
        <p:nvSpPr>
          <p:cNvPr id="13" name="close-text-1"/>
          <p:cNvSpPr txBox="1"/>
          <p:nvPr/>
        </p:nvSpPr>
        <p:spPr>
          <a:xfrm xmlns:a="http://schemas.openxmlformats.org/drawingml/2006/main">
            <a:off x="4476750" y="45529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The buffer is below threshold.</a:t>
            </a:r>
            <a:endParaRPr lang="en-US"/>
          </a:p>
        </p:txBody>
      </p:sp>
      <p:sp>
        <p:nvSpPr>
          <p:cNvPr id="14" name="close-number-2"/>
          <p:cNvSpPr txBox="1"/>
          <p:nvPr/>
        </p:nvSpPr>
        <p:spPr>
          <a:xfrm xmlns:a="http://schemas.openxmlformats.org/drawingml/2006/main">
            <a:off x="1104900" y="56197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70508F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5" name="close-row-rule-2"/>
          <p:cNvSpPr/>
          <p:nvPr/>
        </p:nvSpPr>
        <p:spPr>
          <a:xfrm xmlns:a="http://schemas.openxmlformats.org/drawingml/2006/main">
            <a:off x="2038350" y="57721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label-2"/>
          <p:cNvSpPr txBox="1"/>
          <p:nvPr/>
        </p:nvSpPr>
        <p:spPr>
          <a:xfrm xmlns:a="http://schemas.openxmlformats.org/drawingml/2006/main">
            <a:off x="2190750" y="55816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AFCFD"/>
                </a:solidFill>
                <a:latin typeface="Arial"/>
                <a:ea typeface="Arial"/>
              </a:rPr>
              <a:t>Decision</a:t>
            </a:r>
            <a:endParaRPr lang="en-US"/>
          </a:p>
        </p:txBody>
      </p:sp>
      <p:sp>
        <p:nvSpPr>
          <p:cNvPr id="17" name="close-text-2"/>
          <p:cNvSpPr txBox="1"/>
          <p:nvPr/>
        </p:nvSpPr>
        <p:spPr>
          <a:xfrm xmlns:a="http://schemas.openxmlformats.org/drawingml/2006/main">
            <a:off x="4476750" y="56197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Release one constrained tranche.</a:t>
            </a:r>
            <a:endParaRPr lang="en-US"/>
          </a:p>
        </p:txBody>
      </p:sp>
      <p:sp>
        <p:nvSpPr>
          <p:cNvPr id="18" name="close-rail"/>
          <p:cNvSpPr/>
          <p:nvPr/>
        </p:nvSpPr>
        <p:spPr>
          <a:xfrm xmlns:a="http://schemas.openxmlformats.org/drawingml/2006/main">
            <a:off x="11163300" y="32766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rail-label"/>
          <p:cNvSpPr txBox="1"/>
          <p:nvPr/>
        </p:nvSpPr>
        <p:spPr>
          <a:xfrm xmlns:a="http://schemas.openxmlformats.org/drawingml/2006/main">
            <a:off x="11525250" y="3429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0" name="close-rail-value"/>
          <p:cNvSpPr txBox="1"/>
          <p:nvPr/>
        </p:nvSpPr>
        <p:spPr>
          <a:xfrm xmlns:a="http://schemas.openxmlformats.org/drawingml/2006/main">
            <a:off x="11525250" y="39433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AFCFD"/>
                </a:solidFill>
                <a:latin typeface="Arial"/>
                <a:ea typeface="Arial"/>
              </a:rPr>
              <a:t>Clear the buffer gate</a:t>
            </a:r>
            <a:endParaRPr lang="en-US"/>
          </a:p>
        </p:txBody>
      </p:sp>
      <p:sp>
        <p:nvSpPr>
          <p:cNvPr id="21" name="close-rail-foot"/>
          <p:cNvSpPr txBox="1"/>
          <p:nvPr/>
        </p:nvSpPr>
        <p:spPr>
          <a:xfrm xmlns:a="http://schemas.openxmlformats.org/drawingml/2006/main">
            <a:off x="11525250" y="49530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2" name="close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>
              <a:alpha val="10000"/>
            </a:srgbClr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close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AFCFD"/>
                </a:solidFill>
                <a:latin typeface="Arial"/>
                <a:ea typeface="Arial"/>
              </a:rPr>
              <a:t>STANCE  ·  Keep the gate visible when the allocation moves.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