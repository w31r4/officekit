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b37c2dfc9b047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4efaa6e338175447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proposition">
    <p:bg>
      <p:bgPr>
        <a:blipFill xmlns:a="http://schemas.openxmlformats.org/drawingml/2006/main">
          <a:blip xmlns:r="http://schemas.openxmlformats.org/officeDocument/2006/relationships" r:embed="rIdOfficeKitImage4efaa6e338175447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hoto-scrim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>
              <a:alpha val="58000"/>
            </a:srgbClr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reading-plane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>
              <a:alpha val="78000"/>
            </a:srgbClr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7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DA0B0"/>
                </a:solidFill>
                <a:latin typeface="Arial"/>
                <a:ea typeface="Arial"/>
              </a:rPr>
              <a:t>RESEARCH NOTE · 2026</a:t>
            </a:r>
            <a:endParaRPr lang="en-US"/>
          </a:p>
        </p:txBody>
      </p:sp>
      <p:sp>
        <p:nvSpPr>
          <p:cNvPr id="8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AFCFD"/>
                </a:solidFill>
                <a:latin typeface="Arial"/>
                <a:ea typeface="Arial"/>
              </a:rPr>
              <a:t>Lake Research Journal: a claim worth testing</a:t>
            </a:r>
            <a:endParaRPr lang="en-US"/>
          </a:p>
        </p:txBody>
      </p:sp>
      <p:sp>
        <p:nvSpPr>
          <p:cNvPr id="9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DA0B0"/>
                </a:solidFill>
                <a:latin typeface="Arial"/>
                <a:ea typeface="Arial"/>
              </a:rPr>
              <a:t>A clean-room reference for bounded financial decisions.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AFCFD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1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70508F"/>
                </a:solidFill>
                <a:latin typeface="Arial"/>
                <a:ea typeface="Arial"/>
              </a:rPr>
              <a:t>142.0</a:t>
            </a:r>
            <a:endParaRPr lang="en-US"/>
          </a:p>
        </p:txBody>
      </p:sp>
      <p:sp>
        <p:nvSpPr>
          <p:cNvPr id="12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units funded · Q2</a:t>
            </a:r>
            <a:endParaRPr lang="en-US"/>
          </a:p>
        </p:txBody>
      </p:sp>
      <p:sp>
        <p:nvSpPr>
          <p:cNvPr id="13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4.1×</a:t>
            </a:r>
            <a:endParaRPr lang="en-US"/>
          </a:p>
        </p:txBody>
      </p:sp>
      <p:sp>
        <p:nvSpPr>
          <p:cNvPr id="14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5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6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7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DA0B0"/>
                </a:solidFill>
                <a:latin typeface="Arial"/>
                <a:ea typeface="Arial"/>
              </a:rPr>
              <a:t>26</a:t>
            </a:r>
            <a:endParaRPr lang="en-US"/>
          </a:p>
        </p:txBody>
      </p:sp>
      <p:sp>
        <p:nvSpPr>
          <p:cNvPr id="18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DA0B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70508F"/>
                </a:solidFill>
                <a:latin typeface="Arial"/>
                <a:ea typeface="Arial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EVOLUTION / TRANSITION</a:t>
            </a:r>
            <a:endParaRPr lang="en-US"/>
          </a:p>
        </p:txBody>
      </p:sp>
      <p:sp>
        <p:nvSpPr>
          <p:cNvPr id="9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2540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508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2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3D5C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3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4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2540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508F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3D5C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2540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508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3D5C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1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2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2540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508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4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3D5C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5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6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08F"/>
          </a:solidFill>
          <a:ln xmlns:a="http://schemas.openxmlformats.org/drawingml/2006/main" w="254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508F"/>
                </a:solidFill>
                <a:latin typeface="Arial"/>
                <a:ea typeface="Arial"/>
              </a:rPr>
              <a:t>05</a:t>
            </a:r>
            <a:endParaRPr lang="en-US"/>
          </a:p>
        </p:txBody>
      </p:sp>
      <p:sp>
        <p:nvSpPr>
          <p:cNvPr id="28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3D5C"/>
                </a:solidFill>
                <a:latin typeface="Arial"/>
                <a:ea typeface="Arial"/>
              </a:rPr>
              <a:t>Scale</a:t>
            </a:r>
            <a:endParaRPr lang="en-US"/>
          </a:p>
        </p:txBody>
      </p:sp>
      <p:sp>
        <p:nvSpPr>
          <p:cNvPr id="29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Repeat what held</a:t>
            </a:r>
            <a:endParaRPr lang="en-US"/>
          </a:p>
        </p:txBody>
      </p:sp>
      <p:sp>
        <p:nvSpPr>
          <p:cNvPr id="30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508F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31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73D5C"/>
                </a:solidFill>
                <a:latin typeface="Arial"/>
                <a:ea typeface="Arial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2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D5C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3810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70508F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D5C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3810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70508F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D5C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3810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70508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D5C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08F"/>
          </a:solidFill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3D5C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3D5C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70508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AFCFD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AFCFD"/>
                </a:solidFill>
                <a:latin typeface="Arial"/>
                <a:ea typeface="Arial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