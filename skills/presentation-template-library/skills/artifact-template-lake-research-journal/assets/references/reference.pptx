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86ad0e9b24d41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812f35cf26804c05" /><Relationship Type="http://schemas.openxmlformats.org/officeDocument/2006/relationships/chart" Target="/ppt/slides/charts/chart2.xml" Id="R40f608bb59fd45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70508F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4DA8D3"/>
            </a:solidFill>
            <a:ln w="38100">
              <a:solidFill>
                <a:srgbClr val="4DA8D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proposi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C"/>
          </a:solidFill>
          <a:ln xmlns:a="http://schemas.openxmlformats.org/drawingml/2006/main" w="0">
            <a:solidFill>
              <a:srgbClr val="173D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over-evidence-field"/>
          <p:cNvSpPr/>
          <p:nvPr/>
        </p:nvSpPr>
        <p:spPr>
          <a:xfrm xmlns:a="http://schemas.openxmlformats.org/drawingml/2006/main">
            <a:off x="8667750" y="0"/>
            <a:ext cx="6572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>
              <a:alpha val="12000"/>
            </a:srgbClr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ver-gold-line"/>
          <p:cNvSpPr/>
          <p:nvPr/>
        </p:nvSpPr>
        <p:spPr>
          <a:xfrm xmlns:a="http://schemas.openxmlformats.org/drawingml/2006/main">
            <a:off x="914400" y="1562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57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FINANCE · OFFICEKIT CALIBRATION</a:t>
            </a:r>
            <a:endParaRPr lang="en-US"/>
          </a:p>
        </p:txBody>
      </p:sp>
      <p:sp>
        <p:nvSpPr>
          <p:cNvPr id="6" name="cover-date"/>
          <p:cNvSpPr txBox="1"/>
          <p:nvPr/>
        </p:nvSpPr>
        <p:spPr>
          <a:xfrm xmlns:a="http://schemas.openxmlformats.org/drawingml/2006/main">
            <a:off x="11239500" y="87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125">
                <a:solidFill>
                  <a:srgbClr val="8DA0B0"/>
                </a:solidFill>
                <a:latin typeface="Arial"/>
                <a:ea typeface="Arial"/>
              </a:rPr>
              <a:t>RESEARCH NOTE · 2026</a:t>
            </a:r>
            <a:endParaRPr lang="en-US"/>
          </a:p>
        </p:txBody>
      </p:sp>
      <p:sp>
        <p:nvSpPr>
          <p:cNvPr id="7" name="cover-title"/>
          <p:cNvSpPr txBox="1"/>
          <p:nvPr/>
        </p:nvSpPr>
        <p:spPr>
          <a:xfrm xmlns:a="http://schemas.openxmlformats.org/drawingml/2006/main">
            <a:off x="914400" y="19812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AFCFD"/>
                </a:solidFill>
                <a:latin typeface="Arial"/>
                <a:ea typeface="Arial"/>
              </a:rPr>
              <a:t>Lake Research Journal: a claim worth testing</a:t>
            </a:r>
            <a:endParaRPr lang="en-US"/>
          </a:p>
        </p:txBody>
      </p:sp>
      <p:sp>
        <p:nvSpPr>
          <p:cNvPr id="8" name="cover-subtitle"/>
          <p:cNvSpPr txBox="1"/>
          <p:nvPr/>
        </p:nvSpPr>
        <p:spPr>
          <a:xfrm xmlns:a="http://schemas.openxmlformats.org/drawingml/2006/main">
            <a:off x="952500" y="3409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8DA0B0"/>
                </a:solidFill>
                <a:latin typeface="Arial"/>
                <a:ea typeface="Arial"/>
              </a:rPr>
              <a:t>A clean-room reference for bounded financial decisions.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114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AFCFD"/>
                </a:solidFill>
                <a:latin typeface="Arial"/>
                <a:ea typeface="Arial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metric-one"/>
          <p:cNvSpPr txBox="1"/>
          <p:nvPr/>
        </p:nvSpPr>
        <p:spPr>
          <a:xfrm xmlns:a="http://schemas.openxmlformats.org/drawingml/2006/main">
            <a:off x="952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70508F"/>
                </a:solidFill>
                <a:latin typeface="Arial"/>
                <a:ea typeface="Arial"/>
              </a:rPr>
              <a:t>142.0</a:t>
            </a:r>
            <a:endParaRPr lang="en-US"/>
          </a:p>
        </p:txBody>
      </p:sp>
      <p:sp>
        <p:nvSpPr>
          <p:cNvPr id="11" name="cover-metric-one-caption"/>
          <p:cNvSpPr txBox="1"/>
          <p:nvPr/>
        </p:nvSpPr>
        <p:spPr>
          <a:xfrm xmlns:a="http://schemas.openxmlformats.org/drawingml/2006/main">
            <a:off x="952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Arial"/>
                <a:ea typeface="Arial"/>
              </a:rPr>
              <a:t>units funded · Q2</a:t>
            </a:r>
            <a:endParaRPr lang="en-US"/>
          </a:p>
        </p:txBody>
      </p:sp>
      <p:sp>
        <p:nvSpPr>
          <p:cNvPr id="12" name="cover-metric-two"/>
          <p:cNvSpPr txBox="1"/>
          <p:nvPr/>
        </p:nvSpPr>
        <p:spPr>
          <a:xfrm xmlns:a="http://schemas.openxmlformats.org/drawingml/2006/main">
            <a:off x="3238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AFCFD"/>
                </a:solidFill>
                <a:latin typeface="Arial"/>
                <a:ea typeface="Arial"/>
              </a:rPr>
              <a:t>4.1×</a:t>
            </a:r>
            <a:endParaRPr lang="en-US"/>
          </a:p>
        </p:txBody>
      </p:sp>
      <p:sp>
        <p:nvSpPr>
          <p:cNvPr id="13" name="cover-metric-two-caption"/>
          <p:cNvSpPr txBox="1"/>
          <p:nvPr/>
        </p:nvSpPr>
        <p:spPr>
          <a:xfrm xmlns:a="http://schemas.openxmlformats.org/drawingml/2006/main">
            <a:off x="3238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Arial"/>
                <a:ea typeface="Arial"/>
              </a:rPr>
              <a:t>coverage · month end</a:t>
            </a:r>
            <a:endParaRPr lang="en-US"/>
          </a:p>
        </p:txBody>
      </p:sp>
      <p:sp>
        <p:nvSpPr>
          <p:cNvPr id="14" name="cover-metric-three"/>
          <p:cNvSpPr txBox="1"/>
          <p:nvPr/>
        </p:nvSpPr>
        <p:spPr>
          <a:xfrm xmlns:a="http://schemas.openxmlformats.org/drawingml/2006/main">
            <a:off x="5524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AFCFD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15" name="cover-metric-three-caption"/>
          <p:cNvSpPr txBox="1"/>
          <p:nvPr/>
        </p:nvSpPr>
        <p:spPr>
          <a:xfrm xmlns:a="http://schemas.openxmlformats.org/drawingml/2006/main">
            <a:off x="5524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Arial"/>
                <a:ea typeface="Arial"/>
              </a:rPr>
              <a:t>top two regions</a:t>
            </a:r>
            <a:endParaRPr lang="en-US"/>
          </a:p>
        </p:txBody>
      </p:sp>
      <p:sp>
        <p:nvSpPr>
          <p:cNvPr id="16" name="cover-watermark"/>
          <p:cNvSpPr txBox="1"/>
          <p:nvPr/>
        </p:nvSpPr>
        <p:spPr>
          <a:xfrm xmlns:a="http://schemas.openxmlformats.org/drawingml/2006/main">
            <a:off x="10572750" y="1809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050">
                <a:solidFill>
                  <a:srgbClr val="8DA0B0"/>
                </a:solidFill>
                <a:latin typeface="Arial"/>
                <a:ea typeface="Arial"/>
              </a:rPr>
              <a:t>26</a:t>
            </a:r>
            <a:endParaRPr lang="en-US"/>
          </a:p>
        </p:txBody>
      </p:sp>
      <p:sp>
        <p:nvSpPr>
          <p:cNvPr id="17" name="basis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>
              <a:alpha val="10000"/>
            </a:srgbClr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basis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Illustrative ledger · values fictional · read the unit, period, and decision threshold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86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C"/>
          </a:solidFill>
          <a:ln xmlns:a="http://schemas.openxmlformats.org/drawingml/2006/main" w="0">
            <a:solidFill>
              <a:srgbClr val="173D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781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FINANCE · STANCE</a:t>
            </a:r>
            <a:endParaRPr lang="en-US"/>
          </a:p>
        </p:txBody>
      </p:sp>
      <p:sp>
        <p:nvSpPr>
          <p:cNvPr id="4" name="argument-title"/>
          <p:cNvSpPr txBox="1"/>
          <p:nvPr/>
        </p:nvSpPr>
        <p:spPr>
          <a:xfrm xmlns:a="http://schemas.openxmlformats.org/drawingml/2006/main">
            <a:off x="914400" y="1257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AFCFD"/>
                </a:solidFill>
                <a:latin typeface="Arial"/>
                <a:ea typeface="Arial"/>
              </a:rPr>
              <a:t>The ledger supports a narrow allocation, not a broad acceleration</a:t>
            </a:r>
            <a:endParaRPr lang="en-US"/>
          </a:p>
        </p:txBody>
      </p:sp>
      <p:sp>
        <p:nvSpPr>
          <p:cNvPr id="5" name="argument-basis"/>
          <p:cNvSpPr txBox="1"/>
          <p:nvPr/>
        </p:nvSpPr>
        <p:spPr>
          <a:xfrm xmlns:a="http://schemas.openxmlformats.org/drawingml/2006/main">
            <a:off x="95250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Three observations separate the signal from the momentum.</a:t>
            </a:r>
            <a:endParaRPr lang="en-US"/>
          </a:p>
        </p:txBody>
      </p:sp>
      <p:sp>
        <p:nvSpPr>
          <p:cNvPr id="6" name="stance-number-0"/>
          <p:cNvSpPr txBox="1"/>
          <p:nvPr/>
        </p:nvSpPr>
        <p:spPr>
          <a:xfrm xmlns:a="http://schemas.openxmlformats.org/drawingml/2006/main">
            <a:off x="10668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DA0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7" name="stance-0"/>
          <p:cNvSpPr txBox="1"/>
          <p:nvPr/>
        </p:nvSpPr>
        <p:spPr>
          <a:xfrm xmlns:a="http://schemas.openxmlformats.org/drawingml/2006/main">
            <a:off x="2095500" y="3505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AFCFD"/>
                </a:solidFill>
                <a:latin typeface="Arial"/>
                <a:ea typeface="Arial"/>
              </a:rPr>
              <a:t>Funding is up, but late-stage deals are fewer.</a:t>
            </a:r>
            <a:endParaRPr lang="en-US"/>
          </a:p>
        </p:txBody>
      </p:sp>
      <p:sp>
        <p:nvSpPr>
          <p:cNvPr id="8" name="stance-detail-0"/>
          <p:cNvSpPr txBox="1"/>
          <p:nvPr/>
        </p:nvSpPr>
        <p:spPr>
          <a:xfrm xmlns:a="http://schemas.openxmlformats.org/drawingml/2006/main">
            <a:off x="2095500" y="3924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142.0 units funded; 58 active sites.</a:t>
            </a:r>
            <a:endParaRPr lang="en-US"/>
          </a:p>
        </p:txBody>
      </p:sp>
      <p:sp>
        <p:nvSpPr>
          <p:cNvPr id="9" name="stance-rule-0"/>
          <p:cNvSpPr/>
          <p:nvPr/>
        </p:nvSpPr>
        <p:spPr>
          <a:xfrm xmlns:a="http://schemas.openxmlformats.org/drawingml/2006/main">
            <a:off x="20955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stance-number-1"/>
          <p:cNvSpPr txBox="1"/>
          <p:nvPr/>
        </p:nvSpPr>
        <p:spPr>
          <a:xfrm xmlns:a="http://schemas.openxmlformats.org/drawingml/2006/main">
            <a:off x="106680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DA0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1" name="stance-1"/>
          <p:cNvSpPr txBox="1"/>
          <p:nvPr/>
        </p:nvSpPr>
        <p:spPr>
          <a:xfrm xmlns:a="http://schemas.openxmlformats.org/drawingml/2006/main">
            <a:off x="2095500" y="4629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AFCFD"/>
                </a:solidFill>
                <a:latin typeface="Arial"/>
                <a:ea typeface="Arial"/>
              </a:rPr>
              <a:t>Throughput improved without expanding the footprint.</a:t>
            </a:r>
            <a:endParaRPr lang="en-US"/>
          </a:p>
        </p:txBody>
      </p:sp>
      <p:sp>
        <p:nvSpPr>
          <p:cNvPr id="12" name="stance-detail-1"/>
          <p:cNvSpPr txBox="1"/>
          <p:nvPr/>
        </p:nvSpPr>
        <p:spPr>
          <a:xfrm xmlns:a="http://schemas.openxmlformats.org/drawingml/2006/main">
            <a:off x="2095500" y="50482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Output per site is up 18% quarter on quarter.</a:t>
            </a:r>
            <a:endParaRPr lang="en-US"/>
          </a:p>
        </p:txBody>
      </p:sp>
      <p:sp>
        <p:nvSpPr>
          <p:cNvPr id="13" name="stance-rule-1"/>
          <p:cNvSpPr/>
          <p:nvPr/>
        </p:nvSpPr>
        <p:spPr>
          <a:xfrm xmlns:a="http://schemas.openxmlformats.org/drawingml/2006/main">
            <a:off x="2095500" y="5467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tance-number-2"/>
          <p:cNvSpPr txBox="1"/>
          <p:nvPr/>
        </p:nvSpPr>
        <p:spPr>
          <a:xfrm xmlns:a="http://schemas.openxmlformats.org/drawingml/2006/main">
            <a:off x="1066800" y="5753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DA0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5" name="stance-2"/>
          <p:cNvSpPr txBox="1"/>
          <p:nvPr/>
        </p:nvSpPr>
        <p:spPr>
          <a:xfrm xmlns:a="http://schemas.openxmlformats.org/drawingml/2006/main">
            <a:off x="2095500" y="575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AFCFD"/>
                </a:solidFill>
                <a:latin typeface="Arial"/>
                <a:ea typeface="Arial"/>
              </a:rPr>
              <a:t>The next decision is concentration, not acceleration.</a:t>
            </a:r>
            <a:endParaRPr lang="en-US"/>
          </a:p>
        </p:txBody>
      </p:sp>
      <p:sp>
        <p:nvSpPr>
          <p:cNvPr id="16" name="stance-detail-2"/>
          <p:cNvSpPr txBox="1"/>
          <p:nvPr/>
        </p:nvSpPr>
        <p:spPr>
          <a:xfrm xmlns:a="http://schemas.openxmlformats.org/drawingml/2006/main">
            <a:off x="2095500" y="61722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Two regions now carry 61% of active volume.</a:t>
            </a:r>
            <a:endParaRPr lang="en-US"/>
          </a:p>
        </p:txBody>
      </p:sp>
      <p:sp>
        <p:nvSpPr>
          <p:cNvPr id="17" name="stance-rule-2"/>
          <p:cNvSpPr/>
          <p:nvPr/>
        </p:nvSpPr>
        <p:spPr>
          <a:xfrm xmlns:a="http://schemas.openxmlformats.org/drawingml/2006/main">
            <a:off x="2095500" y="6591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stance-rail"/>
          <p:cNvSpPr/>
          <p:nvPr/>
        </p:nvSpPr>
        <p:spPr>
          <a:xfrm xmlns:a="http://schemas.openxmlformats.org/drawingml/2006/main">
            <a:off x="11163300" y="3276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stance-rail-label"/>
          <p:cNvSpPr txBox="1"/>
          <p:nvPr/>
        </p:nvSpPr>
        <p:spPr>
          <a:xfrm xmlns:a="http://schemas.openxmlformats.org/drawingml/2006/main">
            <a:off x="1152525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DA0B0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0" name="stance-rail-value"/>
          <p:cNvSpPr txBox="1"/>
          <p:nvPr/>
        </p:nvSpPr>
        <p:spPr>
          <a:xfrm xmlns:a="http://schemas.openxmlformats.org/drawingml/2006/main">
            <a:off x="11525250" y="3981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70508F"/>
                </a:solidFill>
                <a:latin typeface="Arial"/>
                <a:ea typeface="Arial"/>
              </a:rPr>
              <a:t>18%</a:t>
            </a:r>
            <a:endParaRPr lang="en-US"/>
          </a:p>
        </p:txBody>
      </p:sp>
      <p:sp>
        <p:nvSpPr>
          <p:cNvPr id="21" name="stance-rail-caption"/>
          <p:cNvSpPr txBox="1"/>
          <p:nvPr/>
        </p:nvSpPr>
        <p:spPr>
          <a:xfrm xmlns:a="http://schemas.openxmlformats.org/drawingml/2006/main">
            <a:off x="11525250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output per site</a:t>
            </a:r>
            <a:endParaRPr lang="en-US"/>
          </a:p>
        </p:txBody>
      </p:sp>
      <p:sp>
        <p:nvSpPr>
          <p:cNvPr id="22" name="stance-rail-value-two"/>
          <p:cNvSpPr txBox="1"/>
          <p:nvPr/>
        </p:nvSpPr>
        <p:spPr>
          <a:xfrm xmlns:a="http://schemas.openxmlformats.org/drawingml/2006/main">
            <a:off x="11525250" y="542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AFCFD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23" name="stance-rail-caption-two"/>
          <p:cNvSpPr txBox="1"/>
          <p:nvPr/>
        </p:nvSpPr>
        <p:spPr>
          <a:xfrm xmlns:a="http://schemas.openxmlformats.org/drawingml/2006/main">
            <a:off x="1152525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volume in two regions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LAKE RESEARCH JOURNAL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508F"/>
                </a:solidFill>
                <a:latin typeface="Arial"/>
                <a:ea typeface="Arial"/>
              </a:rPr>
              <a:t>LAKE RESEARCH JOURNAL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D5C"/>
                </a:solidFill>
                <a:latin typeface="Arial"/>
                <a:ea typeface="Arial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D5C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DA0B0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3D5C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LAKE RESEARCH JOURNAL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508F"/>
                </a:solidFill>
                <a:latin typeface="Arial"/>
                <a:ea typeface="Arial"/>
              </a:rPr>
              <a:t>LAKE RESEARCH JOURNAL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D5C"/>
                </a:solidFill>
                <a:latin typeface="Arial"/>
                <a:ea typeface="Arial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D5C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DA0B0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LAKE RESEARCH JOURNAL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508F"/>
                </a:solidFill>
                <a:latin typeface="Arial"/>
                <a:ea typeface="Arial"/>
              </a:rPr>
              <a:t>LAKE RESEARCH JOURNAL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D5C"/>
                </a:solidFill>
                <a:latin typeface="Arial"/>
                <a:ea typeface="Arial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2f35cf26804c05"/>
          </a:graphicData>
        </a:graphic>
      </p:graphicFrame>
      <p:graphicFrame>
        <p:nvGraphicFramePr>
          <p:cNvPr id="9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608bb59fd45cc"/>
          </a:graphicData>
        </a:graphic>
      </p:graphicFrame>
      <p:sp>
        <p:nvSpPr>
          <p:cNvPr id="1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1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D5C"/>
                </a:solidFill>
                <a:latin typeface="Arial"/>
                <a:ea typeface="Arial"/>
              </a:rPr>
              <a:t>Signal before decoration</a:t>
            </a:r>
            <a:endParaRPr lang="en-US"/>
          </a:p>
        </p:txBody>
      </p:sp>
      <p:sp>
        <p:nvSpPr>
          <p:cNvPr id="1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C"/>
          </a:solidFill>
          <a:ln xmlns:a="http://schemas.openxmlformats.org/drawingml/2006/main" w="0">
            <a:solidFill>
              <a:srgbClr val="173D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FINANCE · DECISION</a:t>
            </a:r>
            <a:endParaRPr lang="en-US"/>
          </a:p>
        </p:txBody>
      </p:sp>
      <p:sp>
        <p:nvSpPr>
          <p:cNvPr id="4" name="close-title"/>
          <p:cNvSpPr txBox="1"/>
          <p:nvPr/>
        </p:nvSpPr>
        <p:spPr>
          <a:xfrm xmlns:a="http://schemas.openxmlformats.org/drawingml/2006/main">
            <a:off x="914400" y="13144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AFCFD"/>
                </a:solidFill>
                <a:latin typeface="Arial"/>
                <a:ea typeface="Arial"/>
              </a:rPr>
              <a:t>Fund the proven constraint, then measure the next one</a:t>
            </a:r>
            <a:endParaRPr lang="en-US"/>
          </a:p>
        </p:txBody>
      </p:sp>
      <p:sp>
        <p:nvSpPr>
          <p:cNvPr id="5" name="close-basis"/>
          <p:cNvSpPr txBox="1"/>
          <p:nvPr/>
        </p:nvSpPr>
        <p:spPr>
          <a:xfrm xmlns:a="http://schemas.openxmlformats.org/drawingml/2006/main">
            <a:off x="952500" y="2419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A decision is bounded by the evidence it is willing to revisit.</a:t>
            </a:r>
            <a:endParaRPr lang="en-US"/>
          </a:p>
        </p:txBody>
      </p:sp>
      <p:sp>
        <p:nvSpPr>
          <p:cNvPr id="6" name="close-number-0"/>
          <p:cNvSpPr txBox="1"/>
          <p:nvPr/>
        </p:nvSpPr>
        <p:spPr>
          <a:xfrm xmlns:a="http://schemas.openxmlformats.org/drawingml/2006/main">
            <a:off x="1104900" y="3486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DA0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7" name="close-row-rule-0"/>
          <p:cNvSpPr/>
          <p:nvPr/>
        </p:nvSpPr>
        <p:spPr>
          <a:xfrm xmlns:a="http://schemas.openxmlformats.org/drawingml/2006/main">
            <a:off x="2038350" y="36385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label-0"/>
          <p:cNvSpPr txBox="1"/>
          <p:nvPr/>
        </p:nvSpPr>
        <p:spPr>
          <a:xfrm xmlns:a="http://schemas.openxmlformats.org/drawingml/2006/main">
            <a:off x="2190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AFCFD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9" name="close-text-0"/>
          <p:cNvSpPr txBox="1"/>
          <p:nvPr/>
        </p:nvSpPr>
        <p:spPr>
          <a:xfrm xmlns:a="http://schemas.openxmlformats.org/drawingml/2006/main">
            <a:off x="4476750" y="3486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Cash conversion remains positive.</a:t>
            </a:r>
            <a:endParaRPr lang="en-US"/>
          </a:p>
        </p:txBody>
      </p:sp>
      <p:sp>
        <p:nvSpPr>
          <p:cNvPr id="10" name="close-number-1"/>
          <p:cNvSpPr txBox="1"/>
          <p:nvPr/>
        </p:nvSpPr>
        <p:spPr>
          <a:xfrm xmlns:a="http://schemas.openxmlformats.org/drawingml/2006/main">
            <a:off x="1104900" y="45529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DA0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1" name="close-row-rule-1"/>
          <p:cNvSpPr/>
          <p:nvPr/>
        </p:nvSpPr>
        <p:spPr>
          <a:xfrm xmlns:a="http://schemas.openxmlformats.org/drawingml/2006/main">
            <a:off x="2038350" y="47053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lose-label-1"/>
          <p:cNvSpPr txBox="1"/>
          <p:nvPr/>
        </p:nvSpPr>
        <p:spPr>
          <a:xfrm xmlns:a="http://schemas.openxmlformats.org/drawingml/2006/main">
            <a:off x="219075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AFCFD"/>
                </a:solidFill>
                <a:latin typeface="Arial"/>
                <a:ea typeface="Arial"/>
              </a:rPr>
              <a:t>Risk</a:t>
            </a:r>
            <a:endParaRPr lang="en-US"/>
          </a:p>
        </p:txBody>
      </p:sp>
      <p:sp>
        <p:nvSpPr>
          <p:cNvPr id="13" name="close-text-1"/>
          <p:cNvSpPr txBox="1"/>
          <p:nvPr/>
        </p:nvSpPr>
        <p:spPr>
          <a:xfrm xmlns:a="http://schemas.openxmlformats.org/drawingml/2006/main">
            <a:off x="4476750" y="4552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The buffer is below threshold.</a:t>
            </a:r>
            <a:endParaRPr lang="en-US"/>
          </a:p>
        </p:txBody>
      </p:sp>
      <p:sp>
        <p:nvSpPr>
          <p:cNvPr id="14" name="close-number-2"/>
          <p:cNvSpPr txBox="1"/>
          <p:nvPr/>
        </p:nvSpPr>
        <p:spPr>
          <a:xfrm xmlns:a="http://schemas.openxmlformats.org/drawingml/2006/main">
            <a:off x="1104900" y="5619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70508F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5" name="close-row-rule-2"/>
          <p:cNvSpPr/>
          <p:nvPr/>
        </p:nvSpPr>
        <p:spPr>
          <a:xfrm xmlns:a="http://schemas.openxmlformats.org/drawingml/2006/main">
            <a:off x="2038350" y="57721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5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label-2"/>
          <p:cNvSpPr txBox="1"/>
          <p:nvPr/>
        </p:nvSpPr>
        <p:spPr>
          <a:xfrm xmlns:a="http://schemas.openxmlformats.org/drawingml/2006/main">
            <a:off x="2190750" y="5581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AFCFD"/>
                </a:solidFill>
                <a:latin typeface="Arial"/>
                <a:ea typeface="Arial"/>
              </a:rPr>
              <a:t>Decision</a:t>
            </a:r>
            <a:endParaRPr lang="en-US"/>
          </a:p>
        </p:txBody>
      </p:sp>
      <p:sp>
        <p:nvSpPr>
          <p:cNvPr id="17" name="close-text-2"/>
          <p:cNvSpPr txBox="1"/>
          <p:nvPr/>
        </p:nvSpPr>
        <p:spPr>
          <a:xfrm xmlns:a="http://schemas.openxmlformats.org/drawingml/2006/main">
            <a:off x="4476750" y="561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A0B0"/>
                </a:solidFill>
                <a:latin typeface="Arial"/>
                <a:ea typeface="Arial"/>
              </a:rPr>
              <a:t>Release one constrained tranche.</a:t>
            </a:r>
            <a:endParaRPr lang="en-US"/>
          </a:p>
        </p:txBody>
      </p:sp>
      <p:sp>
        <p:nvSpPr>
          <p:cNvPr id="18" name="close-rail"/>
          <p:cNvSpPr/>
          <p:nvPr/>
        </p:nvSpPr>
        <p:spPr>
          <a:xfrm xmlns:a="http://schemas.openxmlformats.org/drawingml/2006/main">
            <a:off x="11163300" y="3276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A0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rail-label"/>
          <p:cNvSpPr txBox="1"/>
          <p:nvPr/>
        </p:nvSpPr>
        <p:spPr>
          <a:xfrm xmlns:a="http://schemas.openxmlformats.org/drawingml/2006/main">
            <a:off x="115252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508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0" name="close-rail-value"/>
          <p:cNvSpPr txBox="1"/>
          <p:nvPr/>
        </p:nvSpPr>
        <p:spPr>
          <a:xfrm xmlns:a="http://schemas.openxmlformats.org/drawingml/2006/main">
            <a:off x="115252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AFCFD"/>
                </a:solidFill>
                <a:latin typeface="Arial"/>
                <a:ea typeface="Arial"/>
              </a:rPr>
              <a:t>Clear the buffer gate</a:t>
            </a:r>
            <a:endParaRPr lang="en-US"/>
          </a:p>
        </p:txBody>
      </p:sp>
      <p:sp>
        <p:nvSpPr>
          <p:cNvPr id="21" name="close-rail-foot"/>
          <p:cNvSpPr txBox="1"/>
          <p:nvPr/>
        </p:nvSpPr>
        <p:spPr>
          <a:xfrm xmlns:a="http://schemas.openxmlformats.org/drawingml/2006/main">
            <a:off x="11525250" y="4953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A0B0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2" name="close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>
              <a:alpha val="10000"/>
            </a:srgbClr>
          </a:solidFill>
          <a:ln xmlns:a="http://schemas.openxmlformats.org/drawingml/2006/main" w="0">
            <a:solidFill>
              <a:srgbClr val="FAFC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close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AFCFD"/>
                </a:solidFill>
                <a:latin typeface="Arial"/>
                <a:ea typeface="Arial"/>
              </a:rPr>
              <a:t>STANCE  ·  Keep the gate visible when the allocation moves.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A0B0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