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officeKit/program.ppj" ContentType="application/vnd.officekit.ppj+json"/>
  <Override PartName="/officeKit/program-map.json" ContentType="application/vnd.officekit.ppj-map+json"/>
</Types>
</file>

<file path=_rels/.rels><?xml version="1.0" encoding="utf-8"?><Relationships xmlns="http://schemas.openxmlformats.org/package/2006/relationships"><Relationship Type="http://schemas.openxmlformats.org/officeDocument/2006/relationships/officeDocument" Target="/ppt/presentation.xml" Id="rIdOfficeKitPresentation" /><Relationship Id="rIdOfficeKitProgram" Type="https://schemas.officekit.dev/relationships/presentation-program" Target="officeKit/program.ppj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notesMasterIdLst>
    <p:notesMasterId xmlns:r="http://schemas.openxmlformats.org/officeDocument/2006/relationships" r:id="rIdNotesMaster1"/>
  </p:notes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  <p:sldId xmlns:r="http://schemas.openxmlformats.org/officeDocument/2006/relationships" id="262" r:id="rIdSlide7"/>
    <p:sldId xmlns:r="http://schemas.openxmlformats.org/officeDocument/2006/relationships" id="263" r:id="rIdSlide8"/>
    <p:sldId xmlns:r="http://schemas.openxmlformats.org/officeDocument/2006/relationships" id="264" r:id="rIdSlide9"/>
    <p:sldId xmlns:r="http://schemas.openxmlformats.org/officeDocument/2006/relationships" id="265" r:id="rIdSlide10"/>
  </p:sldIdLst>
  <p:sldSz cx="12192000" cy="6858000"/>
  <p:notesSz cx="6858000" cy="9144000"/>
  <p:custShowLst>
    <p:custShow name="Board review" id="1">
      <p:sldLst>
        <p:sld xmlns:r="http://schemas.openxmlformats.org/officeDocument/2006/relationships" r:id="rIdSlide1"/>
        <p:sld xmlns:r="http://schemas.openxmlformats.org/officeDocument/2006/relationships" r:id="rIdSlide2"/>
        <p:sld xmlns:r="http://schemas.openxmlformats.org/officeDocument/2006/relationships" r:id="rIdSlide4"/>
        <p:sld xmlns:r="http://schemas.openxmlformats.org/officeDocument/2006/relationships" r:id="rIdSlide6"/>
        <p:sld xmlns:r="http://schemas.openxmlformats.org/officeDocument/2006/relationships" r:id="rIdSlide8"/>
        <p:sld xmlns:r="http://schemas.openxmlformats.org/officeDocument/2006/relationships" r:id="rIdSlide9"/>
        <p:sld xmlns:r="http://schemas.openxmlformats.org/officeDocument/2006/relationships" r:id="rIdSlide10"/>
      </p:sldLst>
    </p:custShow>
  </p:custShowLst>
  <p:defaultTextStyle/>
  <p:extLst>
    <p:ext uri="{521415D9-36F7-43E2-AB2F-B90AF26B5E84}">
      <p14:sectionLst xmlns:p14="http://schemas.microsoft.com/office/powerpoint/2010/main">
        <p14:section name="Decision frame" id="{0771BB0F-02D1-A55A-8D25-43382CF38E28}">
          <p14:sldIdLst>
            <p14:sldId id="256"/>
            <p14:sldId id="257"/>
          </p14:sldIdLst>
        </p14:section>
        <p14:section name="Method" id="{53E4C51F-51DA-EC55-8AD9-180D3637F6E1}">
          <p14:sldIdLst>
            <p14:sldId id="258"/>
            <p14:sldId id="259"/>
            <p14:sldId id="260"/>
          </p14:sldIdLst>
        </p14:section>
        <p14:section name="Evidence" id="{07291FB7-586C-265C-BE87-6B85F69EAB47}">
          <p14:sldIdLst>
            <p14:sldId id="261"/>
            <p14:sldId id="262"/>
            <p14:sldId id="263"/>
          </p14:sldIdLst>
        </p14:section>
        <p14:section name="Decision" id="{D0BFE59E-7E50-F758-9E55-8A85F78B9A37}">
          <p14:sldIdLst>
            <p14:sldId id="264"/>
            <p14:sldId id="265"/>
          </p14:sldIdLst>
        </p14:section>
      </p14:sectionLst>
    </p:ext>
  </p:extLst>
</p:presentation>
</file>

<file path=ppt/commentAuthors.xml><?xml version="1.0" encoding="utf-8"?>
<p:cmAuthorLst xmlns:p="http://schemas.openxmlformats.org/presentationml/2006/main">
  <p:cmAuthor id="0" name="OfficeKit reference" initials="OR" lastIdx="1" clrIdx="0"/>
</p:cmAuthorLst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Relationship Type="http://schemas.openxmlformats.org/officeDocument/2006/relationships/slide" Target="/ppt/slides/slide7.xml" Id="rIdSlide7" /><Relationship Type="http://schemas.openxmlformats.org/officeDocument/2006/relationships/slide" Target="/ppt/slides/slide8.xml" Id="rIdSlide8" /><Relationship Type="http://schemas.openxmlformats.org/officeDocument/2006/relationships/slide" Target="/ppt/slides/slide9.xml" Id="rIdSlide9" /><Relationship Type="http://schemas.openxmlformats.org/officeDocument/2006/relationships/slide" Target="/ppt/slides/slide10.xml" Id="rIdSlide10" /><Relationship Type="http://schemas.openxmlformats.org/officeDocument/2006/relationships/notesMaster" Target="/ppt/notesMasters/notesMaster1.xml" Id="rIdNotesMaster1" /><Relationship Type="http://schemas.openxmlformats.org/officeDocument/2006/relationships/commentAuthors" Target="/ppt/commentAuthors.xml" Id="rIdCommentAuthors" /></Relationships>
</file>

<file path=ppt/comments/comment1.xml><?xml version="1.0" encoding="utf-8"?>
<p:cmLst xmlns:p="http://schemas.openxmlformats.org/presentationml/2006/main">
  <p:cm authorId="0" dt="2026-08-30T00:00:00Z" idx="1">
    <p:pos x="8788400" y="1574800"/>
    <p:text>Replace every synthetic value and re-run review before external use.</p:text>
  </p:cm>
</p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/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1.xml" Id="rIdSlid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2.xml" Id="rIdSlid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3.xml" Id="rIdSlid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4.xml" Id="rIdSlid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5.xml" Id="rIdSlid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6.xml" Id="rIdSlid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7.xml" Id="rIdSlid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8.xml" Id="rIdSlid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9.xml" Id="rIdSlid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10.xml" Id="rIdSlid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Open with the decision, then name the evidence boundary before showing any result.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the three clauses as a single causal claim, then call out the preset rejection rule.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Follow the tree from left to right. Each branch eliminates a weaker design.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table is the audit surface. Read across one row before comparing arms.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timeline is continuous except for the two annotated collection gaps. Do not imply missing weeks.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bars carry the incident-hour evidence. Workload is deliberately moved to the next page to avoid visual obstruction.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line has its own page and axis so it cannot collide with incident-hour labels.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Name uncertainty before the decision. The interval is illustrative, not an inferred operational result.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Move left to right. Each gate is a necessary condition; none is sufficient alone.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on the next action and the three conditions that preserve interpretability.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Office Clean Roo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Evidence Ledg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7F4EC"/>
      </a:accent1>
      <a:accent2>
        <a:srgbClr val="ECE9E1"/>
      </a:accent2>
      <a:accent3>
        <a:srgbClr val="17324D"/>
      </a:accent3>
      <a:accent4>
        <a:srgbClr val="0B8F8F"/>
      </a:accent4>
      <a:accent5>
        <a:srgbClr val="CDE7E4"/>
      </a:accent5>
      <a:accent6>
        <a:srgbClr val="D9A514"/>
      </a:accent6>
      <a:hlink>
        <a:srgbClr val="0000FF"/>
      </a:hlink>
      <a:folHlink>
        <a:srgbClr val="800080"/>
      </a:folHlink>
    </a:clrScheme>
    <a:fontScheme name="Evidence Ledger">
      <a:majorFont>
        <a:latin typeface="Arial"/>
        <a:ea typeface="Arial"/>
        <a:cs typeface="Arial"/>
      </a:majorFont>
      <a:minorFont>
        <a:latin typeface="Georgia"/>
        <a:ea typeface="Georgia"/>
        <a:cs typeface="Georgia"/>
      </a:minorFont>
    </a:fontScheme>
    <a:fmtScheme name="Evidence Led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1.xml" Id="rIdNotes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2.xml" Id="rIdNotes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3.xml" Id="rIdNotes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4.xml" Id="rIdNotes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5.xml" Id="rIdNotes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IdOfficeKitChart7" /><Relationship Type="http://schemas.openxmlformats.org/officeDocument/2006/relationships/notesSlide" Target="/ppt/notesSlides/notesSlide6.xml" Id="rIdNotes1" /><Relationship Type="http://schemas.openxmlformats.org/officeDocument/2006/relationships/comments" Target="/ppt/comments/comment1.xml" Id="rIdComments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2.xml" Id="rIdOfficeKitChart7" /><Relationship Type="http://schemas.openxmlformats.org/officeDocument/2006/relationships/notesSlide" Target="/ppt/notesSlides/notesSlide7.xml" Id="rIdNotes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8.xml" Id="rIdNotes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9.xml" Id="rIdNotes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10.xml" Id="rIdNotes1" /></Relationships>
</file>

<file path=ppt/slides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P1 incident hours</c:v>
          </c:tx>
          <c:spPr>
            <a:solidFill>
              <a:srgbClr val="C9CDD1"/>
            </a:solidFill>
          </c:spPr>
          <c:cat>
            <c:strLit>
              <c:ptCount val="8"/>
              <c:pt idx="0">
                <c:v>24H1</c:v>
              </c:pt>
              <c:pt idx="1">
                <c:v>24H2</c:v>
              </c:pt>
              <c:pt idx="2">
                <c:v>25H1</c:v>
              </c:pt>
              <c:pt idx="3">
                <c:v>25H2</c:v>
              </c:pt>
              <c:pt idx="4">
                <c:v>26H1</c:v>
              </c:pt>
              <c:pt idx="5">
                <c:v>26H2</c:v>
              </c:pt>
              <c:pt idx="6">
                <c:v>27H1</c:v>
              </c:pt>
              <c:pt idx="7">
                <c:v>27H2</c:v>
              </c:pt>
            </c:strLit>
          </c:cat>
          <c:val>
            <c:numLit>
              <c:formatCode>General</c:formatCode>
              <c:ptCount val="8"/>
              <c:pt idx="0">
                <c:v>69</c:v>
              </c:pt>
              <c:pt idx="1">
                <c:v>64</c:v>
              </c:pt>
              <c:pt idx="2">
                <c:v>61</c:v>
              </c:pt>
              <c:pt idx="3">
                <c:v>58</c:v>
              </c:pt>
              <c:pt idx="4">
                <c:v>55</c:v>
              </c:pt>
              <c:pt idx="5">
                <c:v>50</c:v>
              </c:pt>
              <c:pt idx="6">
                <c:v>47</c:v>
              </c:pt>
              <c:pt idx="7">
                <c:v>43</c:v>
              </c:pt>
            </c:numLit>
          </c:val>
        </c:ser>
        <c:dLbls>
          <c:dLblPos val="outEnd"/>
          <c:showVal val="1"/>
          <c:showCatName val="0"/>
          <c:showSerName val="0"/>
        </c:dLbls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plotArea>
      <c:layout/>
      <c:lineChart>
        <c:grouping val="standard"/>
        <c:ser>
          <c:idx val="0"/>
          <c:order val="0"/>
          <c:tx>
            <c:v>Protected workload index</c:v>
          </c:tx>
          <c:spPr>
            <a:solidFill>
              <a:srgbClr val="0B8F8F"/>
            </a:solidFill>
            <a:ln w="38100">
              <a:solidFill>
                <a:srgbClr val="0B8F8F"/>
              </a:solidFill>
              <a:prstDash val="solid"/>
            </a:ln>
          </c:spPr>
          <c:marker>
            <c:symbol val="circle"/>
          </c:marker>
          <c:cat>
            <c:strLit>
              <c:ptCount val="8"/>
              <c:pt idx="0">
                <c:v>24H1</c:v>
              </c:pt>
              <c:pt idx="1">
                <c:v>24H2</c:v>
              </c:pt>
              <c:pt idx="2">
                <c:v>25H1</c:v>
              </c:pt>
              <c:pt idx="3">
                <c:v>25H2</c:v>
              </c:pt>
              <c:pt idx="4">
                <c:v>26H1</c:v>
              </c:pt>
              <c:pt idx="5">
                <c:v>26H2</c:v>
              </c:pt>
              <c:pt idx="6">
                <c:v>27H1</c:v>
              </c:pt>
              <c:pt idx="7">
                <c:v>27H2</c:v>
              </c:pt>
            </c:strLit>
          </c:cat>
          <c:val>
            <c:numLit>
              <c:formatCode>General</c:formatCode>
              <c:ptCount val="8"/>
              <c:pt idx="0">
                <c:v>100</c:v>
              </c:pt>
              <c:pt idx="1">
                <c:v>104</c:v>
              </c:pt>
              <c:pt idx="2">
                <c:v>108</c:v>
              </c:pt>
              <c:pt idx="3">
                <c:v>111</c:v>
              </c:pt>
              <c:pt idx="4">
                <c:v>116</c:v>
              </c:pt>
              <c:pt idx="5">
                <c:v>120</c:v>
              </c:pt>
              <c:pt idx="6">
                <c:v>123</c:v>
              </c:pt>
              <c:pt idx="7">
                <c:v>127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Decision frame">
    <p:bg>
      <p:bgPr>
        <a:solidFill xmlns:a="http://schemas.openxmlformats.org/drawingml/2006/main">
          <a:srgbClr val="F7F4E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1-furniture::ledger-furniture::single::furnitur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81000"/>
            <a:ext cx="10972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1-furniture::ledger-furniture::single::furniture-kicker" descr="Section label"/>
          <p:cNvSpPr txBox="1"/>
          <p:nvPr/>
        </p:nvSpPr>
        <p:spPr>
          <a:xfrm xmlns:a="http://schemas.openxmlformats.org/drawingml/2006/main">
            <a:off x="609600" y="127000"/>
            <a:ext cx="584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PILOT NOTE 06 · RELIABILITY OPERATIONS</a:t>
            </a:r>
            <a:endParaRPr lang="en-US"/>
          </a:p>
        </p:txBody>
      </p:sp>
      <p:sp>
        <p:nvSpPr>
          <p:cNvPr id="4" name="p01-furniture::ledger-furniture::single::furniture-source" descr="Evidence boundary and source"/>
          <p:cNvSpPr txBox="1"/>
          <p:nvPr/>
        </p:nvSpPr>
        <p:spPr>
          <a:xfrm xmlns:a="http://schemas.openxmlformats.org/drawingml/2006/main">
            <a:off x="609600" y="6502400"/>
            <a:ext cx="965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Source · Synthetic OfficeKit calibration ledger, 2026-08-30 · not operational evidence</a:t>
            </a:r>
            <a:endParaRPr lang="en-US"/>
          </a:p>
        </p:txBody>
      </p:sp>
      <p:sp>
        <p:nvSpPr>
          <p:cNvPr id="5" name="p01-furniture::ledger-furniture::single::furniture-folio" descr="Page number"/>
          <p:cNvSpPr txBox="1"/>
          <p:nvPr/>
        </p:nvSpPr>
        <p:spPr>
          <a:xfrm xmlns:a="http://schemas.openxmlformats.org/drawingml/2006/main">
            <a:off x="10896600" y="6502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01 / 10</a:t>
            </a:r>
            <a:endParaRPr lang="en-US"/>
          </a:p>
        </p:txBody>
      </p:sp>
      <p:sp>
        <p:nvSpPr>
          <p:cNvPr id="6" name="title" descr="Reliability pilot title"/>
          <p:cNvSpPr txBox="1"/>
          <p:nvPr/>
        </p:nvSpPr>
        <p:spPr>
          <a:xfrm xmlns:a="http://schemas.openxmlformats.org/drawingml/2006/main">
            <a:off x="609600" y="990600"/>
            <a:ext cx="7239000" cy="154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800">
                <a:solidFill>
                  <a:srgbClr val="17324D"/>
                </a:solidFill>
                <a:latin typeface="Georgia"/>
                <a:ea typeface="Georgia"/>
              </a:rPr>
              <a:t>Battery Dispatch
</a:t>
            </a:r>
            <a:r>
              <a:rPr lang="en-US" sz="3800">
                <a:solidFill>
                  <a:srgbClr val="0B8F8F"/>
                </a:solidFill>
                <a:latin typeface="Georgia"/>
                <a:ea typeface="Georgia"/>
              </a:rPr>
              <a:t>Reliability Pilot</a:t>
            </a:r>
            <a:endParaRPr lang="en-US"/>
          </a:p>
        </p:txBody>
      </p:sp>
      <p:sp>
        <p:nvSpPr>
          <p:cNvPr id="7" name="p01-subtitle" descr="Pilot thesis"/>
          <p:cNvSpPr txBox="1"/>
          <p:nvPr/>
        </p:nvSpPr>
        <p:spPr>
          <a:xfrm xmlns:a="http://schemas.openxmlformats.org/drawingml/2006/main">
            <a:off x="609600" y="28448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B8F8F"/>
                </a:solidFill>
                <a:latin typeface="Arial"/>
                <a:ea typeface="Arial"/>
              </a:rPr>
              <a:t>From peak-risk hypothesis to measured, reversible rollout</a:t>
            </a:r>
            <a:endParaRPr lang="en-US"/>
          </a:p>
        </p:txBody>
      </p:sp>
      <p:sp>
        <p:nvSpPr>
          <p:cNvPr id="8" name="p01-signal-field" descr="Protocol summary field"/>
          <p:cNvSpPr/>
          <p:nvPr/>
        </p:nvSpPr>
        <p:spPr>
          <a:xfrm xmlns:a="http://schemas.openxmlformats.org/drawingml/2006/main">
            <a:off x="8458200" y="965200"/>
            <a:ext cx="3124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7E4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9" name="p01-signal-title" descr="Measured profile label"/>
          <p:cNvSpPr txBox="1"/>
          <p:nvPr/>
        </p:nvSpPr>
        <p:spPr>
          <a:xfrm xmlns:a="http://schemas.openxmlformats.org/drawingml/2006/main">
            <a:off x="8763000" y="1270000"/>
            <a:ext cx="2413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MEASURED PROFILE</a:t>
            </a:r>
            <a:endParaRPr lang="en-US"/>
          </a:p>
        </p:txBody>
      </p:sp>
      <p:sp>
        <p:nvSpPr>
          <p:cNvPr id="10" name="p01-signal-metric" descr="Pilot sites and duration"/>
          <p:cNvSpPr txBox="1"/>
          <p:nvPr/>
        </p:nvSpPr>
        <p:spPr>
          <a:xfrm xmlns:a="http://schemas.openxmlformats.org/drawingml/2006/main">
            <a:off x="8763000" y="1905000"/>
            <a:ext cx="241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900">
                <a:solidFill>
                  <a:srgbClr val="17324D"/>
                </a:solidFill>
                <a:latin typeface="Georgia"/>
                <a:ea typeface="Georgia"/>
              </a:rPr>
              <a:t>12 sites
28 days</a:t>
            </a:r>
            <a:endParaRPr lang="en-US"/>
          </a:p>
        </p:txBody>
      </p:sp>
      <p:sp>
        <p:nvSpPr>
          <p:cNvPr id="11" name="p01-signal-copy" descr="Protocol configuration"/>
          <p:cNvSpPr txBox="1"/>
          <p:nvPr/>
        </p:nvSpPr>
        <p:spPr>
          <a:xfrm xmlns:a="http://schemas.openxmlformats.org/drawingml/2006/main">
            <a:off x="8763000" y="3098800"/>
            <a:ext cx="2413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6 control / 6 pilot
4-week intervention
5 preregistered gates</a:t>
            </a:r>
            <a:endParaRPr lang="en-US"/>
          </a:p>
        </p:txBody>
      </p:sp>
      <p:sp>
        <p:nvSpPr>
          <p:cNvPr id="12" name="p01-claim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4191000"/>
            <a:ext cx="457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51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3" name="p01-claim-label" descr="Claim under test label"/>
          <p:cNvSpPr txBox="1"/>
          <p:nvPr/>
        </p:nvSpPr>
        <p:spPr>
          <a:xfrm xmlns:a="http://schemas.openxmlformats.org/drawingml/2006/main">
            <a:off x="609600" y="4394200"/>
            <a:ext cx="266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CLAIM UNDER TEST</a:t>
            </a:r>
            <a:endParaRPr lang="en-US"/>
          </a:p>
        </p:txBody>
      </p:sp>
      <p:sp>
        <p:nvSpPr>
          <p:cNvPr id="14" name="p01-claim" descr="Falsifiable pilot claim"/>
          <p:cNvSpPr txBox="1"/>
          <p:nvPr/>
        </p:nvSpPr>
        <p:spPr>
          <a:xfrm xmlns:a="http://schemas.openxmlformats.org/drawingml/2006/main">
            <a:off x="609600" y="48006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7324D"/>
                </a:solidFill>
                <a:latin typeface="Arial"/>
                <a:ea typeface="Arial"/>
              </a:rPr>
              <a:t>A four-hour-ahead forecast can reduce evening incident hours without reducing protected workload.</a:t>
            </a:r>
            <a:endParaRPr lang="en-US"/>
          </a:p>
        </p:txBody>
      </p:sp>
    </p:spTree>
  </p:cSld>
  <p:clrMapOvr>
    <a:masterClrMapping xmlns:a="http://schemas.openxmlformats.org/drawingml/2006/main"/>
  </p:clrMapOvr>
  <p:transition xmlns:p14="http://schemas.microsoft.com/office/powerpoint/2010/main" spd="med" p14:dur="320" advClick="1">
    <p:fade/>
  </p:transition>
</p:sld>
</file>

<file path=ppt/slides/slide2.xml><?xml version="1.0" encoding="utf-8"?>
<p:sld xmlns:p="http://schemas.openxmlformats.org/presentationml/2006/main">
  <p:cSld name="Falsifiable hypothesis">
    <p:bg>
      <p:bgPr>
        <a:solidFill xmlns:a="http://schemas.openxmlformats.org/drawingml/2006/main">
          <a:srgbClr val="F7F4E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2-furniture::ledger-furniture::single::furnitur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81000"/>
            <a:ext cx="10972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2-furniture::ledger-furniture::single::furniture-kicker" descr="Section label"/>
          <p:cNvSpPr txBox="1"/>
          <p:nvPr/>
        </p:nvSpPr>
        <p:spPr>
          <a:xfrm xmlns:a="http://schemas.openxmlformats.org/drawingml/2006/main">
            <a:off x="609600" y="127000"/>
            <a:ext cx="584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ANALYSIS FRAME · FALSIFIABLE HYPOTHESIS</a:t>
            </a:r>
            <a:endParaRPr lang="en-US"/>
          </a:p>
        </p:txBody>
      </p:sp>
      <p:sp>
        <p:nvSpPr>
          <p:cNvPr id="4" name="p02-furniture::ledger-furniture::single::furniture-source" descr="Evidence boundary and source"/>
          <p:cNvSpPr txBox="1"/>
          <p:nvPr/>
        </p:nvSpPr>
        <p:spPr>
          <a:xfrm xmlns:a="http://schemas.openxmlformats.org/drawingml/2006/main">
            <a:off x="609600" y="6502400"/>
            <a:ext cx="965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Source · Synthetic OfficeKit calibration protocol, preregistered thresholds</a:t>
            </a:r>
            <a:endParaRPr lang="en-US"/>
          </a:p>
        </p:txBody>
      </p:sp>
      <p:sp>
        <p:nvSpPr>
          <p:cNvPr id="5" name="p02-furniture::ledger-furniture::single::furniture-folio" descr="Page number"/>
          <p:cNvSpPr txBox="1"/>
          <p:nvPr/>
        </p:nvSpPr>
        <p:spPr>
          <a:xfrm xmlns:a="http://schemas.openxmlformats.org/drawingml/2006/main">
            <a:off x="10896600" y="6502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02 / 10</a:t>
            </a:r>
            <a:endParaRPr lang="en-US"/>
          </a:p>
        </p:txBody>
      </p:sp>
      <p:sp>
        <p:nvSpPr>
          <p:cNvPr id="6" name="p02-title" descr="Hypothesis conclusion"/>
          <p:cNvSpPr txBox="1"/>
          <p:nvPr/>
        </p:nvSpPr>
        <p:spPr>
          <a:xfrm xmlns:a="http://schemas.openxmlformats.org/drawingml/2006/main">
            <a:off x="609600" y="736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7324D"/>
                </a:solidFill>
                <a:latin typeface="Arial"/>
                <a:ea typeface="Arial"/>
              </a:rPr>
              <a:t>A useful forecast must change action—not merely predict demand</a:t>
            </a:r>
            <a:endParaRPr lang="en-US"/>
          </a:p>
        </p:txBody>
      </p:sp>
      <p:sp>
        <p:nvSpPr>
          <p:cNvPr id="7" name="p02-if-label" descr="If clause"/>
          <p:cNvSpPr txBox="1"/>
          <p:nvPr/>
        </p:nvSpPr>
        <p:spPr>
          <a:xfrm xmlns:a="http://schemas.openxmlformats.org/drawingml/2006/main">
            <a:off x="609600" y="1955800"/>
            <a:ext cx="9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IF</a:t>
            </a:r>
            <a:endParaRPr lang="en-US"/>
          </a:p>
        </p:txBody>
      </p:sp>
      <p:sp>
        <p:nvSpPr>
          <p:cNvPr id="8" name="p02-if" descr="Intervention clause"/>
          <p:cNvSpPr txBox="1"/>
          <p:nvPr/>
        </p:nvSpPr>
        <p:spPr>
          <a:xfrm xmlns:a="http://schemas.openxmlformats.org/drawingml/2006/main">
            <a:off x="1803400" y="1879600"/>
            <a:ext cx="8813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17324D"/>
                </a:solidFill>
                <a:latin typeface="Georgia"/>
                <a:ea typeface="Georgia"/>
              </a:rPr>
              <a:t>Sites receive a four-hour-ahead peak forecast and a fixed dispatch rule.</a:t>
            </a:r>
            <a:endParaRPr lang="en-US"/>
          </a:p>
        </p:txBody>
      </p:sp>
      <p:sp>
        <p:nvSpPr>
          <p:cNvPr id="9" name="p02-if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1803400" y="2514600"/>
            <a:ext cx="8813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0" name="p02-then-label" descr="Then clause"/>
          <p:cNvSpPr txBox="1"/>
          <p:nvPr/>
        </p:nvSpPr>
        <p:spPr>
          <a:xfrm xmlns:a="http://schemas.openxmlformats.org/drawingml/2006/main">
            <a:off x="609600" y="2946400"/>
            <a:ext cx="9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THEN</a:t>
            </a:r>
            <a:endParaRPr lang="en-US"/>
          </a:p>
        </p:txBody>
      </p:sp>
      <p:sp>
        <p:nvSpPr>
          <p:cNvPr id="11" name="p02-then" descr="Outcome clause"/>
          <p:cNvSpPr txBox="1"/>
          <p:nvPr/>
        </p:nvSpPr>
        <p:spPr>
          <a:xfrm xmlns:a="http://schemas.openxmlformats.org/drawingml/2006/main">
            <a:off x="1803400" y="2870200"/>
            <a:ext cx="8813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17324D"/>
                </a:solidFill>
                <a:latin typeface="Georgia"/>
                <a:ea typeface="Georgia"/>
              </a:rPr>
              <a:t>Evening incident hours decline while protected workload remains at or above baseline.</a:t>
            </a:r>
            <a:endParaRPr lang="en-US"/>
          </a:p>
        </p:txBody>
      </p:sp>
      <p:sp>
        <p:nvSpPr>
          <p:cNvPr id="12" name="p02-then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1803400" y="3505200"/>
            <a:ext cx="8813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3" name="p02-because-label" descr="Because clause"/>
          <p:cNvSpPr txBox="1"/>
          <p:nvPr/>
        </p:nvSpPr>
        <p:spPr>
          <a:xfrm xmlns:a="http://schemas.openxmlformats.org/drawingml/2006/main">
            <a:off x="609600" y="3937000"/>
            <a:ext cx="9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BECAUSE</a:t>
            </a:r>
            <a:endParaRPr lang="en-US"/>
          </a:p>
        </p:txBody>
      </p:sp>
      <p:sp>
        <p:nvSpPr>
          <p:cNvPr id="14" name="p02-because" descr="Mechanism clause"/>
          <p:cNvSpPr txBox="1"/>
          <p:nvPr/>
        </p:nvSpPr>
        <p:spPr>
          <a:xfrm xmlns:a="http://schemas.openxmlformats.org/drawingml/2006/main">
            <a:off x="1803400" y="3860800"/>
            <a:ext cx="8813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17324D"/>
                </a:solidFill>
                <a:latin typeface="Georgia"/>
                <a:ea typeface="Georgia"/>
              </a:rPr>
              <a:t>Earlier dispatch shifts battery capacity into the narrow peak-risk window.</a:t>
            </a:r>
            <a:endParaRPr lang="en-US"/>
          </a:p>
        </p:txBody>
      </p:sp>
      <p:sp>
        <p:nvSpPr>
          <p:cNvPr id="15" name="p02-reject-field" descr="Preset rejection rule"/>
          <p:cNvSpPr/>
          <p:nvPr/>
        </p:nvSpPr>
        <p:spPr>
          <a:xfrm xmlns:a="http://schemas.openxmlformats.org/drawingml/2006/main">
            <a:off x="609600" y="4953000"/>
            <a:ext cx="10972800" cy="93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101600" rIns="228600" bIns="101600" anchor="ctr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324D"/>
                </a:solidFill>
                <a:latin typeface="Arial"/>
                <a:ea typeface="Arial"/>
              </a:rPr>
              <a:t>PRESET REJECTION RULE  ·  Reject if the 95% CI crosses zero, protected workload falls, or severity shifts to lower tiers.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Method choice">
    <p:bg>
      <p:bgPr>
        <a:solidFill xmlns:a="http://schemas.openxmlformats.org/drawingml/2006/main">
          <a:srgbClr val="F7F4E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3-furniture::ledger-furniture::single::furnitur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81000"/>
            <a:ext cx="10972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3-furniture::ledger-furniture::single::furniture-kicker" descr="Section label"/>
          <p:cNvSpPr txBox="1"/>
          <p:nvPr/>
        </p:nvSpPr>
        <p:spPr>
          <a:xfrm xmlns:a="http://schemas.openxmlformats.org/drawingml/2006/main">
            <a:off x="609600" y="127000"/>
            <a:ext cx="584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METHOD CHOICE · TWO QUESTIONS, THREE LEVELS MAX</a:t>
            </a:r>
            <a:endParaRPr lang="en-US"/>
          </a:p>
        </p:txBody>
      </p:sp>
      <p:sp>
        <p:nvSpPr>
          <p:cNvPr id="4" name="p03-furniture::ledger-furniture::single::furniture-source" descr="Evidence boundary and source"/>
          <p:cNvSpPr txBox="1"/>
          <p:nvPr/>
        </p:nvSpPr>
        <p:spPr>
          <a:xfrm xmlns:a="http://schemas.openxmlformats.org/drawingml/2006/main">
            <a:off x="609600" y="6502400"/>
            <a:ext cx="965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Source · Synthetic OfficeKit calibration protocol · assignment logic</a:t>
            </a:r>
            <a:endParaRPr lang="en-US"/>
          </a:p>
        </p:txBody>
      </p:sp>
      <p:sp>
        <p:nvSpPr>
          <p:cNvPr id="5" name="p03-furniture::ledger-furniture::single::furniture-folio" descr="Page number"/>
          <p:cNvSpPr txBox="1"/>
          <p:nvPr/>
        </p:nvSpPr>
        <p:spPr>
          <a:xfrm xmlns:a="http://schemas.openxmlformats.org/drawingml/2006/main">
            <a:off x="10896600" y="6502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03 / 10</a:t>
            </a:r>
            <a:endParaRPr lang="en-US"/>
          </a:p>
        </p:txBody>
      </p:sp>
      <p:sp>
        <p:nvSpPr>
          <p:cNvPr id="6" name="p03-title" descr="Method selection conclusion"/>
          <p:cNvSpPr txBox="1"/>
          <p:nvPr/>
        </p:nvSpPr>
        <p:spPr>
          <a:xfrm xmlns:a="http://schemas.openxmlformats.org/drawingml/2006/main">
            <a:off x="609600" y="736600"/>
            <a:ext cx="1097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7324D"/>
                </a:solidFill>
                <a:latin typeface="Arial"/>
                <a:ea typeface="Arial"/>
              </a:rPr>
              <a:t>Stratify first; randomize second; stop before the method outruns the sample</a:t>
            </a:r>
            <a:endParaRPr lang="en-US"/>
          </a:p>
        </p:txBody>
      </p:sp>
      <p:sp>
        <p:nvSpPr>
          <p:cNvPr id="7" name="p03-method-copy" descr="Method rationale"/>
          <p:cNvSpPr txBox="1"/>
          <p:nvPr/>
        </p:nvSpPr>
        <p:spPr>
          <a:xfrm xmlns:a="http://schemas.openxmlformats.org/drawingml/2006/main">
            <a:off x="609600" y="1727200"/>
            <a:ext cx="3302000" cy="132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Four methods appear only as leaves. Each branch answers an exclusion reason and remains readable without animation.
Selected: stratified randomization by baseline risk and floor mix.</a:t>
            </a:r>
            <a:endParaRPr lang="en-US"/>
          </a:p>
        </p:txBody>
      </p:sp>
      <p:sp>
        <p:nvSpPr>
          <p:cNvPr id="8" name="p03-q1" descr="First method question"/>
          <p:cNvSpPr/>
          <p:nvPr/>
        </p:nvSpPr>
        <p:spPr>
          <a:xfrm xmlns:a="http://schemas.openxmlformats.org/drawingml/2006/main">
            <a:off x="4851400" y="1676400"/>
            <a:ext cx="1600200" cy="889000"/>
          </a:xfrm>
          <a:prstGeom xmlns:a="http://schemas.openxmlformats.org/drawingml/2006/main" prst="flowChartDecision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15240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7324D"/>
                </a:solidFill>
                <a:latin typeface="Arial"/>
                <a:ea typeface="Arial"/>
              </a:rPr>
              <a:t>Must all launch at once?</a:t>
            </a:r>
            <a:endParaRPr lang="en-US"/>
          </a:p>
        </p:txBody>
      </p:sp>
      <p:sp>
        <p:nvSpPr>
          <p:cNvPr id="9" name="p03-before-after" descr="Rejected before-after method"/>
          <p:cNvSpPr txBox="1"/>
          <p:nvPr/>
        </p:nvSpPr>
        <p:spPr>
          <a:xfrm xmlns:a="http://schemas.openxmlformats.org/drawingml/2006/main">
            <a:off x="7620000" y="1422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Before–after  ·  rejected
Seasonal risk remains uncontrolled</a:t>
            </a:r>
            <a:endParaRPr lang="en-US"/>
          </a:p>
        </p:txBody>
      </p:sp>
      <p:sp>
        <p:nvSpPr>
          <p:cNvPr id="10" name="p03-q2" descr="Second method question"/>
          <p:cNvSpPr/>
          <p:nvPr/>
        </p:nvSpPr>
        <p:spPr>
          <a:xfrm xmlns:a="http://schemas.openxmlformats.org/drawingml/2006/main">
            <a:off x="6959600" y="3149600"/>
            <a:ext cx="1600200" cy="889000"/>
          </a:xfrm>
          <a:prstGeom xmlns:a="http://schemas.openxmlformats.org/drawingml/2006/main" prst="flowChartDecision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15240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7324D"/>
                </a:solidFill>
                <a:latin typeface="Arial"/>
                <a:ea typeface="Arial"/>
              </a:rPr>
              <a:t>Do baseline risks differ?</a:t>
            </a:r>
            <a:endParaRPr lang="en-US"/>
          </a:p>
        </p:txBody>
      </p:sp>
      <p:sp>
        <p:nvSpPr>
          <p:cNvPr id="11" name="p03-simple" descr="Rejected simple random method"/>
          <p:cNvSpPr txBox="1"/>
          <p:nvPr/>
        </p:nvSpPr>
        <p:spPr>
          <a:xfrm xmlns:a="http://schemas.openxmlformats.org/drawingml/2006/main">
            <a:off x="9499600" y="2768600"/>
            <a:ext cx="208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Simple random  ·  rejected
Risk mix differs by site</a:t>
            </a:r>
            <a:endParaRPr lang="en-US"/>
          </a:p>
        </p:txBody>
      </p:sp>
      <p:sp>
        <p:nvSpPr>
          <p:cNvPr id="12" name="p03-selected" descr="Selected stratified assignment"/>
          <p:cNvSpPr/>
          <p:nvPr/>
        </p:nvSpPr>
        <p:spPr>
          <a:xfrm xmlns:a="http://schemas.openxmlformats.org/drawingml/2006/main">
            <a:off x="9017000" y="4470400"/>
            <a:ext cx="256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7E4"/>
          </a:solidFill>
          <a:ln xmlns:a="http://schemas.openxmlformats.org/drawingml/2006/main" w="19050">
            <a:solidFill>
              <a:srgbClr val="0B8F8F"/>
            </a:solidFill>
            <a:prstDash val="solid"/>
          </a:ln>
        </p:spPr>
        <p:txBody>
          <a:bodyPr xmlns:a="http://schemas.openxmlformats.org/drawingml/2006/main" lIns="152400" tIns="101600" rIns="152400" bIns="101600" anchor="ctr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324D"/>
                </a:solidFill>
                <a:latin typeface="Arial"/>
                <a:ea typeface="Arial"/>
              </a:rPr>
              <a:t>SELECTED
Stratified randomization</a:t>
            </a:r>
            <a:endParaRPr lang="en-US"/>
          </a:p>
        </p:txBody>
      </p:sp>
      <p:cxnSp>
        <p:nvCxnSpPr>
          <p:cNvPr id="13" name="p03-link-q1-reject" descr="No branch to before-after rejection"/>
          <p:cNvCxnSpPr/>
          <p:nvPr/>
        </p:nvCxnSpPr>
        <p:spPr>
          <a:xfrm xmlns:a="http://schemas.openxmlformats.org/drawingml/2006/main" flipH="0" flipV="0">
            <a:off x="6451600" y="1803400"/>
            <a:ext cx="1168400" cy="0"/>
          </a:xfrm>
          <a:prstGeom xmlns:a="http://schemas.openxmlformats.org/drawingml/2006/main" prst="bentConnector3">
            <a:avLst/>
          </a:prstGeom>
          <a:ln xmlns:a="http://schemas.openxmlformats.org/drawingml/2006/main" w="15240">
            <a:solidFill>
              <a:srgbClr val="64788B"/>
            </a:solidFill>
            <a:tailEnd type="triangle"/>
          </a:ln>
        </p:spPr>
      </p:cxnSp>
      <p:cxnSp>
        <p:nvCxnSpPr>
          <p:cNvPr id="14" name="p03-link-q1-q2" descr="No branch to second question"/>
          <p:cNvCxnSpPr/>
          <p:nvPr/>
        </p:nvCxnSpPr>
        <p:spPr>
          <a:xfrm xmlns:a="http://schemas.openxmlformats.org/drawingml/2006/main" flipH="0" flipV="0">
            <a:off x="5588000" y="3086100"/>
            <a:ext cx="1371600" cy="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17324D"/>
            </a:solidFill>
            <a:tailEnd type="triangle"/>
          </a:ln>
        </p:spPr>
      </p:cxnSp>
      <p:cxnSp>
        <p:nvCxnSpPr>
          <p:cNvPr id="15" name="p03-link-q2-simple" descr="No branch to simple random rejection"/>
          <p:cNvCxnSpPr/>
          <p:nvPr/>
        </p:nvCxnSpPr>
        <p:spPr>
          <a:xfrm xmlns:a="http://schemas.openxmlformats.org/drawingml/2006/main" flipH="0" flipV="0">
            <a:off x="8559800" y="3263900"/>
            <a:ext cx="939800" cy="0"/>
          </a:xfrm>
          <a:prstGeom xmlns:a="http://schemas.openxmlformats.org/drawingml/2006/main" prst="bentConnector3">
            <a:avLst/>
          </a:prstGeom>
          <a:ln xmlns:a="http://schemas.openxmlformats.org/drawingml/2006/main" w="15240">
            <a:solidFill>
              <a:srgbClr val="64788B"/>
            </a:solidFill>
            <a:tailEnd type="triangle"/>
          </a:ln>
        </p:spPr>
      </p:cxnSp>
      <p:cxnSp>
        <p:nvCxnSpPr>
          <p:cNvPr id="16" name="p03-link-q2-selected" descr="Yes branch to stratified assignment"/>
          <p:cNvCxnSpPr/>
          <p:nvPr/>
        </p:nvCxnSpPr>
        <p:spPr>
          <a:xfrm xmlns:a="http://schemas.openxmlformats.org/drawingml/2006/main" flipH="0" flipV="0">
            <a:off x="7747000" y="4483100"/>
            <a:ext cx="1270000" cy="0"/>
          </a:xfrm>
          <a:prstGeom xmlns:a="http://schemas.openxmlformats.org/drawingml/2006/main" prst="bentConnector3">
            <a:avLst/>
          </a:prstGeom>
          <a:ln xmlns:a="http://schemas.openxmlformats.org/drawingml/2006/main" w="22860">
            <a:solidFill>
              <a:srgbClr val="0B8F8F"/>
            </a:solidFill>
            <a:tailEnd type="triangle"/>
          </a:ln>
        </p:spPr>
      </p:cxnSp>
      <p:sp>
        <p:nvSpPr>
          <p:cNvPr id="17" name="p03-branch-q1-yes" descr="Yes branch"/>
          <p:cNvSpPr txBox="1"/>
          <p:nvPr/>
        </p:nvSpPr>
        <p:spPr>
          <a:xfrm xmlns:a="http://schemas.openxmlformats.org/drawingml/2006/main">
            <a:off x="6832600" y="1422400"/>
            <a:ext cx="533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YES</a:t>
            </a:r>
            <a:endParaRPr lang="en-US"/>
          </a:p>
        </p:txBody>
      </p:sp>
      <p:sp>
        <p:nvSpPr>
          <p:cNvPr id="18" name="p03-branch-q1-no" descr="No branch"/>
          <p:cNvSpPr txBox="1"/>
          <p:nvPr/>
        </p:nvSpPr>
        <p:spPr>
          <a:xfrm xmlns:a="http://schemas.openxmlformats.org/drawingml/2006/main">
            <a:off x="6070600" y="2844800"/>
            <a:ext cx="533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NO</a:t>
            </a:r>
            <a:endParaRPr lang="en-US"/>
          </a:p>
        </p:txBody>
      </p:sp>
      <p:sp>
        <p:nvSpPr>
          <p:cNvPr id="19" name="p03-branch-q2-no" descr="No branch"/>
          <p:cNvSpPr txBox="1"/>
          <p:nvPr/>
        </p:nvSpPr>
        <p:spPr>
          <a:xfrm xmlns:a="http://schemas.openxmlformats.org/drawingml/2006/main">
            <a:off x="8839200" y="2895600"/>
            <a:ext cx="533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NO</a:t>
            </a:r>
            <a:endParaRPr lang="en-US"/>
          </a:p>
        </p:txBody>
      </p:sp>
      <p:sp>
        <p:nvSpPr>
          <p:cNvPr id="20" name="p03-branch-q2-yes" descr="Yes branch"/>
          <p:cNvSpPr txBox="1"/>
          <p:nvPr/>
        </p:nvSpPr>
        <p:spPr>
          <a:xfrm xmlns:a="http://schemas.openxmlformats.org/drawingml/2006/main">
            <a:off x="8229600" y="4292600"/>
            <a:ext cx="533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YES</a:t>
            </a:r>
            <a:endParaRPr lang="en-US"/>
          </a:p>
        </p:txBody>
      </p:sp>
      <p:sp>
        <p:nvSpPr>
          <p:cNvPr id="21" name="p03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54610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22" name="p03-footnote" descr="Method limit"/>
          <p:cNvSpPr txBox="1"/>
          <p:nvPr/>
        </p:nvSpPr>
        <p:spPr>
          <a:xfrm xmlns:a="http://schemas.openxmlformats.org/drawingml/2006/main">
            <a:off x="609600" y="5664200"/>
            <a:ext cx="1097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Method limit · 12 sites support two strata and one treatment factor. More branches would exceed the sample's useful resolution.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Experiment design">
    <p:bg>
      <p:bgPr>
        <a:solidFill xmlns:a="http://schemas.openxmlformats.org/drawingml/2006/main">
          <a:srgbClr val="F7F4E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4-furniture::ledger-furniture::single::furnitur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81000"/>
            <a:ext cx="10972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4-furniture::ledger-furniture::single::furniture-kicker" descr="Section label"/>
          <p:cNvSpPr txBox="1"/>
          <p:nvPr/>
        </p:nvSpPr>
        <p:spPr>
          <a:xfrm xmlns:a="http://schemas.openxmlformats.org/drawingml/2006/main">
            <a:off x="609600" y="127000"/>
            <a:ext cx="584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EXPERIMENT DESIGN · 12 SITES, TWO ARMS</a:t>
            </a:r>
            <a:endParaRPr lang="en-US"/>
          </a:p>
        </p:txBody>
      </p:sp>
      <p:sp>
        <p:nvSpPr>
          <p:cNvPr id="4" name="p04-furniture::ledger-furniture::single::furniture-source" descr="Evidence boundary and source"/>
          <p:cNvSpPr txBox="1"/>
          <p:nvPr/>
        </p:nvSpPr>
        <p:spPr>
          <a:xfrm xmlns:a="http://schemas.openxmlformats.org/drawingml/2006/main">
            <a:off x="609600" y="6502400"/>
            <a:ext cx="965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Source · Synthetic OfficeKit calibration protocol · design matrix</a:t>
            </a:r>
            <a:endParaRPr lang="en-US"/>
          </a:p>
        </p:txBody>
      </p:sp>
      <p:sp>
        <p:nvSpPr>
          <p:cNvPr id="5" name="p04-furniture::ledger-furniture::single::furniture-folio" descr="Page number"/>
          <p:cNvSpPr txBox="1"/>
          <p:nvPr/>
        </p:nvSpPr>
        <p:spPr>
          <a:xfrm xmlns:a="http://schemas.openxmlformats.org/drawingml/2006/main">
            <a:off x="10896600" y="6502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04 / 10</a:t>
            </a:r>
            <a:endParaRPr lang="en-US"/>
          </a:p>
        </p:txBody>
      </p:sp>
      <p:sp>
        <p:nvSpPr>
          <p:cNvPr id="6" name="p04-title" descr="Experiment design conclusion"/>
          <p:cNvSpPr txBox="1"/>
          <p:nvPr/>
        </p:nvSpPr>
        <p:spPr>
          <a:xfrm xmlns:a="http://schemas.openxmlformats.org/drawingml/2006/main">
            <a:off x="609600" y="736600"/>
            <a:ext cx="1097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7324D"/>
                </a:solidFill>
                <a:latin typeface="Arial"/>
                <a:ea typeface="Arial"/>
              </a:rPr>
              <a:t>Two matched arms isolate one variable: the points-based dispatch rule</a:t>
            </a:r>
            <a:endParaRPr lang="en-US"/>
          </a:p>
        </p:txBody>
      </p:sp>
      <p:graphicFrame>
        <p:nvGraphicFramePr>
          <p:cNvPr id="7" name="experiment design matrix" descr="Matched control and treatment arm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09600" y="1727200"/>
          <a:ext xmlns:a="http://schemas.openxmlformats.org/drawingml/2006/main" cx="10972800" cy="2489200"/>
        </p:xfrm>
        <a:graphic xmlns:a="http://schemas.openxmlformats.org/drawingml/2006/main">
          <a:graphicData uri="http://schemas.openxmlformats.org/drawingml/2006/table">
            <a:tbl>
              <a:tblPr firstRow="1" firstCol="1" lastCol="0" bandRow="0" bandCol="0"/>
              <a:tblGrid>
                <a:gridCol w="1397000"/>
                <a:gridCol w="2159000"/>
                <a:gridCol w="1841500"/>
                <a:gridCol w="1714500"/>
                <a:gridCol w="1841500"/>
                <a:gridCol w="2019300"/>
              </a:tblGrid>
              <a:tr h="678873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Arm / n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Dispatch rule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Baseline risk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Floor mix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Pickup frequency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Operating notices</a:t>
                      </a:r>
                      <a:endParaRPr lang="en-US" sz="1350"/>
                    </a:p>
                  </a:txBody>
                  <a:tcPr>
                    <a:noFill/>
                  </a:tcPr>
                </a:tc>
              </a:tr>
              <a:tr h="905164"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Control · 6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Existing threshold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Matched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50 / 50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Same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Same</a:t>
                      </a:r>
                      <a:endParaRPr lang="en-US" sz="1350"/>
                    </a:p>
                  </a:txBody>
                  <a:tcPr>
                    <a:noFill/>
                  </a:tcPr>
                </a:tc>
              </a:tr>
              <a:tr h="905163"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Treatment · 6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Forecast + points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Matched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50 / 50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Same</a:t>
                      </a:r>
                      <a:endParaRPr lang="en-US" sz="135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rgbClr val="17324D"/>
                          </a:solidFill>
                          <a:latin typeface="Arial"/>
                          <a:ea typeface="Arial"/>
                        </a:rPr>
                        <a:t>Same</a:t>
                      </a:r>
                      <a:endParaRPr lang="en-US" sz="135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p04-read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4597400"/>
            <a:ext cx="457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51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9" name="p04-read" descr="Design read-through"/>
          <p:cNvSpPr txBox="1"/>
          <p:nvPr/>
        </p:nvSpPr>
        <p:spPr>
          <a:xfrm xmlns:a="http://schemas.openxmlformats.org/drawingml/2006/main">
            <a:off x="609600" y="4826000"/>
            <a:ext cx="109728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READ-THROUGH
Risk mix, floor mix, pickup frequency, and operating notices are matched. Any measured difference is attributable to the single changed dispatch rule within the limits of this synthetic design.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Measurement timeline">
    <p:bg>
      <p:bgPr>
        <a:solidFill xmlns:a="http://schemas.openxmlformats.org/drawingml/2006/main">
          <a:srgbClr val="F7F4E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5-furniture::ledger-furniture::single::furnitur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81000"/>
            <a:ext cx="10972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5-furniture::ledger-furniture::single::furniture-kicker" descr="Section label"/>
          <p:cNvSpPr txBox="1"/>
          <p:nvPr/>
        </p:nvSpPr>
        <p:spPr>
          <a:xfrm xmlns:a="http://schemas.openxmlformats.org/drawingml/2006/main">
            <a:off x="609600" y="127000"/>
            <a:ext cx="584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MEASURES &amp; DEFINITIONS · ELEVEN-WEEK LEDGER</a:t>
            </a:r>
            <a:endParaRPr lang="en-US"/>
          </a:p>
        </p:txBody>
      </p:sp>
      <p:sp>
        <p:nvSpPr>
          <p:cNvPr id="4" name="p05-furniture::ledger-furniture::single::furniture-source" descr="Evidence boundary and source"/>
          <p:cNvSpPr txBox="1"/>
          <p:nvPr/>
        </p:nvSpPr>
        <p:spPr>
          <a:xfrm xmlns:a="http://schemas.openxmlformats.org/drawingml/2006/main">
            <a:off x="609600" y="6502400"/>
            <a:ext cx="965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Source · Synthetic OfficeKit calibration protocol · timing and exclusions</a:t>
            </a:r>
            <a:endParaRPr lang="en-US"/>
          </a:p>
        </p:txBody>
      </p:sp>
      <p:sp>
        <p:nvSpPr>
          <p:cNvPr id="5" name="p05-furniture::ledger-furniture::single::furniture-folio" descr="Page number"/>
          <p:cNvSpPr txBox="1"/>
          <p:nvPr/>
        </p:nvSpPr>
        <p:spPr>
          <a:xfrm xmlns:a="http://schemas.openxmlformats.org/drawingml/2006/main">
            <a:off x="10896600" y="6502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05 / 10</a:t>
            </a:r>
            <a:endParaRPr lang="en-US"/>
          </a:p>
        </p:txBody>
      </p:sp>
      <p:sp>
        <p:nvSpPr>
          <p:cNvPr id="6" name="p05-title" descr="Timeline conclusion"/>
          <p:cNvSpPr txBox="1"/>
          <p:nvPr/>
        </p:nvSpPr>
        <p:spPr>
          <a:xfrm xmlns:a="http://schemas.openxmlformats.org/drawingml/2006/main">
            <a:off x="609600" y="736600"/>
            <a:ext cx="1097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7324D"/>
                </a:solidFill>
                <a:latin typeface="Arial"/>
                <a:ea typeface="Arial"/>
              </a:rPr>
              <a:t>Measure three weeks before, four weeks during, and one week after</a:t>
            </a:r>
            <a:endParaRPr lang="en-US"/>
          </a:p>
        </p:txBody>
      </p:sp>
      <p:sp>
        <p:nvSpPr>
          <p:cNvPr id="7" name="p05-axis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939800" y="3327400"/>
            <a:ext cx="1026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8" name="p05-baseline" descr="Three-week baseline"/>
          <p:cNvSpPr/>
          <p:nvPr/>
        </p:nvSpPr>
        <p:spPr>
          <a:xfrm xmlns:a="http://schemas.openxmlformats.org/drawingml/2006/main">
            <a:off x="939800" y="2870200"/>
            <a:ext cx="279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7324D"/>
                </a:solidFill>
                <a:latin typeface="Arial"/>
                <a:ea typeface="Arial"/>
              </a:rPr>
              <a:t>BASELINE · 3 weeks</a:t>
            </a:r>
            <a:endParaRPr lang="en-US"/>
          </a:p>
        </p:txBody>
      </p:sp>
      <p:sp>
        <p:nvSpPr>
          <p:cNvPr id="9" name="p05-intervention" descr="Four-week intervention"/>
          <p:cNvSpPr/>
          <p:nvPr/>
        </p:nvSpPr>
        <p:spPr>
          <a:xfrm xmlns:a="http://schemas.openxmlformats.org/drawingml/2006/main">
            <a:off x="4140200" y="2641600"/>
            <a:ext cx="426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  <a:latin typeface="Arial"/>
                <a:ea typeface="Arial"/>
              </a:rPr>
              <a:t>INTERVENTION · 4 weeks</a:t>
            </a:r>
            <a:endParaRPr lang="en-US"/>
          </a:p>
        </p:txBody>
      </p:sp>
      <p:sp>
        <p:nvSpPr>
          <p:cNvPr id="10" name="p05-followup" descr="One-week follow-up"/>
          <p:cNvSpPr/>
          <p:nvPr/>
        </p:nvSpPr>
        <p:spPr>
          <a:xfrm xmlns:a="http://schemas.openxmlformats.org/drawingml/2006/main">
            <a:off x="8813800" y="2870200"/>
            <a:ext cx="238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51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7324D"/>
                </a:solidFill>
                <a:latin typeface="Arial"/>
                <a:ea typeface="Arial"/>
              </a:rPr>
              <a:t>FOLLOW-UP · 1 week</a:t>
            </a:r>
            <a:endParaRPr lang="en-US"/>
          </a:p>
        </p:txBody>
      </p:sp>
      <p:sp>
        <p:nvSpPr>
          <p:cNvPr id="11" name="p05-weeks" descr="Week labels"/>
          <p:cNvSpPr txBox="1"/>
          <p:nvPr/>
        </p:nvSpPr>
        <p:spPr>
          <a:xfrm xmlns:a="http://schemas.openxmlformats.org/drawingml/2006/main">
            <a:off x="939800" y="3530600"/>
            <a:ext cx="102616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B−3       B−2       B−1       V1       V2       V3       V4       F+1</a:t>
            </a:r>
            <a:endParaRPr lang="en-US"/>
          </a:p>
        </p:txBody>
      </p:sp>
      <p:sp>
        <p:nvSpPr>
          <p:cNvPr id="12" name="p05-gap-1" descr="Data collection freeze between baseline and intervention"/>
          <p:cNvSpPr/>
          <p:nvPr/>
        </p:nvSpPr>
        <p:spPr>
          <a:xfrm xmlns:a="http://schemas.openxmlformats.org/drawingml/2006/main">
            <a:off x="3810000" y="3098800"/>
            <a:ext cx="22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D"/>
                </a:solidFill>
                <a:latin typeface="Arial"/>
                <a:ea typeface="Arial"/>
              </a:rPr>
              <a:t>//</a:t>
            </a:r>
            <a:endParaRPr lang="en-US"/>
          </a:p>
        </p:txBody>
      </p:sp>
      <p:sp>
        <p:nvSpPr>
          <p:cNvPr id="13" name="p05-gap-2" descr="Data collection freeze before follow-up"/>
          <p:cNvSpPr/>
          <p:nvPr/>
        </p:nvSpPr>
        <p:spPr>
          <a:xfrm xmlns:a="http://schemas.openxmlformats.org/drawingml/2006/main">
            <a:off x="8483600" y="3098800"/>
            <a:ext cx="22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D"/>
                </a:solidFill>
                <a:latin typeface="Arial"/>
                <a:ea typeface="Arial"/>
              </a:rPr>
              <a:t>//</a:t>
            </a:r>
            <a:endParaRPr lang="en-US"/>
          </a:p>
        </p:txBody>
      </p:sp>
      <p:sp>
        <p:nvSpPr>
          <p:cNvPr id="14" name="p05-rules" descr="Timing rules"/>
          <p:cNvSpPr txBox="1"/>
          <p:nvPr/>
        </p:nvSpPr>
        <p:spPr>
          <a:xfrm xmlns:a="http://schemas.openxmlformats.org/drawingml/2006/main">
            <a:off x="939800" y="4521200"/>
            <a:ext cx="102616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RULE 1 · A site must contribute at least 2 complete baseline days and 2 complete intervention days per week.
RULE 2 · Exam-week anomaly is excluded before assignment, not after seeing results.
RULE 3 · The same severity taxonomy and workload definition apply across all eleven weeks.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Incident hours">
    <p:bg>
      <p:bgPr>
        <a:solidFill xmlns:a="http://schemas.openxmlformats.org/drawingml/2006/main">
          <a:srgbClr val="F7F4E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6-furniture::ledger-furniture::single::furnitur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81000"/>
            <a:ext cx="10972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6-furniture::ledger-furniture::single::furniture-kicker" descr="Section label"/>
          <p:cNvSpPr txBox="1"/>
          <p:nvPr/>
        </p:nvSpPr>
        <p:spPr>
          <a:xfrm xmlns:a="http://schemas.openxmlformats.org/drawingml/2006/main">
            <a:off x="609600" y="127000"/>
            <a:ext cx="584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PRIMARY OUTCOME · INCIDENT HOURS</a:t>
            </a:r>
            <a:endParaRPr lang="en-US"/>
          </a:p>
        </p:txBody>
      </p:sp>
      <p:sp>
        <p:nvSpPr>
          <p:cNvPr id="4" name="p06-furniture::ledger-furniture::single::furniture-source" descr="Evidence boundary and source"/>
          <p:cNvSpPr txBox="1"/>
          <p:nvPr/>
        </p:nvSpPr>
        <p:spPr>
          <a:xfrm xmlns:a="http://schemas.openxmlformats.org/drawingml/2006/main">
            <a:off x="609600" y="6502400"/>
            <a:ext cx="965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Source · Synthetic OfficeKit calibration ledger · values are illustrative</a:t>
            </a:r>
            <a:endParaRPr lang="en-US"/>
          </a:p>
        </p:txBody>
      </p:sp>
      <p:sp>
        <p:nvSpPr>
          <p:cNvPr id="5" name="p06-furniture::ledger-furniture::single::furniture-folio" descr="Page number"/>
          <p:cNvSpPr txBox="1"/>
          <p:nvPr/>
        </p:nvSpPr>
        <p:spPr>
          <a:xfrm xmlns:a="http://schemas.openxmlformats.org/drawingml/2006/main">
            <a:off x="10896600" y="6502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06 / 10</a:t>
            </a:r>
            <a:endParaRPr lang="en-US"/>
          </a:p>
        </p:txBody>
      </p:sp>
      <p:sp>
        <p:nvSpPr>
          <p:cNvPr id="6" name="p06-title" descr="Primary outcome conclusion"/>
          <p:cNvSpPr txBox="1"/>
          <p:nvPr/>
        </p:nvSpPr>
        <p:spPr>
          <a:xfrm xmlns:a="http://schemas.openxmlformats.org/drawingml/2006/main">
            <a:off x="609600" y="736600"/>
            <a:ext cx="1097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7324D"/>
                </a:solidFill>
                <a:latin typeface="Arial"/>
                <a:ea typeface="Arial"/>
              </a:rPr>
              <a:t>P1 incident hours fell 38%; the decline persisted through follow-up</a:t>
            </a:r>
            <a:endParaRPr lang="en-US"/>
          </a:p>
        </p:txBody>
      </p:sp>
      <p:graphicFrame>
        <p:nvGraphicFramePr>
          <p:cNvPr id="7" name="primary evidence" descr="P1 incident hours decline from 69 to 43 across eight half-year observations.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09600" y="1727200"/>
          <a:ext xmlns:a="http://schemas.openxmlformats.org/drawingml/2006/main" cx="8229600" cy="393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OfficeKitChart7"/>
          </a:graphicData>
        </a:graphic>
      </p:graphicFrame>
      <p:sp>
        <p:nvSpPr>
          <p:cNvPr id="8" name="p06-divider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9194800" y="1727200"/>
            <a:ext cx="12700" cy="393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9" name="p06-read-label" descr="Read-through label"/>
          <p:cNvSpPr txBox="1"/>
          <p:nvPr/>
        </p:nvSpPr>
        <p:spPr>
          <a:xfrm xmlns:a="http://schemas.openxmlformats.org/drawingml/2006/main">
            <a:off x="9550400" y="1854200"/>
            <a:ext cx="203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10" name="p06-metric-1" descr="Incident-hour reduction"/>
          <p:cNvSpPr txBox="1"/>
          <p:nvPr/>
        </p:nvSpPr>
        <p:spPr>
          <a:xfrm xmlns:a="http://schemas.openxmlformats.org/drawingml/2006/main">
            <a:off x="9550400" y="2413000"/>
            <a:ext cx="203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900">
                <a:solidFill>
                  <a:srgbClr val="17324D"/>
                </a:solidFill>
                <a:latin typeface="Georgia"/>
                <a:ea typeface="Georgia"/>
              </a:rPr>
              <a:t>−26 h</a:t>
            </a:r>
            <a:endParaRPr lang="en-US"/>
          </a:p>
        </p:txBody>
      </p:sp>
      <p:sp>
        <p:nvSpPr>
          <p:cNvPr id="11" name="p06-metric-1-copy" descr="Incident-hour reduction explanation"/>
          <p:cNvSpPr txBox="1"/>
          <p:nvPr/>
        </p:nvSpPr>
        <p:spPr>
          <a:xfrm xmlns:a="http://schemas.openxmlformats.org/drawingml/2006/main">
            <a:off x="9550400" y="3073400"/>
            <a:ext cx="2032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illustrative reduction
from 69 to 43</a:t>
            </a:r>
            <a:endParaRPr lang="en-US"/>
          </a:p>
        </p:txBody>
      </p:sp>
      <p:sp>
        <p:nvSpPr>
          <p:cNvPr id="12" name="p06-metric-2" descr="Reduction percentage"/>
          <p:cNvSpPr txBox="1"/>
          <p:nvPr/>
        </p:nvSpPr>
        <p:spPr>
          <a:xfrm xmlns:a="http://schemas.openxmlformats.org/drawingml/2006/main">
            <a:off x="9550400" y="3860800"/>
            <a:ext cx="203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900">
                <a:solidFill>
                  <a:srgbClr val="17324D"/>
                </a:solidFill>
                <a:latin typeface="Georgia"/>
                <a:ea typeface="Georgia"/>
              </a:rPr>
              <a:t>−38%</a:t>
            </a:r>
            <a:endParaRPr lang="en-US"/>
          </a:p>
        </p:txBody>
      </p:sp>
      <p:sp>
        <p:nvSpPr>
          <p:cNvPr id="13" name="p06-metric-2-copy" descr="Persistence note"/>
          <p:cNvSpPr txBox="1"/>
          <p:nvPr/>
        </p:nvSpPr>
        <p:spPr>
          <a:xfrm xmlns:a="http://schemas.openxmlformats.org/drawingml/2006/main">
            <a:off x="9550400" y="4521200"/>
            <a:ext cx="203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same direction in
follow-up week</a:t>
            </a:r>
            <a:endParaRPr lang="en-US"/>
          </a:p>
        </p:txBody>
      </p:sp>
    </p:spTree>
  </p:cSld>
  <p:clrMapOvr>
    <a:masterClrMapping xmlns:a="http://schemas.openxmlformats.org/drawingml/2006/main"/>
  </p:clrMapOvr>
  <p:timing xmlns:p="http://schemas.openxmlformats.org/presentationml/2006/main" xmlns:a="http://schemas.openxmlformats.org/drawingml/2006/main" xmlns:officekit="urn:officekit:motion">
    <p:tnLst>
      <p:par>
        <p:cTn id="1" dur="indefinite" grpId="0" nodeType="tmRoot">
          <p:childTnLst>
            <p:seq concurrent="1" nextAc="seek">
              <p:cTn id="2" dur="indefinite" grpId="0" nodeType="mainSeq">
                <p:childTnLst>
                  <p:par>
                    <p:cTn id="10" dur="650">
                      <p:stCondLst>
                        <p:cond delay="80"/>
                      </p:stCondLst>
                      <p:iterate type="el">
                        <p:tmAbs val="80"/>
                      </p:iterate>
                      <p:childTnLst>
                        <p:animEffect transition="in" filter="wipe(up)">
                          <p:cBhvr>
                            <p:cTn id="11" dur="65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Graphic spid="7" grpId="0">
        <p:bldSub>
          <a:bldChart bld="categoryEl" animBg="0"/>
        </p:bldSub>
      </p:bldGraphic>
    </p:bldLst>
  </p:timing>
</p:sld>
</file>

<file path=ppt/slides/slide7.xml><?xml version="1.0" encoding="utf-8"?>
<p:sld xmlns:p="http://schemas.openxmlformats.org/presentationml/2006/main">
  <p:cSld name="Protected workload">
    <p:bg>
      <p:bgPr>
        <a:solidFill xmlns:a="http://schemas.openxmlformats.org/drawingml/2006/main">
          <a:srgbClr val="F7F4E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7-furniture::ledger-furniture::single::furnitur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81000"/>
            <a:ext cx="10972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7-furniture::ledger-furniture::single::furniture-kicker" descr="Section label"/>
          <p:cNvSpPr txBox="1"/>
          <p:nvPr/>
        </p:nvSpPr>
        <p:spPr>
          <a:xfrm xmlns:a="http://schemas.openxmlformats.org/drawingml/2006/main">
            <a:off x="609600" y="127000"/>
            <a:ext cx="584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GUARDRAIL · PROTECTED WORKLOAD</a:t>
            </a:r>
            <a:endParaRPr lang="en-US"/>
          </a:p>
        </p:txBody>
      </p:sp>
      <p:sp>
        <p:nvSpPr>
          <p:cNvPr id="4" name="p07-furniture::ledger-furniture::single::furniture-source" descr="Evidence boundary and source"/>
          <p:cNvSpPr txBox="1"/>
          <p:nvPr/>
        </p:nvSpPr>
        <p:spPr>
          <a:xfrm xmlns:a="http://schemas.openxmlformats.org/drawingml/2006/main">
            <a:off x="609600" y="6502400"/>
            <a:ext cx="965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Source · Synthetic OfficeKit calibration ledger · indexed workload, 24H1 = 100</a:t>
            </a:r>
            <a:endParaRPr lang="en-US"/>
          </a:p>
        </p:txBody>
      </p:sp>
      <p:sp>
        <p:nvSpPr>
          <p:cNvPr id="5" name="p07-furniture::ledger-furniture::single::furniture-folio" descr="Page number"/>
          <p:cNvSpPr txBox="1"/>
          <p:nvPr/>
        </p:nvSpPr>
        <p:spPr>
          <a:xfrm xmlns:a="http://schemas.openxmlformats.org/drawingml/2006/main">
            <a:off x="10896600" y="6502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07 / 10</a:t>
            </a:r>
            <a:endParaRPr lang="en-US"/>
          </a:p>
        </p:txBody>
      </p:sp>
      <p:sp>
        <p:nvSpPr>
          <p:cNvPr id="6" name="p07-title" descr="Guardrail conclusion"/>
          <p:cNvSpPr txBox="1"/>
          <p:nvPr/>
        </p:nvSpPr>
        <p:spPr>
          <a:xfrm xmlns:a="http://schemas.openxmlformats.org/drawingml/2006/main">
            <a:off x="609600" y="736600"/>
            <a:ext cx="1097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7324D"/>
                </a:solidFill>
                <a:latin typeface="Arial"/>
                <a:ea typeface="Arial"/>
              </a:rPr>
              <a:t>Protected workload grew 27%; the result is not a volume artifact</a:t>
            </a:r>
            <a:endParaRPr lang="en-US"/>
          </a:p>
        </p:txBody>
      </p:sp>
      <p:graphicFrame>
        <p:nvGraphicFramePr>
          <p:cNvPr id="7" name="guardrail evidence" descr="Protected workload index rises from 100 to 127 across eight periods.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09600" y="167640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OfficeKitChart7"/>
          </a:graphicData>
        </a:graphic>
      </p:graphicFrame>
      <p:sp>
        <p:nvSpPr>
          <p:cNvPr id="8" name="p07-start-label" descr="Workload baseline"/>
          <p:cNvSpPr txBox="1"/>
          <p:nvPr/>
        </p:nvSpPr>
        <p:spPr>
          <a:xfrm xmlns:a="http://schemas.openxmlformats.org/drawingml/2006/main">
            <a:off x="863600" y="5207000"/>
            <a:ext cx="1397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100
baseline index</a:t>
            </a:r>
            <a:endParaRPr lang="en-US"/>
          </a:p>
        </p:txBody>
      </p:sp>
      <p:sp>
        <p:nvSpPr>
          <p:cNvPr id="9" name="p07-end-label" descr="Workload final index"/>
          <p:cNvSpPr txBox="1"/>
          <p:nvPr/>
        </p:nvSpPr>
        <p:spPr>
          <a:xfrm xmlns:a="http://schemas.openxmlformats.org/drawingml/2006/main">
            <a:off x="9499600" y="5207000"/>
            <a:ext cx="208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D9A514"/>
                </a:solidFill>
                <a:latin typeface="Arial"/>
                <a:ea typeface="Arial"/>
              </a:rPr>
              <a:t>+27%
final workload index 127</a:t>
            </a:r>
            <a:endParaRPr lang="en-US"/>
          </a:p>
        </p:txBody>
      </p:sp>
    </p:spTree>
  </p:cSld>
  <p:clrMapOvr>
    <a:masterClrMapping xmlns:a="http://schemas.openxmlformats.org/drawingml/2006/main"/>
  </p:clrMapOvr>
  <p:timing xmlns:p="http://schemas.openxmlformats.org/presentationml/2006/main" xmlns:a="http://schemas.openxmlformats.org/drawingml/2006/main" xmlns:officekit="urn:officekit:motion">
    <p:tnLst>
      <p:par>
        <p:cTn id="1" dur="indefinite" grpId="0" nodeType="tmRoot">
          <p:childTnLst>
            <p:seq concurrent="1" nextAc="seek">
              <p:cTn id="2" dur="indefinite" grpId="0" nodeType="mainSeq">
                <p:childTnLst>
                  <p:par>
                    <p:cTn id="10" dur="700">
                      <p:stCondLst>
                        <p:cond delay="80"/>
                      </p:stCondLst>
                      <p:iterate type="el">
                        <p:tmAbs val="80"/>
                      </p:iterate>
                      <p:childTnLst>
                        <p:animEffect transition="in" filter="wipe(right)">
                          <p:cBhvr>
                            <p:cTn id="11" dur="7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Graphic spid="7" grpId="0">
        <p:bldSub>
          <a:bldChart bld="categoryEl" animBg="0"/>
        </p:bldSub>
      </p:bldGraphic>
    </p:bldLst>
  </p:timing>
</p:sld>
</file>

<file path=ppt/slides/slide8.xml><?xml version="1.0" encoding="utf-8"?>
<p:sld xmlns:p="http://schemas.openxmlformats.org/presentationml/2006/main">
  <p:cSld name="Effect and uncertainty">
    <p:bg>
      <p:bgPr>
        <a:solidFill xmlns:a="http://schemas.openxmlformats.org/drawingml/2006/main">
          <a:srgbClr val="F7F4E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8-furniture::ledger-furniture::single::furnitur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81000"/>
            <a:ext cx="10972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8-furniture::ledger-furniture::single::furniture-kicker" descr="Section label"/>
          <p:cNvSpPr txBox="1"/>
          <p:nvPr/>
        </p:nvSpPr>
        <p:spPr>
          <a:xfrm xmlns:a="http://schemas.openxmlformats.org/drawingml/2006/main">
            <a:off x="609600" y="127000"/>
            <a:ext cx="584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EFFECT ESTIMATE · UNCERTAINTY BEFORE DECISION</a:t>
            </a:r>
            <a:endParaRPr lang="en-US"/>
          </a:p>
        </p:txBody>
      </p:sp>
      <p:sp>
        <p:nvSpPr>
          <p:cNvPr id="4" name="p08-furniture::ledger-furniture::single::furniture-source" descr="Evidence boundary and source"/>
          <p:cNvSpPr txBox="1"/>
          <p:nvPr/>
        </p:nvSpPr>
        <p:spPr>
          <a:xfrm xmlns:a="http://schemas.openxmlformats.org/drawingml/2006/main">
            <a:off x="609600" y="6502400"/>
            <a:ext cx="965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Source · Synthetic OfficeKit calibration ledger · illustrative 95% CI</a:t>
            </a:r>
            <a:endParaRPr lang="en-US"/>
          </a:p>
        </p:txBody>
      </p:sp>
      <p:sp>
        <p:nvSpPr>
          <p:cNvPr id="5" name="p08-furniture::ledger-furniture::single::furniture-folio" descr="Page number"/>
          <p:cNvSpPr txBox="1"/>
          <p:nvPr/>
        </p:nvSpPr>
        <p:spPr>
          <a:xfrm xmlns:a="http://schemas.openxmlformats.org/drawingml/2006/main">
            <a:off x="10896600" y="6502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08 / 10</a:t>
            </a:r>
            <a:endParaRPr lang="en-US"/>
          </a:p>
        </p:txBody>
      </p:sp>
      <p:sp>
        <p:nvSpPr>
          <p:cNvPr id="6" name="p08-title" descr="Confidence interval conclusion"/>
          <p:cNvSpPr txBox="1"/>
          <p:nvPr/>
        </p:nvSpPr>
        <p:spPr>
          <a:xfrm xmlns:a="http://schemas.openxmlformats.org/drawingml/2006/main">
            <a:off x="609600" y="736600"/>
            <a:ext cx="1097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7324D"/>
                </a:solidFill>
                <a:latin typeface="Arial"/>
                <a:ea typeface="Arial"/>
              </a:rPr>
              <a:t>The effect clears zero by 18 hours at the conservative bound</a:t>
            </a:r>
            <a:endParaRPr lang="en-US"/>
          </a:p>
        </p:txBody>
      </p:sp>
      <p:sp>
        <p:nvSpPr>
          <p:cNvPr id="7" name="p08-treatment" descr="Treatment summary"/>
          <p:cNvSpPr txBox="1"/>
          <p:nvPr/>
        </p:nvSpPr>
        <p:spPr>
          <a:xfrm xmlns:a="http://schemas.openxmlformats.org/drawingml/2006/main">
            <a:off x="609600" y="1803400"/>
            <a:ext cx="27940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TREATMENT
3,842 person-weeks
14.8% weekly participation</a:t>
            </a:r>
            <a:endParaRPr lang="en-US"/>
          </a:p>
        </p:txBody>
      </p:sp>
      <p:sp>
        <p:nvSpPr>
          <p:cNvPr id="8" name="p08-control" descr="Control summary"/>
          <p:cNvSpPr txBox="1"/>
          <p:nvPr/>
        </p:nvSpPr>
        <p:spPr>
          <a:xfrm xmlns:a="http://schemas.openxmlformats.org/drawingml/2006/main">
            <a:off x="8788400" y="1803400"/>
            <a:ext cx="27940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CONTROL
3,915 person-weeks
11.2% weekly participation</a:t>
            </a:r>
            <a:endParaRPr lang="en-US"/>
          </a:p>
        </p:txBody>
      </p:sp>
      <p:sp>
        <p:nvSpPr>
          <p:cNvPr id="9" name="p08-estimate" descr="Effect estimate"/>
          <p:cNvSpPr txBox="1"/>
          <p:nvPr/>
        </p:nvSpPr>
        <p:spPr>
          <a:xfrm xmlns:a="http://schemas.openxmlformats.org/drawingml/2006/main">
            <a:off x="4368800" y="1676400"/>
            <a:ext cx="34544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800">
                <a:solidFill>
                  <a:srgbClr val="0B8F8F"/>
                </a:solidFill>
                <a:latin typeface="Georgia"/>
                <a:ea typeface="Georgia"/>
              </a:rPr>
              <a:t>−26 h</a:t>
            </a:r>
            <a:endParaRPr lang="en-US"/>
          </a:p>
        </p:txBody>
      </p:sp>
      <p:sp>
        <p:nvSpPr>
          <p:cNvPr id="10" name="p08-axis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3175000" y="3784600"/>
            <a:ext cx="5842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1" name="p08-zero" descr="Zero effect threshold"/>
          <p:cNvSpPr/>
          <p:nvPr/>
        </p:nvSpPr>
        <p:spPr>
          <a:xfrm xmlns:a="http://schemas.openxmlformats.org/drawingml/2006/main">
            <a:off x="8255000" y="3124200"/>
            <a:ext cx="25400" cy="134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51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2" name="p08-ci" descr="Illustrative confidence interval from minus 34 to minus 18 hours"/>
          <p:cNvSpPr/>
          <p:nvPr/>
        </p:nvSpPr>
        <p:spPr>
          <a:xfrm xmlns:a="http://schemas.openxmlformats.org/drawingml/2006/main">
            <a:off x="4241800" y="3708400"/>
            <a:ext cx="22352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3" name="p08-ci-left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4216400" y="3530600"/>
            <a:ext cx="3810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4" name="p08-ci-right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451600" y="3530600"/>
            <a:ext cx="3810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5" name="p08-marker" descr="Point estimate minus 26 hours"/>
          <p:cNvSpPr/>
          <p:nvPr/>
        </p:nvSpPr>
        <p:spPr>
          <a:xfrm xmlns:a="http://schemas.openxmlformats.org/drawingml/2006/main">
            <a:off x="5257800" y="36322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38100">
            <a:solidFill>
              <a:srgbClr val="0B8F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6" name="p08-ci-label" descr="Confidence interval label"/>
          <p:cNvSpPr txBox="1"/>
          <p:nvPr/>
        </p:nvSpPr>
        <p:spPr>
          <a:xfrm xmlns:a="http://schemas.openxmlformats.org/drawingml/2006/main">
            <a:off x="4038600" y="4140200"/>
            <a:ext cx="26416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95% CI  −34 h to −18 h</a:t>
            </a:r>
            <a:endParaRPr lang="en-US"/>
          </a:p>
        </p:txBody>
      </p:sp>
      <p:sp>
        <p:nvSpPr>
          <p:cNvPr id="17" name="p08-zero-label" descr="Zero threshold label"/>
          <p:cNvSpPr txBox="1"/>
          <p:nvPr/>
        </p:nvSpPr>
        <p:spPr>
          <a:xfrm xmlns:a="http://schemas.openxmlformats.org/drawingml/2006/main">
            <a:off x="8001000" y="4572000"/>
            <a:ext cx="1371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0 · no effect</a:t>
            </a:r>
            <a:endParaRPr lang="en-US"/>
          </a:p>
        </p:txBody>
      </p:sp>
      <p:sp>
        <p:nvSpPr>
          <p:cNvPr id="18" name="p08-read-field" descr="Decision read-through"/>
          <p:cNvSpPr/>
          <p:nvPr/>
        </p:nvSpPr>
        <p:spPr>
          <a:xfrm xmlns:a="http://schemas.openxmlformats.org/drawingml/2006/main">
            <a:off x="609600" y="5207000"/>
            <a:ext cx="109728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3200" tIns="101600" rIns="203200" bIns="101600" anchor="ctr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324D"/>
                </a:solidFill>
                <a:latin typeface="Arial"/>
                <a:ea typeface="Arial"/>
              </a:rPr>
              <a:t>READ-THROUGH  ·  The full illustrative interval stays on the improvement side of zero; the conservative bound clears the gate by 18 hours.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 name="Decision gates">
    <p:bg>
      <p:bgPr>
        <a:solidFill xmlns:a="http://schemas.openxmlformats.org/drawingml/2006/main">
          <a:srgbClr val="F7F4E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9-furniture::ledger-furniture::single::furnitur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81000"/>
            <a:ext cx="10972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9-furniture::ledger-furniture::single::furniture-kicker" descr="Section label"/>
          <p:cNvSpPr txBox="1"/>
          <p:nvPr/>
        </p:nvSpPr>
        <p:spPr>
          <a:xfrm xmlns:a="http://schemas.openxmlformats.org/drawingml/2006/main">
            <a:off x="609600" y="127000"/>
            <a:ext cx="5842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B8F8F"/>
                </a:solidFill>
                <a:latin typeface="Arial"/>
                <a:ea typeface="Arial"/>
              </a:rPr>
              <a:t>BOARD DECISION · FIVE GATES BEFORE SCALE</a:t>
            </a:r>
            <a:endParaRPr lang="en-US"/>
          </a:p>
        </p:txBody>
      </p:sp>
      <p:sp>
        <p:nvSpPr>
          <p:cNvPr id="4" name="p09-furniture::ledger-furniture::single::furniture-source" descr="Evidence boundary and source"/>
          <p:cNvSpPr txBox="1"/>
          <p:nvPr/>
        </p:nvSpPr>
        <p:spPr>
          <a:xfrm xmlns:a="http://schemas.openxmlformats.org/drawingml/2006/main">
            <a:off x="609600" y="6502400"/>
            <a:ext cx="965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Source · Synthetic OfficeKit calibration ledger · preregistered gate results</a:t>
            </a:r>
            <a:endParaRPr lang="en-US"/>
          </a:p>
        </p:txBody>
      </p:sp>
      <p:sp>
        <p:nvSpPr>
          <p:cNvPr id="5" name="p09-furniture::ledger-furniture::single::furniture-folio" descr="Page number"/>
          <p:cNvSpPr txBox="1"/>
          <p:nvPr/>
        </p:nvSpPr>
        <p:spPr>
          <a:xfrm xmlns:a="http://schemas.openxmlformats.org/drawingml/2006/main">
            <a:off x="10896600" y="6502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00">
                <a:solidFill>
                  <a:srgbClr val="64788B"/>
                </a:solidFill>
                <a:latin typeface="Arial"/>
                <a:ea typeface="Arial"/>
              </a:rPr>
              <a:t>09 / 10</a:t>
            </a:r>
            <a:endParaRPr lang="en-US"/>
          </a:p>
        </p:txBody>
      </p:sp>
      <p:sp>
        <p:nvSpPr>
          <p:cNvPr id="6" name="p09-title" descr="Decision conclusion"/>
          <p:cNvSpPr txBox="1"/>
          <p:nvPr/>
        </p:nvSpPr>
        <p:spPr>
          <a:xfrm xmlns:a="http://schemas.openxmlformats.org/drawingml/2006/main">
            <a:off x="609600" y="736600"/>
            <a:ext cx="1097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7324D"/>
                </a:solidFill>
                <a:latin typeface="Arial"/>
                <a:ea typeface="Arial"/>
              </a:rPr>
              <a:t>Scale in two waves—but only while all five gates remain green</a:t>
            </a:r>
            <a:endParaRPr lang="en-US"/>
          </a:p>
        </p:txBody>
      </p:sp>
      <p:sp>
        <p:nvSpPr>
          <p:cNvPr id="7" name="p09-baselin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914400" y="3048000"/>
            <a:ext cx="9652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8" name="p09-gate-1" descr="Participation gate passed"/>
          <p:cNvSpPr/>
          <p:nvPr/>
        </p:nvSpPr>
        <p:spPr>
          <a:xfrm xmlns:a="http://schemas.openxmlformats.org/drawingml/2006/main">
            <a:off x="914400" y="2667000"/>
            <a:ext cx="711200" cy="71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p09-label-1" descr="Participation gate result"/>
          <p:cNvSpPr txBox="1"/>
          <p:nvPr/>
        </p:nvSpPr>
        <p:spPr>
          <a:xfrm xmlns:a="http://schemas.openxmlformats.org/drawingml/2006/main">
            <a:off x="685800" y="3581400"/>
            <a:ext cx="1219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Participation
14.8% &gt; 10%</a:t>
            </a:r>
            <a:endParaRPr lang="en-US"/>
          </a:p>
        </p:txBody>
      </p:sp>
      <p:sp>
        <p:nvSpPr>
          <p:cNvPr id="10" name="p09-gate-2" descr="Impact gate passed"/>
          <p:cNvSpPr/>
          <p:nvPr/>
        </p:nvSpPr>
        <p:spPr>
          <a:xfrm xmlns:a="http://schemas.openxmlformats.org/drawingml/2006/main">
            <a:off x="2946400" y="2667000"/>
            <a:ext cx="711200" cy="71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1" name="p09-label-2" descr="Impact gate result"/>
          <p:cNvSpPr txBox="1"/>
          <p:nvPr/>
        </p:nvSpPr>
        <p:spPr>
          <a:xfrm xmlns:a="http://schemas.openxmlformats.org/drawingml/2006/main">
            <a:off x="2717800" y="3581400"/>
            <a:ext cx="1219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Impact
CI excludes 0</a:t>
            </a:r>
            <a:endParaRPr lang="en-US"/>
          </a:p>
        </p:txBody>
      </p:sp>
      <p:sp>
        <p:nvSpPr>
          <p:cNvPr id="12" name="p09-gate-3" descr="Workload gate passed"/>
          <p:cNvSpPr/>
          <p:nvPr/>
        </p:nvSpPr>
        <p:spPr>
          <a:xfrm xmlns:a="http://schemas.openxmlformats.org/drawingml/2006/main">
            <a:off x="4978400" y="2667000"/>
            <a:ext cx="711200" cy="71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3" name="p09-label-3" descr="Workload gate result"/>
          <p:cNvSpPr txBox="1"/>
          <p:nvPr/>
        </p:nvSpPr>
        <p:spPr>
          <a:xfrm xmlns:a="http://schemas.openxmlformats.org/drawingml/2006/main">
            <a:off x="4749800" y="3581400"/>
            <a:ext cx="1219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Workload
+27% growth</a:t>
            </a:r>
            <a:endParaRPr lang="en-US"/>
          </a:p>
        </p:txBody>
      </p:sp>
      <p:sp>
        <p:nvSpPr>
          <p:cNvPr id="14" name="p09-gate-4" descr="Severity gate passed"/>
          <p:cNvSpPr/>
          <p:nvPr/>
        </p:nvSpPr>
        <p:spPr>
          <a:xfrm xmlns:a="http://schemas.openxmlformats.org/drawingml/2006/main">
            <a:off x="7010400" y="2667000"/>
            <a:ext cx="711200" cy="71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15" name="p09-label-4" descr="Severity gate result"/>
          <p:cNvSpPr txBox="1"/>
          <p:nvPr/>
        </p:nvSpPr>
        <p:spPr>
          <a:xfrm xmlns:a="http://schemas.openxmlformats.org/drawingml/2006/main">
            <a:off x="6781800" y="3581400"/>
            <a:ext cx="1219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Severity
no rebound</a:t>
            </a:r>
            <a:endParaRPr lang="en-US"/>
          </a:p>
        </p:txBody>
      </p:sp>
      <p:sp>
        <p:nvSpPr>
          <p:cNvPr id="16" name="p09-gate-5" descr="Compliance gate passed"/>
          <p:cNvSpPr/>
          <p:nvPr/>
        </p:nvSpPr>
        <p:spPr>
          <a:xfrm xmlns:a="http://schemas.openxmlformats.org/drawingml/2006/main">
            <a:off x="9042400" y="2667000"/>
            <a:ext cx="711200" cy="71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/>
          </a:p>
        </p:txBody>
      </p:sp>
      <p:sp>
        <p:nvSpPr>
          <p:cNvPr id="17" name="p09-label-5" descr="Compliance gate result"/>
          <p:cNvSpPr txBox="1"/>
          <p:nvPr/>
        </p:nvSpPr>
        <p:spPr>
          <a:xfrm xmlns:a="http://schemas.openxmlformats.org/drawingml/2006/main">
            <a:off x="8813800" y="3581400"/>
            <a:ext cx="1219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Compliance
98.6% &gt; 95%</a:t>
            </a:r>
            <a:endParaRPr lang="en-US"/>
          </a:p>
        </p:txBody>
      </p:sp>
      <p:sp>
        <p:nvSpPr>
          <p:cNvPr id="18" name="p09-decision" descr="Two-wave rollout decision"/>
          <p:cNvSpPr/>
          <p:nvPr/>
        </p:nvSpPr>
        <p:spPr>
          <a:xfrm xmlns:a="http://schemas.openxmlformats.org/drawingml/2006/main">
            <a:off x="10515600" y="2413000"/>
            <a:ext cx="1066800" cy="121920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D9A514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7324D"/>
                </a:solidFill>
                <a:latin typeface="Arial"/>
                <a:ea typeface="Arial"/>
              </a:rPr>
              <a:t>TWO-WAVE
ROLLOUT</a:t>
            </a:r>
            <a:endParaRPr lang="en-US"/>
          </a:p>
        </p:txBody>
      </p:sp>
      <p:cxnSp>
        <p:nvCxnSpPr>
          <p:cNvPr id="19" name="p09-decision-link" descr="All five gates lead to staged rollout"/>
          <p:cNvCxnSpPr/>
          <p:nvPr/>
        </p:nvCxnSpPr>
        <p:spPr>
          <a:xfrm xmlns:a="http://schemas.openxmlformats.org/drawingml/2006/main" flipH="0" flipV="0">
            <a:off x="9753600" y="30226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D9A514"/>
            </a:solidFill>
            <a:tailEnd type="triangle"/>
          </a:ln>
        </p:spPr>
      </p:cxnSp>
      <p:sp>
        <p:nvSpPr>
          <p:cNvPr id="20" name="p09-stop-rule" descr="Rollout stop rule"/>
          <p:cNvSpPr/>
          <p:nvPr/>
        </p:nvSpPr>
        <p:spPr>
          <a:xfrm xmlns:a="http://schemas.openxmlformats.org/drawingml/2006/main">
            <a:off x="609600" y="495300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101600" rIns="228600" bIns="101600" anchor="ctr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324D"/>
                </a:solidFill>
                <a:latin typeface="Arial"/>
                <a:ea typeface="Arial"/>
              </a:rPr>
              <a:t>STOP RULE  ·  Pause the next wave if any gate fails for two consecutive measurement windows; investigate before changing thresholds.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 name="Reproducibility handoff">
    <p:bg>
      <p:bgPr>
        <a:solidFill xmlns:a="http://schemas.openxmlformats.org/drawingml/2006/main">
          <a:srgbClr val="17324D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10-kicker" descr="Closing section label"/>
          <p:cNvSpPr txBox="1"/>
          <p:nvPr/>
        </p:nvSpPr>
        <p:spPr>
          <a:xfrm xmlns:a="http://schemas.openxmlformats.org/drawingml/2006/main">
            <a:off x="609600" y="355600"/>
            <a:ext cx="711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CDE7E4"/>
                </a:solidFill>
                <a:latin typeface="Arial"/>
                <a:ea typeface="Arial"/>
              </a:rPr>
              <a:t>DECISION RECORD · REPRODUCIBILITY HANDOFF</a:t>
            </a:r>
            <a:endParaRPr lang="en-US"/>
          </a:p>
        </p:txBody>
      </p:sp>
      <p:sp>
        <p:nvSpPr>
          <p:cNvPr id="3" name="p10-title" descr="Closing decision"/>
          <p:cNvSpPr txBox="1"/>
          <p:nvPr/>
        </p:nvSpPr>
        <p:spPr>
          <a:xfrm xmlns:a="http://schemas.openxmlformats.org/drawingml/2006/main">
            <a:off x="609600" y="1092200"/>
            <a:ext cx="88900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400">
                <a:solidFill>
                  <a:srgbClr val="FFFFFF"/>
                </a:solidFill>
                <a:latin typeface="Georgia"/>
                <a:ea typeface="Georgia"/>
              </a:rPr>
              <a:t>Approve two bounded waves—
keep the same evidence gates</a:t>
            </a:r>
            <a:endParaRPr lang="en-US"/>
          </a:p>
        </p:txBody>
      </p:sp>
      <p:sp>
        <p:nvSpPr>
          <p:cNvPr id="4" name="p10-decision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2921000"/>
            <a:ext cx="457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51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p10-action" descr="Rollout action"/>
          <p:cNvSpPr txBox="1"/>
          <p:nvPr/>
        </p:nvSpPr>
        <p:spPr>
          <a:xfrm xmlns:a="http://schemas.openxmlformats.org/drawingml/2006/main">
            <a:off x="609600" y="3175000"/>
            <a:ext cx="5461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Arial"/>
                <a:ea typeface="Arial"/>
              </a:rPr>
              <a:t>NEXT ACTION
Wave 1 · 12 additional sites
Wave 2 · only after two complete windows
Owner · Reliability operations
Review · board checkpoint after each wave</a:t>
            </a:r>
            <a:endParaRPr lang="en-US"/>
          </a:p>
        </p:txBody>
      </p:sp>
      <p:sp>
        <p:nvSpPr>
          <p:cNvPr id="6" name="p10-limit-field" descr="Interpretation limits"/>
          <p:cNvSpPr/>
          <p:nvPr/>
        </p:nvSpPr>
        <p:spPr>
          <a:xfrm xmlns:a="http://schemas.openxmlformats.org/drawingml/2006/main">
            <a:off x="7289800" y="2921000"/>
            <a:ext cx="42926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7" name="p10-limits" descr="Interpretation limits"/>
          <p:cNvSpPr txBox="1"/>
          <p:nvPr/>
        </p:nvSpPr>
        <p:spPr>
          <a:xfrm xmlns:a="http://schemas.openxmlformats.org/drawingml/2006/main">
            <a:off x="7594600" y="3200400"/>
            <a:ext cx="3683000" cy="18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7324D"/>
                </a:solidFill>
                <a:latin typeface="Arial"/>
                <a:ea typeface="Arial"/>
              </a:rPr>
              <a:t>KEEP INTERPRETABILITY
01 · preserve assignment strata
02 · preserve severity taxonomy
03 · preserve preregistered gates
Do not tune thresholds after seeing a wave.</a:t>
            </a:r>
            <a:endParaRPr lang="en-US"/>
          </a:p>
        </p:txBody>
      </p:sp>
      <p:sp>
        <p:nvSpPr>
          <p:cNvPr id="8" name="p10-source" descr="Synthetic source boundary"/>
          <p:cNvSpPr txBox="1"/>
          <p:nvPr/>
        </p:nvSpPr>
        <p:spPr>
          <a:xfrm xmlns:a="http://schemas.openxmlformats.org/drawingml/2006/main">
            <a:off x="609600" y="6172200"/>
            <a:ext cx="9906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>
                <a:solidFill>
                  <a:srgbClr val="CDE7E4"/>
                </a:solidFill>
                <a:latin typeface="Arial"/>
                <a:ea typeface="Arial"/>
              </a:rPr>
              <a:t>SOURCE BOUNDARY · Entire deck uses synthetic OfficeKit calibration data generated 2026-08-30. Replace before external use.</a:t>
            </a:r>
            <a:endParaRPr lang="en-US"/>
          </a:p>
        </p:txBody>
      </p:sp>
      <p:sp>
        <p:nvSpPr>
          <p:cNvPr id="9" name="p10-folio" descr="Page number"/>
          <p:cNvSpPr txBox="1"/>
          <p:nvPr/>
        </p:nvSpPr>
        <p:spPr>
          <a:xfrm xmlns:a="http://schemas.openxmlformats.org/drawingml/2006/main">
            <a:off x="10896600" y="61722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>
                <a:solidFill>
                  <a:srgbClr val="CDE7E4"/>
                </a:solidFill>
                <a:latin typeface="Arial"/>
                <a:ea typeface="Arial"/>
              </a:rPr>
              <a:t>10 / 10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officeKit/_rels/program.ppj.rels><?xml version="1.0" encoding="utf-8" standalone="yes"?><Relationships xmlns="http://schemas.openxmlformats.org/package/2006/relationships"><Relationship Id="rIdOfficeKitProgramMap" Type="https://schemas.officekit.dev/relationships/presentation-program-map" Target="program-map.json" /></Relationships>
</file>