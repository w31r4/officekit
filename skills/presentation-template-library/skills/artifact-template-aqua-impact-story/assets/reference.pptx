
<file path=[Content_Types].xml><?xml version="1.0" encoding="utf-8"?>
<Types xmlns="http://schemas.openxmlformats.org/package/2006/content-types">
  <Default Extension="xml" ContentType="application/vnd.openxmlformats-officedocument.presentationml.presentation.main+xml"/>
  <Default Extension="jpg" ContentType="image/jpeg"/>
  <Default Extension="rels" ContentType="application/vnd.openxmlformats-package.relationships+xml"/>
  <Override PartName="/ppt/slideMasters/slideMaster1.xml" ContentType="application/vnd.openxmlformats-officedocument.presentationml.slideMaster+xml"/>
  <Override PartName="/ppt/slideMasters/theme/theme1.xml" ContentType="application/vnd.openxmlformats-officedocument.theme+xml"/>
  <Override PartName="/ppt/slideLayouts/slideLayout1.xml" ContentType="application/vnd.openxmlformats-officedocument.presentationml.slideLayout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charts/chart1.xml" ContentType="application/vnd.openxmlformats-officedocument.drawingml.chart+xml"/>
  <Override PartName="/ppt/slides/charts/chart2.xml" ContentType="application/vnd.openxmlformats-officedocument.drawingml.chart+xml"/>
</Types>
</file>

<file path=_rels/.rels>&#65279;<?xml version="1.0" encoding="utf-8"?><Relationships xmlns="http://schemas.openxmlformats.org/package/2006/relationships"><Relationship Type="http://schemas.openxmlformats.org/officeDocument/2006/relationships/officeDocument" Target="/ppt/presentation.xml" Id="R631531de37f74a61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IdMaster1"/>
  </p:sldMasterIdLst>
  <p:sldIdLst>
    <p:sldId xmlns:r="http://schemas.openxmlformats.org/officeDocument/2006/relationships" id="256" r:id="rIdSlide1"/>
    <p:sldId xmlns:r="http://schemas.openxmlformats.org/officeDocument/2006/relationships" id="257" r:id="rIdSlide2"/>
    <p:sldId xmlns:r="http://schemas.openxmlformats.org/officeDocument/2006/relationships" id="258" r:id="rIdSlide3"/>
    <p:sldId xmlns:r="http://schemas.openxmlformats.org/officeDocument/2006/relationships" id="259" r:id="rIdSlide4"/>
    <p:sldId xmlns:r="http://schemas.openxmlformats.org/officeDocument/2006/relationships" id="260" r:id="rIdSlide5"/>
    <p:sldId xmlns:r="http://schemas.openxmlformats.org/officeDocument/2006/relationships" id="261" r:id="rIdSlide6"/>
  </p:sldIdLst>
  <p:sldSz cx="15240000" cy="8572500"/>
  <p:notesSz cx="6858000" cy="9144000"/>
  <p:defaultTextStyle/>
</p:presentation>
</file>

<file path=ppt/_rels/presentation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IdMaster1" /><Relationship Type="http://schemas.openxmlformats.org/officeDocument/2006/relationships/slide" Target="/ppt/slides/slide1.xml" Id="rIdSlide1" /><Relationship Type="http://schemas.openxmlformats.org/officeDocument/2006/relationships/slide" Target="/ppt/slides/slide2.xml" Id="rIdSlide2" /><Relationship Type="http://schemas.openxmlformats.org/officeDocument/2006/relationships/slide" Target="/ppt/slides/slide3.xml" Id="rIdSlide3" /><Relationship Type="http://schemas.openxmlformats.org/officeDocument/2006/relationships/slide" Target="/ppt/slides/slide4.xml" Id="rIdSlide4" /><Relationship Type="http://schemas.openxmlformats.org/officeDocument/2006/relationships/slide" Target="/ppt/slides/slide5.xml" Id="rIdSlide5" /><Relationship Type="http://schemas.openxmlformats.org/officeDocument/2006/relationships/slide" Target="/ppt/slides/slide6.xml" Id="rIdSlide6" /></Relationship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IdMaster1" /></Relationships>
</file>

<file path=ppt/slideLayouts/slideLayout1.xml><?xml version="1.0" encoding="utf-8"?>
<p:sldLayout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</p:spTree>
  </p:cSld>
  <p:clrMapOvr>
    <a:masterClrMapping xmlns:a="http://schemas.openxmlformats.org/drawingml/2006/main"/>
  </p:clrMapOvr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1.xml" Id="rIdTheme1" /><Relationship Type="http://schemas.openxmlformats.org/officeDocument/2006/relationships/slideLayout" Target="/ppt/slideLayouts/slideLayout1.xml" Id="rIdLayout1" /></Relationships>
</file>

<file path=ppt/slideMasters/slideMaster1.xml><?xml version="1.0" encoding="utf-8"?>
<p:sldMaster xmlns:p="http://schemas.openxmlformats.org/presentationml/2006/main">
  <p:cSld name="Default Master">
    <p:bg>
      <p:bgPr>
        <a:solidFill xmlns:a="http://schemas.openxmlformats.org/drawingml/2006/main">
          <a:srgbClr val="FFFFFF"/>
        </a:solidFill>
        <a:effectLst xmlns:a="http://schemas.openxmlformats.org/drawingml/2006/main"/>
      </p:bgPr>
    </p:bg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IdLayout1"/>
  </p:sldLayoutIdLst>
  <p:txStyles>
    <p:titleStyle/>
    <p:bodyStyle/>
    <p:otherStyle/>
  </p:txStyles>
</p:sldMaster>
</file>

<file path=ppt/slideMasters/theme/theme1.xml><?xml version="1.0" encoding="utf-8"?>
<a:theme xmlns:a="http://schemas.openxmlformats.org/drawingml/2006/main" name="Office Clean Room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Relationship Type="http://schemas.openxmlformats.org/officeDocument/2006/relationships/image" Target="/ppt/media/image.jpg" Id="rIdOfficeKitImageaeb6f74d36d260d0_1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Relationship Type="http://schemas.openxmlformats.org/officeDocument/2006/relationships/image" Target="/ppt/media/image2.jpg" Id="rIdOfficeKitImage13db13f70d7843cc_1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Relationship Type="http://schemas.openxmlformats.org/officeDocument/2006/relationships/chart" Target="/ppt/slides/charts/chart1.xml" Id="Rb5b7c7d39c2a4f52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Relationship Type="http://schemas.openxmlformats.org/officeDocument/2006/relationships/image" Target="/ppt/media/image.jpg" Id="rIdOfficeKitImageaeb6f74d36d260d0_1" /><Relationship Type="http://schemas.openxmlformats.org/officeDocument/2006/relationships/image" Target="/ppt/media/image2.jpg" Id="rIdOfficeKitImage13db13f70d7843cc_1" /><Relationship Type="http://schemas.openxmlformats.org/officeDocument/2006/relationships/image" Target="/ppt/media/image3.jpg" Id="rIdOfficeKitImage31956823b229fb66_1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Relationship Type="http://schemas.openxmlformats.org/officeDocument/2006/relationships/chart" Target="/ppt/slides/charts/chart2.xml" Id="Rb22fbdc888384b9d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/Relationships>
</file>

<file path=ppt/slides/charts/chart1.xml><?xml version="1.0" encoding="utf-8"?>
<c:chartSpace xmlns:c="http://schemas.openxmlformats.org/drawingml/2006/chart" xmlns:a="http://schemas.openxmlformats.org/drawingml/2006/main">
  <c:chart>
    <c:title>
      <c:tx>
        <c:rich>
          <a:bodyPr/>
          <a:lstStyle/>
          <a:p>
            <a:r>
              <a:t>Observed signal by cohort</a:t>
            </a:r>
          </a:p>
        </c:rich>
      </c:tx>
      <c:layout/>
    </c:title>
    <c:plotArea>
      <c:layout/>
      <c:barChart>
        <c:barDir val="col"/>
        <c:grouping val="clustered"/>
        <c:ser>
          <c:idx val="0"/>
          <c:order val="0"/>
          <c:tx>
            <c:v>Observed</c:v>
          </c:tx>
          <c:spPr>
            <a:solidFill>
              <a:srgbClr val="0B8EA3"/>
            </a:solidFill>
          </c:spPr>
          <c:cat>
            <c:strLit>
              <c:ptCount val="5"/>
              <c:pt idx="0">
                <c:v>Baseline</c:v>
              </c:pt>
              <c:pt idx="1">
                <c:v>Phase 1</c:v>
              </c:pt>
              <c:pt idx="2">
                <c:v>Phase 2</c:v>
              </c:pt>
              <c:pt idx="3">
                <c:v>Phase 3</c:v>
              </c:pt>
              <c:pt idx="4">
                <c:v>Close</c:v>
              </c:pt>
            </c:strLit>
          </c:cat>
          <c:val>
            <c:numLit>
              <c:formatCode>General</c:formatCode>
              <c:ptCount val="5"/>
              <c:pt idx="0">
                <c:v>42</c:v>
              </c:pt>
              <c:pt idx="1">
                <c:v>51</c:v>
              </c:pt>
              <c:pt idx="2">
                <c:v>58</c:v>
              </c:pt>
              <c:pt idx="3">
                <c:v>64</c:v>
              </c:pt>
              <c:pt idx="4">
                <c:v>68</c:v>
              </c:pt>
            </c:numLit>
          </c:val>
        </c:ser>
        <c:ser>
          <c:idx val="1"/>
          <c:order val="1"/>
          <c:tx>
            <c:v>Reference</c:v>
          </c:tx>
          <c:spPr>
            <a:solidFill>
              <a:srgbClr val="8C9B9D"/>
            </a:solidFill>
          </c:spPr>
          <c:cat>
            <c:strLit>
              <c:ptCount val="5"/>
              <c:pt idx="0">
                <c:v>Baseline</c:v>
              </c:pt>
              <c:pt idx="1">
                <c:v>Phase 1</c:v>
              </c:pt>
              <c:pt idx="2">
                <c:v>Phase 2</c:v>
              </c:pt>
              <c:pt idx="3">
                <c:v>Phase 3</c:v>
              </c:pt>
              <c:pt idx="4">
                <c:v>Close</c:v>
              </c:pt>
            </c:strLit>
          </c:cat>
          <c:val>
            <c:numLit>
              <c:formatCode>General</c:formatCode>
              <c:ptCount val="5"/>
              <c:pt idx="0">
                <c:v>40</c:v>
              </c:pt>
              <c:pt idx="1">
                <c:v>43</c:v>
              </c:pt>
              <c:pt idx="2">
                <c:v>45</c:v>
              </c:pt>
              <c:pt idx="3">
                <c:v>47</c:v>
              </c:pt>
              <c:pt idx="4">
                <c:v>48</c:v>
              </c:pt>
            </c:numLit>
          </c:val>
        </c:ser>
        <c:axId val="1"/>
        <c:axId val="2"/>
      </c:barChart>
      <c:catAx>
        <c:axId val="1"/>
        <c:scaling>
          <c:orientation val="minMax"/>
        </c:scaling>
        <c:axPos val="b"/>
        <c:crossAx val="2"/>
      </c:catAx>
      <c:valAx>
        <c:axId val="2"/>
        <c:scaling>
          <c:orientation val="minMax"/>
        </c:scaling>
        <c:axPos val="l"/>
        <c:crossAx val="1"/>
      </c:valAx>
    </c:plotArea>
    <c:legend>
      <c:legendPos val="r"/>
      <c:layout/>
    </c:legend>
    <c:plotVisOnly val="1"/>
  </c:chart>
</c:chartSpace>
</file>

<file path=ppt/slides/charts/chart2.xml><?xml version="1.0" encoding="utf-8"?>
<c:chartSpace xmlns:c="http://schemas.openxmlformats.org/drawingml/2006/chart" xmlns:a="http://schemas.openxmlformats.org/drawingml/2006/main">
  <c:chart>
    <c:title>
      <c:tx>
        <c:rich>
          <a:bodyPr/>
          <a:lstStyle/>
          <a:p>
            <a:r>
              <a:t>Signal carried by the evidence</a:t>
            </a:r>
          </a:p>
        </c:rich>
      </c:tx>
      <c:layout/>
    </c:title>
    <c:plotArea>
      <c:layout/>
      <c:lineChart>
        <c:grouping val="standard"/>
        <c:ser>
          <c:idx val="0"/>
          <c:order val="0"/>
          <c:tx>
            <c:v>Observed</c:v>
          </c:tx>
          <c:spPr>
            <a:solidFill>
              <a:srgbClr val="0B8EA3"/>
            </a:solidFill>
          </c:spPr>
          <c:cat>
            <c:strLit>
              <c:ptCount val="5"/>
              <c:pt idx="0">
                <c:v>A</c:v>
              </c:pt>
              <c:pt idx="1">
                <c:v>B</c:v>
              </c:pt>
              <c:pt idx="2">
                <c:v>C</c:v>
              </c:pt>
              <c:pt idx="3">
                <c:v>D</c:v>
              </c:pt>
              <c:pt idx="4">
                <c:v>E</c:v>
              </c:pt>
            </c:strLit>
          </c:cat>
          <c:val>
            <c:numLit>
              <c:formatCode>General</c:formatCode>
              <c:ptCount val="5"/>
              <c:pt idx="0">
                <c:v>38</c:v>
              </c:pt>
              <c:pt idx="1">
                <c:v>46</c:v>
              </c:pt>
              <c:pt idx="2">
                <c:v>43</c:v>
              </c:pt>
              <c:pt idx="3">
                <c:v>58</c:v>
              </c:pt>
              <c:pt idx="4">
                <c:v>68</c:v>
              </c:pt>
            </c:numLit>
          </c:val>
        </c:ser>
        <c:ser>
          <c:idx val="1"/>
          <c:order val="1"/>
          <c:tx>
            <c:v>Reference</c:v>
          </c:tx>
          <c:spPr>
            <a:solidFill>
              <a:srgbClr val="8C9B9D"/>
            </a:solidFill>
          </c:spPr>
          <c:cat>
            <c:strLit>
              <c:ptCount val="5"/>
              <c:pt idx="0">
                <c:v>A</c:v>
              </c:pt>
              <c:pt idx="1">
                <c:v>B</c:v>
              </c:pt>
              <c:pt idx="2">
                <c:v>C</c:v>
              </c:pt>
              <c:pt idx="3">
                <c:v>D</c:v>
              </c:pt>
              <c:pt idx="4">
                <c:v>E</c:v>
              </c:pt>
            </c:strLit>
          </c:cat>
          <c:val>
            <c:numLit>
              <c:formatCode>General</c:formatCode>
              <c:ptCount val="5"/>
              <c:pt idx="0">
                <c:v>32</c:v>
              </c:pt>
              <c:pt idx="1">
                <c:v>36</c:v>
              </c:pt>
              <c:pt idx="2">
                <c:v>40</c:v>
              </c:pt>
              <c:pt idx="3">
                <c:v>44</c:v>
              </c:pt>
              <c:pt idx="4">
                <c:v>49</c:v>
              </c:pt>
            </c:numLit>
          </c:val>
        </c:ser>
        <c:axId val="1"/>
        <c:axId val="2"/>
      </c:lineChart>
      <c:catAx>
        <c:axId val="1"/>
        <c:scaling>
          <c:orientation val="minMax"/>
        </c:scaling>
        <c:axPos val="b"/>
        <c:crossAx val="2"/>
      </c:catAx>
      <c:valAx>
        <c:axId val="2"/>
        <c:scaling>
          <c:orientation val="minMax"/>
        </c:scaling>
        <c:axPos val="l"/>
        <c:crossAx val="1"/>
      </c:valAx>
    </c:plotArea>
    <c:plotVisOnly val="1"/>
  </c:chart>
</c:chartSpace>
</file>

<file path=ppt/slides/slide1.xml><?xml version="1.0" encoding="utf-8"?>
<p:sld xmlns:p="http://schemas.openxmlformats.org/presentationml/2006/main">
  <p:cSld name="Opening claim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pic>
        <p:nvPicPr>
          <p:cNvPr id="2" name="editorial-cover-field">
            <a:extLst xmlns:a="http://schemas.openxmlformats.org/drawingml/2006/main"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/>
        </p:nvPicPr>
        <p:blipFill>
          <a:blip xmlns:r="http://schemas.openxmlformats.org/officeDocument/2006/relationships" xmlns:a="http://schemas.openxmlformats.org/drawingml/2006/main" r:embed="rIdOfficeKitImageaeb6f74d36d260d0_1"/>
          <a:srcRect xmlns:a="http://schemas.openxmlformats.org/drawingml/2006/main" l="0" t="34180" r="0" b="34180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0" y="0"/>
            <a:ext cx="15240000" cy="8572500"/>
          </a:xfrm>
          <a:prstGeom xmlns:a="http://schemas.openxmlformats.org/drawingml/2006/main" prst="rect">
            <a:avLst/>
          </a:prstGeom>
        </p:spPr>
      </p:pic>
      <p:sp>
        <p:nvSpPr>
          <p:cNvPr id="3" name="editorial-cover-scrim"/>
          <p:cNvSpPr/>
          <p:nvPr/>
        </p:nvSpPr>
        <p:spPr>
          <a:xfrm xmlns:a="http://schemas.openxmlformats.org/drawingml/2006/main">
            <a:off x="0" y="0"/>
            <a:ext cx="7239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4150">
              <a:alpha val="84000"/>
            </a:srgbClr>
          </a:solidFill>
          <a:ln xmlns:a="http://schemas.openxmlformats.org/drawingml/2006/main" w="0">
            <a:solidFill>
              <a:srgbClr val="1D4150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" name="eyebrow"/>
          <p:cNvSpPr txBox="1"/>
          <p:nvPr/>
        </p:nvSpPr>
        <p:spPr>
          <a:xfrm xmlns:a="http://schemas.openxmlformats.org/drawingml/2006/main">
            <a:off x="914400" y="800100"/>
            <a:ext cx="7048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0B8EA3"/>
                </a:solidFill>
                <a:latin typeface="Arial"/>
                <a:ea typeface="Arial"/>
              </a:rPr>
              <a:t>PROMOTION · OFFICEKIT CALIBRATION</a:t>
            </a:r>
            <a:endParaRPr lang="en-US"/>
          </a:p>
        </p:txBody>
      </p:sp>
      <p:sp>
        <p:nvSpPr>
          <p:cNvPr id="5" name="cover-title"/>
          <p:cNvSpPr txBox="1"/>
          <p:nvPr/>
        </p:nvSpPr>
        <p:spPr>
          <a:xfrm xmlns:a="http://schemas.openxmlformats.org/drawingml/2006/main">
            <a:off x="914400" y="1962150"/>
            <a:ext cx="5810250" cy="1333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3900" b="1">
                <a:solidFill>
                  <a:srgbClr val="FFFFFF"/>
                </a:solidFill>
                <a:latin typeface="Arial"/>
                <a:ea typeface="Arial"/>
              </a:rPr>
              <a:t>Aqua Impact Story: a claim worth testing</a:t>
            </a:r>
            <a:endParaRPr lang="en-US"/>
          </a:p>
        </p:txBody>
      </p:sp>
      <p:sp>
        <p:nvSpPr>
          <p:cNvPr id="6" name="cover-subtitle"/>
          <p:cNvSpPr txBox="1"/>
          <p:nvPr/>
        </p:nvSpPr>
        <p:spPr>
          <a:xfrm xmlns:a="http://schemas.openxmlformats.org/drawingml/2006/main">
            <a:off x="952500" y="3638550"/>
            <a:ext cx="5334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>
                <a:solidFill>
                  <a:srgbClr val="F0F2F2"/>
                </a:solidFill>
                <a:latin typeface="Arial"/>
                <a:ea typeface="Arial"/>
              </a:rPr>
              <a:t>A clean-room reference for a visual proposition.</a:t>
            </a:r>
            <a:endParaRPr lang="en-US"/>
          </a:p>
        </p:txBody>
      </p:sp>
      <p:sp>
        <p:nvSpPr>
          <p:cNvPr id="7" name="cover-photo-rule"/>
          <p:cNvSpPr/>
          <p:nvPr/>
        </p:nvSpPr>
        <p:spPr>
          <a:xfrm xmlns:a="http://schemas.openxmlformats.org/drawingml/2006/main">
            <a:off x="914400" y="4533900"/>
            <a:ext cx="4895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0B8EA3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8" name="cover-thesis"/>
          <p:cNvSpPr txBox="1"/>
          <p:nvPr/>
        </p:nvSpPr>
        <p:spPr>
          <a:xfrm xmlns:a="http://schemas.openxmlformats.org/drawingml/2006/main">
            <a:off x="952500" y="4895850"/>
            <a:ext cx="57150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950" b="1">
                <a:solidFill>
                  <a:srgbClr val="FFFFFF"/>
                </a:solidFill>
                <a:latin typeface="Arial"/>
                <a:ea typeface="Arial"/>
              </a:rPr>
              <a:t>A proposition earns attention when it gives a next move.</a:t>
            </a:r>
            <a:endParaRPr lang="en-US"/>
          </a:p>
        </p:txBody>
      </p:sp>
      <p:sp>
        <p:nvSpPr>
          <p:cNvPr id="9" name="cover-source"/>
          <p:cNvSpPr txBox="1"/>
          <p:nvPr/>
        </p:nvSpPr>
        <p:spPr>
          <a:xfrm xmlns:a="http://schemas.openxmlformats.org/drawingml/2006/main">
            <a:off x="952500" y="7334250"/>
            <a:ext cx="904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F0F2F2"/>
                </a:solidFill>
                <a:latin typeface="Arial"/>
                <a:ea typeface="Arial"/>
              </a:rPr>
              <a:t>OfficeKit original clean-room calibration · fictional content · 2026-08-29</a:t>
            </a:r>
            <a:endParaRPr lang="en-US"/>
          </a:p>
        </p:txBody>
      </p:sp>
      <p:sp>
        <p:nvSpPr>
          <p:cNvPr id="10" name="page-number"/>
          <p:cNvSpPr txBox="1"/>
          <p:nvPr/>
        </p:nvSpPr>
        <p:spPr>
          <a:xfrm xmlns:a="http://schemas.openxmlformats.org/drawingml/2006/main">
            <a:off x="13335000" y="781050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F0F2F2"/>
                </a:solidFill>
                <a:latin typeface="Arial"/>
                <a:ea typeface="Arial"/>
              </a:rPr>
              <a:t>1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2.xml><?xml version="1.0" encoding="utf-8"?>
<p:sld xmlns:p="http://schemas.openxmlformats.org/presentationml/2006/main">
  <p:cSld name="Argument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 xmlns:a="http://schemas.openxmlformats.org/drawingml/2006/main">
            <a:off x="0" y="0"/>
            <a:ext cx="15240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EFE4"/>
          </a:solidFill>
          <a:ln xmlns:a="http://schemas.openxmlformats.org/drawingml/2006/main" w="0">
            <a:solidFill>
              <a:srgbClr val="F3EFE4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argument-top-rule"/>
          <p:cNvSpPr/>
          <p:nvPr/>
        </p:nvSpPr>
        <p:spPr>
          <a:xfrm xmlns:a="http://schemas.openxmlformats.org/drawingml/2006/main">
            <a:off x="838200" y="666750"/>
            <a:ext cx="13563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0B8EA3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" name="AQUA IMPACT STORY · ARGUMENT"/>
          <p:cNvSpPr txBox="1"/>
          <p:nvPr/>
        </p:nvSpPr>
        <p:spPr>
          <a:xfrm xmlns:a="http://schemas.openxmlformats.org/drawingml/2006/main">
            <a:off x="914400" y="89535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0B8EA3"/>
                </a:solidFill>
                <a:latin typeface="Arial"/>
                <a:ea typeface="Arial"/>
              </a:rPr>
              <a:t>AQUA IMPACT STORY · ARGUMENT</a:t>
            </a:r>
            <a:endParaRPr lang="en-US"/>
          </a:p>
        </p:txBody>
      </p:sp>
      <p:sp>
        <p:nvSpPr>
          <p:cNvPr id="5" name="argument-title"/>
          <p:cNvSpPr txBox="1"/>
          <p:nvPr/>
        </p:nvSpPr>
        <p:spPr>
          <a:xfrm xmlns:a="http://schemas.openxmlformats.org/drawingml/2006/main">
            <a:off x="914400" y="1314450"/>
            <a:ext cx="11811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850" b="1">
                <a:solidFill>
                  <a:srgbClr val="1D4150"/>
                </a:solidFill>
                <a:latin typeface="Arial"/>
                <a:ea typeface="Arial"/>
              </a:rPr>
              <a:t>The proposition is the page's visual center</a:t>
            </a:r>
            <a:endParaRPr lang="en-US"/>
          </a:p>
        </p:txBody>
      </p:sp>
      <p:sp>
        <p:nvSpPr>
          <p:cNvPr id="6" name="argument-basis"/>
          <p:cNvSpPr txBox="1"/>
          <p:nvPr/>
        </p:nvSpPr>
        <p:spPr>
          <a:xfrm xmlns:a="http://schemas.openxmlformats.org/drawingml/2006/main">
            <a:off x="952500" y="1981200"/>
            <a:ext cx="1047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8C9B9D"/>
                </a:solidFill>
                <a:latin typeface="Arial"/>
                <a:ea typeface="Arial"/>
              </a:rPr>
              <a:t>Scale, crop, and color invite attention without hiding the evidence.</a:t>
            </a:r>
            <a:endParaRPr lang="en-US"/>
          </a:p>
        </p:txBody>
      </p:sp>
      <p:sp>
        <p:nvSpPr>
          <p:cNvPr id="7" name="argument-rule"/>
          <p:cNvSpPr/>
          <p:nvPr/>
        </p:nvSpPr>
        <p:spPr>
          <a:xfrm xmlns:a="http://schemas.openxmlformats.org/drawingml/2006/main">
            <a:off x="914400" y="2457450"/>
            <a:ext cx="1341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8C9B9D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8" name="promotion-kicker"/>
          <p:cNvSpPr txBox="1"/>
          <p:nvPr/>
        </p:nvSpPr>
        <p:spPr>
          <a:xfrm xmlns:a="http://schemas.openxmlformats.org/drawingml/2006/main">
            <a:off x="1104900" y="335280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0B8EA3"/>
                </a:solidFill>
                <a:latin typeface="Arial"/>
                <a:ea typeface="Arial"/>
              </a:rPr>
              <a:t>ONE PROPOSITION</a:t>
            </a:r>
            <a:endParaRPr lang="en-US"/>
          </a:p>
        </p:txBody>
      </p:sp>
      <p:sp>
        <p:nvSpPr>
          <p:cNvPr id="9" name="promotion-headline"/>
          <p:cNvSpPr txBox="1"/>
          <p:nvPr/>
        </p:nvSpPr>
        <p:spPr>
          <a:xfrm xmlns:a="http://schemas.openxmlformats.org/drawingml/2006/main">
            <a:off x="1104900" y="3790950"/>
            <a:ext cx="6477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625" b="1">
                <a:solidFill>
                  <a:srgbClr val="1D4150"/>
                </a:solidFill>
                <a:latin typeface="Arial"/>
                <a:ea typeface="Arial"/>
              </a:rPr>
              <a:t>Make the next action visible.</a:t>
            </a:r>
            <a:endParaRPr lang="en-US"/>
          </a:p>
        </p:txBody>
      </p:sp>
      <p:sp>
        <p:nvSpPr>
          <p:cNvPr id="10" name="promotion-body"/>
          <p:cNvSpPr txBox="1"/>
          <p:nvPr/>
        </p:nvSpPr>
        <p:spPr>
          <a:xfrm xmlns:a="http://schemas.openxmlformats.org/drawingml/2006/main">
            <a:off x="1104900" y="4762500"/>
            <a:ext cx="6191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575">
                <a:solidFill>
                  <a:srgbClr val="1D4150"/>
                </a:solidFill>
                <a:latin typeface="Arial"/>
                <a:ea typeface="Arial"/>
              </a:rPr>
              <a:t>A clear invitation earns attention when evidence and access arrive together.</a:t>
            </a:r>
            <a:endParaRPr lang="en-US"/>
          </a:p>
        </p:txBody>
      </p:sp>
      <p:pic>
        <p:nvPicPr>
          <p:cNvPr id="11" name="promotion-hero-frame">
            <a:extLst xmlns:a="http://schemas.openxmlformats.org/drawingml/2006/main"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/>
        </p:nvPicPr>
        <p:blipFill>
          <a:blip xmlns:r="http://schemas.openxmlformats.org/officeDocument/2006/relationships" xmlns:a="http://schemas.openxmlformats.org/drawingml/2006/main" r:embed="rIdOfficeKitImage13db13f70d7843cc_1"/>
          <a:srcRect xmlns:a="http://schemas.openxmlformats.org/drawingml/2006/main" l="0" t="31920" r="0" b="31920"/>
          <a:stretch xmlns:a="http://schemas.openxmlformats.org/drawingml/2006/main">
            <a:fillRect/>
          </a:stretch>
        </p:blipFill>
        <p:spPr>
          <a:xfrm xmlns:a="http://schemas.openxmlformats.org/drawingml/2006/main" flipH="1">
            <a:off x="9525000" y="3143250"/>
            <a:ext cx="4000500" cy="2571750"/>
          </a:xfrm>
          <a:prstGeom xmlns:a="http://schemas.openxmlformats.org/drawingml/2006/main" prst="rect">
            <a:avLst/>
          </a:prstGeom>
        </p:spPr>
      </p:pic>
      <p:sp>
        <p:nvSpPr>
          <p:cNvPr id="12" name="promotion-image-rule"/>
          <p:cNvSpPr/>
          <p:nvPr/>
        </p:nvSpPr>
        <p:spPr>
          <a:xfrm xmlns:a="http://schemas.openxmlformats.org/drawingml/2006/main">
            <a:off x="9525000" y="5905500"/>
            <a:ext cx="4000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0B8EA3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3" name="promotion-image-label"/>
          <p:cNvSpPr txBox="1"/>
          <p:nvPr/>
        </p:nvSpPr>
        <p:spPr>
          <a:xfrm xmlns:a="http://schemas.openxmlformats.org/drawingml/2006/main">
            <a:off x="9525000" y="6153150"/>
            <a:ext cx="4000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75" b="1">
                <a:solidFill>
                  <a:srgbClr val="0B8EA3"/>
                </a:solidFill>
                <a:latin typeface="Arial"/>
                <a:ea typeface="Arial"/>
              </a:rPr>
              <a:t>INVITE · PROVE · MOVE</a:t>
            </a:r>
            <a:endParaRPr lang="en-US"/>
          </a:p>
        </p:txBody>
      </p:sp>
      <p:sp>
        <p:nvSpPr>
          <p:cNvPr id="14" name="source"/>
          <p:cNvSpPr txBox="1"/>
          <p:nvPr/>
        </p:nvSpPr>
        <p:spPr>
          <a:xfrm xmlns:a="http://schemas.openxmlformats.org/drawingml/2006/main">
            <a:off x="914400" y="781050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8C9B9D"/>
                </a:solidFill>
                <a:latin typeface="Arial"/>
                <a:ea typeface="Arial"/>
              </a:rPr>
              <a:t>Source: illustrative calibration brief · every claim is fictional and bounded</a:t>
            </a:r>
            <a:endParaRPr lang="en-US"/>
          </a:p>
        </p:txBody>
      </p:sp>
      <p:sp>
        <p:nvSpPr>
          <p:cNvPr id="15" name="page-number"/>
          <p:cNvSpPr txBox="1"/>
          <p:nvPr/>
        </p:nvSpPr>
        <p:spPr>
          <a:xfrm xmlns:a="http://schemas.openxmlformats.org/drawingml/2006/main">
            <a:off x="13335000" y="781050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8C9B9D"/>
                </a:solidFill>
                <a:latin typeface="Arial"/>
                <a:ea typeface="Arial"/>
              </a:rPr>
              <a:t>2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3.xml><?xml version="1.0" encoding="utf-8"?>
<p:sld xmlns:p="http://schemas.openxmlformats.org/presentationml/2006/main">
  <p:cSld name="Evidence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 xmlns:a="http://schemas.openxmlformats.org/drawingml/2006/main">
            <a:off x="0" y="0"/>
            <a:ext cx="15240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EFE4"/>
          </a:solidFill>
          <a:ln xmlns:a="http://schemas.openxmlformats.org/drawingml/2006/main" w="0">
            <a:solidFill>
              <a:srgbClr val="F3EFE4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evidence-top-rule"/>
          <p:cNvSpPr/>
          <p:nvPr/>
        </p:nvSpPr>
        <p:spPr>
          <a:xfrm xmlns:a="http://schemas.openxmlformats.org/drawingml/2006/main">
            <a:off x="838200" y="666750"/>
            <a:ext cx="13563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0B8EA3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" name="AQUA IMPACT STORY · EVIDENCE"/>
          <p:cNvSpPr txBox="1"/>
          <p:nvPr/>
        </p:nvSpPr>
        <p:spPr>
          <a:xfrm xmlns:a="http://schemas.openxmlformats.org/drawingml/2006/main">
            <a:off x="914400" y="89535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0B8EA3"/>
                </a:solidFill>
                <a:latin typeface="Arial"/>
                <a:ea typeface="Arial"/>
              </a:rPr>
              <a:t>AQUA IMPACT STORY · EVIDENCE</a:t>
            </a:r>
            <a:endParaRPr lang="en-US"/>
          </a:p>
        </p:txBody>
      </p:sp>
      <p:sp>
        <p:nvSpPr>
          <p:cNvPr id="5" name="evidence-title"/>
          <p:cNvSpPr txBox="1"/>
          <p:nvPr/>
        </p:nvSpPr>
        <p:spPr>
          <a:xfrm xmlns:a="http://schemas.openxmlformats.org/drawingml/2006/main">
            <a:off x="914400" y="1314450"/>
            <a:ext cx="11811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850" b="1">
                <a:solidFill>
                  <a:srgbClr val="1D4150"/>
                </a:solidFill>
                <a:latin typeface="Arial"/>
                <a:ea typeface="Arial"/>
              </a:rPr>
              <a:t>The signal grows when the invitation stays measurable</a:t>
            </a:r>
            <a:endParaRPr lang="en-US"/>
          </a:p>
        </p:txBody>
      </p:sp>
      <p:sp>
        <p:nvSpPr>
          <p:cNvPr id="6" name="evidence-basis"/>
          <p:cNvSpPr txBox="1"/>
          <p:nvPr/>
        </p:nvSpPr>
        <p:spPr>
          <a:xfrm xmlns:a="http://schemas.openxmlformats.org/drawingml/2006/main">
            <a:off x="952500" y="1981200"/>
            <a:ext cx="1047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8C9B9D"/>
                </a:solidFill>
                <a:latin typeface="Arial"/>
                <a:ea typeface="Arial"/>
              </a:rPr>
              <a:t>Illustrative reach and response · source and measurement convention remain attached.</a:t>
            </a:r>
            <a:endParaRPr lang="en-US"/>
          </a:p>
        </p:txBody>
      </p:sp>
      <p:sp>
        <p:nvSpPr>
          <p:cNvPr id="7" name="evidence-rule"/>
          <p:cNvSpPr/>
          <p:nvPr/>
        </p:nvSpPr>
        <p:spPr>
          <a:xfrm xmlns:a="http://schemas.openxmlformats.org/drawingml/2006/main">
            <a:off x="914400" y="2457450"/>
            <a:ext cx="1341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8C9B9D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graphicFrame>
        <p:nvGraphicFramePr>
          <p:cNvPr id="8" name="evidence-chart"/>
          <p:cNvGraphicFramePr>
            <a:graphicFrameLocks xmlns:a="http://schemas.openxmlformats.org/drawingml/2006/main" noGrp="1"/>
          </p:cNvGraphicFramePr>
          <p:nvPr/>
        </p:nvGraphicFramePr>
        <p:xfrm>
          <a:off xmlns:a="http://schemas.openxmlformats.org/drawingml/2006/main" x="1047750" y="3048000"/>
          <a:ext xmlns:a="http://schemas.openxmlformats.org/drawingml/2006/main" cx="7905750" cy="300037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b5b7c7d39c2a4f52"/>
          </a:graphicData>
        </a:graphic>
      </p:graphicFrame>
      <p:sp>
        <p:nvSpPr>
          <p:cNvPr id="9" name="metric"/>
          <p:cNvSpPr txBox="1"/>
          <p:nvPr/>
        </p:nvSpPr>
        <p:spPr>
          <a:xfrm xmlns:a="http://schemas.openxmlformats.org/drawingml/2006/main">
            <a:off x="9906000" y="3333750"/>
            <a:ext cx="2667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4800" b="1">
                <a:solidFill>
                  <a:srgbClr val="0B8EA3"/>
                </a:solidFill>
                <a:latin typeface="Arial"/>
                <a:ea typeface="Arial"/>
              </a:rPr>
              <a:t>68</a:t>
            </a:r>
            <a:endParaRPr lang="en-US"/>
          </a:p>
        </p:txBody>
      </p:sp>
      <p:sp>
        <p:nvSpPr>
          <p:cNvPr id="10" name="metric-label"/>
          <p:cNvSpPr txBox="1"/>
          <p:nvPr/>
        </p:nvSpPr>
        <p:spPr>
          <a:xfrm xmlns:a="http://schemas.openxmlformats.org/drawingml/2006/main">
            <a:off x="9906000" y="4143375"/>
            <a:ext cx="3143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8C9B9D"/>
                </a:solidFill>
                <a:latin typeface="Arial"/>
                <a:ea typeface="Arial"/>
              </a:rPr>
              <a:t>qualified response · campaign close</a:t>
            </a:r>
            <a:endParaRPr lang="en-US"/>
          </a:p>
        </p:txBody>
      </p:sp>
      <p:sp>
        <p:nvSpPr>
          <p:cNvPr id="11" name="rail-rule"/>
          <p:cNvSpPr/>
          <p:nvPr/>
        </p:nvSpPr>
        <p:spPr>
          <a:xfrm xmlns:a="http://schemas.openxmlformats.org/drawingml/2006/main">
            <a:off x="9906000" y="4810125"/>
            <a:ext cx="376237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8C9B9D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2" name="read-through"/>
          <p:cNvSpPr txBox="1"/>
          <p:nvPr/>
        </p:nvSpPr>
        <p:spPr>
          <a:xfrm xmlns:a="http://schemas.openxmlformats.org/drawingml/2006/main">
            <a:off x="9906000" y="5143500"/>
            <a:ext cx="34290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1D4150"/>
                </a:solidFill>
                <a:latin typeface="Arial"/>
                <a:ea typeface="Arial"/>
              </a:rPr>
              <a:t>Reach is useful only when the audience can see and take the next step.</a:t>
            </a:r>
            <a:endParaRPr lang="en-US"/>
          </a:p>
        </p:txBody>
      </p:sp>
      <p:sp>
        <p:nvSpPr>
          <p:cNvPr id="13" name="evidence-band"/>
          <p:cNvSpPr/>
          <p:nvPr/>
        </p:nvSpPr>
        <p:spPr>
          <a:xfrm xmlns:a="http://schemas.openxmlformats.org/drawingml/2006/main">
            <a:off x="914400" y="6877050"/>
            <a:ext cx="134112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1A24"/>
          </a:solidFill>
          <a:ln xmlns:a="http://schemas.openxmlformats.org/drawingml/2006/main" w="0">
            <a:solidFill>
              <a:srgbClr val="131A24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4" name="evidence-band-text"/>
          <p:cNvSpPr txBox="1"/>
          <p:nvPr/>
        </p:nvSpPr>
        <p:spPr>
          <a:xfrm xmlns:a="http://schemas.openxmlformats.org/drawingml/2006/main">
            <a:off x="1143000" y="7058025"/>
            <a:ext cx="1238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75" b="1">
                <a:solidFill>
                  <a:srgbClr val="1D4150"/>
                </a:solidFill>
                <a:latin typeface="Arial"/>
                <a:ea typeface="Arial"/>
              </a:rPr>
              <a:t>EVIDENCE  ·  Keep the unit, time window, and limitation adjacent to the number.</a:t>
            </a:r>
            <a:endParaRPr lang="en-US"/>
          </a:p>
        </p:txBody>
      </p:sp>
      <p:sp>
        <p:nvSpPr>
          <p:cNvPr id="15" name="source"/>
          <p:cNvSpPr txBox="1"/>
          <p:nvPr/>
        </p:nvSpPr>
        <p:spPr>
          <a:xfrm xmlns:a="http://schemas.openxmlformats.org/drawingml/2006/main">
            <a:off x="914400" y="782955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8C9B9D"/>
                </a:solidFill>
                <a:latin typeface="Arial"/>
                <a:ea typeface="Arial"/>
              </a:rPr>
              <a:t>Source: illustrative calibration brief · values are fictional</a:t>
            </a:r>
            <a:endParaRPr lang="en-US"/>
          </a:p>
        </p:txBody>
      </p:sp>
      <p:sp>
        <p:nvSpPr>
          <p:cNvPr id="16" name="page-number"/>
          <p:cNvSpPr txBox="1"/>
          <p:nvPr/>
        </p:nvSpPr>
        <p:spPr>
          <a:xfrm xmlns:a="http://schemas.openxmlformats.org/drawingml/2006/main">
            <a:off x="13335000" y="782955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8C9B9D"/>
                </a:solidFill>
                <a:latin typeface="Arial"/>
                <a:ea typeface="Arial"/>
              </a:rPr>
              <a:t>3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4.xml><?xml version="1.0" encoding="utf-8"?>
<p:sld xmlns:p="http://schemas.openxmlformats.org/presentationml/2006/main">
  <p:cSld name="Detail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 xmlns:a="http://schemas.openxmlformats.org/drawingml/2006/main">
            <a:off x="0" y="0"/>
            <a:ext cx="15240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EFE4"/>
          </a:solidFill>
          <a:ln xmlns:a="http://schemas.openxmlformats.org/drawingml/2006/main" w="0">
            <a:solidFill>
              <a:srgbClr val="F3EFE4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detail-top-rule"/>
          <p:cNvSpPr/>
          <p:nvPr/>
        </p:nvSpPr>
        <p:spPr>
          <a:xfrm xmlns:a="http://schemas.openxmlformats.org/drawingml/2006/main">
            <a:off x="838200" y="666750"/>
            <a:ext cx="13563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0B8EA3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" name="AQUA IMPACT STORY · DETAIL"/>
          <p:cNvSpPr txBox="1"/>
          <p:nvPr/>
        </p:nvSpPr>
        <p:spPr>
          <a:xfrm xmlns:a="http://schemas.openxmlformats.org/drawingml/2006/main">
            <a:off x="914400" y="89535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0B8EA3"/>
                </a:solidFill>
                <a:latin typeface="Arial"/>
                <a:ea typeface="Arial"/>
              </a:rPr>
              <a:t>AQUA IMPACT STORY · DETAIL</a:t>
            </a:r>
            <a:endParaRPr lang="en-US"/>
          </a:p>
        </p:txBody>
      </p:sp>
      <p:sp>
        <p:nvSpPr>
          <p:cNvPr id="5" name="detail-title"/>
          <p:cNvSpPr txBox="1"/>
          <p:nvPr/>
        </p:nvSpPr>
        <p:spPr>
          <a:xfrm xmlns:a="http://schemas.openxmlformats.org/drawingml/2006/main">
            <a:off x="914400" y="1314450"/>
            <a:ext cx="11811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850" b="1">
                <a:solidFill>
                  <a:srgbClr val="1D4150"/>
                </a:solidFill>
                <a:latin typeface="Arial"/>
                <a:ea typeface="Arial"/>
              </a:rPr>
              <a:t>The same idea can hold several views</a:t>
            </a:r>
            <a:endParaRPr lang="en-US"/>
          </a:p>
        </p:txBody>
      </p:sp>
      <p:sp>
        <p:nvSpPr>
          <p:cNvPr id="6" name="detail-basis"/>
          <p:cNvSpPr txBox="1"/>
          <p:nvPr/>
        </p:nvSpPr>
        <p:spPr>
          <a:xfrm xmlns:a="http://schemas.openxmlformats.org/drawingml/2006/main">
            <a:off x="952500" y="1981200"/>
            <a:ext cx="1047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8C9B9D"/>
                </a:solidFill>
                <a:latin typeface="Arial"/>
                <a:ea typeface="Arial"/>
              </a:rPr>
              <a:t>Unequal image frames · visual variety without decorative filler.</a:t>
            </a:r>
            <a:endParaRPr lang="en-US"/>
          </a:p>
        </p:txBody>
      </p:sp>
      <p:sp>
        <p:nvSpPr>
          <p:cNvPr id="7" name="detail-rule"/>
          <p:cNvSpPr/>
          <p:nvPr/>
        </p:nvSpPr>
        <p:spPr>
          <a:xfrm xmlns:a="http://schemas.openxmlformats.org/drawingml/2006/main">
            <a:off x="914400" y="2457450"/>
            <a:ext cx="1341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8C9B9D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pic>
        <p:nvPicPr>
          <p:cNvPr id="8" name="image-evidence-0">
            <a:extLst xmlns:a="http://schemas.openxmlformats.org/drawingml/2006/main"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/>
        </p:nvPicPr>
        <p:blipFill>
          <a:blip xmlns:r="http://schemas.openxmlformats.org/officeDocument/2006/relationships" xmlns:a="http://schemas.openxmlformats.org/drawingml/2006/main" r:embed="rIdOfficeKitImageaeb6f74d36d260d0_1"/>
          <a:srcRect xmlns:a="http://schemas.openxmlformats.org/drawingml/2006/main" l="0" t="28365" r="0" b="28365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990600" y="3162300"/>
            <a:ext cx="3714750" cy="2857500"/>
          </a:xfrm>
          <a:prstGeom xmlns:a="http://schemas.openxmlformats.org/drawingml/2006/main" prst="rect">
            <a:avLst/>
          </a:prstGeom>
        </p:spPr>
      </p:pic>
      <p:pic>
        <p:nvPicPr>
          <p:cNvPr id="9" name="image-evidence-1">
            <a:extLst xmlns:a="http://schemas.openxmlformats.org/drawingml/2006/main"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/>
        </p:nvPicPr>
        <p:blipFill>
          <a:blip xmlns:r="http://schemas.openxmlformats.org/officeDocument/2006/relationships" xmlns:a="http://schemas.openxmlformats.org/drawingml/2006/main" r:embed="rIdOfficeKitImage13db13f70d7843cc_1"/>
          <a:srcRect xmlns:a="http://schemas.openxmlformats.org/drawingml/2006/main" l="0" t="39904" r="0" b="39904"/>
          <a:stretch xmlns:a="http://schemas.openxmlformats.org/drawingml/2006/main">
            <a:fillRect/>
          </a:stretch>
        </p:blipFill>
        <p:spPr>
          <a:xfrm xmlns:a="http://schemas.openxmlformats.org/drawingml/2006/main" flipH="1">
            <a:off x="4895850" y="3162300"/>
            <a:ext cx="3714750" cy="1333500"/>
          </a:xfrm>
          <a:prstGeom xmlns:a="http://schemas.openxmlformats.org/drawingml/2006/main" prst="rect">
            <a:avLst/>
          </a:prstGeom>
        </p:spPr>
      </p:pic>
      <p:pic>
        <p:nvPicPr>
          <p:cNvPr id="10" name="image-evidence-2">
            <a:extLst xmlns:a="http://schemas.openxmlformats.org/drawingml/2006/main"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/>
        </p:nvPicPr>
        <p:blipFill>
          <a:blip xmlns:r="http://schemas.openxmlformats.org/officeDocument/2006/relationships" xmlns:a="http://schemas.openxmlformats.org/drawingml/2006/main" r:embed="rIdOfficeKitImage31956823b229fb66_1"/>
          <a:srcRect xmlns:a="http://schemas.openxmlformats.org/drawingml/2006/main" l="0" t="39898" r="0" b="39898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4895850" y="4686300"/>
            <a:ext cx="3714750" cy="1333500"/>
          </a:xfrm>
          <a:prstGeom xmlns:a="http://schemas.openxmlformats.org/drawingml/2006/main" prst="rect">
            <a:avLst/>
          </a:prstGeom>
        </p:spPr>
      </p:pic>
      <p:sp>
        <p:nvSpPr>
          <p:cNvPr id="11" name="image-matrix-label"/>
          <p:cNvSpPr txBox="1"/>
          <p:nvPr/>
        </p:nvSpPr>
        <p:spPr>
          <a:xfrm xmlns:a="http://schemas.openxmlformats.org/drawingml/2006/main">
            <a:off x="9620250" y="331470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0B8EA3"/>
                </a:solidFill>
                <a:latin typeface="Arial"/>
                <a:ea typeface="Arial"/>
              </a:rPr>
              <a:t>IMAGE MATRIX</a:t>
            </a:r>
            <a:endParaRPr lang="en-US"/>
          </a:p>
        </p:txBody>
      </p:sp>
      <p:sp>
        <p:nvSpPr>
          <p:cNvPr id="12" name="image-matrix-title"/>
          <p:cNvSpPr txBox="1"/>
          <p:nvPr/>
        </p:nvSpPr>
        <p:spPr>
          <a:xfrm xmlns:a="http://schemas.openxmlformats.org/drawingml/2006/main">
            <a:off x="9620250" y="3790950"/>
            <a:ext cx="37147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100" b="1">
                <a:solidFill>
                  <a:srgbClr val="1D4150"/>
                </a:solidFill>
                <a:latin typeface="Arial"/>
                <a:ea typeface="Arial"/>
              </a:rPr>
              <a:t>One subject, three ways to notice it.</a:t>
            </a:r>
            <a:endParaRPr lang="en-US"/>
          </a:p>
        </p:txBody>
      </p:sp>
      <p:sp>
        <p:nvSpPr>
          <p:cNvPr id="13" name="image-matrix-body"/>
          <p:cNvSpPr txBox="1"/>
          <p:nvPr/>
        </p:nvSpPr>
        <p:spPr>
          <a:xfrm xmlns:a="http://schemas.openxmlformats.org/drawingml/2006/main">
            <a:off x="9620250" y="4953000"/>
            <a:ext cx="35242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75">
                <a:solidFill>
                  <a:srgbClr val="8C9B9D"/>
                </a:solidFill>
                <a:latin typeface="Arial"/>
                <a:ea typeface="Arial"/>
              </a:rPr>
              <a:t>Use unequal frames to show facets of one idea. The crop carries the mood; the label carries the claim.</a:t>
            </a:r>
            <a:endParaRPr lang="en-US"/>
          </a:p>
        </p:txBody>
      </p:sp>
      <p:sp>
        <p:nvSpPr>
          <p:cNvPr id="14" name="source"/>
          <p:cNvSpPr txBox="1"/>
          <p:nvPr/>
        </p:nvSpPr>
        <p:spPr>
          <a:xfrm xmlns:a="http://schemas.openxmlformats.org/drawingml/2006/main">
            <a:off x="914400" y="782955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8C9B9D"/>
                </a:solidFill>
                <a:latin typeface="Arial"/>
                <a:ea typeface="Arial"/>
              </a:rPr>
              <a:t>Source: illustrative calibration brief · labels and values are fictional</a:t>
            </a:r>
            <a:endParaRPr lang="en-US"/>
          </a:p>
        </p:txBody>
      </p:sp>
      <p:sp>
        <p:nvSpPr>
          <p:cNvPr id="15" name="page-number"/>
          <p:cNvSpPr txBox="1"/>
          <p:nvPr/>
        </p:nvSpPr>
        <p:spPr>
          <a:xfrm xmlns:a="http://schemas.openxmlformats.org/drawingml/2006/main">
            <a:off x="13335000" y="782955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8C9B9D"/>
                </a:solidFill>
                <a:latin typeface="Arial"/>
                <a:ea typeface="Arial"/>
              </a:rPr>
              <a:t>4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5.xml><?xml version="1.0" encoding="utf-8"?>
<p:sld xmlns:p="http://schemas.openxmlformats.org/presentationml/2006/main">
  <p:cSld name="Visual carrier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 xmlns:a="http://schemas.openxmlformats.org/drawingml/2006/main">
            <a:off x="0" y="0"/>
            <a:ext cx="15240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EFE4"/>
          </a:solidFill>
          <a:ln xmlns:a="http://schemas.openxmlformats.org/drawingml/2006/main" w="0">
            <a:solidFill>
              <a:srgbClr val="F3EFE4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visual-top-rule"/>
          <p:cNvSpPr/>
          <p:nvPr/>
        </p:nvSpPr>
        <p:spPr>
          <a:xfrm xmlns:a="http://schemas.openxmlformats.org/drawingml/2006/main">
            <a:off x="838200" y="666750"/>
            <a:ext cx="13563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0B8EA3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" name="AQUA IMPACT STORY · VISUAL CARRIER"/>
          <p:cNvSpPr txBox="1"/>
          <p:nvPr/>
        </p:nvSpPr>
        <p:spPr>
          <a:xfrm xmlns:a="http://schemas.openxmlformats.org/drawingml/2006/main">
            <a:off x="914400" y="89535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0B8EA3"/>
                </a:solidFill>
                <a:latin typeface="Arial"/>
                <a:ea typeface="Arial"/>
              </a:rPr>
              <a:t>AQUA IMPACT STORY · VISUAL CARRIER</a:t>
            </a:r>
            <a:endParaRPr lang="en-US"/>
          </a:p>
        </p:txBody>
      </p:sp>
      <p:sp>
        <p:nvSpPr>
          <p:cNvPr id="5" name="visual-title"/>
          <p:cNvSpPr txBox="1"/>
          <p:nvPr/>
        </p:nvSpPr>
        <p:spPr>
          <a:xfrm xmlns:a="http://schemas.openxmlformats.org/drawingml/2006/main">
            <a:off x="914400" y="1314450"/>
            <a:ext cx="11811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850" b="1">
                <a:solidFill>
                  <a:srgbClr val="1D4150"/>
                </a:solidFill>
                <a:latin typeface="Arial"/>
                <a:ea typeface="Arial"/>
              </a:rPr>
              <a:t>Let the subject do the work</a:t>
            </a:r>
            <a:endParaRPr lang="en-US"/>
          </a:p>
        </p:txBody>
      </p:sp>
      <p:sp>
        <p:nvSpPr>
          <p:cNvPr id="6" name="visual-body"/>
          <p:cNvSpPr txBox="1"/>
          <p:nvPr/>
        </p:nvSpPr>
        <p:spPr>
          <a:xfrm xmlns:a="http://schemas.openxmlformats.org/drawingml/2006/main">
            <a:off x="952500" y="1981200"/>
            <a:ext cx="1047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8C9B9D"/>
                </a:solidFill>
                <a:latin typeface="Arial"/>
                <a:ea typeface="Arial"/>
              </a:rPr>
              <a:t>A strong crop gives the proposition a place to live.</a:t>
            </a:r>
            <a:endParaRPr lang="en-US"/>
          </a:p>
        </p:txBody>
      </p:sp>
      <p:sp>
        <p:nvSpPr>
          <p:cNvPr id="7" name="visual-rule"/>
          <p:cNvSpPr/>
          <p:nvPr/>
        </p:nvSpPr>
        <p:spPr>
          <a:xfrm xmlns:a="http://schemas.openxmlformats.org/drawingml/2006/main">
            <a:off x="914400" y="2457450"/>
            <a:ext cx="1341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8C9B9D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graphicFrame>
        <p:nvGraphicFramePr>
          <p:cNvPr id="8" name="visual-field-chart"/>
          <p:cNvGraphicFramePr>
            <a:graphicFrameLocks xmlns:a="http://schemas.openxmlformats.org/drawingml/2006/main" noGrp="1"/>
          </p:cNvGraphicFramePr>
          <p:nvPr/>
        </p:nvGraphicFramePr>
        <p:xfrm>
          <a:off xmlns:a="http://schemas.openxmlformats.org/drawingml/2006/main" x="914400" y="3028950"/>
          <a:ext xmlns:a="http://schemas.openxmlformats.org/drawingml/2006/main" cx="7429500" cy="36957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b22fbdc888384b9d"/>
          </a:graphicData>
        </a:graphic>
      </p:graphicFrame>
      <p:sp>
        <p:nvSpPr>
          <p:cNvPr id="9" name="visual-note"/>
          <p:cNvSpPr/>
          <p:nvPr/>
        </p:nvSpPr>
        <p:spPr>
          <a:xfrm xmlns:a="http://schemas.openxmlformats.org/drawingml/2006/main">
            <a:off x="8858250" y="3333750"/>
            <a:ext cx="4762500" cy="2381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1A24"/>
          </a:solidFill>
          <a:ln xmlns:a="http://schemas.openxmlformats.org/drawingml/2006/main" w="12700">
            <a:solidFill>
              <a:srgbClr val="8C9B9D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0" name="visual-note-label"/>
          <p:cNvSpPr txBox="1"/>
          <p:nvPr/>
        </p:nvSpPr>
        <p:spPr>
          <a:xfrm xmlns:a="http://schemas.openxmlformats.org/drawingml/2006/main">
            <a:off x="9239250" y="369570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0B8EA3"/>
                </a:solidFill>
                <a:latin typeface="Arial"/>
                <a:ea typeface="Arial"/>
              </a:rPr>
              <a:t>CARRIER</a:t>
            </a:r>
            <a:endParaRPr lang="en-US"/>
          </a:p>
        </p:txBody>
      </p:sp>
      <p:sp>
        <p:nvSpPr>
          <p:cNvPr id="11" name="visual-note-text"/>
          <p:cNvSpPr txBox="1"/>
          <p:nvPr/>
        </p:nvSpPr>
        <p:spPr>
          <a:xfrm xmlns:a="http://schemas.openxmlformats.org/drawingml/2006/main">
            <a:off x="9239250" y="4171950"/>
            <a:ext cx="40005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100" b="1">
                <a:solidFill>
                  <a:srgbClr val="1D4150"/>
                </a:solidFill>
                <a:latin typeface="Arial"/>
                <a:ea typeface="Arial"/>
              </a:rPr>
              <a:t>Subject before slogan</a:t>
            </a:r>
            <a:endParaRPr lang="en-US"/>
          </a:p>
        </p:txBody>
      </p:sp>
      <p:sp>
        <p:nvSpPr>
          <p:cNvPr id="12" name="visual-note-foot"/>
          <p:cNvSpPr txBox="1"/>
          <p:nvPr/>
        </p:nvSpPr>
        <p:spPr>
          <a:xfrm xmlns:a="http://schemas.openxmlformats.org/drawingml/2006/main">
            <a:off x="9239250" y="5219700"/>
            <a:ext cx="4000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>
                <a:solidFill>
                  <a:srgbClr val="8C9B9D"/>
                </a:solidFill>
                <a:latin typeface="Arial"/>
                <a:ea typeface="Arial"/>
              </a:rPr>
              <a:t>Crop, contrast and source role are reviewed before delivery.</a:t>
            </a:r>
            <a:endParaRPr lang="en-US"/>
          </a:p>
        </p:txBody>
      </p:sp>
      <p:sp>
        <p:nvSpPr>
          <p:cNvPr id="13" name="source"/>
          <p:cNvSpPr txBox="1"/>
          <p:nvPr/>
        </p:nvSpPr>
        <p:spPr>
          <a:xfrm xmlns:a="http://schemas.openxmlformats.org/drawingml/2006/main">
            <a:off x="914400" y="782955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8C9B9D"/>
                </a:solidFill>
                <a:latin typeface="Arial"/>
                <a:ea typeface="Arial"/>
              </a:rPr>
              <a:t>OfficeKit original clean-room visual field · fictional content</a:t>
            </a:r>
            <a:endParaRPr lang="en-US"/>
          </a:p>
        </p:txBody>
      </p:sp>
      <p:sp>
        <p:nvSpPr>
          <p:cNvPr id="14" name="page-number"/>
          <p:cNvSpPr txBox="1"/>
          <p:nvPr/>
        </p:nvSpPr>
        <p:spPr>
          <a:xfrm xmlns:a="http://schemas.openxmlformats.org/drawingml/2006/main">
            <a:off x="13335000" y="782955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8C9B9D"/>
                </a:solidFill>
                <a:latin typeface="Arial"/>
                <a:ea typeface="Arial"/>
              </a:rPr>
              <a:t>5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6.xml><?xml version="1.0" encoding="utf-8"?>
<p:sld xmlns:p="http://schemas.openxmlformats.org/presentationml/2006/main">
  <p:cSld name="Decision close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 xmlns:a="http://schemas.openxmlformats.org/drawingml/2006/main">
            <a:off x="0" y="0"/>
            <a:ext cx="15240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EFE4"/>
          </a:solidFill>
          <a:ln xmlns:a="http://schemas.openxmlformats.org/drawingml/2006/main" w="0">
            <a:solidFill>
              <a:srgbClr val="F3EFE4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close-top-rule"/>
          <p:cNvSpPr/>
          <p:nvPr/>
        </p:nvSpPr>
        <p:spPr>
          <a:xfrm xmlns:a="http://schemas.openxmlformats.org/drawingml/2006/main">
            <a:off x="838200" y="666750"/>
            <a:ext cx="13563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0B8EA3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" name="AQUA IMPACT STORY · CLOSE"/>
          <p:cNvSpPr txBox="1"/>
          <p:nvPr/>
        </p:nvSpPr>
        <p:spPr>
          <a:xfrm xmlns:a="http://schemas.openxmlformats.org/drawingml/2006/main">
            <a:off x="914400" y="89535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0B8EA3"/>
                </a:solidFill>
                <a:latin typeface="Arial"/>
                <a:ea typeface="Arial"/>
              </a:rPr>
              <a:t>AQUA IMPACT STORY · CLOSE</a:t>
            </a:r>
            <a:endParaRPr lang="en-US"/>
          </a:p>
        </p:txBody>
      </p:sp>
      <p:sp>
        <p:nvSpPr>
          <p:cNvPr id="5" name="close-title"/>
          <p:cNvSpPr txBox="1"/>
          <p:nvPr/>
        </p:nvSpPr>
        <p:spPr>
          <a:xfrm xmlns:a="http://schemas.openxmlformats.org/drawingml/2006/main">
            <a:off x="914400" y="1314450"/>
            <a:ext cx="11811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850" b="1">
                <a:solidFill>
                  <a:srgbClr val="1D4150"/>
                </a:solidFill>
                <a:latin typeface="Arial"/>
                <a:ea typeface="Arial"/>
              </a:rPr>
              <a:t>Turn the shared invitation into an action plan</a:t>
            </a:r>
            <a:endParaRPr lang="en-US"/>
          </a:p>
        </p:txBody>
      </p:sp>
      <p:sp>
        <p:nvSpPr>
          <p:cNvPr id="6" name="close-basis"/>
          <p:cNvSpPr txBox="1"/>
          <p:nvPr/>
        </p:nvSpPr>
        <p:spPr>
          <a:xfrm xmlns:a="http://schemas.openxmlformats.org/drawingml/2006/main">
            <a:off x="952500" y="1981200"/>
            <a:ext cx="1047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8C9B9D"/>
                </a:solidFill>
                <a:latin typeface="Arial"/>
                <a:ea typeface="Arial"/>
              </a:rPr>
              <a:t>A reference page must leave the reader with a bounded next move.</a:t>
            </a:r>
            <a:endParaRPr lang="en-US"/>
          </a:p>
        </p:txBody>
      </p:sp>
      <p:sp>
        <p:nvSpPr>
          <p:cNvPr id="7" name="close-rule"/>
          <p:cNvSpPr/>
          <p:nvPr/>
        </p:nvSpPr>
        <p:spPr>
          <a:xfrm xmlns:a="http://schemas.openxmlformats.org/drawingml/2006/main">
            <a:off x="914400" y="2457450"/>
            <a:ext cx="1341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8C9B9D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8" name="close-number-0"/>
          <p:cNvSpPr txBox="1"/>
          <p:nvPr/>
        </p:nvSpPr>
        <p:spPr>
          <a:xfrm xmlns:a="http://schemas.openxmlformats.org/drawingml/2006/main">
            <a:off x="1104900" y="3219450"/>
            <a:ext cx="666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75" b="1">
                <a:solidFill>
                  <a:srgbClr val="0B8EA3"/>
                </a:solidFill>
                <a:latin typeface="Arial"/>
                <a:ea typeface="Arial"/>
              </a:rPr>
              <a:t>01</a:t>
            </a:r>
            <a:endParaRPr lang="en-US"/>
          </a:p>
        </p:txBody>
      </p:sp>
      <p:sp>
        <p:nvSpPr>
          <p:cNvPr id="9" name="close-row-rule-0"/>
          <p:cNvSpPr/>
          <p:nvPr/>
        </p:nvSpPr>
        <p:spPr>
          <a:xfrm xmlns:a="http://schemas.openxmlformats.org/drawingml/2006/main">
            <a:off x="2000250" y="3371850"/>
            <a:ext cx="5810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8C9B9D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0" name="close-label-0"/>
          <p:cNvSpPr txBox="1"/>
          <p:nvPr/>
        </p:nvSpPr>
        <p:spPr>
          <a:xfrm xmlns:a="http://schemas.openxmlformats.org/drawingml/2006/main">
            <a:off x="2114550" y="3181350"/>
            <a:ext cx="238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1D4150"/>
                </a:solidFill>
                <a:latin typeface="Arial"/>
                <a:ea typeface="Arial"/>
              </a:rPr>
              <a:t>Promise</a:t>
            </a:r>
            <a:endParaRPr lang="en-US"/>
          </a:p>
        </p:txBody>
      </p:sp>
      <p:sp>
        <p:nvSpPr>
          <p:cNvPr id="11" name="close-text-0"/>
          <p:cNvSpPr txBox="1"/>
          <p:nvPr/>
        </p:nvSpPr>
        <p:spPr>
          <a:xfrm xmlns:a="http://schemas.openxmlformats.org/drawingml/2006/main">
            <a:off x="4495800" y="3219450"/>
            <a:ext cx="5715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1D4150"/>
                </a:solidFill>
                <a:latin typeface="Arial"/>
                <a:ea typeface="Arial"/>
              </a:rPr>
              <a:t>The proposition is legible.</a:t>
            </a:r>
            <a:endParaRPr lang="en-US"/>
          </a:p>
        </p:txBody>
      </p:sp>
      <p:sp>
        <p:nvSpPr>
          <p:cNvPr id="12" name="close-number-1"/>
          <p:cNvSpPr txBox="1"/>
          <p:nvPr/>
        </p:nvSpPr>
        <p:spPr>
          <a:xfrm xmlns:a="http://schemas.openxmlformats.org/drawingml/2006/main">
            <a:off x="1104900" y="4267200"/>
            <a:ext cx="666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75" b="1">
                <a:solidFill>
                  <a:srgbClr val="1D4150"/>
                </a:solidFill>
                <a:latin typeface="Arial"/>
                <a:ea typeface="Arial"/>
              </a:rPr>
              <a:t>02</a:t>
            </a:r>
            <a:endParaRPr lang="en-US"/>
          </a:p>
        </p:txBody>
      </p:sp>
      <p:sp>
        <p:nvSpPr>
          <p:cNvPr id="13" name="close-row-rule-1"/>
          <p:cNvSpPr/>
          <p:nvPr/>
        </p:nvSpPr>
        <p:spPr>
          <a:xfrm xmlns:a="http://schemas.openxmlformats.org/drawingml/2006/main">
            <a:off x="2000250" y="4419600"/>
            <a:ext cx="5810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8C9B9D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4" name="close-label-1"/>
          <p:cNvSpPr txBox="1"/>
          <p:nvPr/>
        </p:nvSpPr>
        <p:spPr>
          <a:xfrm xmlns:a="http://schemas.openxmlformats.org/drawingml/2006/main">
            <a:off x="2114550" y="4229100"/>
            <a:ext cx="238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1D4150"/>
                </a:solidFill>
                <a:latin typeface="Arial"/>
                <a:ea typeface="Arial"/>
              </a:rPr>
              <a:t>Proof</a:t>
            </a:r>
            <a:endParaRPr lang="en-US"/>
          </a:p>
        </p:txBody>
      </p:sp>
      <p:sp>
        <p:nvSpPr>
          <p:cNvPr id="15" name="close-text-1"/>
          <p:cNvSpPr txBox="1"/>
          <p:nvPr/>
        </p:nvSpPr>
        <p:spPr>
          <a:xfrm xmlns:a="http://schemas.openxmlformats.org/drawingml/2006/main">
            <a:off x="4495800" y="4267200"/>
            <a:ext cx="5715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1D4150"/>
                </a:solidFill>
                <a:latin typeface="Arial"/>
                <a:ea typeface="Arial"/>
              </a:rPr>
              <a:t>The response is measurable.</a:t>
            </a:r>
            <a:endParaRPr lang="en-US"/>
          </a:p>
        </p:txBody>
      </p:sp>
      <p:sp>
        <p:nvSpPr>
          <p:cNvPr id="16" name="close-number-2"/>
          <p:cNvSpPr txBox="1"/>
          <p:nvPr/>
        </p:nvSpPr>
        <p:spPr>
          <a:xfrm xmlns:a="http://schemas.openxmlformats.org/drawingml/2006/main">
            <a:off x="1104900" y="5314950"/>
            <a:ext cx="666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75" b="1">
                <a:solidFill>
                  <a:srgbClr val="0B8EA3"/>
                </a:solidFill>
                <a:latin typeface="Arial"/>
                <a:ea typeface="Arial"/>
              </a:rPr>
              <a:t>03</a:t>
            </a:r>
            <a:endParaRPr lang="en-US"/>
          </a:p>
        </p:txBody>
      </p:sp>
      <p:sp>
        <p:nvSpPr>
          <p:cNvPr id="17" name="close-row-rule-2"/>
          <p:cNvSpPr/>
          <p:nvPr/>
        </p:nvSpPr>
        <p:spPr>
          <a:xfrm xmlns:a="http://schemas.openxmlformats.org/drawingml/2006/main">
            <a:off x="2000250" y="5467350"/>
            <a:ext cx="5810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0B8EA3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8" name="close-label-2"/>
          <p:cNvSpPr txBox="1"/>
          <p:nvPr/>
        </p:nvSpPr>
        <p:spPr>
          <a:xfrm xmlns:a="http://schemas.openxmlformats.org/drawingml/2006/main">
            <a:off x="2114550" y="5276850"/>
            <a:ext cx="238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1D4150"/>
                </a:solidFill>
                <a:latin typeface="Arial"/>
                <a:ea typeface="Arial"/>
              </a:rPr>
              <a:t>Move</a:t>
            </a:r>
            <a:endParaRPr lang="en-US"/>
          </a:p>
        </p:txBody>
      </p:sp>
      <p:sp>
        <p:nvSpPr>
          <p:cNvPr id="19" name="close-text-2"/>
          <p:cNvSpPr txBox="1"/>
          <p:nvPr/>
        </p:nvSpPr>
        <p:spPr>
          <a:xfrm xmlns:a="http://schemas.openxmlformats.org/drawingml/2006/main">
            <a:off x="4495800" y="5314950"/>
            <a:ext cx="5715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1D4150"/>
                </a:solidFill>
                <a:latin typeface="Arial"/>
                <a:ea typeface="Arial"/>
              </a:rPr>
              <a:t>Give the audience one action.</a:t>
            </a:r>
            <a:endParaRPr lang="en-US"/>
          </a:p>
        </p:txBody>
      </p:sp>
      <p:sp>
        <p:nvSpPr>
          <p:cNvPr id="20" name="next-rule"/>
          <p:cNvSpPr/>
          <p:nvPr/>
        </p:nvSpPr>
        <p:spPr>
          <a:xfrm xmlns:a="http://schemas.openxmlformats.org/drawingml/2006/main">
            <a:off x="10668000" y="3714750"/>
            <a:ext cx="3048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0B8EA3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1" name="next-label"/>
          <p:cNvSpPr txBox="1"/>
          <p:nvPr/>
        </p:nvSpPr>
        <p:spPr>
          <a:xfrm xmlns:a="http://schemas.openxmlformats.org/drawingml/2006/main">
            <a:off x="10668000" y="4038600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0B8EA3"/>
                </a:solidFill>
                <a:latin typeface="Arial"/>
                <a:ea typeface="Arial"/>
              </a:rPr>
              <a:t>NEXT MOVE</a:t>
            </a:r>
            <a:endParaRPr lang="en-US"/>
          </a:p>
        </p:txBody>
      </p:sp>
      <p:sp>
        <p:nvSpPr>
          <p:cNvPr id="22" name="next-text"/>
          <p:cNvSpPr txBox="1"/>
          <p:nvPr/>
        </p:nvSpPr>
        <p:spPr>
          <a:xfrm xmlns:a="http://schemas.openxmlformats.org/drawingml/2006/main">
            <a:off x="10668000" y="4514850"/>
            <a:ext cx="3048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175" b="1">
                <a:solidFill>
                  <a:srgbClr val="1D4150"/>
                </a:solidFill>
                <a:latin typeface="Arial"/>
                <a:ea typeface="Arial"/>
              </a:rPr>
              <a:t>Publish the invitation</a:t>
            </a:r>
            <a:endParaRPr lang="en-US"/>
          </a:p>
        </p:txBody>
      </p:sp>
      <p:sp>
        <p:nvSpPr>
          <p:cNvPr id="23" name="next-foot"/>
          <p:cNvSpPr txBox="1"/>
          <p:nvPr/>
        </p:nvSpPr>
        <p:spPr>
          <a:xfrm xmlns:a="http://schemas.openxmlformats.org/drawingml/2006/main">
            <a:off x="10668000" y="5600700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>
                <a:solidFill>
                  <a:srgbClr val="8C9B9D"/>
                </a:solidFill>
                <a:latin typeface="Arial"/>
                <a:ea typeface="Arial"/>
              </a:rPr>
              <a:t>Owner · reviewer · date</a:t>
            </a:r>
            <a:endParaRPr lang="en-US"/>
          </a:p>
        </p:txBody>
      </p:sp>
      <p:sp>
        <p:nvSpPr>
          <p:cNvPr id="24" name="source"/>
          <p:cNvSpPr txBox="1"/>
          <p:nvPr/>
        </p:nvSpPr>
        <p:spPr>
          <a:xfrm xmlns:a="http://schemas.openxmlformats.org/drawingml/2006/main">
            <a:off x="914400" y="782955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8C9B9D"/>
                </a:solidFill>
                <a:latin typeface="Arial"/>
                <a:ea typeface="Arial"/>
              </a:rPr>
              <a:t>OfficeKit original clean-room calibration · reference deck is editable and inspectable</a:t>
            </a:r>
            <a:endParaRPr lang="en-US"/>
          </a:p>
        </p:txBody>
      </p:sp>
      <p:sp>
        <p:nvSpPr>
          <p:cNvPr id="25" name="page-number"/>
          <p:cNvSpPr txBox="1"/>
          <p:nvPr/>
        </p:nvSpPr>
        <p:spPr>
          <a:xfrm xmlns:a="http://schemas.openxmlformats.org/drawingml/2006/main">
            <a:off x="13335000" y="782955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8C9B9D"/>
                </a:solidFill>
                <a:latin typeface="Arial"/>
                <a:ea typeface="Arial"/>
              </a:rPr>
              <a:t>6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