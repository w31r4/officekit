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0ef9cc21a84f449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092dd3ee80187530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7790b68b5d8fcd92_1" /><Relationship Type="http://schemas.openxmlformats.org/officeDocument/2006/relationships/image" Target="/ppt/media/image3.jpg" Id="rIdOfficeKitImagebdd32fb5cfa65986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c7b73f8fac405495_1" /><Relationship Type="http://schemas.openxmlformats.org/officeDocument/2006/relationships/chart" Target="/ppt/slides/charts/chart1.xml" Id="R7e4fd645cbb7446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5.jpg" Id="rIdOfficeKitImage026be3a43029630d_1" /><Relationship Type="http://schemas.openxmlformats.org/officeDocument/2006/relationships/image" Target="/ppt/media/image.jpg" Id="rIdOfficeKitImage092dd3ee80187530_1" /><Relationship Type="http://schemas.openxmlformats.org/officeDocument/2006/relationships/image" Target="/ppt/media/image2.jpg" Id="rIdOfficeKitImage7790b68b5d8fcd92_1" /><Relationship Type="http://schemas.openxmlformats.org/officeDocument/2006/relationships/image" Target="/ppt/media/image3.jpg" Id="rIdOfficeKitImagebdd32fb5cfa65986_1" /><Relationship Type="http://schemas.openxmlformats.org/officeDocument/2006/relationships/image" Target="/ppt/media/image4.jpg" Id="rIdOfficeKitImagec7b73f8fac405495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5.jpg" Id="rIdOfficeKitImage026be3a43029630d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092dd3ee80187530_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 by cohort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0B8EA3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42</c:v>
              </c:pt>
              <c:pt idx="1">
                <c:v>51</c:v>
              </c:pt>
              <c:pt idx="2">
                <c:v>58</c:v>
              </c:pt>
              <c:pt idx="3">
                <c:v>64</c:v>
              </c:pt>
              <c:pt idx="4">
                <c:v>68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8C9B9D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40</c:v>
              </c:pt>
              <c:pt idx="1">
                <c:v>43</c:v>
              </c:pt>
              <c:pt idx="2">
                <c:v>45</c:v>
              </c:pt>
              <c:pt idx="3">
                <c:v>47</c:v>
              </c:pt>
              <c:pt idx="4">
                <c:v>48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092dd3ee80187530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ditorial-cover-scrim"/>
          <p:cNvSpPr/>
          <p:nvPr/>
        </p:nvSpPr>
        <p:spPr>
          <a:xfrm xmlns:a="http://schemas.openxmlformats.org/drawingml/2006/main">
            <a:off x="0" y="0"/>
            <a:ext cx="7239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150">
              <a:alpha val="84000"/>
            </a:srgbClr>
          </a:solidFill>
          <a:ln xmlns:a="http://schemas.openxmlformats.org/drawingml/2006/main" w="0">
            <a:solidFill>
              <a:srgbClr val="1D415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yebrow"/>
          <p:cNvSpPr txBox="1"/>
          <p:nvPr/>
        </p:nvSpPr>
        <p:spPr>
          <a:xfrm xmlns:a="http://schemas.openxmlformats.org/drawingml/2006/main">
            <a:off x="914400" y="800100"/>
            <a:ext cx="704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B8EA3"/>
                </a:solidFill>
                <a:latin typeface="Arial"/>
                <a:ea typeface="Arial"/>
              </a:rPr>
              <a:t>PROMOTION · OFFICEKIT CALIBRATION</a:t>
            </a:r>
            <a:endParaRPr lang="en-US"/>
          </a:p>
        </p:txBody>
      </p:sp>
      <p:sp>
        <p:nvSpPr>
          <p:cNvPr id="4" name="cover-title"/>
          <p:cNvSpPr txBox="1"/>
          <p:nvPr/>
        </p:nvSpPr>
        <p:spPr>
          <a:xfrm xmlns:a="http://schemas.openxmlformats.org/drawingml/2006/main">
            <a:off x="914400" y="1962150"/>
            <a:ext cx="5810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900" b="1">
                <a:solidFill>
                  <a:srgbClr val="FFFFFF"/>
                </a:solidFill>
                <a:latin typeface="Arial"/>
                <a:ea typeface="Arial"/>
              </a:rPr>
              <a:t>Aqua Impact Story: a claim worth testing</a:t>
            </a:r>
            <a:endParaRPr lang="en-US"/>
          </a:p>
        </p:txBody>
      </p:sp>
      <p:sp>
        <p:nvSpPr>
          <p:cNvPr id="5" name="cover-subtitle"/>
          <p:cNvSpPr txBox="1"/>
          <p:nvPr/>
        </p:nvSpPr>
        <p:spPr>
          <a:xfrm xmlns:a="http://schemas.openxmlformats.org/drawingml/2006/main">
            <a:off x="952500" y="363855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F0F2F2"/>
                </a:solidFill>
                <a:latin typeface="Arial"/>
                <a:ea typeface="Arial"/>
              </a:rPr>
              <a:t>A clean-room reference for a visual proposition.</a:t>
            </a:r>
            <a:endParaRPr lang="en-US"/>
          </a:p>
        </p:txBody>
      </p:sp>
      <p:sp>
        <p:nvSpPr>
          <p:cNvPr id="6" name="cover-photo-rule"/>
          <p:cNvSpPr/>
          <p:nvPr/>
        </p:nvSpPr>
        <p:spPr>
          <a:xfrm xmlns:a="http://schemas.openxmlformats.org/drawingml/2006/main">
            <a:off x="914400" y="4533900"/>
            <a:ext cx="489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cover-thesis"/>
          <p:cNvSpPr txBox="1"/>
          <p:nvPr/>
        </p:nvSpPr>
        <p:spPr>
          <a:xfrm xmlns:a="http://schemas.openxmlformats.org/drawingml/2006/main">
            <a:off x="952500" y="4895850"/>
            <a:ext cx="571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950" b="1">
                <a:solidFill>
                  <a:srgbClr val="FFFFFF"/>
                </a:solidFill>
                <a:latin typeface="Arial"/>
                <a:ea typeface="Arial"/>
              </a:rPr>
              <a:t>A proposition earns attention when it gives a next move.</a:t>
            </a:r>
            <a:endParaRPr lang="en-US"/>
          </a:p>
        </p:txBody>
      </p:sp>
      <p:sp>
        <p:nvSpPr>
          <p:cNvPr id="8" name="cover-source"/>
          <p:cNvSpPr txBox="1"/>
          <p:nvPr/>
        </p:nvSpPr>
        <p:spPr>
          <a:xfrm xmlns:a="http://schemas.openxmlformats.org/drawingml/2006/main">
            <a:off x="952500" y="733425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F0F2F2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F0F2F2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bg>
      <p:bgPr>
        <a:blipFill xmlns:a="http://schemas.openxmlformats.org/drawingml/2006/main">
          <a:blip xmlns:r="http://schemas.openxmlformats.org/officeDocument/2006/relationships" r:embed="rIdOfficeKitImage7790b68b5d8fcd92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argument-paper-scrim"/>
          <p:cNvSpPr/>
          <p:nvPr/>
        </p:nvSpPr>
        <p:spPr>
          <a:xfrm xmlns:a="http://schemas.openxmlformats.org/drawingml/2006/main">
            <a:off x="0" y="0"/>
            <a:ext cx="8191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4">
              <a:alpha val="96000"/>
            </a:srgbClr>
          </a:solidFill>
          <a:ln xmlns:a="http://schemas.openxmlformats.org/drawingml/2006/main" w="0">
            <a:solidFill>
              <a:srgbClr val="F3EFE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AQUA IMPACT STORY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B8EA3"/>
                </a:solidFill>
                <a:latin typeface="Arial"/>
                <a:ea typeface="Arial"/>
              </a:rPr>
              <a:t>AQUA IMPACT STORY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D4150"/>
                </a:solidFill>
                <a:latin typeface="Arial"/>
                <a:ea typeface="Arial"/>
              </a:rPr>
              <a:t>The proposition is the page's visual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D4150"/>
                </a:solidFill>
                <a:latin typeface="Arial"/>
                <a:ea typeface="Arial"/>
              </a:rPr>
              <a:t>center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B9D"/>
                </a:solidFill>
                <a:latin typeface="Arial"/>
                <a:ea typeface="Arial"/>
              </a:rPr>
              <a:t>Scale, crop, and color invite attention without hiding the evidence.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motion-kicker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B8EA3"/>
                </a:solidFill>
                <a:latin typeface="Arial"/>
                <a:ea typeface="Arial"/>
              </a:rPr>
              <a:t>ONE PROPOSITION</a:t>
            </a:r>
            <a:endParaRPr lang="en-US"/>
          </a:p>
        </p:txBody>
      </p:sp>
      <p:sp>
        <p:nvSpPr>
          <p:cNvPr id="9" name="promotion-headline"/>
          <p:cNvSpPr txBox="1"/>
          <p:nvPr/>
        </p:nvSpPr>
        <p:spPr>
          <a:xfrm xmlns:a="http://schemas.openxmlformats.org/drawingml/2006/main">
            <a:off x="1104900" y="379095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625" b="1">
                <a:solidFill>
                  <a:srgbClr val="1D4150"/>
                </a:solidFill>
                <a:latin typeface="Arial"/>
                <a:ea typeface="Arial"/>
              </a:rPr>
              <a:t>Make the next action visible.</a:t>
            </a:r>
            <a:endParaRPr lang="en-US"/>
          </a:p>
        </p:txBody>
      </p:sp>
      <p:sp>
        <p:nvSpPr>
          <p:cNvPr id="10" name="promotion-body"/>
          <p:cNvSpPr txBox="1"/>
          <p:nvPr/>
        </p:nvSpPr>
        <p:spPr>
          <a:xfrm xmlns:a="http://schemas.openxmlformats.org/drawingml/2006/main">
            <a:off x="1104900" y="47625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1D4150"/>
                </a:solidFill>
                <a:latin typeface="Arial"/>
                <a:ea typeface="Arial"/>
              </a:rPr>
              <a:t>A clear invitation earns attention when evidence and access arrive together.</a:t>
            </a:r>
            <a:endParaRPr lang="en-US"/>
          </a:p>
        </p:txBody>
      </p:sp>
      <p:pic>
        <p:nvPicPr>
          <p:cNvPr id="11" name="promotion-hero-fram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bdd32fb5cfa65986_1"/>
          <a:srcRect xmlns:a="http://schemas.openxmlformats.org/drawingml/2006/main" l="0" t="31920" r="0" b="3192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525000" y="3143250"/>
            <a:ext cx="4000500" cy="2571750"/>
          </a:xfrm>
          <a:prstGeom xmlns:a="http://schemas.openxmlformats.org/drawingml/2006/main" prst="rect">
            <a:avLst/>
          </a:prstGeom>
        </p:spPr>
      </p:pic>
      <p:sp>
        <p:nvSpPr>
          <p:cNvPr id="12" name="promotion-image-rule"/>
          <p:cNvSpPr/>
          <p:nvPr/>
        </p:nvSpPr>
        <p:spPr>
          <a:xfrm xmlns:a="http://schemas.openxmlformats.org/drawingml/2006/main">
            <a:off x="9525000" y="5905500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promotion-image-label"/>
          <p:cNvSpPr txBox="1"/>
          <p:nvPr/>
        </p:nvSpPr>
        <p:spPr>
          <a:xfrm xmlns:a="http://schemas.openxmlformats.org/drawingml/2006/main">
            <a:off x="9525000" y="61531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0B8EA3"/>
                </a:solidFill>
                <a:latin typeface="Arial"/>
                <a:ea typeface="Arial"/>
              </a:rPr>
              <a:t>INVITE · PROVE · MOVE</a:t>
            </a:r>
            <a:endParaRPr lang="en-US"/>
          </a:p>
        </p:txBody>
      </p:sp>
      <p:sp>
        <p:nvSpPr>
          <p:cNvPr id="14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15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bg>
      <p:bgPr>
        <a:blipFill xmlns:a="http://schemas.openxmlformats.org/drawingml/2006/main">
          <a:blip xmlns:r="http://schemas.openxmlformats.org/officeDocument/2006/relationships" r:embed="rIdOfficeKitImagec7b73f8fac405495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vidence-paper-scrim"/>
          <p:cNvSpPr/>
          <p:nvPr/>
        </p:nvSpPr>
        <p:spPr>
          <a:xfrm xmlns:a="http://schemas.openxmlformats.org/drawingml/2006/main">
            <a:off x="0" y="0"/>
            <a:ext cx="8191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4">
              <a:alpha val="96000"/>
            </a:srgbClr>
          </a:solidFill>
          <a:ln xmlns:a="http://schemas.openxmlformats.org/drawingml/2006/main" w="0">
            <a:solidFill>
              <a:srgbClr val="F3EFE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AQUA IMPACT STORY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B8EA3"/>
                </a:solidFill>
                <a:latin typeface="Arial"/>
                <a:ea typeface="Arial"/>
              </a:rPr>
              <a:t>AQUA IMPACT STORY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D4150"/>
                </a:solidFill>
                <a:latin typeface="Arial"/>
                <a:ea typeface="Arial"/>
              </a:rPr>
              <a:t>The signal grows when the invitation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D4150"/>
                </a:solidFill>
                <a:latin typeface="Arial"/>
                <a:ea typeface="Arial"/>
              </a:rPr>
              <a:t>stays measurable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B9D"/>
                </a:solidFill>
                <a:latin typeface="Arial"/>
                <a:ea typeface="Arial"/>
              </a:rPr>
              <a:t>Illustrative reach and response · source and measurement convention remain attached.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evidence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1047750" y="3048000"/>
          <a:ext xmlns:a="http://schemas.openxmlformats.org/drawingml/2006/main" cx="790575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e4fd645cbb74468"/>
          </a:graphicData>
        </a:graphic>
      </p:graphicFrame>
      <p:sp>
        <p:nvSpPr>
          <p:cNvPr id="9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0B8EA3"/>
                </a:solidFill>
                <a:latin typeface="Arial"/>
                <a:ea typeface="Arial"/>
              </a:rPr>
              <a:t>68</a:t>
            </a:r>
            <a:endParaRPr lang="en-US"/>
          </a:p>
        </p:txBody>
      </p:sp>
      <p:sp>
        <p:nvSpPr>
          <p:cNvPr id="10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B9D"/>
                </a:solidFill>
                <a:latin typeface="Arial"/>
                <a:ea typeface="Arial"/>
              </a:rPr>
              <a:t>qualified response · campaign close</a:t>
            </a:r>
            <a:endParaRPr lang="en-US"/>
          </a:p>
        </p:txBody>
      </p:sp>
      <p:sp>
        <p:nvSpPr>
          <p:cNvPr id="11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D4150"/>
                </a:solidFill>
                <a:latin typeface="Arial"/>
                <a:ea typeface="Arial"/>
              </a:rPr>
              <a:t>Reach is useful only when the</a:t>
            </a:r>
            <a:endParaRPr lang="en-US"/>
          </a:p>
          <a:p xmlns:a="http://schemas.openxmlformats.org/drawingml/2006/main">
            <a:r>
              <a:rPr lang="en-US" sz="1350" b="1">
                <a:solidFill>
                  <a:srgbClr val="1D4150"/>
                </a:solidFill>
                <a:latin typeface="Arial"/>
                <a:ea typeface="Arial"/>
              </a:rPr>
              <a:t>audience can see and take the</a:t>
            </a:r>
            <a:endParaRPr lang="en-US"/>
          </a:p>
          <a:p xmlns:a="http://schemas.openxmlformats.org/drawingml/2006/main">
            <a:r>
              <a:rPr lang="en-US" sz="1350" b="1">
                <a:solidFill>
                  <a:srgbClr val="1D4150"/>
                </a:solidFill>
                <a:latin typeface="Arial"/>
                <a:ea typeface="Arial"/>
              </a:rPr>
              <a:t>next step.</a:t>
            </a:r>
            <a:endParaRPr lang="en-US"/>
          </a:p>
        </p:txBody>
      </p:sp>
      <p:sp>
        <p:nvSpPr>
          <p:cNvPr id="13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D4150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4"/>
          </a:solidFill>
          <a:ln xmlns:a="http://schemas.openxmlformats.org/drawingml/2006/main" w="0">
            <a:solidFill>
              <a:srgbClr val="F3EFE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AQUA IMPACT STORY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B8EA3"/>
                </a:solidFill>
                <a:latin typeface="Arial"/>
                <a:ea typeface="Arial"/>
              </a:rPr>
              <a:t>AQUA IMPACT STORY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D4150"/>
                </a:solidFill>
                <a:latin typeface="Arial"/>
                <a:ea typeface="Arial"/>
              </a:rPr>
              <a:t>The same idea can hold several views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B9D"/>
                </a:solidFill>
                <a:latin typeface="Arial"/>
                <a:ea typeface="Arial"/>
              </a:rPr>
              <a:t>Unequal image frames · visual variety without decorative filler.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8" name="image-evidence-0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026be3a43029630d_1"/>
          <a:srcRect xmlns:a="http://schemas.openxmlformats.org/drawingml/2006/main" l="0" t="31971" r="0" b="3197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90600" y="3162300"/>
            <a:ext cx="3714750" cy="2381250"/>
          </a:xfrm>
          <a:prstGeom xmlns:a="http://schemas.openxmlformats.org/drawingml/2006/main" prst="rect">
            <a:avLst/>
          </a:prstGeom>
        </p:spPr>
      </p:pic>
      <p:pic>
        <p:nvPicPr>
          <p:cNvPr id="9" name="image-evidence-1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092dd3ee80187530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31623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0" name="image-evidence-2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7790b68b5d8fcd92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58000" y="31623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1" name="image-evidence-3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bdd32fb5cfa65986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44577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2" name="image-evidence-4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c7b73f8fac405495_1"/>
          <a:srcRect xmlns:a="http://schemas.openxmlformats.org/drawingml/2006/main" l="0" t="32338" r="0" b="3233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58000" y="4457700"/>
            <a:ext cx="1790700" cy="1123950"/>
          </a:xfrm>
          <a:prstGeom xmlns:a="http://schemas.openxmlformats.org/drawingml/2006/main" prst="rect">
            <a:avLst/>
          </a:prstGeom>
        </p:spPr>
      </p:pic>
      <p:sp>
        <p:nvSpPr>
          <p:cNvPr id="13" name="image-matrix-label"/>
          <p:cNvSpPr txBox="1"/>
          <p:nvPr/>
        </p:nvSpPr>
        <p:spPr>
          <a:xfrm xmlns:a="http://schemas.openxmlformats.org/drawingml/2006/main">
            <a:off x="9620250" y="3314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B8EA3"/>
                </a:solidFill>
                <a:latin typeface="Arial"/>
                <a:ea typeface="Arial"/>
              </a:rPr>
              <a:t>IMAGE MATRIX</a:t>
            </a:r>
            <a:endParaRPr lang="en-US"/>
          </a:p>
        </p:txBody>
      </p:sp>
      <p:sp>
        <p:nvSpPr>
          <p:cNvPr id="14" name="image-matrix-title"/>
          <p:cNvSpPr txBox="1"/>
          <p:nvPr/>
        </p:nvSpPr>
        <p:spPr>
          <a:xfrm xmlns:a="http://schemas.openxmlformats.org/drawingml/2006/main">
            <a:off x="9620250" y="3790950"/>
            <a:ext cx="3714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D4150"/>
                </a:solidFill>
                <a:latin typeface="Arial"/>
                <a:ea typeface="Arial"/>
              </a:rPr>
              <a:t>One subject, five ways to notice it.</a:t>
            </a:r>
            <a:endParaRPr lang="en-US"/>
          </a:p>
        </p:txBody>
      </p:sp>
      <p:sp>
        <p:nvSpPr>
          <p:cNvPr id="15" name="image-matrix-body"/>
          <p:cNvSpPr txBox="1"/>
          <p:nvPr/>
        </p:nvSpPr>
        <p:spPr>
          <a:xfrm xmlns:a="http://schemas.openxmlformats.org/drawingml/2006/main">
            <a:off x="9620250" y="4953000"/>
            <a:ext cx="352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B9D"/>
                </a:solidFill>
                <a:latin typeface="Arial"/>
                <a:ea typeface="Arial"/>
              </a:rPr>
              <a:t>One dominant frame plus four</a:t>
            </a:r>
            <a:endParaRPr lang="en-US"/>
          </a:p>
          <a:p xmlns:a="http://schemas.openxmlformats.org/drawingml/2006/main">
            <a:r>
              <a:rPr lang="en-US" sz="1200">
                <a:solidFill>
                  <a:srgbClr val="8C9B9D"/>
                </a:solidFill>
                <a:latin typeface="Arial"/>
                <a:ea typeface="Arial"/>
              </a:rPr>
              <a:t>supporting crops. Image carries</a:t>
            </a:r>
            <a:endParaRPr lang="en-US"/>
          </a:p>
          <a:p xmlns:a="http://schemas.openxmlformats.org/drawingml/2006/main">
            <a:r>
              <a:rPr lang="en-US" sz="1200">
                <a:solidFill>
                  <a:srgbClr val="8C9B9D"/>
                </a:solidFill>
                <a:latin typeface="Arial"/>
                <a:ea typeface="Arial"/>
              </a:rPr>
              <a:t>mood; labels carry the claim.</a:t>
            </a:r>
            <a:endParaRPr lang="en-US"/>
          </a:p>
        </p:txBody>
      </p:sp>
      <p:sp>
        <p:nvSpPr>
          <p:cNvPr id="1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1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026be3a43029630d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visual-scrim"/>
          <p:cNvSpPr/>
          <p:nvPr/>
        </p:nvSpPr>
        <p:spPr>
          <a:xfrm xmlns:a="http://schemas.openxmlformats.org/drawingml/2006/main">
            <a:off x="0" y="0"/>
            <a:ext cx="6858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4">
              <a:alpha val="88000"/>
            </a:srgbClr>
          </a:solidFill>
          <a:ln xmlns:a="http://schemas.openxmlformats.org/drawingml/2006/main" w="0">
            <a:solidFill>
              <a:srgbClr val="F3EFE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eyebrow"/>
          <p:cNvSpPr txBox="1"/>
          <p:nvPr/>
        </p:nvSpPr>
        <p:spPr>
          <a:xfrm xmlns:a="http://schemas.openxmlformats.org/drawingml/2006/main">
            <a:off x="914400" y="8953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B8EA3"/>
                </a:solidFill>
                <a:latin typeface="Arial"/>
                <a:ea typeface="Arial"/>
              </a:rPr>
              <a:t>AQUA IMPACT STORY · VISUAL CARRIER</a:t>
            </a:r>
            <a:endParaRPr lang="en-US"/>
          </a:p>
        </p:txBody>
      </p:sp>
      <p:sp>
        <p:nvSpPr>
          <p:cNvPr id="4" name="visual-title"/>
          <p:cNvSpPr txBox="1"/>
          <p:nvPr/>
        </p:nvSpPr>
        <p:spPr>
          <a:xfrm xmlns:a="http://schemas.openxmlformats.org/drawingml/2006/main">
            <a:off x="914400" y="163830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300" b="1">
                <a:solidFill>
                  <a:srgbClr val="1D4150"/>
                </a:solidFill>
                <a:latin typeface="Arial"/>
                <a:ea typeface="Arial"/>
              </a:rPr>
              <a:t>Let the subject do the work</a:t>
            </a:r>
            <a:endParaRPr lang="en-US"/>
          </a:p>
        </p:txBody>
      </p:sp>
      <p:sp>
        <p:nvSpPr>
          <p:cNvPr id="5" name="visual-body"/>
          <p:cNvSpPr txBox="1"/>
          <p:nvPr/>
        </p:nvSpPr>
        <p:spPr>
          <a:xfrm xmlns:a="http://schemas.openxmlformats.org/drawingml/2006/main">
            <a:off x="914400" y="32194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D4150"/>
                </a:solidFill>
                <a:latin typeface="Arial"/>
                <a:ea typeface="Arial"/>
              </a:rPr>
              <a:t>A strong crop gives the proposition a place to live.</a:t>
            </a:r>
            <a:endParaRPr lang="en-US"/>
          </a:p>
        </p:txBody>
      </p:sp>
      <p:sp>
        <p:nvSpPr>
          <p:cNvPr id="6" name="visual-rule"/>
          <p:cNvSpPr/>
          <p:nvPr/>
        </p:nvSpPr>
        <p:spPr>
          <a:xfrm xmlns:a="http://schemas.openxmlformats.org/drawingml/2006/main">
            <a:off x="914400" y="4476750"/>
            <a:ext cx="441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visual-label"/>
          <p:cNvSpPr txBox="1"/>
          <p:nvPr/>
        </p:nvSpPr>
        <p:spPr>
          <a:xfrm xmlns:a="http://schemas.openxmlformats.org/drawingml/2006/main">
            <a:off x="914400" y="4819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B8EA3"/>
                </a:solidFill>
                <a:latin typeface="Arial"/>
                <a:ea typeface="Arial"/>
              </a:rPr>
              <a:t>THE IMAGE IS EVIDENCE, NOT FILL</a:t>
            </a:r>
            <a:endParaRPr lang="en-US"/>
          </a:p>
        </p:txBody>
      </p:sp>
      <p:sp>
        <p:nvSpPr>
          <p:cNvPr id="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bg>
      <p:bgPr>
        <a:blipFill xmlns:a="http://schemas.openxmlformats.org/drawingml/2006/main">
          <a:blip xmlns:r="http://schemas.openxmlformats.org/officeDocument/2006/relationships" r:embed="rIdOfficeKitImage092dd3ee80187530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lose-paper-scrim"/>
          <p:cNvSpPr/>
          <p:nvPr/>
        </p:nvSpPr>
        <p:spPr>
          <a:xfrm xmlns:a="http://schemas.openxmlformats.org/drawingml/2006/main">
            <a:off x="0" y="0"/>
            <a:ext cx="8191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4">
              <a:alpha val="96000"/>
            </a:srgbClr>
          </a:solidFill>
          <a:ln xmlns:a="http://schemas.openxmlformats.org/drawingml/2006/main" w="0">
            <a:solidFill>
              <a:srgbClr val="F3EFE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AQUA IMPACT STORY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B8EA3"/>
                </a:solidFill>
                <a:latin typeface="Arial"/>
                <a:ea typeface="Arial"/>
              </a:rPr>
              <a:t>AQUA IMPACT STORY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D4150"/>
                </a:solidFill>
                <a:latin typeface="Arial"/>
                <a:ea typeface="Arial"/>
              </a:rPr>
              <a:t>Turn the shared invitation into an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D4150"/>
                </a:solidFill>
                <a:latin typeface="Arial"/>
                <a:ea typeface="Arial"/>
              </a:rPr>
              <a:t>action plan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B9D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0B8EA3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D4150"/>
                </a:solidFill>
                <a:latin typeface="Arial"/>
                <a:ea typeface="Arial"/>
              </a:rPr>
              <a:t>Promise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4150"/>
                </a:solidFill>
                <a:latin typeface="Arial"/>
                <a:ea typeface="Arial"/>
              </a:rPr>
              <a:t>The proposition is legible.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D4150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D4150"/>
                </a:solidFill>
                <a:latin typeface="Arial"/>
                <a:ea typeface="Arial"/>
              </a:rPr>
              <a:t>Proof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4150"/>
                </a:solidFill>
                <a:latin typeface="Arial"/>
                <a:ea typeface="Arial"/>
              </a:rPr>
              <a:t>The response is measurable.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0B8EA3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D4150"/>
                </a:solidFill>
                <a:latin typeface="Arial"/>
                <a:ea typeface="Arial"/>
              </a:rPr>
              <a:t>Move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4150"/>
                </a:solidFill>
                <a:latin typeface="Arial"/>
                <a:ea typeface="Arial"/>
              </a:rPr>
              <a:t>Give the audience one action.</a:t>
            </a:r>
            <a:endParaRPr lang="en-US"/>
          </a:p>
        </p:txBody>
      </p:sp>
      <p:sp>
        <p:nvSpPr>
          <p:cNvPr id="20" name="next-rule"/>
          <p:cNvSpPr/>
          <p:nvPr/>
        </p:nvSpPr>
        <p:spPr>
          <a:xfrm xmlns:a="http://schemas.openxmlformats.org/drawingml/2006/main">
            <a:off x="10668000" y="371475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0668000" y="40386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B8EA3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0668000" y="45148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D4150"/>
                </a:solidFill>
                <a:latin typeface="Arial"/>
                <a:ea typeface="Arial"/>
              </a:rPr>
              <a:t>Publish the invitation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0668000" y="5600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C9B9D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