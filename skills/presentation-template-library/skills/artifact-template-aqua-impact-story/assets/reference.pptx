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564a21b8ad7b42f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bdd32fb5cfa65986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c7b73f8fac405495_1" /><Relationship Type="http://schemas.openxmlformats.org/officeDocument/2006/relationships/image" Target="/ppt/media/image3.jpg" Id="rIdOfficeKitImage026be3a43029630d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092dd3ee80187530_1" /><Relationship Type="http://schemas.openxmlformats.org/officeDocument/2006/relationships/chart" Target="/ppt/slides/charts/chart1.xml" Id="R4725cb462958439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7790b68b5d8fcd92_1" /><Relationship Type="http://schemas.openxmlformats.org/officeDocument/2006/relationships/image" Target="/ppt/media/image6.jpg" Id="rIdOfficeKitImaged3ade97fd9ca0fdd_1" /><Relationship Type="http://schemas.openxmlformats.org/officeDocument/2006/relationships/image" Target="/ppt/media/image.jpg" Id="rIdOfficeKitImagebdd32fb5cfa65986_1" /><Relationship Type="http://schemas.openxmlformats.org/officeDocument/2006/relationships/image" Target="/ppt/media/image2.jpg" Id="rIdOfficeKitImagec7b73f8fac405495_1" /><Relationship Type="http://schemas.openxmlformats.org/officeDocument/2006/relationships/image" Target="/ppt/media/image3.jpg" Id="rIdOfficeKitImage026be3a43029630d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092dd3ee80187530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7790b68b5d8fcd92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by cohort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0B8EA3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51</c:v>
              </c:pt>
              <c:pt idx="2">
                <c:v>58</c:v>
              </c:pt>
              <c:pt idx="3">
                <c:v>64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C9B9D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43</c:v>
              </c:pt>
              <c:pt idx="2">
                <c:v>45</c:v>
              </c:pt>
              <c:pt idx="3">
                <c:v>47</c:v>
              </c:pt>
              <c:pt idx="4">
                <c:v>48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bdd32fb5cfa65986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ditorial-cover-scrim"/>
          <p:cNvSpPr/>
          <p:nvPr/>
        </p:nvSpPr>
        <p:spPr>
          <a:xfrm xmlns:a="http://schemas.openxmlformats.org/drawingml/2006/main">
            <a:off x="0" y="0"/>
            <a:ext cx="7239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150">
              <a:alpha val="84000"/>
            </a:srgbClr>
          </a:solidFill>
          <a:ln xmlns:a="http://schemas.openxmlformats.org/drawingml/2006/main" w="0">
            <a:solidFill>
              <a:srgbClr val="1D415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80010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B8EA3"/>
                </a:solidFill>
                <a:latin typeface="Arial"/>
                <a:ea typeface="Arial"/>
              </a:rPr>
              <a:t>PROMOTION · OFFICEKIT CALIBRATION</a:t>
            </a:r>
            <a:endParaRPr lang="en-US"/>
          </a:p>
        </p:txBody>
      </p:sp>
      <p:sp>
        <p:nvSpPr>
          <p:cNvPr id="4" name="cover-title"/>
          <p:cNvSpPr txBox="1"/>
          <p:nvPr/>
        </p:nvSpPr>
        <p:spPr>
          <a:xfrm xmlns:a="http://schemas.openxmlformats.org/drawingml/2006/main">
            <a:off x="914400" y="1962150"/>
            <a:ext cx="5810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FFFFF"/>
                </a:solidFill>
                <a:latin typeface="Arial"/>
                <a:ea typeface="Arial"/>
              </a:rPr>
              <a:t>Aqua Impact Story: a claim worth testing</a:t>
            </a:r>
            <a:endParaRPr lang="en-US"/>
          </a:p>
        </p:txBody>
      </p:sp>
      <p:sp>
        <p:nvSpPr>
          <p:cNvPr id="5" name="cover-subtitle"/>
          <p:cNvSpPr txBox="1"/>
          <p:nvPr/>
        </p:nvSpPr>
        <p:spPr>
          <a:xfrm xmlns:a="http://schemas.openxmlformats.org/drawingml/2006/main">
            <a:off x="952500" y="36385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F0F2F2"/>
                </a:solidFill>
                <a:latin typeface="Arial"/>
                <a:ea typeface="Arial"/>
              </a:rPr>
              <a:t>A clean-room reference for a visual proposition.</a:t>
            </a:r>
            <a:endParaRPr lang="en-US"/>
          </a:p>
        </p:txBody>
      </p:sp>
      <p:sp>
        <p:nvSpPr>
          <p:cNvPr id="6" name="cover-photo-rule"/>
          <p:cNvSpPr/>
          <p:nvPr/>
        </p:nvSpPr>
        <p:spPr>
          <a:xfrm xmlns:a="http://schemas.openxmlformats.org/drawingml/2006/main">
            <a:off x="914400" y="4533900"/>
            <a:ext cx="489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cover-thesis"/>
          <p:cNvSpPr txBox="1"/>
          <p:nvPr/>
        </p:nvSpPr>
        <p:spPr>
          <a:xfrm xmlns:a="http://schemas.openxmlformats.org/drawingml/2006/main">
            <a:off x="952500" y="4895850"/>
            <a:ext cx="571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950" b="1">
                <a:solidFill>
                  <a:srgbClr val="FFFFFF"/>
                </a:solidFill>
                <a:latin typeface="Arial"/>
                <a:ea typeface="Arial"/>
              </a:rPr>
              <a:t>A proposition earns attention when it gives a next move.</a:t>
            </a:r>
            <a:endParaRPr lang="en-US"/>
          </a:p>
        </p:txBody>
      </p:sp>
      <p:sp>
        <p:nvSpPr>
          <p:cNvPr id="8" name="cover-source"/>
          <p:cNvSpPr txBox="1"/>
          <p:nvPr/>
        </p:nvSpPr>
        <p:spPr>
          <a:xfrm xmlns:a="http://schemas.openxmlformats.org/drawingml/2006/main">
            <a:off x="952500" y="73342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F0F2F2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F0F2F2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bg>
      <p:bgPr>
        <a:blipFill xmlns:a="http://schemas.openxmlformats.org/drawingml/2006/main">
          <a:blip xmlns:r="http://schemas.openxmlformats.org/officeDocument/2006/relationships" r:embed="rIdOfficeKitImagec7b73f8fac405495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rgument-paper-scrim"/>
          <p:cNvSpPr/>
          <p:nvPr/>
        </p:nvSpPr>
        <p:spPr>
          <a:xfrm xmlns:a="http://schemas.openxmlformats.org/drawingml/2006/main">
            <a:off x="0" y="0"/>
            <a:ext cx="8191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>
              <a:alpha val="96000"/>
            </a:srgbClr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AQUA IMPACT STORY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AQUA IMPACT STORY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D4150"/>
                </a:solidFill>
                <a:latin typeface="Arial"/>
                <a:ea typeface="Arial"/>
              </a:rPr>
              <a:t>The proposition is the page's visual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D4150"/>
                </a:solidFill>
                <a:latin typeface="Arial"/>
                <a:ea typeface="Arial"/>
              </a:rPr>
              <a:t>center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Scale, crop, and color invite attention without hiding the evidence.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motion-kicker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B8EA3"/>
                </a:solidFill>
                <a:latin typeface="Arial"/>
                <a:ea typeface="Arial"/>
              </a:rPr>
              <a:t>ONE PROPOSITION</a:t>
            </a:r>
            <a:endParaRPr lang="en-US"/>
          </a:p>
        </p:txBody>
      </p:sp>
      <p:sp>
        <p:nvSpPr>
          <p:cNvPr id="9" name="promotion-headline"/>
          <p:cNvSpPr txBox="1"/>
          <p:nvPr/>
        </p:nvSpPr>
        <p:spPr>
          <a:xfrm xmlns:a="http://schemas.openxmlformats.org/drawingml/2006/main">
            <a:off x="1104900" y="37909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1D4150"/>
                </a:solidFill>
                <a:latin typeface="Arial"/>
                <a:ea typeface="Arial"/>
              </a:rPr>
              <a:t>Make the next action visible.</a:t>
            </a:r>
            <a:endParaRPr lang="en-US"/>
          </a:p>
        </p:txBody>
      </p:sp>
      <p:sp>
        <p:nvSpPr>
          <p:cNvPr id="10" name="promotion-body"/>
          <p:cNvSpPr txBox="1"/>
          <p:nvPr/>
        </p:nvSpPr>
        <p:spPr>
          <a:xfrm xmlns:a="http://schemas.openxmlformats.org/drawingml/2006/main">
            <a:off x="1104900" y="47625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1D4150"/>
                </a:solidFill>
                <a:latin typeface="Arial"/>
                <a:ea typeface="Arial"/>
              </a:rPr>
              <a:t>A clear invitation earns attention when evidence and access arrive together.</a:t>
            </a:r>
            <a:endParaRPr lang="en-US"/>
          </a:p>
        </p:txBody>
      </p:sp>
      <p:pic>
        <p:nvPicPr>
          <p:cNvPr id="11" name="promotion-hero-fram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026be3a43029630d_1"/>
          <a:srcRect xmlns:a="http://schemas.openxmlformats.org/drawingml/2006/main" l="0" t="31920" r="0" b="3192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3143250"/>
            <a:ext cx="4000500" cy="2571750"/>
          </a:xfrm>
          <a:prstGeom xmlns:a="http://schemas.openxmlformats.org/drawingml/2006/main" prst="rect">
            <a:avLst/>
          </a:prstGeom>
        </p:spPr>
      </p:pic>
      <p:sp>
        <p:nvSpPr>
          <p:cNvPr id="12" name="promotion-image-rule"/>
          <p:cNvSpPr/>
          <p:nvPr/>
        </p:nvSpPr>
        <p:spPr>
          <a:xfrm xmlns:a="http://schemas.openxmlformats.org/drawingml/2006/main">
            <a:off x="9525000" y="59055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promotion-image-label"/>
          <p:cNvSpPr txBox="1"/>
          <p:nvPr/>
        </p:nvSpPr>
        <p:spPr>
          <a:xfrm xmlns:a="http://schemas.openxmlformats.org/drawingml/2006/main">
            <a:off x="9525000" y="6153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0B8EA3"/>
                </a:solidFill>
                <a:latin typeface="Arial"/>
                <a:ea typeface="Arial"/>
              </a:rPr>
              <a:t>INVITE · PROVE · MOVE</a:t>
            </a:r>
            <a:endParaRPr lang="en-US"/>
          </a:p>
        </p:txBody>
      </p:sp>
      <p:sp>
        <p:nvSpPr>
          <p:cNvPr id="14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15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bg>
      <p:bgPr>
        <a:blipFill xmlns:a="http://schemas.openxmlformats.org/drawingml/2006/main">
          <a:blip xmlns:r="http://schemas.openxmlformats.org/officeDocument/2006/relationships" r:embed="rIdOfficeKitImage092dd3ee80187530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vidence-paper-scrim"/>
          <p:cNvSpPr/>
          <p:nvPr/>
        </p:nvSpPr>
        <p:spPr>
          <a:xfrm xmlns:a="http://schemas.openxmlformats.org/drawingml/2006/main">
            <a:off x="0" y="0"/>
            <a:ext cx="8191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>
              <a:alpha val="96000"/>
            </a:srgbClr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AQUA IMPACT STORY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AQUA IMPACT STORY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D4150"/>
                </a:solidFill>
                <a:latin typeface="Arial"/>
                <a:ea typeface="Arial"/>
              </a:rPr>
              <a:t>The signal grows when the invitation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D4150"/>
                </a:solidFill>
                <a:latin typeface="Arial"/>
                <a:ea typeface="Arial"/>
              </a:rPr>
              <a:t>stays measurable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Illustrative reach and response · source and measurement convention remain attached.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725cb4629584397"/>
          </a:graphicData>
        </a:graphic>
      </p:graphicFrame>
      <p:sp>
        <p:nvSpPr>
          <p:cNvPr id="9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0B8EA3"/>
                </a:solidFill>
                <a:latin typeface="Arial"/>
                <a:ea typeface="Arial"/>
              </a:rPr>
              <a:t>68</a:t>
            </a:r>
            <a:endParaRPr lang="en-US"/>
          </a:p>
        </p:txBody>
      </p:sp>
      <p:sp>
        <p:nvSpPr>
          <p:cNvPr id="10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qualified response · campaign close</a:t>
            </a:r>
            <a:endParaRPr lang="en-US"/>
          </a:p>
        </p:txBody>
      </p:sp>
      <p:sp>
        <p:nvSpPr>
          <p:cNvPr id="11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D4150"/>
                </a:solidFill>
                <a:latin typeface="Arial"/>
                <a:ea typeface="Arial"/>
              </a:rPr>
              <a:t>Reach is useful only when the</a:t>
            </a:r>
            <a:endParaRPr lang="en-US"/>
          </a:p>
          <a:p xmlns:a="http://schemas.openxmlformats.org/drawingml/2006/main">
            <a:r>
              <a:rPr lang="en-US" sz="1350" b="1">
                <a:solidFill>
                  <a:srgbClr val="1D4150"/>
                </a:solidFill>
                <a:latin typeface="Arial"/>
                <a:ea typeface="Arial"/>
              </a:rPr>
              <a:t>audience can see and take the</a:t>
            </a:r>
            <a:endParaRPr lang="en-US"/>
          </a:p>
          <a:p xmlns:a="http://schemas.openxmlformats.org/drawingml/2006/main">
            <a:r>
              <a:rPr lang="en-US" sz="1350" b="1">
                <a:solidFill>
                  <a:srgbClr val="1D4150"/>
                </a:solidFill>
                <a:latin typeface="Arial"/>
                <a:ea typeface="Arial"/>
              </a:rPr>
              <a:t>next step.</a:t>
            </a:r>
            <a:endParaRPr lang="en-US"/>
          </a:p>
        </p:txBody>
      </p:sp>
      <p:sp>
        <p:nvSpPr>
          <p:cNvPr id="1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D4150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/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AQUA IMPACT STORY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AQUA IMPACT STORY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D4150"/>
                </a:solidFill>
                <a:latin typeface="Arial"/>
                <a:ea typeface="Arial"/>
              </a:rPr>
              <a:t>The same idea can hold several views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Unequal image frames · visual variety without decorative filler.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8" name="image-evidence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7790b68b5d8fcd92_1"/>
          <a:srcRect xmlns:a="http://schemas.openxmlformats.org/drawingml/2006/main" l="0" t="31971" r="0" b="3197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90600" y="3162300"/>
            <a:ext cx="3714750" cy="2381250"/>
          </a:xfrm>
          <a:prstGeom xmlns:a="http://schemas.openxmlformats.org/drawingml/2006/main" prst="rect">
            <a:avLst/>
          </a:prstGeom>
        </p:spPr>
      </p:pic>
      <p:pic>
        <p:nvPicPr>
          <p:cNvPr id="9" name="image-evidence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3ade97fd9ca0fdd_1"/>
          <a:srcRect xmlns:a="http://schemas.openxmlformats.org/drawingml/2006/main" l="0" t="32338" r="0" b="3233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0" name="image-evidence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bdd32fb5cfa65986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1" name="image-evidence-3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7b73f8fac405495_1"/>
          <a:srcRect xmlns:a="http://schemas.openxmlformats.org/drawingml/2006/main" l="0" t="32338" r="0" b="3233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44577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2" name="image-evidence-4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026be3a43029630d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4457700"/>
            <a:ext cx="1790700" cy="1123950"/>
          </a:xfrm>
          <a:prstGeom xmlns:a="http://schemas.openxmlformats.org/drawingml/2006/main" prst="rect">
            <a:avLst/>
          </a:prstGeom>
        </p:spPr>
      </p:pic>
      <p:sp>
        <p:nvSpPr>
          <p:cNvPr id="13" name="image-matrix-label"/>
          <p:cNvSpPr txBox="1"/>
          <p:nvPr/>
        </p:nvSpPr>
        <p:spPr>
          <a:xfrm xmlns:a="http://schemas.openxmlformats.org/drawingml/2006/main">
            <a:off x="9620250" y="3314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B8EA3"/>
                </a:solidFill>
                <a:latin typeface="Arial"/>
                <a:ea typeface="Arial"/>
              </a:rPr>
              <a:t>IMAGE MATRIX</a:t>
            </a:r>
            <a:endParaRPr lang="en-US"/>
          </a:p>
        </p:txBody>
      </p:sp>
      <p:sp>
        <p:nvSpPr>
          <p:cNvPr id="14" name="image-matrix-title"/>
          <p:cNvSpPr txBox="1"/>
          <p:nvPr/>
        </p:nvSpPr>
        <p:spPr>
          <a:xfrm xmlns:a="http://schemas.openxmlformats.org/drawingml/2006/main">
            <a:off x="9620250" y="3790950"/>
            <a:ext cx="3714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D4150"/>
                </a:solidFill>
                <a:latin typeface="Arial"/>
                <a:ea typeface="Arial"/>
              </a:rPr>
              <a:t>One subject, five ways to notice it.</a:t>
            </a:r>
            <a:endParaRPr lang="en-US"/>
          </a:p>
        </p:txBody>
      </p:sp>
      <p:sp>
        <p:nvSpPr>
          <p:cNvPr id="15" name="image-matrix-body"/>
          <p:cNvSpPr txBox="1"/>
          <p:nvPr/>
        </p:nvSpPr>
        <p:spPr>
          <a:xfrm xmlns:a="http://schemas.openxmlformats.org/drawingml/2006/main">
            <a:off x="9620250" y="4953000"/>
            <a:ext cx="352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B9D"/>
                </a:solidFill>
                <a:latin typeface="Arial"/>
                <a:ea typeface="Arial"/>
              </a:rPr>
              <a:t>One dominant frame plus four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8C9B9D"/>
                </a:solidFill>
                <a:latin typeface="Arial"/>
                <a:ea typeface="Arial"/>
              </a:rPr>
              <a:t>supporting crops. Image carries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8C9B9D"/>
                </a:solidFill>
                <a:latin typeface="Arial"/>
                <a:ea typeface="Arial"/>
              </a:rPr>
              <a:t>mood; labels carry the claim.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092dd3ee80187530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>
              <a:alpha val="88000"/>
            </a:srgbClr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AQUA IMPACT STORY · VISUAL CARRIER</a:t>
            </a:r>
            <a:endParaRPr lang="en-US"/>
          </a:p>
        </p:txBody>
      </p:sp>
      <p:sp>
        <p:nvSpPr>
          <p:cNvPr id="4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1D4150"/>
                </a:solidFill>
                <a:latin typeface="Arial"/>
                <a:ea typeface="Arial"/>
              </a:rPr>
              <a:t>Let the subject do the work</a:t>
            </a:r>
            <a:endParaRPr lang="en-US"/>
          </a:p>
        </p:txBody>
      </p:sp>
      <p:sp>
        <p:nvSpPr>
          <p:cNvPr id="5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D4150"/>
                </a:solidFill>
                <a:latin typeface="Arial"/>
                <a:ea typeface="Arial"/>
              </a:rPr>
              <a:t>A strong crop gives the proposition a place to live.</a:t>
            </a:r>
            <a:endParaRPr lang="en-US"/>
          </a:p>
        </p:txBody>
      </p:sp>
      <p:sp>
        <p:nvSpPr>
          <p:cNvPr id="6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THE IMAGE IS EVIDENCE, NOT FILL</a:t>
            </a:r>
            <a:endParaRPr lang="en-US"/>
          </a:p>
        </p:txBody>
      </p:sp>
      <p:sp>
        <p:nvSpPr>
          <p:cNvPr id="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bg>
      <p:bgPr>
        <a:blipFill xmlns:a="http://schemas.openxmlformats.org/drawingml/2006/main">
          <a:blip xmlns:r="http://schemas.openxmlformats.org/officeDocument/2006/relationships" r:embed="rIdOfficeKitImage7790b68b5d8fcd92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lose-paper-scrim"/>
          <p:cNvSpPr/>
          <p:nvPr/>
        </p:nvSpPr>
        <p:spPr>
          <a:xfrm xmlns:a="http://schemas.openxmlformats.org/drawingml/2006/main">
            <a:off x="0" y="0"/>
            <a:ext cx="8191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>
              <a:alpha val="96000"/>
            </a:srgbClr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AQUA IMPACT STORY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AQUA IMPACT STORY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D4150"/>
                </a:solidFill>
                <a:latin typeface="Arial"/>
                <a:ea typeface="Arial"/>
              </a:rPr>
              <a:t>Turn the shared invitation into an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D4150"/>
                </a:solidFill>
                <a:latin typeface="Arial"/>
                <a:ea typeface="Arial"/>
              </a:rPr>
              <a:t>action plan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0B8EA3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4150"/>
                </a:solidFill>
                <a:latin typeface="Arial"/>
                <a:ea typeface="Arial"/>
              </a:rPr>
              <a:t>Promise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4150"/>
                </a:solidFill>
                <a:latin typeface="Arial"/>
                <a:ea typeface="Arial"/>
              </a:rPr>
              <a:t>The proposition is legible.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D4150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4150"/>
                </a:solidFill>
                <a:latin typeface="Arial"/>
                <a:ea typeface="Arial"/>
              </a:rPr>
              <a:t>Proof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4150"/>
                </a:solidFill>
                <a:latin typeface="Arial"/>
                <a:ea typeface="Arial"/>
              </a:rPr>
              <a:t>The response is measurable.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0B8EA3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4150"/>
                </a:solidFill>
                <a:latin typeface="Arial"/>
                <a:ea typeface="Arial"/>
              </a:rPr>
              <a:t>Move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4150"/>
                </a:solidFill>
                <a:latin typeface="Arial"/>
                <a:ea typeface="Arial"/>
              </a:rPr>
              <a:t>Give the audience one action.</a:t>
            </a:r>
            <a:endParaRPr lang="en-US"/>
          </a:p>
        </p:txBody>
      </p:sp>
      <p:sp>
        <p:nvSpPr>
          <p:cNvPr id="20" name="next-rule"/>
          <p:cNvSpPr/>
          <p:nvPr/>
        </p:nvSpPr>
        <p:spPr>
          <a:xfrm xmlns:a="http://schemas.openxmlformats.org/drawingml/2006/main">
            <a:off x="10668000" y="3714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0668000" y="4038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B8EA3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0668000" y="45148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D4150"/>
                </a:solidFill>
                <a:latin typeface="Arial"/>
                <a:ea typeface="Arial"/>
              </a:rPr>
              <a:t>Publish the invitation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0668000" y="560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C9B9D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