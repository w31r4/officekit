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11a4ba679a243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68aebf613832e5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1b6b179a3c4fe9dd_1" /><Relationship Type="http://schemas.openxmlformats.org/officeDocument/2006/relationships/image" Target="/ppt/media/image3.jpg" Id="rIdOfficeKitImage6785cc6781fd2511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c49ddd99c59beda0_1" /></Relationships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qua-cover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qua-cover-photo" descr="Documentary community landscape used as the cover carrier"/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20080" r="0" b="200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8058150" cy="8572500"/>
          </a:xfrm>
          <a:prstGeom xmlns:a="http://schemas.openxmlformats.org/drawingml/2006/main" prst="rect">
            <a:avLst/>
          </a:prstGeom>
        </p:spPr>
      </p:pic>
      <p:sp>
        <p:nvSpPr>
          <p:cNvPr id="4" name="aqua-cover-photo-edge"/>
          <p:cNvSpPr/>
          <p:nvPr/>
        </p:nvSpPr>
        <p:spPr>
          <a:xfrm xmlns:a="http://schemas.openxmlformats.org/drawingml/2006/main">
            <a:off x="7810500" y="0"/>
            <a:ext cx="6858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qua-cover-title-field"/>
          <p:cNvSpPr/>
          <p:nvPr/>
        </p:nvSpPr>
        <p:spPr>
          <a:xfrm xmlns:a="http://schemas.openxmlformats.org/drawingml/2006/main">
            <a:off x="8496300" y="0"/>
            <a:ext cx="67437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qua-cover-arc"/>
          <p:cNvSpPr/>
          <p:nvPr/>
        </p:nvSpPr>
        <p:spPr>
          <a:xfrm xmlns:a="http://schemas.openxmlformats.org/drawingml/2006/main">
            <a:off x="12573000" y="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>
              <a:alpha val="62000"/>
            </a:srgbClr>
          </a:solidFill>
          <a:ln xmlns:a="http://schemas.openxmlformats.org/drawingml/2006/main" w="0">
            <a:solidFill>
              <a:srgbClr val="5493D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aqua-cover-eyebrow"/>
          <p:cNvSpPr txBox="1"/>
          <p:nvPr/>
        </p:nvSpPr>
        <p:spPr>
          <a:xfrm xmlns:a="http://schemas.openxmlformats.org/drawingml/2006/main">
            <a:off x="9372600" y="800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ANNUAL IMPACT REPORT  ·  OFFICEKIT CALIBRATION</a:t>
            </a:r>
            <a:endParaRPr lang="en-US"/>
          </a:p>
        </p:txBody>
      </p:sp>
      <p:sp>
        <p:nvSpPr>
          <p:cNvPr id="8" name="cover-title"/>
          <p:cNvSpPr txBox="1"/>
          <p:nvPr/>
        </p:nvSpPr>
        <p:spPr>
          <a:xfrm xmlns:a="http://schemas.openxmlformats.org/drawingml/2006/main">
            <a:off x="9372600" y="1676400"/>
            <a:ext cx="5429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4150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9" name="aqua-cover-claim"/>
          <p:cNvSpPr txBox="1"/>
          <p:nvPr/>
        </p:nvSpPr>
        <p:spPr>
          <a:xfrm xmlns:a="http://schemas.openxmlformats.org/drawingml/2006/main">
            <a:off x="9410700" y="3009900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D4150"/>
                </a:solidFill>
                <a:latin typeface="Arial"/>
                <a:ea typeface="Arial"/>
              </a:rPr>
              <a:t>Proof that a small watershed can change a whole neighborhood.</a:t>
            </a:r>
            <a:endParaRPr lang="en-US"/>
          </a:p>
        </p:txBody>
      </p:sp>
      <p:sp>
        <p:nvSpPr>
          <p:cNvPr id="10" name="aqua-cover-subtitle"/>
          <p:cNvSpPr txBox="1"/>
          <p:nvPr/>
        </p:nvSpPr>
        <p:spPr>
          <a:xfrm xmlns:a="http://schemas.openxmlformats.org/drawingml/2006/main">
            <a:off x="9410700" y="38481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1D4150"/>
                </a:solidFill>
                <a:latin typeface="Arial"/>
                <a:ea typeface="Arial"/>
              </a:rPr>
              <a:t>A documentary reference for public work, measured honestly.</a:t>
            </a:r>
            <a:endParaRPr lang="en-US"/>
          </a:p>
        </p:txBody>
      </p:sp>
      <p:sp>
        <p:nvSpPr>
          <p:cNvPr id="11" name="aqua-cover-rule"/>
          <p:cNvSpPr/>
          <p:nvPr/>
        </p:nvSpPr>
        <p:spPr>
          <a:xfrm xmlns:a="http://schemas.openxmlformats.org/drawingml/2006/main">
            <a:off x="9410700" y="4305300"/>
            <a:ext cx="440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aqua-cover-basis"/>
          <p:cNvSpPr txBox="1"/>
          <p:nvPr/>
        </p:nvSpPr>
        <p:spPr>
          <a:xfrm xmlns:a="http://schemas.openxmlformats.org/drawingml/2006/main">
            <a:off x="9410700" y="45720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6 sites  ·  12 months  ·  3 linked outcomes</a:t>
            </a:r>
            <a:endParaRPr lang="en-US"/>
          </a:p>
        </p:txBody>
      </p:sp>
      <p:sp>
        <p:nvSpPr>
          <p:cNvPr id="13" name="aqua-cover-band"/>
          <p:cNvSpPr/>
          <p:nvPr/>
        </p:nvSpPr>
        <p:spPr>
          <a:xfrm xmlns:a="http://schemas.openxmlformats.org/drawingml/2006/main">
            <a:off x="0" y="7448550"/>
            <a:ext cx="15240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qua-cover-band-text"/>
          <p:cNvSpPr txBox="1"/>
          <p:nvPr/>
        </p:nvSpPr>
        <p:spPr>
          <a:xfrm xmlns:a="http://schemas.openxmlformats.org/drawingml/2006/main">
            <a:off x="914400" y="7734300"/>
            <a:ext cx="895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CARE FOR THE PLACE  ·  COUNT WHAT CHANGED</a:t>
            </a:r>
            <a:endParaRPr lang="en-US"/>
          </a:p>
        </p:txBody>
      </p:sp>
      <p:sp>
        <p:nvSpPr>
          <p:cNvPr id="15" name="aqua-cover-source"/>
          <p:cNvSpPr txBox="1"/>
          <p:nvPr/>
        </p:nvSpPr>
        <p:spPr>
          <a:xfrm xmlns:a="http://schemas.openxmlformats.org/drawingml/2006/main">
            <a:off x="914400" y="8267700"/>
            <a:ext cx="1066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6" name="aqua-cover-page-number"/>
          <p:cNvSpPr txBox="1"/>
          <p:nvPr/>
        </p:nvSpPr>
        <p:spPr>
          <a:xfrm xmlns:a="http://schemas.openxmlformats.org/drawingml/2006/main">
            <a:off x="13335000" y="82677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qua-outer-mat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qua-inner-field"/>
          <p:cNvSpPr/>
          <p:nvPr/>
        </p:nvSpPr>
        <p:spPr>
          <a:xfrm xmlns:a="http://schemas.openxmlformats.org/drawingml/2006/main">
            <a:off x="323850" y="266700"/>
            <a:ext cx="14592300" cy="803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-meta"/>
          <p:cNvSpPr txBox="1"/>
          <p:nvPr/>
        </p:nvSpPr>
        <p:spPr>
          <a:xfrm xmlns:a="http://schemas.openxmlformats.org/drawingml/2006/main">
            <a:off x="8763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8C9B9D"/>
                </a:solidFill>
                <a:latin typeface="Arial"/>
                <a:ea typeface="Arial"/>
              </a:rPr>
              <a:t>AQUA IMPACT STORY  ·  BASELINE ASSESSMENT</a:t>
            </a:r>
            <a:endParaRPr lang="en-US"/>
          </a:p>
        </p:txBody>
      </p:sp>
      <p:sp>
        <p:nvSpPr>
          <p:cNvPr id="5" name="aqua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8C9B9D"/>
                </a:solidFill>
                <a:latin typeface="Arial"/>
                <a:ea typeface="Arial"/>
              </a:rPr>
              <a:t>02 / 06</a:t>
            </a:r>
            <a:endParaRPr lang="en-US"/>
          </a:p>
        </p:txBody>
      </p:sp>
      <p:sp>
        <p:nvSpPr>
          <p:cNvPr id="6" name="argument-title"/>
          <p:cNvSpPr txBox="1"/>
          <p:nvPr/>
        </p:nvSpPr>
        <p:spPr>
          <a:xfrm xmlns:a="http://schemas.openxmlformats.org/drawingml/2006/main">
            <a:off x="914400" y="1066800"/>
            <a:ext cx="1114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D4150"/>
                </a:solidFill>
                <a:latin typeface="Arial"/>
                <a:ea typeface="Arial"/>
              </a:rPr>
              <a:t>Five pressure points converge on one connected intervention.</a:t>
            </a:r>
            <a:endParaRPr lang="en-US"/>
          </a:p>
        </p:txBody>
      </p:sp>
      <p:sp>
        <p:nvSpPr>
          <p:cNvPr id="7" name="argument-basis"/>
          <p:cNvSpPr txBox="1"/>
          <p:nvPr/>
        </p:nvSpPr>
        <p:spPr>
          <a:xfrm xmlns:a="http://schemas.openxmlformats.org/drawingml/2006/main">
            <a:off x="952500" y="17335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The map is not decoration: position tells us where the next action earns attention.</a:t>
            </a:r>
            <a:endParaRPr lang="en-US"/>
          </a:p>
        </p:txBody>
      </p:sp>
      <p:sp>
        <p:nvSpPr>
          <p:cNvPr id="8" name="aqua-map-rule"/>
          <p:cNvSpPr/>
          <p:nvPr/>
        </p:nvSpPr>
        <p:spPr>
          <a:xfrm xmlns:a="http://schemas.openxmlformats.org/drawingml/2006/main">
            <a:off x="952500" y="2400300"/>
            <a:ext cx="1123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aqua-map-label"/>
          <p:cNvSpPr txBox="1"/>
          <p:nvPr/>
        </p:nvSpPr>
        <p:spPr>
          <a:xfrm xmlns:a="http://schemas.openxmlformats.org/drawingml/2006/main">
            <a:off x="952500" y="26098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DIRECT-LABELLED SITES</a:t>
            </a:r>
            <a:endParaRPr lang="en-US"/>
          </a:p>
        </p:txBody>
      </p:sp>
      <p:sp>
        <p:nvSpPr>
          <p:cNvPr id="10" name="aqua-map-surface"/>
          <p:cNvSpPr/>
          <p:nvPr/>
        </p:nvSpPr>
        <p:spPr>
          <a:xfrm xmlns:a="http://schemas.openxmlformats.org/drawingml/2006/main">
            <a:off x="952500" y="3009900"/>
            <a:ext cx="7810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9F6"/>
          </a:solidFill>
          <a:ln xmlns:a="http://schemas.openxmlformats.org/drawingml/2006/main" w="12700">
            <a:solidFill>
              <a:srgbClr val="5493D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qua-region-0"/>
          <p:cNvSpPr/>
          <p:nvPr/>
        </p:nvSpPr>
        <p:spPr>
          <a:xfrm xmlns:a="http://schemas.openxmlformats.org/drawingml/2006/main">
            <a:off x="1371600" y="4000500"/>
            <a:ext cx="180975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>
              <a:alpha val="42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aqua-region-1"/>
          <p:cNvSpPr/>
          <p:nvPr/>
        </p:nvSpPr>
        <p:spPr>
          <a:xfrm xmlns:a="http://schemas.openxmlformats.org/drawingml/2006/main">
            <a:off x="3162300" y="3543300"/>
            <a:ext cx="219075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8EA3">
              <a:alpha val="64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qua-region-2"/>
          <p:cNvSpPr/>
          <p:nvPr/>
        </p:nvSpPr>
        <p:spPr>
          <a:xfrm xmlns:a="http://schemas.openxmlformats.org/drawingml/2006/main">
            <a:off x="5257800" y="4171950"/>
            <a:ext cx="158115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>
              <a:alpha val="42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qua-region-3"/>
          <p:cNvSpPr/>
          <p:nvPr/>
        </p:nvSpPr>
        <p:spPr>
          <a:xfrm xmlns:a="http://schemas.openxmlformats.org/drawingml/2006/main">
            <a:off x="6667500" y="3333750"/>
            <a:ext cx="146685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8EA3">
              <a:alpha val="64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qua-region-4"/>
          <p:cNvSpPr/>
          <p:nvPr/>
        </p:nvSpPr>
        <p:spPr>
          <a:xfrm xmlns:a="http://schemas.openxmlformats.org/drawingml/2006/main">
            <a:off x="2286000" y="5010150"/>
            <a:ext cx="21907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C225">
              <a:alpha val="42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qua-region-5"/>
          <p:cNvSpPr/>
          <p:nvPr/>
        </p:nvSpPr>
        <p:spPr>
          <a:xfrm xmlns:a="http://schemas.openxmlformats.org/drawingml/2006/main">
            <a:off x="4838700" y="5219700"/>
            <a:ext cx="169545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493D3">
              <a:alpha val="64000"/>
            </a:srgbClr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qua-map-leader-0"/>
          <p:cNvSpPr/>
          <p:nvPr/>
        </p:nvSpPr>
        <p:spPr>
          <a:xfrm xmlns:a="http://schemas.openxmlformats.org/drawingml/2006/main">
            <a:off x="1790700" y="4038600"/>
            <a:ext cx="30480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qua-map-dot-0"/>
          <p:cNvSpPr/>
          <p:nvPr/>
        </p:nvSpPr>
        <p:spPr>
          <a:xfrm xmlns:a="http://schemas.openxmlformats.org/drawingml/2006/main">
            <a:off x="1695450" y="39433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qua-map-label-0"/>
          <p:cNvSpPr txBox="1"/>
          <p:nvPr/>
        </p:nvSpPr>
        <p:spPr>
          <a:xfrm xmlns:a="http://schemas.openxmlformats.org/drawingml/2006/main">
            <a:off x="2152650" y="37528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W01  North bank</a:t>
            </a:r>
            <a:endParaRPr lang="en-US"/>
          </a:p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42% pressure</a:t>
            </a:r>
            <a:endParaRPr lang="en-US"/>
          </a:p>
        </p:txBody>
      </p:sp>
      <p:sp>
        <p:nvSpPr>
          <p:cNvPr id="20" name="aqua-map-leader-1"/>
          <p:cNvSpPr/>
          <p:nvPr/>
        </p:nvSpPr>
        <p:spPr>
          <a:xfrm xmlns:a="http://schemas.openxmlformats.org/drawingml/2006/main">
            <a:off x="3848100" y="3562350"/>
            <a:ext cx="30480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qua-map-dot-1"/>
          <p:cNvSpPr/>
          <p:nvPr/>
        </p:nvSpPr>
        <p:spPr>
          <a:xfrm xmlns:a="http://schemas.openxmlformats.org/drawingml/2006/main">
            <a:off x="3752850" y="3467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8EA3"/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qua-map-label-1"/>
          <p:cNvSpPr txBox="1"/>
          <p:nvPr/>
        </p:nvSpPr>
        <p:spPr>
          <a:xfrm xmlns:a="http://schemas.openxmlformats.org/drawingml/2006/main">
            <a:off x="4210050" y="32766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W04  Waterworks</a:t>
            </a:r>
            <a:endParaRPr lang="en-US"/>
          </a:p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68% pressure</a:t>
            </a:r>
            <a:endParaRPr lang="en-US"/>
          </a:p>
        </p:txBody>
      </p:sp>
      <p:sp>
        <p:nvSpPr>
          <p:cNvPr id="23" name="aqua-map-leader-2"/>
          <p:cNvSpPr/>
          <p:nvPr/>
        </p:nvSpPr>
        <p:spPr>
          <a:xfrm xmlns:a="http://schemas.openxmlformats.org/drawingml/2006/main">
            <a:off x="7048500" y="3371850"/>
            <a:ext cx="30480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qua-map-dot-2"/>
          <p:cNvSpPr/>
          <p:nvPr/>
        </p:nvSpPr>
        <p:spPr>
          <a:xfrm xmlns:a="http://schemas.openxmlformats.org/drawingml/2006/main">
            <a:off x="6953250" y="32766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qua-map-label-2"/>
          <p:cNvSpPr txBox="1"/>
          <p:nvPr/>
        </p:nvSpPr>
        <p:spPr>
          <a:xfrm xmlns:a="http://schemas.openxmlformats.org/drawingml/2006/main">
            <a:off x="7410450" y="30861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W09  South inlet</a:t>
            </a:r>
            <a:endParaRPr lang="en-US"/>
          </a:p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55% pressure</a:t>
            </a:r>
            <a:endParaRPr lang="en-US"/>
          </a:p>
        </p:txBody>
      </p:sp>
      <p:sp>
        <p:nvSpPr>
          <p:cNvPr id="26" name="aqua-map-leader-3"/>
          <p:cNvSpPr/>
          <p:nvPr/>
        </p:nvSpPr>
        <p:spPr>
          <a:xfrm xmlns:a="http://schemas.openxmlformats.org/drawingml/2006/main">
            <a:off x="2647950" y="6000750"/>
            <a:ext cx="30480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qua-map-dot-3"/>
          <p:cNvSpPr/>
          <p:nvPr/>
        </p:nvSpPr>
        <p:spPr>
          <a:xfrm xmlns:a="http://schemas.openxmlformats.org/drawingml/2006/main">
            <a:off x="2552700" y="59055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254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qua-map-label-3"/>
          <p:cNvSpPr txBox="1"/>
          <p:nvPr/>
        </p:nvSpPr>
        <p:spPr>
          <a:xfrm xmlns:a="http://schemas.openxmlformats.org/drawingml/2006/main">
            <a:off x="3009900" y="5715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W12  Community edge</a:t>
            </a:r>
            <a:endParaRPr lang="en-US"/>
          </a:p>
          <a:p xmlns:a="http://schemas.openxmlformats.org/drawingml/2006/main">
            <a:r>
              <a:rPr lang="en-US" sz="1050" b="1">
                <a:solidFill>
                  <a:srgbClr val="1D4150"/>
                </a:solidFill>
                <a:latin typeface="Arial"/>
                <a:ea typeface="Arial"/>
              </a:rPr>
              <a:t>31% pressure</a:t>
            </a:r>
            <a:endParaRPr lang="en-US"/>
          </a:p>
        </p:txBody>
      </p:sp>
      <p:sp>
        <p:nvSpPr>
          <p:cNvPr id="29" name="aqua-map-note"/>
          <p:cNvSpPr txBox="1"/>
          <p:nvPr/>
        </p:nvSpPr>
        <p:spPr>
          <a:xfrm xmlns:a="http://schemas.openxmlformats.org/drawingml/2006/main">
            <a:off x="1238250" y="6324600"/>
            <a:ext cx="609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5/12 sites  ·  430 ha in the connected catchment</a:t>
            </a:r>
            <a:endParaRPr lang="en-US"/>
          </a:p>
        </p:txBody>
      </p:sp>
      <p:sp>
        <p:nvSpPr>
          <p:cNvPr id="30" name="aqua-argument-read-label"/>
          <p:cNvSpPr txBox="1"/>
          <p:nvPr/>
        </p:nvSpPr>
        <p:spPr>
          <a:xfrm xmlns:a="http://schemas.openxmlformats.org/drawingml/2006/main">
            <a:off x="9620250" y="31623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THE READ-THROUGH</a:t>
            </a:r>
            <a:endParaRPr lang="en-US"/>
          </a:p>
        </p:txBody>
      </p:sp>
      <p:sp>
        <p:nvSpPr>
          <p:cNvPr id="31" name="aqua-argument-read-title"/>
          <p:cNvSpPr txBox="1"/>
          <p:nvPr/>
        </p:nvSpPr>
        <p:spPr>
          <a:xfrm xmlns:a="http://schemas.openxmlformats.org/drawingml/2006/main">
            <a:off x="9620250" y="3600450"/>
            <a:ext cx="3714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The geography changes the intervention.</a:t>
            </a:r>
            <a:endParaRPr lang="en-US"/>
          </a:p>
        </p:txBody>
      </p:sp>
      <p:sp>
        <p:nvSpPr>
          <p:cNvPr id="32" name="aqua-argument-read-body"/>
          <p:cNvSpPr txBox="1"/>
          <p:nvPr/>
        </p:nvSpPr>
        <p:spPr>
          <a:xfrm xmlns:a="http://schemas.openxmlformats.org/drawingml/2006/main">
            <a:off x="9620250" y="4648200"/>
            <a:ext cx="361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Protect the connected sites first; visibility and activity follow from that choice.</a:t>
            </a:r>
            <a:endParaRPr lang="en-US"/>
          </a:p>
        </p:txBody>
      </p:sp>
      <p:sp>
        <p:nvSpPr>
          <p:cNvPr id="33" name="aqua-argument-stat-rule-0"/>
          <p:cNvSpPr/>
          <p:nvPr/>
        </p:nvSpPr>
        <p:spPr>
          <a:xfrm xmlns:a="http://schemas.openxmlformats.org/drawingml/2006/main">
            <a:off x="9620250" y="5791200"/>
            <a:ext cx="628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qua-argument-stat-value-0"/>
          <p:cNvSpPr txBox="1"/>
          <p:nvPr/>
        </p:nvSpPr>
        <p:spPr>
          <a:xfrm xmlns:a="http://schemas.openxmlformats.org/drawingml/2006/main">
            <a:off x="10477500" y="57531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1D4150"/>
                </a:solidFill>
                <a:latin typeface="Arial"/>
                <a:ea typeface="Arial"/>
              </a:rPr>
              <a:t>12</a:t>
            </a:r>
            <a:endParaRPr lang="en-US"/>
          </a:p>
        </p:txBody>
      </p:sp>
      <p:sp>
        <p:nvSpPr>
          <p:cNvPr id="35" name="aqua-argument-stat-label-0"/>
          <p:cNvSpPr txBox="1"/>
          <p:nvPr/>
        </p:nvSpPr>
        <p:spPr>
          <a:xfrm xmlns:a="http://schemas.openxmlformats.org/drawingml/2006/main">
            <a:off x="11811000" y="57912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sites assessed</a:t>
            </a:r>
            <a:endParaRPr lang="en-US"/>
          </a:p>
        </p:txBody>
      </p:sp>
      <p:sp>
        <p:nvSpPr>
          <p:cNvPr id="36" name="aqua-argument-stat-rule-1"/>
          <p:cNvSpPr/>
          <p:nvPr/>
        </p:nvSpPr>
        <p:spPr>
          <a:xfrm xmlns:a="http://schemas.openxmlformats.org/drawingml/2006/main">
            <a:off x="9620250" y="6343650"/>
            <a:ext cx="628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B9D"/>
          </a:solidFill>
          <a:ln xmlns:a="http://schemas.openxmlformats.org/drawingml/2006/main" w="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aqua-argument-stat-value-1"/>
          <p:cNvSpPr txBox="1"/>
          <p:nvPr/>
        </p:nvSpPr>
        <p:spPr>
          <a:xfrm xmlns:a="http://schemas.openxmlformats.org/drawingml/2006/main">
            <a:off x="10477500" y="6305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1D4150"/>
                </a:solidFill>
                <a:latin typeface="Arial"/>
                <a:ea typeface="Arial"/>
              </a:rPr>
              <a:t>286 ha</a:t>
            </a:r>
            <a:endParaRPr lang="en-US"/>
          </a:p>
        </p:txBody>
      </p:sp>
      <p:sp>
        <p:nvSpPr>
          <p:cNvPr id="38" name="aqua-argument-stat-label-1"/>
          <p:cNvSpPr txBox="1"/>
          <p:nvPr/>
        </p:nvSpPr>
        <p:spPr>
          <a:xfrm xmlns:a="http://schemas.openxmlformats.org/drawingml/2006/main">
            <a:off x="11811000" y="63436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priority habitat</a:t>
            </a:r>
            <a:endParaRPr lang="en-US"/>
          </a:p>
        </p:txBody>
      </p:sp>
      <p:sp>
        <p:nvSpPr>
          <p:cNvPr id="39" name="aqua-argument-stat-rule-2"/>
          <p:cNvSpPr/>
          <p:nvPr/>
        </p:nvSpPr>
        <p:spPr>
          <a:xfrm xmlns:a="http://schemas.openxmlformats.org/drawingml/2006/main">
            <a:off x="9620250" y="6896100"/>
            <a:ext cx="628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B9D"/>
          </a:solidFill>
          <a:ln xmlns:a="http://schemas.openxmlformats.org/drawingml/2006/main" w="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0" name="aqua-argument-stat-value-2"/>
          <p:cNvSpPr txBox="1"/>
          <p:nvPr/>
        </p:nvSpPr>
        <p:spPr>
          <a:xfrm xmlns:a="http://schemas.openxmlformats.org/drawingml/2006/main">
            <a:off x="10477500" y="68580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1D4150"/>
                </a:solidFill>
                <a:latin typeface="Arial"/>
                <a:ea typeface="Arial"/>
              </a:rPr>
              <a:t>39</a:t>
            </a:r>
            <a:endParaRPr lang="en-US"/>
          </a:p>
        </p:txBody>
      </p:sp>
      <p:sp>
        <p:nvSpPr>
          <p:cNvPr id="41" name="aqua-argument-stat-label-2"/>
          <p:cNvSpPr txBox="1"/>
          <p:nvPr/>
        </p:nvSpPr>
        <p:spPr>
          <a:xfrm xmlns:a="http://schemas.openxmlformats.org/drawingml/2006/main">
            <a:off x="11811000" y="689610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actions linked</a:t>
            </a:r>
            <a:endParaRPr lang="en-US"/>
          </a:p>
        </p:txBody>
      </p:sp>
      <p:sp>
        <p:nvSpPr>
          <p:cNvPr id="42" name="aqua-argument-source"/>
          <p:cNvSpPr txBox="1"/>
          <p:nvPr/>
        </p:nvSpPr>
        <p:spPr>
          <a:xfrm xmlns:a="http://schemas.openxmlformats.org/drawingml/2006/main">
            <a:off x="914400" y="82677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map regions are illustrative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qua-outer-mat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qua-inner-field"/>
          <p:cNvSpPr/>
          <p:nvPr/>
        </p:nvSpPr>
        <p:spPr>
          <a:xfrm xmlns:a="http://schemas.openxmlformats.org/drawingml/2006/main">
            <a:off x="323850" y="266700"/>
            <a:ext cx="14592300" cy="803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ED3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-meta"/>
          <p:cNvSpPr txBox="1"/>
          <p:nvPr/>
        </p:nvSpPr>
        <p:spPr>
          <a:xfrm xmlns:a="http://schemas.openxmlformats.org/drawingml/2006/main">
            <a:off x="8763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8C9B9D"/>
                </a:solidFill>
                <a:latin typeface="Arial"/>
                <a:ea typeface="Arial"/>
              </a:rPr>
              <a:t>AQUA IMPACT STORY  ·  ACTION CHAIN</a:t>
            </a:r>
            <a:endParaRPr lang="en-US"/>
          </a:p>
        </p:txBody>
      </p:sp>
      <p:sp>
        <p:nvSpPr>
          <p:cNvPr id="5" name="aqua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8C9B9D"/>
                </a:solidFill>
                <a:latin typeface="Arial"/>
                <a:ea typeface="Arial"/>
              </a:rPr>
              <a:t>03 / 06</a:t>
            </a:r>
            <a:endParaRPr lang="en-US"/>
          </a:p>
        </p:txBody>
      </p:sp>
      <p:sp>
        <p:nvSpPr>
          <p:cNvPr id="6" name="evidence-title"/>
          <p:cNvSpPr txBox="1"/>
          <p:nvPr/>
        </p:nvSpPr>
        <p:spPr>
          <a:xfrm xmlns:a="http://schemas.openxmlformats.org/drawingml/2006/main">
            <a:off x="914400" y="1066800"/>
            <a:ext cx="1152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Three linked moves turn a visible problem into a durable result.</a:t>
            </a:r>
            <a:endParaRPr lang="en-US"/>
          </a:p>
        </p:txBody>
      </p:sp>
      <p:sp>
        <p:nvSpPr>
          <p:cNvPr id="7" name="evidence-basis"/>
          <p:cNvSpPr txBox="1"/>
          <p:nvPr/>
        </p:nvSpPr>
        <p:spPr>
          <a:xfrm xmlns:a="http://schemas.openxmlformats.org/drawingml/2006/main">
            <a:off x="952500" y="17335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Each stage has a named output, a time window, and a measure that survives the handoff.</a:t>
            </a:r>
            <a:endParaRPr lang="en-US"/>
          </a:p>
        </p:txBody>
      </p:sp>
      <p:sp>
        <p:nvSpPr>
          <p:cNvPr id="8" name="aqua-chain-0"/>
          <p:cNvSpPr/>
          <p:nvPr/>
        </p:nvSpPr>
        <p:spPr>
          <a:xfrm xmlns:a="http://schemas.openxmlformats.org/drawingml/2006/main">
            <a:off x="952500" y="2971800"/>
            <a:ext cx="12954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9F6"/>
          </a:solidFill>
          <a:ln xmlns:a="http://schemas.openxmlformats.org/drawingml/2006/main" w="0">
            <a:solidFill>
              <a:srgbClr val="DDE9F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aqua-chain-number-0"/>
          <p:cNvSpPr txBox="1"/>
          <p:nvPr/>
        </p:nvSpPr>
        <p:spPr>
          <a:xfrm xmlns:a="http://schemas.openxmlformats.org/drawingml/2006/main">
            <a:off x="1238250" y="31623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aqua-chain-label-0"/>
          <p:cNvSpPr txBox="1"/>
          <p:nvPr/>
        </p:nvSpPr>
        <p:spPr>
          <a:xfrm xmlns:a="http://schemas.openxmlformats.org/drawingml/2006/main">
            <a:off x="2266950" y="3143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IDENTIFY</a:t>
            </a:r>
            <a:endParaRPr lang="en-US"/>
          </a:p>
        </p:txBody>
      </p:sp>
      <p:sp>
        <p:nvSpPr>
          <p:cNvPr id="11" name="aqua-chain-text-0"/>
          <p:cNvSpPr txBox="1"/>
          <p:nvPr/>
        </p:nvSpPr>
        <p:spPr>
          <a:xfrm xmlns:a="http://schemas.openxmlformats.org/drawingml/2006/main">
            <a:off x="2266950" y="3486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1D4150"/>
                </a:solidFill>
                <a:latin typeface="Arial"/>
                <a:ea typeface="Arial"/>
              </a:rPr>
              <a:t>Make the pressure legible</a:t>
            </a:r>
            <a:endParaRPr lang="en-US"/>
          </a:p>
        </p:txBody>
      </p:sp>
      <p:sp>
        <p:nvSpPr>
          <p:cNvPr id="12" name="aqua-chain-value-0"/>
          <p:cNvSpPr txBox="1"/>
          <p:nvPr/>
        </p:nvSpPr>
        <p:spPr>
          <a:xfrm xmlns:a="http://schemas.openxmlformats.org/drawingml/2006/main">
            <a:off x="9620250" y="3143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4150"/>
                </a:solidFill>
                <a:latin typeface="Arial"/>
                <a:ea typeface="Arial"/>
              </a:rPr>
              <a:t>12 sites</a:t>
            </a:r>
            <a:endParaRPr lang="en-US"/>
          </a:p>
        </p:txBody>
      </p:sp>
      <p:sp>
        <p:nvSpPr>
          <p:cNvPr id="13" name="aqua-chain-period-0"/>
          <p:cNvSpPr txBox="1"/>
          <p:nvPr/>
        </p:nvSpPr>
        <p:spPr>
          <a:xfrm xmlns:a="http://schemas.openxmlformats.org/drawingml/2006/main">
            <a:off x="9620250" y="35147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D4150"/>
                </a:solidFill>
                <a:latin typeface="Arial"/>
                <a:ea typeface="Arial"/>
              </a:rPr>
              <a:t>Jan–Mar</a:t>
            </a:r>
            <a:endParaRPr lang="en-US"/>
          </a:p>
        </p:txBody>
      </p:sp>
      <p:sp>
        <p:nvSpPr>
          <p:cNvPr id="14" name="aqua-chain-arrow-0"/>
          <p:cNvSpPr/>
          <p:nvPr/>
        </p:nvSpPr>
        <p:spPr>
          <a:xfrm xmlns:a="http://schemas.openxmlformats.org/drawingml/2006/main">
            <a:off x="7429500" y="346710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qua-chain-1"/>
          <p:cNvSpPr/>
          <p:nvPr/>
        </p:nvSpPr>
        <p:spPr>
          <a:xfrm xmlns:a="http://schemas.openxmlformats.org/drawingml/2006/main">
            <a:off x="952500" y="4324350"/>
            <a:ext cx="12954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qua-chain-number-1"/>
          <p:cNvSpPr txBox="1"/>
          <p:nvPr/>
        </p:nvSpPr>
        <p:spPr>
          <a:xfrm xmlns:a="http://schemas.openxmlformats.org/drawingml/2006/main">
            <a:off x="1238250" y="451485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aqua-chain-label-1"/>
          <p:cNvSpPr txBox="1"/>
          <p:nvPr/>
        </p:nvSpPr>
        <p:spPr>
          <a:xfrm xmlns:a="http://schemas.openxmlformats.org/drawingml/2006/main">
            <a:off x="2266950" y="449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RESTORE</a:t>
            </a:r>
            <a:endParaRPr lang="en-US"/>
          </a:p>
        </p:txBody>
      </p:sp>
      <p:sp>
        <p:nvSpPr>
          <p:cNvPr id="18" name="aqua-chain-text-1"/>
          <p:cNvSpPr txBox="1"/>
          <p:nvPr/>
        </p:nvSpPr>
        <p:spPr>
          <a:xfrm xmlns:a="http://schemas.openxmlformats.org/drawingml/2006/main">
            <a:off x="2266950" y="4838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1D4150"/>
                </a:solidFill>
                <a:latin typeface="Arial"/>
                <a:ea typeface="Arial"/>
              </a:rPr>
              <a:t>Fund the connected repair</a:t>
            </a:r>
            <a:endParaRPr lang="en-US"/>
          </a:p>
        </p:txBody>
      </p:sp>
      <p:sp>
        <p:nvSpPr>
          <p:cNvPr id="19" name="aqua-chain-value-1"/>
          <p:cNvSpPr txBox="1"/>
          <p:nvPr/>
        </p:nvSpPr>
        <p:spPr>
          <a:xfrm xmlns:a="http://schemas.openxmlformats.org/drawingml/2006/main">
            <a:off x="9620250" y="4495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4150"/>
                </a:solidFill>
                <a:latin typeface="Arial"/>
                <a:ea typeface="Arial"/>
              </a:rPr>
              <a:t>286 ha</a:t>
            </a:r>
            <a:endParaRPr lang="en-US"/>
          </a:p>
        </p:txBody>
      </p:sp>
      <p:sp>
        <p:nvSpPr>
          <p:cNvPr id="20" name="aqua-chain-period-1"/>
          <p:cNvSpPr txBox="1"/>
          <p:nvPr/>
        </p:nvSpPr>
        <p:spPr>
          <a:xfrm xmlns:a="http://schemas.openxmlformats.org/drawingml/2006/main">
            <a:off x="9620250" y="4867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1D4150"/>
                </a:solidFill>
                <a:latin typeface="Arial"/>
                <a:ea typeface="Arial"/>
              </a:rPr>
              <a:t>Apr–Sep</a:t>
            </a:r>
            <a:endParaRPr lang="en-US"/>
          </a:p>
        </p:txBody>
      </p:sp>
      <p:sp>
        <p:nvSpPr>
          <p:cNvPr id="21" name="aqua-chain-arrow-1"/>
          <p:cNvSpPr/>
          <p:nvPr/>
        </p:nvSpPr>
        <p:spPr>
          <a:xfrm xmlns:a="http://schemas.openxmlformats.org/drawingml/2006/main">
            <a:off x="7429500" y="4819650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qua-chain-2"/>
          <p:cNvSpPr/>
          <p:nvPr/>
        </p:nvSpPr>
        <p:spPr>
          <a:xfrm xmlns:a="http://schemas.openxmlformats.org/drawingml/2006/main">
            <a:off x="952500" y="5676900"/>
            <a:ext cx="12954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solidFill>
              <a:srgbClr val="5493D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qua-chain-number-2"/>
          <p:cNvSpPr txBox="1"/>
          <p:nvPr/>
        </p:nvSpPr>
        <p:spPr>
          <a:xfrm xmlns:a="http://schemas.openxmlformats.org/drawingml/2006/main">
            <a:off x="1238250" y="5867400"/>
            <a:ext cx="66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4" name="aqua-chain-label-2"/>
          <p:cNvSpPr txBox="1"/>
          <p:nvPr/>
        </p:nvSpPr>
        <p:spPr>
          <a:xfrm xmlns:a="http://schemas.openxmlformats.org/drawingml/2006/main">
            <a:off x="2266950" y="58483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FFFFF"/>
                </a:solidFill>
                <a:latin typeface="Arial"/>
                <a:ea typeface="Arial"/>
              </a:rPr>
              <a:t>VALIDATE</a:t>
            </a:r>
            <a:endParaRPr lang="en-US"/>
          </a:p>
        </p:txBody>
      </p:sp>
      <p:sp>
        <p:nvSpPr>
          <p:cNvPr id="25" name="aqua-chain-text-2"/>
          <p:cNvSpPr txBox="1"/>
          <p:nvPr/>
        </p:nvSpPr>
        <p:spPr>
          <a:xfrm xmlns:a="http://schemas.openxmlformats.org/drawingml/2006/main">
            <a:off x="2266950" y="61912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Prove the outcome travels</a:t>
            </a:r>
            <a:endParaRPr lang="en-US"/>
          </a:p>
        </p:txBody>
      </p:sp>
      <p:sp>
        <p:nvSpPr>
          <p:cNvPr id="26" name="aqua-chain-value-2"/>
          <p:cNvSpPr txBox="1"/>
          <p:nvPr/>
        </p:nvSpPr>
        <p:spPr>
          <a:xfrm xmlns:a="http://schemas.openxmlformats.org/drawingml/2006/main">
            <a:off x="9620250" y="5848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FFFFF"/>
                </a:solidFill>
                <a:latin typeface="Arial"/>
                <a:ea typeface="Arial"/>
              </a:rPr>
              <a:t>144 samples</a:t>
            </a:r>
            <a:endParaRPr lang="en-US"/>
          </a:p>
        </p:txBody>
      </p:sp>
      <p:sp>
        <p:nvSpPr>
          <p:cNvPr id="27" name="aqua-chain-period-2"/>
          <p:cNvSpPr txBox="1"/>
          <p:nvPr/>
        </p:nvSpPr>
        <p:spPr>
          <a:xfrm xmlns:a="http://schemas.openxmlformats.org/drawingml/2006/main">
            <a:off x="9620250" y="62198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FFFFF"/>
                </a:solidFill>
                <a:latin typeface="Arial"/>
                <a:ea typeface="Arial"/>
              </a:rPr>
              <a:t>Oct–Dec</a:t>
            </a:r>
            <a:endParaRPr lang="en-US"/>
          </a:p>
        </p:txBody>
      </p:sp>
      <p:sp>
        <p:nvSpPr>
          <p:cNvPr id="28" name="aqua-chain-foot-rule"/>
          <p:cNvSpPr/>
          <p:nvPr/>
        </p:nvSpPr>
        <p:spPr>
          <a:xfrm xmlns:a="http://schemas.openxmlformats.org/drawingml/2006/main">
            <a:off x="952500" y="7410450"/>
            <a:ext cx="114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qua-chain-foot"/>
          <p:cNvSpPr txBox="1"/>
          <p:nvPr/>
        </p:nvSpPr>
        <p:spPr>
          <a:xfrm xmlns:a="http://schemas.openxmlformats.org/drawingml/2006/main">
            <a:off x="2381250" y="73342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D4150"/>
                </a:solidFill>
                <a:latin typeface="Arial"/>
                <a:ea typeface="Arial"/>
              </a:rPr>
              <a:t>The chain is the evidence: no stage is allowed to hide the condition it inherits.</a:t>
            </a:r>
            <a:endParaRPr lang="en-US"/>
          </a:p>
        </p:txBody>
      </p:sp>
      <p:sp>
        <p:nvSpPr>
          <p:cNvPr id="30" name="aqua-evidence-source"/>
          <p:cNvSpPr txBox="1"/>
          <p:nvPr/>
        </p:nvSpPr>
        <p:spPr>
          <a:xfrm xmlns:a="http://schemas.openxmlformats.org/drawingml/2006/main">
            <a:off x="914400" y="82677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values are fictional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qua-outer-mat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qua-inner-field"/>
          <p:cNvSpPr/>
          <p:nvPr/>
        </p:nvSpPr>
        <p:spPr>
          <a:xfrm xmlns:a="http://schemas.openxmlformats.org/drawingml/2006/main">
            <a:off x="323850" y="266700"/>
            <a:ext cx="14592300" cy="803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-meta"/>
          <p:cNvSpPr txBox="1"/>
          <p:nvPr/>
        </p:nvSpPr>
        <p:spPr>
          <a:xfrm xmlns:a="http://schemas.openxmlformats.org/drawingml/2006/main">
            <a:off x="8763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8C9B9D"/>
                </a:solidFill>
                <a:latin typeface="Arial"/>
                <a:ea typeface="Arial"/>
              </a:rPr>
              <a:t>AQUA IMPACT STORY  ·  FIELD EVIDENCE</a:t>
            </a:r>
            <a:endParaRPr lang="en-US"/>
          </a:p>
        </p:txBody>
      </p:sp>
      <p:sp>
        <p:nvSpPr>
          <p:cNvPr id="5" name="aqua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8C9B9D"/>
                </a:solidFill>
                <a:latin typeface="Arial"/>
                <a:ea typeface="Arial"/>
              </a:rPr>
              <a:t>04 / 06</a:t>
            </a:r>
            <a:endParaRPr lang="en-US"/>
          </a:p>
        </p:txBody>
      </p:sp>
      <p:sp>
        <p:nvSpPr>
          <p:cNvPr id="6" name="detail-title"/>
          <p:cNvSpPr txBox="1"/>
          <p:nvPr/>
        </p:nvSpPr>
        <p:spPr>
          <a:xfrm xmlns:a="http://schemas.openxmlformats.org/drawingml/2006/main">
            <a:off x="914400" y="1066800"/>
            <a:ext cx="1171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From site repair to connected habitat, the proof stays close to the place.</a:t>
            </a:r>
            <a:endParaRPr lang="en-US"/>
          </a:p>
        </p:txBody>
      </p:sp>
      <p:sp>
        <p:nvSpPr>
          <p:cNvPr id="7" name="detail-basis"/>
          <p:cNvSpPr txBox="1"/>
          <p:nvPr/>
        </p:nvSpPr>
        <p:spPr>
          <a:xfrm xmlns:a="http://schemas.openxmlformats.org/drawingml/2006/main">
            <a:off x="952500" y="17335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Two field frames, one outcome ladder, and the limitation that keeps the claim honest.</a:t>
            </a:r>
            <a:endParaRPr lang="en-US"/>
          </a:p>
        </p:txBody>
      </p:sp>
      <p:pic>
        <p:nvPicPr>
          <p:cNvPr id="8" name="aqua-field-photo-one" descr="Documentary field site before restoration"/>
          <p:cNvPicPr/>
          <p:nvPr/>
        </p:nvPicPr>
        <p:blipFill>
          <a:blip xmlns:r="http://schemas.openxmlformats.org/officeDocument/2006/relationships" xmlns:a="http://schemas.openxmlformats.org/drawingml/2006/main" r:embed="rIdOfficeKitImage1b6b179a3c4fe9dd_1"/>
          <a:srcRect xmlns:a="http://schemas.openxmlformats.org/drawingml/2006/main" l="0" t="42366" r="0" b="4236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" y="3067050"/>
            <a:ext cx="6667500" cy="1809750"/>
          </a:xfrm>
          <a:prstGeom xmlns:a="http://schemas.openxmlformats.org/drawingml/2006/main" prst="rect">
            <a:avLst/>
          </a:prstGeom>
        </p:spPr>
      </p:pic>
      <p:pic>
        <p:nvPicPr>
          <p:cNvPr id="9" name="aqua-field-photo-two" descr="Documentary habitat site after restoration"/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42360" r="0" b="4236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" y="5105400"/>
            <a:ext cx="6667500" cy="1809750"/>
          </a:xfrm>
          <a:prstGeom xmlns:a="http://schemas.openxmlformats.org/drawingml/2006/main" prst="rect">
            <a:avLst/>
          </a:prstGeom>
        </p:spPr>
      </p:pic>
      <p:sp>
        <p:nvSpPr>
          <p:cNvPr id="10" name="aqua-field-caption-one"/>
          <p:cNvSpPr txBox="1"/>
          <p:nvPr/>
        </p:nvSpPr>
        <p:spPr>
          <a:xfrm xmlns:a="http://schemas.openxmlformats.org/drawingml/2006/main">
            <a:off x="1143000" y="4629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BASELINE  ·  SHORELINE PRESSURE</a:t>
            </a:r>
            <a:endParaRPr lang="en-US"/>
          </a:p>
        </p:txBody>
      </p:sp>
      <p:sp>
        <p:nvSpPr>
          <p:cNvPr id="11" name="aqua-field-caption-two"/>
          <p:cNvSpPr txBox="1"/>
          <p:nvPr/>
        </p:nvSpPr>
        <p:spPr>
          <a:xfrm xmlns:a="http://schemas.openxmlformats.org/drawingml/2006/main">
            <a:off x="1143000" y="66675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FOLLOW-UP  ·  CONNECTED HABITAT</a:t>
            </a:r>
            <a:endParaRPr lang="en-US"/>
          </a:p>
        </p:txBody>
      </p:sp>
      <p:sp>
        <p:nvSpPr>
          <p:cNvPr id="12" name="aqua-detail-reading-plane"/>
          <p:cNvSpPr/>
          <p:nvPr/>
        </p:nvSpPr>
        <p:spPr>
          <a:xfrm xmlns:a="http://schemas.openxmlformats.org/drawingml/2006/main">
            <a:off x="8477250" y="291465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qua-detail-label"/>
          <p:cNvSpPr txBox="1"/>
          <p:nvPr/>
        </p:nvSpPr>
        <p:spPr>
          <a:xfrm xmlns:a="http://schemas.openxmlformats.org/drawingml/2006/main">
            <a:off x="8858250" y="32575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MEASURED FOLLOW-THROUGH</a:t>
            </a:r>
            <a:endParaRPr lang="en-US"/>
          </a:p>
        </p:txBody>
      </p:sp>
      <p:sp>
        <p:nvSpPr>
          <p:cNvPr id="14" name="aqua-detail-metric-rule-0"/>
          <p:cNvSpPr/>
          <p:nvPr/>
        </p:nvSpPr>
        <p:spPr>
          <a:xfrm xmlns:a="http://schemas.openxmlformats.org/drawingml/2006/main">
            <a:off x="8858250" y="373380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qua-detail-metric-value-0"/>
          <p:cNvSpPr txBox="1"/>
          <p:nvPr/>
        </p:nvSpPr>
        <p:spPr>
          <a:xfrm xmlns:a="http://schemas.openxmlformats.org/drawingml/2006/main">
            <a:off x="9810750" y="36671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286 ha</a:t>
            </a:r>
            <a:endParaRPr lang="en-US"/>
          </a:p>
        </p:txBody>
      </p:sp>
      <p:sp>
        <p:nvSpPr>
          <p:cNvPr id="16" name="aqua-detail-metric-label-0"/>
          <p:cNvSpPr txBox="1"/>
          <p:nvPr/>
        </p:nvSpPr>
        <p:spPr>
          <a:xfrm xmlns:a="http://schemas.openxmlformats.org/drawingml/2006/main">
            <a:off x="11715750" y="37338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restored habitat</a:t>
            </a:r>
            <a:endParaRPr lang="en-US"/>
          </a:p>
        </p:txBody>
      </p:sp>
      <p:sp>
        <p:nvSpPr>
          <p:cNvPr id="17" name="aqua-detail-metric-rule-1"/>
          <p:cNvSpPr/>
          <p:nvPr/>
        </p:nvSpPr>
        <p:spPr>
          <a:xfrm xmlns:a="http://schemas.openxmlformats.org/drawingml/2006/main">
            <a:off x="8858250" y="447675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8EA3"/>
          </a:solidFill>
          <a:ln xmlns:a="http://schemas.openxmlformats.org/drawingml/2006/main" w="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qua-detail-metric-value-1"/>
          <p:cNvSpPr txBox="1"/>
          <p:nvPr/>
        </p:nvSpPr>
        <p:spPr>
          <a:xfrm xmlns:a="http://schemas.openxmlformats.org/drawingml/2006/main">
            <a:off x="9810750" y="441007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8.6 km</a:t>
            </a:r>
            <a:endParaRPr lang="en-US"/>
          </a:p>
        </p:txBody>
      </p:sp>
      <p:sp>
        <p:nvSpPr>
          <p:cNvPr id="19" name="aqua-detail-metric-label-1"/>
          <p:cNvSpPr txBox="1"/>
          <p:nvPr/>
        </p:nvSpPr>
        <p:spPr>
          <a:xfrm xmlns:a="http://schemas.openxmlformats.org/drawingml/2006/main">
            <a:off x="11715750" y="44767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shoreline connected</a:t>
            </a:r>
            <a:endParaRPr lang="en-US"/>
          </a:p>
        </p:txBody>
      </p:sp>
      <p:sp>
        <p:nvSpPr>
          <p:cNvPr id="20" name="aqua-detail-metric-rule-2"/>
          <p:cNvSpPr/>
          <p:nvPr/>
        </p:nvSpPr>
        <p:spPr>
          <a:xfrm xmlns:a="http://schemas.openxmlformats.org/drawingml/2006/main">
            <a:off x="8858250" y="521970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solidFill>
              <a:srgbClr val="5493D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qua-detail-metric-value-2"/>
          <p:cNvSpPr txBox="1"/>
          <p:nvPr/>
        </p:nvSpPr>
        <p:spPr>
          <a:xfrm xmlns:a="http://schemas.openxmlformats.org/drawingml/2006/main">
            <a:off x="9810750" y="515302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39</a:t>
            </a:r>
            <a:endParaRPr lang="en-US"/>
          </a:p>
        </p:txBody>
      </p:sp>
      <p:sp>
        <p:nvSpPr>
          <p:cNvPr id="22" name="aqua-detail-metric-label-2"/>
          <p:cNvSpPr txBox="1"/>
          <p:nvPr/>
        </p:nvSpPr>
        <p:spPr>
          <a:xfrm xmlns:a="http://schemas.openxmlformats.org/drawingml/2006/main">
            <a:off x="11715750" y="5219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actions revisited</a:t>
            </a:r>
            <a:endParaRPr lang="en-US"/>
          </a:p>
        </p:txBody>
      </p:sp>
      <p:sp>
        <p:nvSpPr>
          <p:cNvPr id="23" name="aqua-detail-metric-rule-3"/>
          <p:cNvSpPr/>
          <p:nvPr/>
        </p:nvSpPr>
        <p:spPr>
          <a:xfrm xmlns:a="http://schemas.openxmlformats.org/drawingml/2006/main">
            <a:off x="8858250" y="5962650"/>
            <a:ext cx="66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/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qua-detail-metric-value-3"/>
          <p:cNvSpPr txBox="1"/>
          <p:nvPr/>
        </p:nvSpPr>
        <p:spPr>
          <a:xfrm xmlns:a="http://schemas.openxmlformats.org/drawingml/2006/main">
            <a:off x="9810750" y="589597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86.4%</a:t>
            </a:r>
            <a:endParaRPr lang="en-US"/>
          </a:p>
        </p:txBody>
      </p:sp>
      <p:sp>
        <p:nvSpPr>
          <p:cNvPr id="25" name="aqua-detail-metric-label-3"/>
          <p:cNvSpPr txBox="1"/>
          <p:nvPr/>
        </p:nvSpPr>
        <p:spPr>
          <a:xfrm xmlns:a="http://schemas.openxmlformats.org/drawingml/2006/main">
            <a:off x="11715750" y="59626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survival at follow-up</a:t>
            </a:r>
            <a:endParaRPr lang="en-US"/>
          </a:p>
        </p:txBody>
      </p:sp>
      <p:sp>
        <p:nvSpPr>
          <p:cNvPr id="26" name="aqua-detail-limit"/>
          <p:cNvSpPr txBox="1"/>
          <p:nvPr/>
        </p:nvSpPr>
        <p:spPr>
          <a:xfrm xmlns:a="http://schemas.openxmlformats.org/drawingml/2006/main">
            <a:off x="8858250" y="65722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Limit: follow-up covers one connected catchment, not every site.</a:t>
            </a:r>
            <a:endParaRPr lang="en-US"/>
          </a:p>
        </p:txBody>
      </p:sp>
      <p:sp>
        <p:nvSpPr>
          <p:cNvPr id="27" name="aqua-detail-source"/>
          <p:cNvSpPr txBox="1"/>
          <p:nvPr/>
        </p:nvSpPr>
        <p:spPr>
          <a:xfrm xmlns:a="http://schemas.openxmlformats.org/drawingml/2006/main">
            <a:off x="914400" y="82677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documentary images are authored assets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qua-outer-mat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qua-inner-field"/>
          <p:cNvSpPr/>
          <p:nvPr/>
        </p:nvSpPr>
        <p:spPr>
          <a:xfrm xmlns:a="http://schemas.openxmlformats.org/drawingml/2006/main">
            <a:off x="323850" y="266700"/>
            <a:ext cx="14592300" cy="803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-meta"/>
          <p:cNvSpPr txBox="1"/>
          <p:nvPr/>
        </p:nvSpPr>
        <p:spPr>
          <a:xfrm xmlns:a="http://schemas.openxmlformats.org/drawingml/2006/main">
            <a:off x="876300" y="4953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8C9B9D"/>
                </a:solidFill>
                <a:latin typeface="Arial"/>
                <a:ea typeface="Arial"/>
              </a:rPr>
              <a:t>AQUA IMPACT STORY  ·  OUTCOMES</a:t>
            </a:r>
            <a:endParaRPr lang="en-US"/>
          </a:p>
        </p:txBody>
      </p:sp>
      <p:sp>
        <p:nvSpPr>
          <p:cNvPr id="5" name="aqua-page"/>
          <p:cNvSpPr txBox="1"/>
          <p:nvPr/>
        </p:nvSpPr>
        <p:spPr>
          <a:xfrm xmlns:a="http://schemas.openxmlformats.org/drawingml/2006/main">
            <a:off x="13239750" y="4953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75">
                <a:solidFill>
                  <a:srgbClr val="8C9B9D"/>
                </a:solidFill>
                <a:latin typeface="Arial"/>
                <a:ea typeface="Arial"/>
              </a:rPr>
              <a:t>05 / 06</a:t>
            </a:r>
            <a:endParaRPr lang="en-US"/>
          </a:p>
        </p:txBody>
      </p:sp>
      <p:sp>
        <p:nvSpPr>
          <p:cNvPr id="6" name="visual-title"/>
          <p:cNvSpPr txBox="1"/>
          <p:nvPr/>
        </p:nvSpPr>
        <p:spPr>
          <a:xfrm xmlns:a="http://schemas.openxmlformats.org/drawingml/2006/main">
            <a:off x="914400" y="1066800"/>
            <a:ext cx="1162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Four signals align when the outcome is measured at the source.</a:t>
            </a:r>
            <a:endParaRPr lang="en-US"/>
          </a:p>
        </p:txBody>
      </p:sp>
      <p:sp>
        <p:nvSpPr>
          <p:cNvPr id="7" name="visual-body"/>
          <p:cNvSpPr txBox="1"/>
          <p:nvPr/>
        </p:nvSpPr>
        <p:spPr>
          <a:xfrm xmlns:a="http://schemas.openxmlformats.org/drawingml/2006/main">
            <a:off x="952500" y="17335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Baseline, follow-up and change remain on the same line so the reader can audit the movement.</a:t>
            </a:r>
            <a:endParaRPr lang="en-US"/>
          </a:p>
        </p:txBody>
      </p:sp>
      <p:sp>
        <p:nvSpPr>
          <p:cNvPr id="8" name="aqua-outcome-label"/>
          <p:cNvSpPr txBox="1"/>
          <p:nvPr/>
        </p:nvSpPr>
        <p:spPr>
          <a:xfrm xmlns:a="http://schemas.openxmlformats.org/drawingml/2006/main">
            <a:off x="952500" y="28575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OUTCOME LEDGER</a:t>
            </a:r>
            <a:endParaRPr lang="en-US"/>
          </a:p>
        </p:txBody>
      </p:sp>
      <p:sp>
        <p:nvSpPr>
          <p:cNvPr id="9" name="aqua-outcome-rule-0"/>
          <p:cNvSpPr/>
          <p:nvPr/>
        </p:nvSpPr>
        <p:spPr>
          <a:xfrm xmlns:a="http://schemas.openxmlformats.org/drawingml/2006/main">
            <a:off x="952500" y="39433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qua-outcome-color-0"/>
          <p:cNvSpPr/>
          <p:nvPr/>
        </p:nvSpPr>
        <p:spPr>
          <a:xfrm xmlns:a="http://schemas.openxmlformats.org/drawingml/2006/main">
            <a:off x="952500" y="3314700"/>
            <a:ext cx="114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aqua-outcome-label-0"/>
          <p:cNvSpPr txBox="1"/>
          <p:nvPr/>
        </p:nvSpPr>
        <p:spPr>
          <a:xfrm xmlns:a="http://schemas.openxmlformats.org/drawingml/2006/main">
            <a:off x="1333500" y="3295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Water-quality compliance</a:t>
            </a:r>
            <a:endParaRPr lang="en-US"/>
          </a:p>
        </p:txBody>
      </p:sp>
      <p:sp>
        <p:nvSpPr>
          <p:cNvPr id="12" name="aqua-outcome-base-0"/>
          <p:cNvSpPr txBox="1"/>
          <p:nvPr/>
        </p:nvSpPr>
        <p:spPr>
          <a:xfrm xmlns:a="http://schemas.openxmlformats.org/drawingml/2006/main">
            <a:off x="5143500" y="32766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66.0%</a:t>
            </a:r>
            <a:endParaRPr lang="en-US"/>
          </a:p>
        </p:txBody>
      </p:sp>
      <p:sp>
        <p:nvSpPr>
          <p:cNvPr id="13" name="aqua-outcome-follow-0"/>
          <p:cNvSpPr txBox="1"/>
          <p:nvPr/>
        </p:nvSpPr>
        <p:spPr>
          <a:xfrm xmlns:a="http://schemas.openxmlformats.org/drawingml/2006/main">
            <a:off x="6572250" y="32480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725" b="1">
                <a:solidFill>
                  <a:srgbClr val="1D4150"/>
                </a:solidFill>
                <a:latin typeface="Arial"/>
                <a:ea typeface="Arial"/>
              </a:rPr>
              <a:t>84.0%</a:t>
            </a:r>
            <a:endParaRPr lang="en-US"/>
          </a:p>
        </p:txBody>
      </p:sp>
      <p:sp>
        <p:nvSpPr>
          <p:cNvPr id="14" name="aqua-outcome-change-0"/>
          <p:cNvSpPr txBox="1"/>
          <p:nvPr/>
        </p:nvSpPr>
        <p:spPr>
          <a:xfrm xmlns:a="http://schemas.openxmlformats.org/drawingml/2006/main">
            <a:off x="7924800" y="32861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3C225"/>
                </a:solidFill>
                <a:latin typeface="Arial"/>
                <a:ea typeface="Arial"/>
              </a:rPr>
              <a:t>+18.0 pp</a:t>
            </a:r>
            <a:endParaRPr lang="en-US"/>
          </a:p>
        </p:txBody>
      </p:sp>
      <p:sp>
        <p:nvSpPr>
          <p:cNvPr id="15" name="aqua-outcome-rule-1"/>
          <p:cNvSpPr/>
          <p:nvPr/>
        </p:nvSpPr>
        <p:spPr>
          <a:xfrm xmlns:a="http://schemas.openxmlformats.org/drawingml/2006/main">
            <a:off x="952500" y="476250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qua-outcome-color-1"/>
          <p:cNvSpPr/>
          <p:nvPr/>
        </p:nvSpPr>
        <p:spPr>
          <a:xfrm xmlns:a="http://schemas.openxmlformats.org/drawingml/2006/main">
            <a:off x="952500" y="4133850"/>
            <a:ext cx="114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8EA3"/>
          </a:solidFill>
          <a:ln xmlns:a="http://schemas.openxmlformats.org/drawingml/2006/main" w="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qua-outcome-label-1"/>
          <p:cNvSpPr txBox="1"/>
          <p:nvPr/>
        </p:nvSpPr>
        <p:spPr>
          <a:xfrm xmlns:a="http://schemas.openxmlformats.org/drawingml/2006/main">
            <a:off x="1333500" y="4114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Breeding success</a:t>
            </a:r>
            <a:endParaRPr lang="en-US"/>
          </a:p>
        </p:txBody>
      </p:sp>
      <p:sp>
        <p:nvSpPr>
          <p:cNvPr id="18" name="aqua-outcome-base-1"/>
          <p:cNvSpPr txBox="1"/>
          <p:nvPr/>
        </p:nvSpPr>
        <p:spPr>
          <a:xfrm xmlns:a="http://schemas.openxmlformats.org/drawingml/2006/main">
            <a:off x="5143500" y="40957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52.0%</a:t>
            </a:r>
            <a:endParaRPr lang="en-US"/>
          </a:p>
        </p:txBody>
      </p:sp>
      <p:sp>
        <p:nvSpPr>
          <p:cNvPr id="19" name="aqua-outcome-follow-1"/>
          <p:cNvSpPr txBox="1"/>
          <p:nvPr/>
        </p:nvSpPr>
        <p:spPr>
          <a:xfrm xmlns:a="http://schemas.openxmlformats.org/drawingml/2006/main">
            <a:off x="6572250" y="40671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725" b="1">
                <a:solidFill>
                  <a:srgbClr val="1D4150"/>
                </a:solidFill>
                <a:latin typeface="Arial"/>
                <a:ea typeface="Arial"/>
              </a:rPr>
              <a:t>68.0%</a:t>
            </a:r>
            <a:endParaRPr lang="en-US"/>
          </a:p>
        </p:txBody>
      </p:sp>
      <p:sp>
        <p:nvSpPr>
          <p:cNvPr id="20" name="aqua-outcome-change-1"/>
          <p:cNvSpPr txBox="1"/>
          <p:nvPr/>
        </p:nvSpPr>
        <p:spPr>
          <a:xfrm xmlns:a="http://schemas.openxmlformats.org/drawingml/2006/main">
            <a:off x="7924800" y="41052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+16.0 pp</a:t>
            </a:r>
            <a:endParaRPr lang="en-US"/>
          </a:p>
        </p:txBody>
      </p:sp>
      <p:sp>
        <p:nvSpPr>
          <p:cNvPr id="21" name="aqua-outcome-rule-2"/>
          <p:cNvSpPr/>
          <p:nvPr/>
        </p:nvSpPr>
        <p:spPr>
          <a:xfrm xmlns:a="http://schemas.openxmlformats.org/drawingml/2006/main">
            <a:off x="952500" y="55816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qua-outcome-color-2"/>
          <p:cNvSpPr/>
          <p:nvPr/>
        </p:nvSpPr>
        <p:spPr>
          <a:xfrm xmlns:a="http://schemas.openxmlformats.org/drawingml/2006/main">
            <a:off x="952500" y="4953000"/>
            <a:ext cx="114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93D3"/>
          </a:solidFill>
          <a:ln xmlns:a="http://schemas.openxmlformats.org/drawingml/2006/main" w="0">
            <a:solidFill>
              <a:srgbClr val="5493D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qua-outcome-label-2"/>
          <p:cNvSpPr txBox="1"/>
          <p:nvPr/>
        </p:nvSpPr>
        <p:spPr>
          <a:xfrm xmlns:a="http://schemas.openxmlformats.org/drawingml/2006/main">
            <a:off x="1333500" y="49339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Invasive control</a:t>
            </a:r>
            <a:endParaRPr lang="en-US"/>
          </a:p>
        </p:txBody>
      </p:sp>
      <p:sp>
        <p:nvSpPr>
          <p:cNvPr id="24" name="aqua-outcome-base-2"/>
          <p:cNvSpPr txBox="1"/>
          <p:nvPr/>
        </p:nvSpPr>
        <p:spPr>
          <a:xfrm xmlns:a="http://schemas.openxmlformats.org/drawingml/2006/main">
            <a:off x="5143500" y="4914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14.0%</a:t>
            </a:r>
            <a:endParaRPr lang="en-US"/>
          </a:p>
        </p:txBody>
      </p:sp>
      <p:sp>
        <p:nvSpPr>
          <p:cNvPr id="25" name="aqua-outcome-follow-2"/>
          <p:cNvSpPr txBox="1"/>
          <p:nvPr/>
        </p:nvSpPr>
        <p:spPr>
          <a:xfrm xmlns:a="http://schemas.openxmlformats.org/drawingml/2006/main">
            <a:off x="6572250" y="48863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725" b="1">
                <a:solidFill>
                  <a:srgbClr val="1D4150"/>
                </a:solidFill>
                <a:latin typeface="Arial"/>
                <a:ea typeface="Arial"/>
              </a:rPr>
              <a:t>7.8%</a:t>
            </a:r>
            <a:endParaRPr lang="en-US"/>
          </a:p>
        </p:txBody>
      </p:sp>
      <p:sp>
        <p:nvSpPr>
          <p:cNvPr id="26" name="aqua-outcome-change-2"/>
          <p:cNvSpPr txBox="1"/>
          <p:nvPr/>
        </p:nvSpPr>
        <p:spPr>
          <a:xfrm xmlns:a="http://schemas.openxmlformats.org/drawingml/2006/main">
            <a:off x="7924800" y="49244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493D3"/>
                </a:solidFill>
                <a:latin typeface="Arial"/>
                <a:ea typeface="Arial"/>
              </a:rPr>
              <a:t>−6.2 pp</a:t>
            </a:r>
            <a:endParaRPr lang="en-US"/>
          </a:p>
        </p:txBody>
      </p:sp>
      <p:sp>
        <p:nvSpPr>
          <p:cNvPr id="27" name="aqua-outcome-rule-3"/>
          <p:cNvSpPr/>
          <p:nvPr/>
        </p:nvSpPr>
        <p:spPr>
          <a:xfrm xmlns:a="http://schemas.openxmlformats.org/drawingml/2006/main">
            <a:off x="952500" y="640080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qua-outcome-color-3"/>
          <p:cNvSpPr/>
          <p:nvPr/>
        </p:nvSpPr>
        <p:spPr>
          <a:xfrm xmlns:a="http://schemas.openxmlformats.org/drawingml/2006/main">
            <a:off x="952500" y="5772150"/>
            <a:ext cx="114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/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qua-outcome-label-3"/>
          <p:cNvSpPr txBox="1"/>
          <p:nvPr/>
        </p:nvSpPr>
        <p:spPr>
          <a:xfrm xmlns:a="http://schemas.openxmlformats.org/drawingml/2006/main">
            <a:off x="1333500" y="5753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Species return</a:t>
            </a:r>
            <a:endParaRPr lang="en-US"/>
          </a:p>
        </p:txBody>
      </p:sp>
      <p:sp>
        <p:nvSpPr>
          <p:cNvPr id="30" name="aqua-outcome-base-3"/>
          <p:cNvSpPr txBox="1"/>
          <p:nvPr/>
        </p:nvSpPr>
        <p:spPr>
          <a:xfrm xmlns:a="http://schemas.openxmlformats.org/drawingml/2006/main">
            <a:off x="5143500" y="57340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20</a:t>
            </a:r>
            <a:endParaRPr lang="en-US"/>
          </a:p>
        </p:txBody>
      </p:sp>
      <p:sp>
        <p:nvSpPr>
          <p:cNvPr id="31" name="aqua-outcome-follow-3"/>
          <p:cNvSpPr txBox="1"/>
          <p:nvPr/>
        </p:nvSpPr>
        <p:spPr>
          <a:xfrm xmlns:a="http://schemas.openxmlformats.org/drawingml/2006/main">
            <a:off x="6572250" y="57054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725" b="1">
                <a:solidFill>
                  <a:srgbClr val="1D4150"/>
                </a:solidFill>
                <a:latin typeface="Arial"/>
                <a:ea typeface="Arial"/>
              </a:rPr>
              <a:t>247</a:t>
            </a:r>
            <a:endParaRPr lang="en-US"/>
          </a:p>
        </p:txBody>
      </p:sp>
      <p:sp>
        <p:nvSpPr>
          <p:cNvPr id="32" name="aqua-outcome-change-3"/>
          <p:cNvSpPr txBox="1"/>
          <p:nvPr/>
        </p:nvSpPr>
        <p:spPr>
          <a:xfrm xmlns:a="http://schemas.openxmlformats.org/drawingml/2006/main">
            <a:off x="7924800" y="57435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+38 species</a:t>
            </a:r>
            <a:endParaRPr lang="en-US"/>
          </a:p>
        </p:txBody>
      </p:sp>
      <p:sp>
        <p:nvSpPr>
          <p:cNvPr id="33" name="aqua-outcome-side"/>
          <p:cNvSpPr/>
          <p:nvPr/>
        </p:nvSpPr>
        <p:spPr>
          <a:xfrm xmlns:a="http://schemas.openxmlformats.org/drawingml/2006/main">
            <a:off x="9810750" y="2895600"/>
            <a:ext cx="37147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ED3"/>
          </a:solidFill>
          <a:ln xmlns:a="http://schemas.openxmlformats.org/drawingml/2006/main" w="1270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qua-outcome-side-label"/>
          <p:cNvSpPr txBox="1"/>
          <p:nvPr/>
        </p:nvSpPr>
        <p:spPr>
          <a:xfrm xmlns:a="http://schemas.openxmlformats.org/drawingml/2006/main">
            <a:off x="10191750" y="327660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MEASUREMENT BASIS</a:t>
            </a:r>
            <a:endParaRPr lang="en-US"/>
          </a:p>
        </p:txBody>
      </p:sp>
      <p:sp>
        <p:nvSpPr>
          <p:cNvPr id="35" name="aqua-outcome-side-value"/>
          <p:cNvSpPr txBox="1"/>
          <p:nvPr/>
        </p:nvSpPr>
        <p:spPr>
          <a:xfrm xmlns:a="http://schemas.openxmlformats.org/drawingml/2006/main">
            <a:off x="10191750" y="3810000"/>
            <a:ext cx="266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125" b="1">
                <a:solidFill>
                  <a:srgbClr val="1D4150"/>
                </a:solidFill>
                <a:latin typeface="Arial"/>
                <a:ea typeface="Arial"/>
              </a:rPr>
              <a:t>95.2%</a:t>
            </a:r>
            <a:endParaRPr lang="en-US"/>
          </a:p>
        </p:txBody>
      </p:sp>
      <p:sp>
        <p:nvSpPr>
          <p:cNvPr id="36" name="aqua-outcome-side-text"/>
          <p:cNvSpPr txBox="1"/>
          <p:nvPr/>
        </p:nvSpPr>
        <p:spPr>
          <a:xfrm xmlns:a="http://schemas.openxmlformats.org/drawingml/2006/main">
            <a:off x="10191750" y="4686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of follow-up records carry a location, date, and named verifier.</a:t>
            </a:r>
            <a:endParaRPr lang="en-US"/>
          </a:p>
        </p:txBody>
      </p:sp>
      <p:sp>
        <p:nvSpPr>
          <p:cNvPr id="37" name="aqua-outcome-side-rule"/>
          <p:cNvSpPr/>
          <p:nvPr/>
        </p:nvSpPr>
        <p:spPr>
          <a:xfrm xmlns:a="http://schemas.openxmlformats.org/drawingml/2006/main">
            <a:off x="10191750" y="5715000"/>
            <a:ext cx="800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aqua-outcome-side-note"/>
          <p:cNvSpPr txBox="1"/>
          <p:nvPr/>
        </p:nvSpPr>
        <p:spPr>
          <a:xfrm xmlns:a="http://schemas.openxmlformats.org/drawingml/2006/main">
            <a:off x="10191750" y="59626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A clear result is still bounded by its sampling frame.</a:t>
            </a:r>
            <a:endParaRPr lang="en-US"/>
          </a:p>
        </p:txBody>
      </p:sp>
      <p:sp>
        <p:nvSpPr>
          <p:cNvPr id="39" name="aqua-visual-source"/>
          <p:cNvSpPr txBox="1"/>
          <p:nvPr/>
        </p:nvSpPr>
        <p:spPr>
          <a:xfrm xmlns:a="http://schemas.openxmlformats.org/drawingml/2006/main">
            <a:off x="914400" y="82677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values are fictional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qua-close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/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qua-close-photo" descr="Documentary community landscape for the closing decision"/>
          <p:cNvPicPr/>
          <p:nvPr/>
        </p:nvPicPr>
        <p:blipFill>
          <a:blip xmlns:r="http://schemas.openxmlformats.org/officeDocument/2006/relationships" xmlns:a="http://schemas.openxmlformats.org/drawingml/2006/main" r:embed="rIdOfficeKitImagec49ddd99c59beda0_1"/>
          <a:srcRect xmlns:a="http://schemas.openxmlformats.org/drawingml/2006/main" l="0" t="12776" r="0" b="1277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8763000" y="0"/>
            <a:ext cx="6477000" cy="8572500"/>
          </a:xfrm>
          <a:prstGeom xmlns:a="http://schemas.openxmlformats.org/drawingml/2006/main" prst="rect">
            <a:avLst/>
          </a:prstGeom>
        </p:spPr>
      </p:pic>
      <p:sp>
        <p:nvSpPr>
          <p:cNvPr id="4" name="aqua-close-reading-plane"/>
          <p:cNvSpPr/>
          <p:nvPr/>
        </p:nvSpPr>
        <p:spPr>
          <a:xfrm xmlns:a="http://schemas.openxmlformats.org/drawingml/2006/main">
            <a:off x="0" y="0"/>
            <a:ext cx="9239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qua-close-rule"/>
          <p:cNvSpPr/>
          <p:nvPr/>
        </p:nvSpPr>
        <p:spPr>
          <a:xfrm xmlns:a="http://schemas.openxmlformats.org/drawingml/2006/main">
            <a:off x="914400" y="819150"/>
            <a:ext cx="1143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qua-close-eyebrow"/>
          <p:cNvSpPr txBox="1"/>
          <p:nvPr/>
        </p:nvSpPr>
        <p:spPr>
          <a:xfrm xmlns:a="http://schemas.openxmlformats.org/drawingml/2006/main">
            <a:off x="914400" y="11239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0B8EA3"/>
                </a:solidFill>
                <a:latin typeface="Arial"/>
                <a:ea typeface="Arial"/>
              </a:rPr>
              <a:t>2026 DIRECTION  ·  DECISION FRAMEWORK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1752600"/>
            <a:ext cx="685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1D4150"/>
                </a:solidFill>
                <a:latin typeface="Arial"/>
                <a:ea typeface="Arial"/>
              </a:rPr>
              <a:t>Protect the connected sites before expanding the story.</a:t>
            </a:r>
            <a:endParaRPr lang="en-US"/>
          </a:p>
        </p:txBody>
      </p:sp>
      <p:sp>
        <p:nvSpPr>
          <p:cNvPr id="8" name="aqua-close-basis"/>
          <p:cNvSpPr txBox="1"/>
          <p:nvPr/>
        </p:nvSpPr>
        <p:spPr>
          <a:xfrm xmlns:a="http://schemas.openxmlformats.org/drawingml/2006/main">
            <a:off x="952500" y="3219450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The next move is specific: scale what was measured, then return to the unresolved edge.</a:t>
            </a:r>
            <a:endParaRPr lang="en-US"/>
          </a:p>
        </p:txBody>
      </p:sp>
      <p:sp>
        <p:nvSpPr>
          <p:cNvPr id="9" name="aqua-close-number-0"/>
          <p:cNvSpPr txBox="1"/>
          <p:nvPr/>
        </p:nvSpPr>
        <p:spPr>
          <a:xfrm xmlns:a="http://schemas.openxmlformats.org/drawingml/2006/main">
            <a:off x="952500" y="45529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aqua-close-label-0"/>
          <p:cNvSpPr txBox="1"/>
          <p:nvPr/>
        </p:nvSpPr>
        <p:spPr>
          <a:xfrm xmlns:a="http://schemas.openxmlformats.org/drawingml/2006/main">
            <a:off x="1714500" y="45529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11" name="aqua-close-row-rule-0"/>
          <p:cNvSpPr/>
          <p:nvPr/>
        </p:nvSpPr>
        <p:spPr>
          <a:xfrm xmlns:a="http://schemas.openxmlformats.org/drawingml/2006/main">
            <a:off x="3143250" y="46672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aqua-close-value-0"/>
          <p:cNvSpPr txBox="1"/>
          <p:nvPr/>
        </p:nvSpPr>
        <p:spPr>
          <a:xfrm xmlns:a="http://schemas.openxmlformats.org/drawingml/2006/main">
            <a:off x="7524750" y="45529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1D4150"/>
                </a:solidFill>
                <a:latin typeface="Arial"/>
                <a:ea typeface="Arial"/>
              </a:rPr>
              <a:t>12 connected sites</a:t>
            </a:r>
            <a:endParaRPr lang="en-US"/>
          </a:p>
        </p:txBody>
      </p:sp>
      <p:sp>
        <p:nvSpPr>
          <p:cNvPr id="13" name="aqua-close-number-1"/>
          <p:cNvSpPr txBox="1"/>
          <p:nvPr/>
        </p:nvSpPr>
        <p:spPr>
          <a:xfrm xmlns:a="http://schemas.openxmlformats.org/drawingml/2006/main">
            <a:off x="952500" y="52959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3C22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aqua-close-label-1"/>
          <p:cNvSpPr txBox="1"/>
          <p:nvPr/>
        </p:nvSpPr>
        <p:spPr>
          <a:xfrm xmlns:a="http://schemas.openxmlformats.org/drawingml/2006/main">
            <a:off x="1714500" y="52959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Verify</a:t>
            </a:r>
            <a:endParaRPr lang="en-US"/>
          </a:p>
        </p:txBody>
      </p:sp>
      <p:sp>
        <p:nvSpPr>
          <p:cNvPr id="15" name="aqua-close-row-rule-1"/>
          <p:cNvSpPr/>
          <p:nvPr/>
        </p:nvSpPr>
        <p:spPr>
          <a:xfrm xmlns:a="http://schemas.openxmlformats.org/drawingml/2006/main">
            <a:off x="3143250" y="541020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qua-close-value-1"/>
          <p:cNvSpPr txBox="1"/>
          <p:nvPr/>
        </p:nvSpPr>
        <p:spPr>
          <a:xfrm xmlns:a="http://schemas.openxmlformats.org/drawingml/2006/main">
            <a:off x="7524750" y="52959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1D4150"/>
                </a:solidFill>
                <a:latin typeface="Arial"/>
                <a:ea typeface="Arial"/>
              </a:rPr>
              <a:t>144 samples by Q4</a:t>
            </a:r>
            <a:endParaRPr lang="en-US"/>
          </a:p>
        </p:txBody>
      </p:sp>
      <p:sp>
        <p:nvSpPr>
          <p:cNvPr id="17" name="aqua-close-number-2"/>
          <p:cNvSpPr txBox="1"/>
          <p:nvPr/>
        </p:nvSpPr>
        <p:spPr>
          <a:xfrm xmlns:a="http://schemas.openxmlformats.org/drawingml/2006/main">
            <a:off x="952500" y="6038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493D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aqua-close-label-2"/>
          <p:cNvSpPr txBox="1"/>
          <p:nvPr/>
        </p:nvSpPr>
        <p:spPr>
          <a:xfrm xmlns:a="http://schemas.openxmlformats.org/drawingml/2006/main">
            <a:off x="1714500" y="603885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D4150"/>
                </a:solidFill>
                <a:latin typeface="Arial"/>
                <a:ea typeface="Arial"/>
              </a:rPr>
              <a:t>Return</a:t>
            </a:r>
            <a:endParaRPr lang="en-US"/>
          </a:p>
        </p:txBody>
      </p:sp>
      <p:sp>
        <p:nvSpPr>
          <p:cNvPr id="19" name="aqua-close-row-rule-2"/>
          <p:cNvSpPr/>
          <p:nvPr/>
        </p:nvSpPr>
        <p:spPr>
          <a:xfrm xmlns:a="http://schemas.openxmlformats.org/drawingml/2006/main">
            <a:off x="3143250" y="6153150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qua-close-value-2"/>
          <p:cNvSpPr txBox="1"/>
          <p:nvPr/>
        </p:nvSpPr>
        <p:spPr>
          <a:xfrm xmlns:a="http://schemas.openxmlformats.org/drawingml/2006/main">
            <a:off x="7524750" y="60388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1D4150"/>
                </a:solidFill>
                <a:latin typeface="Arial"/>
                <a:ea typeface="Arial"/>
              </a:rPr>
              <a:t>One unresolved catchment</a:t>
            </a:r>
            <a:endParaRPr lang="en-US"/>
          </a:p>
        </p:txBody>
      </p:sp>
      <p:sp>
        <p:nvSpPr>
          <p:cNvPr id="21" name="aqua-close-signal"/>
          <p:cNvSpPr/>
          <p:nvPr/>
        </p:nvSpPr>
        <p:spPr>
          <a:xfrm xmlns:a="http://schemas.openxmlformats.org/drawingml/2006/main">
            <a:off x="914400" y="7239000"/>
            <a:ext cx="7810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C225"/>
          </a:solidFill>
          <a:ln xmlns:a="http://schemas.openxmlformats.org/drawingml/2006/main" w="0">
            <a:solidFill>
              <a:srgbClr val="E3C2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qua-close-signal-text"/>
          <p:cNvSpPr txBox="1"/>
          <p:nvPr/>
        </p:nvSpPr>
        <p:spPr>
          <a:xfrm xmlns:a="http://schemas.openxmlformats.org/drawingml/2006/main">
            <a:off x="1162050" y="74485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One network · one evidence chain · one next action</a:t>
            </a:r>
            <a:endParaRPr lang="en-US"/>
          </a:p>
        </p:txBody>
      </p:sp>
      <p:sp>
        <p:nvSpPr>
          <p:cNvPr id="23" name="aqua-close-source"/>
          <p:cNvSpPr txBox="1"/>
          <p:nvPr/>
        </p:nvSpPr>
        <p:spPr>
          <a:xfrm xmlns:a="http://schemas.openxmlformats.org/drawingml/2006/main">
            <a:off x="914400" y="82677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4" name="aqua-close-page-number"/>
          <p:cNvSpPr txBox="1"/>
          <p:nvPr/>
        </p:nvSpPr>
        <p:spPr>
          <a:xfrm xmlns:a="http://schemas.openxmlformats.org/drawingml/2006/main">
            <a:off x="13335000" y="826770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90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