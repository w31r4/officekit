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23c5228cf9c42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68aebf613832e5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6785cc6781fd2511_1" /><Relationship Type="http://schemas.openxmlformats.org/officeDocument/2006/relationships/image" Target="/ppt/media/image3.jpg" Id="rIdOfficeKitImagee930dcb9c6b95953_1" /><Relationship Type="http://schemas.openxmlformats.org/officeDocument/2006/relationships/image" Target="/ppt/media/image4.jpg" Id="rIdOfficeKitImage5e425a7c66b022d4_1" /><Relationship Type="http://schemas.openxmlformats.org/officeDocument/2006/relationships/image" Target="/ppt/media/image5.jpg" Id="rIdOfficeKitImage84ff976f39aab728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20fc6993425855c3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e977612ad933c986_1" /><Relationship Type="http://schemas.openxmlformats.org/officeDocument/2006/relationships/image" Target="/ppt/media/image8.jpg" Id="rIdOfficeKitImaged96cedd8678b85ac_1" /><Relationship Type="http://schemas.openxmlformats.org/officeDocument/2006/relationships/image" Target="/ppt/media/image9.jpg" Id="rIdOfficeKitImage35d943dc999c7d05_1" /><Relationship Type="http://schemas.openxmlformats.org/officeDocument/2006/relationships/image" Target="/ppt/media/image10.jpg" Id="rIdOfficeKitImagedf986129197cef3b_1" /><Relationship Type="http://schemas.openxmlformats.org/officeDocument/2006/relationships/image" Target="/ppt/media/image11.jpg" Id="rIdOfficeKitImagecb4e39f1eccfa54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06e55191024fa45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3.jpg" Id="rIdOfficeKitImagee231e9493e535fbe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a68aebf613832e5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4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1D4150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D4150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1D4150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D4150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1D415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6785cc6781fd251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7411" r="0" b="374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12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e425a7c66b022d4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13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14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20fc6993425855c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map-label"/>
          <p:cNvSpPr txBox="1"/>
          <p:nvPr/>
        </p:nvSpPr>
        <p:spPr>
          <a:xfrm xmlns:a="http://schemas.openxmlformats.org/drawingml/2006/main">
            <a:off x="1066800" y="3143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B8EA3"/>
                </a:solidFill>
                <a:latin typeface="Arial"/>
                <a:ea typeface="Arial"/>
              </a:rPr>
              <a:t>DIRECT-LABELLED DISTRIBUTION</a:t>
            </a:r>
            <a:endParaRPr lang="en-US"/>
          </a:p>
        </p:txBody>
      </p:sp>
      <p:sp>
        <p:nvSpPr>
          <p:cNvPr id="9" name="map-field"/>
          <p:cNvSpPr/>
          <p:nvPr/>
        </p:nvSpPr>
        <p:spPr>
          <a:xfrm xmlns:a="http://schemas.openxmlformats.org/drawingml/2006/main">
            <a:off x="1066800" y="3524250"/>
            <a:ext cx="7524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9C9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map-region-0"/>
          <p:cNvSpPr/>
          <p:nvPr/>
        </p:nvSpPr>
        <p:spPr>
          <a:xfrm xmlns:a="http://schemas.openxmlformats.org/drawingml/2006/main">
            <a:off x="1619250" y="43243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>
              <a:alpha val="48000"/>
            </a:srgbClr>
          </a:solidFill>
          <a:ln xmlns:a="http://schemas.openxmlformats.org/drawingml/2006/main" w="2540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map-region-1"/>
          <p:cNvSpPr/>
          <p:nvPr/>
        </p:nvSpPr>
        <p:spPr>
          <a:xfrm xmlns:a="http://schemas.openxmlformats.org/drawingml/2006/main">
            <a:off x="3295650" y="396240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8EA3">
              <a:alpha val="76000"/>
            </a:srgbClr>
          </a:solidFill>
          <a:ln xmlns:a="http://schemas.openxmlformats.org/drawingml/2006/main" w="2540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map-region-2"/>
          <p:cNvSpPr/>
          <p:nvPr/>
        </p:nvSpPr>
        <p:spPr>
          <a:xfrm xmlns:a="http://schemas.openxmlformats.org/drawingml/2006/main">
            <a:off x="5295900" y="4457700"/>
            <a:ext cx="1200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>
              <a:alpha val="48000"/>
            </a:srgbClr>
          </a:solidFill>
          <a:ln xmlns:a="http://schemas.openxmlformats.org/drawingml/2006/main" w="2540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map-region-3"/>
          <p:cNvSpPr/>
          <p:nvPr/>
        </p:nvSpPr>
        <p:spPr>
          <a:xfrm xmlns:a="http://schemas.openxmlformats.org/drawingml/2006/main">
            <a:off x="6705600" y="3848100"/>
            <a:ext cx="1238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8EA3">
              <a:alpha val="76000"/>
            </a:srgbClr>
          </a:solidFill>
          <a:ln xmlns:a="http://schemas.openxmlformats.org/drawingml/2006/main" w="2540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map-region-4"/>
          <p:cNvSpPr/>
          <p:nvPr/>
        </p:nvSpPr>
        <p:spPr>
          <a:xfrm xmlns:a="http://schemas.openxmlformats.org/drawingml/2006/main">
            <a:off x="2590800" y="52197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B9D">
              <a:alpha val="48000"/>
            </a:srgbClr>
          </a:solidFill>
          <a:ln xmlns:a="http://schemas.openxmlformats.org/drawingml/2006/main" w="2540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ap-region-5"/>
          <p:cNvSpPr/>
          <p:nvPr/>
        </p:nvSpPr>
        <p:spPr>
          <a:xfrm xmlns:a="http://schemas.openxmlformats.org/drawingml/2006/main">
            <a:off x="4895850" y="5334000"/>
            <a:ext cx="1447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>
              <a:alpha val="76000"/>
            </a:srgbClr>
          </a:solidFill>
          <a:ln xmlns:a="http://schemas.openxmlformats.org/drawingml/2006/main" w="2540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map-leader-0"/>
          <p:cNvSpPr/>
          <p:nvPr/>
        </p:nvSpPr>
        <p:spPr>
          <a:xfrm xmlns:a="http://schemas.openxmlformats.org/drawingml/2006/main">
            <a:off x="1943100" y="4362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map-label-0"/>
          <p:cNvSpPr txBox="1"/>
          <p:nvPr/>
        </p:nvSpPr>
        <p:spPr>
          <a:xfrm xmlns:a="http://schemas.openxmlformats.org/drawingml/2006/main">
            <a:off x="21907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D4150"/>
                </a:solidFill>
                <a:latin typeface="Arial"/>
                <a:ea typeface="Arial"/>
              </a:rPr>
              <a:t>North · 42%</a:t>
            </a:r>
            <a:endParaRPr lang="en-US"/>
          </a:p>
        </p:txBody>
      </p:sp>
      <p:sp>
        <p:nvSpPr>
          <p:cNvPr id="18" name="map-leader-1"/>
          <p:cNvSpPr/>
          <p:nvPr/>
        </p:nvSpPr>
        <p:spPr>
          <a:xfrm xmlns:a="http://schemas.openxmlformats.org/drawingml/2006/main">
            <a:off x="3676650" y="3981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map-label-1"/>
          <p:cNvSpPr txBox="1"/>
          <p:nvPr/>
        </p:nvSpPr>
        <p:spPr>
          <a:xfrm xmlns:a="http://schemas.openxmlformats.org/drawingml/2006/main">
            <a:off x="3924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D4150"/>
                </a:solidFill>
                <a:latin typeface="Arial"/>
                <a:ea typeface="Arial"/>
              </a:rPr>
              <a:t>Central · 68%</a:t>
            </a:r>
            <a:endParaRPr lang="en-US"/>
          </a:p>
        </p:txBody>
      </p:sp>
      <p:sp>
        <p:nvSpPr>
          <p:cNvPr id="20" name="map-leader-2"/>
          <p:cNvSpPr/>
          <p:nvPr/>
        </p:nvSpPr>
        <p:spPr>
          <a:xfrm xmlns:a="http://schemas.openxmlformats.org/drawingml/2006/main">
            <a:off x="6934200" y="388620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ap-label-2"/>
          <p:cNvSpPr txBox="1"/>
          <p:nvPr/>
        </p:nvSpPr>
        <p:spPr>
          <a:xfrm xmlns:a="http://schemas.openxmlformats.org/drawingml/2006/main">
            <a:off x="7181850" y="3619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D4150"/>
                </a:solidFill>
                <a:latin typeface="Arial"/>
                <a:ea typeface="Arial"/>
              </a:rPr>
              <a:t>East · 55%</a:t>
            </a:r>
            <a:endParaRPr lang="en-US"/>
          </a:p>
        </p:txBody>
      </p:sp>
      <p:sp>
        <p:nvSpPr>
          <p:cNvPr id="22" name="map-leader-3"/>
          <p:cNvSpPr/>
          <p:nvPr/>
        </p:nvSpPr>
        <p:spPr>
          <a:xfrm xmlns:a="http://schemas.openxmlformats.org/drawingml/2006/main">
            <a:off x="2952750" y="63436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map-label-3"/>
          <p:cNvSpPr txBox="1"/>
          <p:nvPr/>
        </p:nvSpPr>
        <p:spPr>
          <a:xfrm xmlns:a="http://schemas.openxmlformats.org/drawingml/2006/main">
            <a:off x="3200400" y="6076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D4150"/>
                </a:solidFill>
                <a:latin typeface="Arial"/>
                <a:ea typeface="Arial"/>
              </a:rPr>
              <a:t>South · 31%</a:t>
            </a:r>
            <a:endParaRPr lang="en-US"/>
          </a:p>
        </p:txBody>
      </p:sp>
      <p:sp>
        <p:nvSpPr>
          <p:cNvPr id="24" name="map-read-label"/>
          <p:cNvSpPr txBox="1"/>
          <p:nvPr/>
        </p:nvSpPr>
        <p:spPr>
          <a:xfrm xmlns:a="http://schemas.openxmlformats.org/drawingml/2006/main">
            <a:off x="9906000" y="3333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5" name="map-read-title"/>
          <p:cNvSpPr txBox="1"/>
          <p:nvPr/>
        </p:nvSpPr>
        <p:spPr>
          <a:xfrm xmlns:a="http://schemas.openxmlformats.org/drawingml/2006/main">
            <a:off x="9906000" y="3829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The geography changes the decision.</a:t>
            </a:r>
            <a:endParaRPr lang="en-US"/>
          </a:p>
        </p:txBody>
      </p:sp>
      <p:sp>
        <p:nvSpPr>
          <p:cNvPr id="26" name="map-read-body"/>
          <p:cNvSpPr txBox="1"/>
          <p:nvPr/>
        </p:nvSpPr>
        <p:spPr>
          <a:xfrm xmlns:a="http://schemas.openxmlformats.org/drawingml/2006/main">
            <a:off x="9906000" y="49530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Use a map only when position, distribution, or concentration carries the argument. Direct labels stay next to the region they qualify.</a:t>
            </a:r>
            <a:endParaRPr lang="en-US"/>
          </a:p>
        </p:txBody>
      </p:sp>
      <p:sp>
        <p:nvSpPr>
          <p:cNvPr id="2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1957" r="0" b="319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8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4150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e231e9493e535fbe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