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fd64d20ab3646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a68aebf613832e5f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2.jpg" Id="rIdOfficeKitImage6785cc6781fd2511_1" /><Relationship Type="http://schemas.openxmlformats.org/officeDocument/2006/relationships/image" Target="/ppt/media/image3.jpg" Id="rIdOfficeKitImagee930dcb9c6b95953_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4.jpg" Id="rIdOfficeKitImage5e425a7c66b022d4_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5.jpg" Id="rIdOfficeKitImage84ff976f39aab728_1" /><Relationship Type="http://schemas.openxmlformats.org/officeDocument/2006/relationships/image" Target="/ppt/media/image6.jpg" Id="rIdOfficeKitImage20fc6993425855c3_1" /><Relationship Type="http://schemas.openxmlformats.org/officeDocument/2006/relationships/image" Target="/ppt/media/image7.jpg" Id="rIdOfficeKitImagee977612ad933c986_1" /><Relationship Type="http://schemas.openxmlformats.org/officeDocument/2006/relationships/image" Target="/ppt/media/image8.jpg" Id="rIdOfficeKitImaged96cedd8678b85ac_1" /><Relationship Type="http://schemas.openxmlformats.org/officeDocument/2006/relationships/image" Target="/ppt/media/image9.jpg" Id="rIdOfficeKitImage35d943dc999c7d05_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10.jpg" Id="rIdOfficeKitImagedf986129197cef3b_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11.jpg" Id="rIdOfficeKitImagecb4e39f1eccfa545_1" /></Relationships>
</file>

<file path=ppt/slides/slide1.xml><?xml version="1.0" encoding="utf-8"?>
<p:sld xmlns:p="http://schemas.openxmlformats.org/presentationml/2006/main">
  <p:cSld name="Opening claim">
    <p:bg>
      <p:bgPr>
        <a:blipFill xmlns:a="http://schemas.openxmlformats.org/drawingml/2006/main">
          <a:blip xmlns:r="http://schemas.openxmlformats.org/officeDocument/2006/relationships" r:embed="rIdOfficeKitImagea68aebf613832e5f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editorial-cover-scrim"/>
          <p:cNvSpPr/>
          <p:nvPr/>
        </p:nvSpPr>
        <p:spPr>
          <a:xfrm xmlns:a="http://schemas.openxmlformats.org/drawingml/2006/main">
            <a:off x="0" y="0"/>
            <a:ext cx="7239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4">
              <a:alpha val="84000"/>
            </a:srgbClr>
          </a:solidFill>
          <a:ln xmlns:a="http://schemas.openxmlformats.org/drawingml/2006/main" w="0">
            <a:solidFill>
              <a:srgbClr val="F3EFE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yebrow"/>
          <p:cNvSpPr txBox="1"/>
          <p:nvPr/>
        </p:nvSpPr>
        <p:spPr>
          <a:xfrm xmlns:a="http://schemas.openxmlformats.org/drawingml/2006/main">
            <a:off x="914400" y="8001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0B8EA3"/>
                </a:solidFill>
                <a:latin typeface="Arial"/>
                <a:ea typeface="Arial"/>
              </a:rPr>
              <a:t>PROMOTION · OFFICEKIT CALIBRATION</a:t>
            </a:r>
            <a:endParaRPr lang="en-US"/>
          </a:p>
        </p:txBody>
      </p:sp>
      <p:sp>
        <p:nvSpPr>
          <p:cNvPr id="4" name="cover-title"/>
          <p:cNvSpPr txBox="1"/>
          <p:nvPr/>
        </p:nvSpPr>
        <p:spPr>
          <a:xfrm xmlns:a="http://schemas.openxmlformats.org/drawingml/2006/main">
            <a:off x="914400" y="1962150"/>
            <a:ext cx="581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900" b="1">
                <a:solidFill>
                  <a:srgbClr val="1D4150"/>
                </a:solidFill>
                <a:latin typeface="Arial"/>
                <a:ea typeface="Arial"/>
              </a:rPr>
              <a:t>Aqua Impact Story: a claim worth testing</a:t>
            </a:r>
            <a:endParaRPr lang="en-US"/>
          </a:p>
        </p:txBody>
      </p:sp>
      <p:sp>
        <p:nvSpPr>
          <p:cNvPr id="5" name="cover-subtitle"/>
          <p:cNvSpPr txBox="1"/>
          <p:nvPr/>
        </p:nvSpPr>
        <p:spPr>
          <a:xfrm xmlns:a="http://schemas.openxmlformats.org/drawingml/2006/main">
            <a:off x="952500" y="36385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>
                <a:solidFill>
                  <a:srgbClr val="1D4150"/>
                </a:solidFill>
                <a:latin typeface="Arial"/>
                <a:ea typeface="Arial"/>
              </a:rPr>
              <a:t>A clean-room reference for a visual proposition.</a:t>
            </a:r>
            <a:endParaRPr lang="en-US"/>
          </a:p>
        </p:txBody>
      </p:sp>
      <p:sp>
        <p:nvSpPr>
          <p:cNvPr id="6" name="cover-photo-rule"/>
          <p:cNvSpPr/>
          <p:nvPr/>
        </p:nvSpPr>
        <p:spPr>
          <a:xfrm xmlns:a="http://schemas.openxmlformats.org/drawingml/2006/main">
            <a:off x="914400" y="4533900"/>
            <a:ext cx="489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8EA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7" name="cover-thesis"/>
          <p:cNvSpPr txBox="1"/>
          <p:nvPr/>
        </p:nvSpPr>
        <p:spPr>
          <a:xfrm xmlns:a="http://schemas.openxmlformats.org/drawingml/2006/main">
            <a:off x="952500" y="4895850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950" b="1">
                <a:solidFill>
                  <a:srgbClr val="1D4150"/>
                </a:solidFill>
                <a:latin typeface="Arial"/>
                <a:ea typeface="Arial"/>
              </a:rPr>
              <a:t>A proposition earns attention when it gives a next move.</a:t>
            </a:r>
            <a:endParaRPr lang="en-US"/>
          </a:p>
        </p:txBody>
      </p:sp>
      <p:sp>
        <p:nvSpPr>
          <p:cNvPr id="8" name="cover-source"/>
          <p:cNvSpPr txBox="1"/>
          <p:nvPr/>
        </p:nvSpPr>
        <p:spPr>
          <a:xfrm xmlns:a="http://schemas.openxmlformats.org/drawingml/2006/main">
            <a:off x="952500" y="7334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1D4150"/>
                </a:solidFill>
                <a:latin typeface="Arial"/>
                <a:ea typeface="Arial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9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1D4150"/>
                </a:solidFill>
                <a:latin typeface="Arial"/>
                <a:ea typeface="Arial"/>
              </a:rPr>
              <a:t>1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bg>
      <p:bgPr>
        <a:blipFill xmlns:a="http://schemas.openxmlformats.org/drawingml/2006/main">
          <a:blip xmlns:r="http://schemas.openxmlformats.org/officeDocument/2006/relationships" r:embed="rIdOfficeKitImage6785cc6781fd2511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argument-paper-scrim"/>
          <p:cNvSpPr/>
          <p:nvPr/>
        </p:nvSpPr>
        <p:spPr>
          <a:xfrm xmlns:a="http://schemas.openxmlformats.org/drawingml/2006/main">
            <a:off x="0" y="0"/>
            <a:ext cx="8191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4">
              <a:alpha val="96000"/>
            </a:srgbClr>
          </a:solidFill>
          <a:ln xmlns:a="http://schemas.openxmlformats.org/drawingml/2006/main" w="0">
            <a:solidFill>
              <a:srgbClr val="F3EFE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8EA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AQUA IMPACT STORY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B8EA3"/>
                </a:solidFill>
                <a:latin typeface="Arial"/>
                <a:ea typeface="Arial"/>
              </a:rPr>
              <a:t>AQUA IMPACT STORY · ARGUMENT</a:t>
            </a:r>
            <a:endParaRPr lang="en-US"/>
          </a:p>
        </p:txBody>
      </p:sp>
      <p:sp>
        <p:nvSpPr>
          <p:cNvPr id="5" name="argument-title"/>
          <p:cNvSpPr txBox="1"/>
          <p:nvPr/>
        </p:nvSpPr>
        <p:spPr>
          <a:xfrm xmlns:a="http://schemas.openxmlformats.org/drawingml/2006/main">
            <a:off x="914400" y="1314450"/>
            <a:ext cx="628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1D4150"/>
                </a:solidFill>
                <a:latin typeface="Arial"/>
                <a:ea typeface="Arial"/>
              </a:rPr>
              <a:t>The proposition is the page's visual</a:t>
            </a:r>
            <a:endParaRPr lang="en-US"/>
          </a:p>
          <a:p xmlns:a="http://schemas.openxmlformats.org/drawingml/2006/main">
            <a:r>
              <a:rPr lang="en-US" sz="2550" b="1">
                <a:solidFill>
                  <a:srgbClr val="1D4150"/>
                </a:solidFill>
                <a:latin typeface="Arial"/>
                <a:ea typeface="Arial"/>
              </a:rPr>
              <a:t>center</a:t>
            </a:r>
            <a:endParaRPr lang="en-US"/>
          </a:p>
        </p:txBody>
      </p:sp>
      <p:sp>
        <p:nvSpPr>
          <p:cNvPr id="6" name="argument-basis"/>
          <p:cNvSpPr txBox="1"/>
          <p:nvPr/>
        </p:nvSpPr>
        <p:spPr>
          <a:xfrm xmlns:a="http://schemas.openxmlformats.org/drawingml/2006/main">
            <a:off x="952500" y="21907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B9D"/>
                </a:solidFill>
                <a:latin typeface="Arial"/>
                <a:ea typeface="Arial"/>
              </a:rPr>
              <a:t>Scale, crop, and color invite attention without hiding the evidence.</a:t>
            </a:r>
            <a:endParaRPr lang="en-US"/>
          </a:p>
        </p:txBody>
      </p:sp>
      <p:sp>
        <p:nvSpPr>
          <p:cNvPr id="7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B9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promotion-kicker"/>
          <p:cNvSpPr txBox="1"/>
          <p:nvPr/>
        </p:nvSpPr>
        <p:spPr>
          <a:xfrm xmlns:a="http://schemas.openxmlformats.org/drawingml/2006/main">
            <a:off x="110490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0B8EA3"/>
                </a:solidFill>
                <a:latin typeface="Arial"/>
                <a:ea typeface="Arial"/>
              </a:rPr>
              <a:t>ONE PROPOSITION</a:t>
            </a:r>
            <a:endParaRPr lang="en-US"/>
          </a:p>
        </p:txBody>
      </p:sp>
      <p:sp>
        <p:nvSpPr>
          <p:cNvPr id="9" name="promotion-headline"/>
          <p:cNvSpPr txBox="1"/>
          <p:nvPr/>
        </p:nvSpPr>
        <p:spPr>
          <a:xfrm xmlns:a="http://schemas.openxmlformats.org/drawingml/2006/main">
            <a:off x="1104900" y="379095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625" b="1">
                <a:solidFill>
                  <a:srgbClr val="1D4150"/>
                </a:solidFill>
                <a:latin typeface="Arial"/>
                <a:ea typeface="Arial"/>
              </a:rPr>
              <a:t>Make the next action visible.</a:t>
            </a:r>
            <a:endParaRPr lang="en-US"/>
          </a:p>
        </p:txBody>
      </p:sp>
      <p:sp>
        <p:nvSpPr>
          <p:cNvPr id="10" name="promotion-body"/>
          <p:cNvSpPr txBox="1"/>
          <p:nvPr/>
        </p:nvSpPr>
        <p:spPr>
          <a:xfrm xmlns:a="http://schemas.openxmlformats.org/drawingml/2006/main">
            <a:off x="1104900" y="47625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1D4150"/>
                </a:solidFill>
                <a:latin typeface="Arial"/>
                <a:ea typeface="Arial"/>
              </a:rPr>
              <a:t>A clear invitation earns attention when evidence and access arrive together.</a:t>
            </a:r>
            <a:endParaRPr lang="en-US"/>
          </a:p>
        </p:txBody>
      </p:sp>
      <p:pic>
        <p:nvPicPr>
          <p:cNvPr id="11" name="promotion-hero-fram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e930dcb9c6b95953_1"/>
          <a:srcRect xmlns:a="http://schemas.openxmlformats.org/drawingml/2006/main" l="0" t="31920" r="0" b="3192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525000" y="3143250"/>
            <a:ext cx="4000500" cy="2571750"/>
          </a:xfrm>
          <a:prstGeom xmlns:a="http://schemas.openxmlformats.org/drawingml/2006/main" prst="rect">
            <a:avLst/>
          </a:prstGeom>
        </p:spPr>
      </p:pic>
      <p:sp>
        <p:nvSpPr>
          <p:cNvPr id="12" name="promotion-image-rule"/>
          <p:cNvSpPr/>
          <p:nvPr/>
        </p:nvSpPr>
        <p:spPr>
          <a:xfrm xmlns:a="http://schemas.openxmlformats.org/drawingml/2006/main">
            <a:off x="9525000" y="59055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8EA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promotion-image-label"/>
          <p:cNvSpPr txBox="1"/>
          <p:nvPr/>
        </p:nvSpPr>
        <p:spPr>
          <a:xfrm xmlns:a="http://schemas.openxmlformats.org/drawingml/2006/main">
            <a:off x="9525000" y="61531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0B8EA3"/>
                </a:solidFill>
                <a:latin typeface="Arial"/>
                <a:ea typeface="Arial"/>
              </a:rPr>
              <a:t>INVITE · PROVE · MOVE</a:t>
            </a:r>
            <a:endParaRPr lang="en-US"/>
          </a:p>
        </p:txBody>
      </p:sp>
      <p:sp>
        <p:nvSpPr>
          <p:cNvPr id="14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B9D"/>
                </a:solidFill>
                <a:latin typeface="Arial"/>
                <a:ea typeface="Arial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15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B9D"/>
                </a:solidFill>
                <a:latin typeface="Arial"/>
                <a:ea typeface="Arial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bg>
      <p:bgPr>
        <a:blipFill xmlns:a="http://schemas.openxmlformats.org/drawingml/2006/main">
          <a:blip xmlns:r="http://schemas.openxmlformats.org/officeDocument/2006/relationships" r:embed="rIdOfficeKitImage5e425a7c66b022d4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evidence-paper-scrim"/>
          <p:cNvSpPr/>
          <p:nvPr/>
        </p:nvSpPr>
        <p:spPr>
          <a:xfrm xmlns:a="http://schemas.openxmlformats.org/drawingml/2006/main">
            <a:off x="0" y="0"/>
            <a:ext cx="8191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4">
              <a:alpha val="96000"/>
            </a:srgbClr>
          </a:solidFill>
          <a:ln xmlns:a="http://schemas.openxmlformats.org/drawingml/2006/main" w="0">
            <a:solidFill>
              <a:srgbClr val="F3EFE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8EA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AQUA IMPACT STORY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B8EA3"/>
                </a:solidFill>
                <a:latin typeface="Arial"/>
                <a:ea typeface="Arial"/>
              </a:rPr>
              <a:t>AQUA IMPACT STORY · EVIDENCE</a:t>
            </a:r>
            <a:endParaRPr lang="en-US"/>
          </a:p>
        </p:txBody>
      </p:sp>
      <p:sp>
        <p:nvSpPr>
          <p:cNvPr id="5" name="evidence-title"/>
          <p:cNvSpPr txBox="1"/>
          <p:nvPr/>
        </p:nvSpPr>
        <p:spPr>
          <a:xfrm xmlns:a="http://schemas.openxmlformats.org/drawingml/2006/main">
            <a:off x="914400" y="1314450"/>
            <a:ext cx="628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1D4150"/>
                </a:solidFill>
                <a:latin typeface="Arial"/>
                <a:ea typeface="Arial"/>
              </a:rPr>
              <a:t>The signal grows when the invitation</a:t>
            </a:r>
            <a:endParaRPr lang="en-US"/>
          </a:p>
          <a:p xmlns:a="http://schemas.openxmlformats.org/drawingml/2006/main">
            <a:r>
              <a:rPr lang="en-US" sz="2550" b="1">
                <a:solidFill>
                  <a:srgbClr val="1D4150"/>
                </a:solidFill>
                <a:latin typeface="Arial"/>
                <a:ea typeface="Arial"/>
              </a:rPr>
              <a:t>stays measurable</a:t>
            </a:r>
            <a:endParaRPr lang="en-US"/>
          </a:p>
        </p:txBody>
      </p:sp>
      <p:sp>
        <p:nvSpPr>
          <p:cNvPr id="6" name="evidence-basis"/>
          <p:cNvSpPr txBox="1"/>
          <p:nvPr/>
        </p:nvSpPr>
        <p:spPr>
          <a:xfrm xmlns:a="http://schemas.openxmlformats.org/drawingml/2006/main">
            <a:off x="952500" y="21907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B9D"/>
                </a:solidFill>
                <a:latin typeface="Arial"/>
                <a:ea typeface="Arial"/>
              </a:rPr>
              <a:t>Illustrative reach and response · source and measurement convention remain attached.</a:t>
            </a:r>
            <a:endParaRPr lang="en-US"/>
          </a:p>
        </p:txBody>
      </p:sp>
      <p:sp>
        <p:nvSpPr>
          <p:cNvPr id="7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B9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map-label"/>
          <p:cNvSpPr txBox="1"/>
          <p:nvPr/>
        </p:nvSpPr>
        <p:spPr>
          <a:xfrm xmlns:a="http://schemas.openxmlformats.org/drawingml/2006/main">
            <a:off x="1066800" y="31432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0B8EA3"/>
                </a:solidFill>
                <a:latin typeface="Arial"/>
                <a:ea typeface="Arial"/>
              </a:rPr>
              <a:t>DIRECT-LABELLED DISTRIBUTION</a:t>
            </a:r>
            <a:endParaRPr lang="en-US"/>
          </a:p>
        </p:txBody>
      </p:sp>
      <p:sp>
        <p:nvSpPr>
          <p:cNvPr id="9" name="map-field"/>
          <p:cNvSpPr/>
          <p:nvPr/>
        </p:nvSpPr>
        <p:spPr>
          <a:xfrm xmlns:a="http://schemas.openxmlformats.org/drawingml/2006/main">
            <a:off x="1066800" y="3524250"/>
            <a:ext cx="7524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9C9"/>
          </a:solidFill>
          <a:ln xmlns:a="http://schemas.openxmlformats.org/drawingml/2006/main" w="12700">
            <a:solidFill>
              <a:srgbClr val="8C9B9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map-region-0"/>
          <p:cNvSpPr/>
          <p:nvPr/>
        </p:nvSpPr>
        <p:spPr>
          <a:xfrm xmlns:a="http://schemas.openxmlformats.org/drawingml/2006/main">
            <a:off x="1619250" y="4324350"/>
            <a:ext cx="1428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C225">
              <a:alpha val="48000"/>
            </a:srgbClr>
          </a:solidFill>
          <a:ln xmlns:a="http://schemas.openxmlformats.org/drawingml/2006/main" w="25400">
            <a:solidFill>
              <a:srgbClr val="F3EFE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map-region-1"/>
          <p:cNvSpPr/>
          <p:nvPr/>
        </p:nvSpPr>
        <p:spPr>
          <a:xfrm xmlns:a="http://schemas.openxmlformats.org/drawingml/2006/main">
            <a:off x="3295650" y="3962400"/>
            <a:ext cx="1790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EA3">
              <a:alpha val="76000"/>
            </a:srgbClr>
          </a:solidFill>
          <a:ln xmlns:a="http://schemas.openxmlformats.org/drawingml/2006/main" w="25400">
            <a:solidFill>
              <a:srgbClr val="F3EFE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map-region-2"/>
          <p:cNvSpPr/>
          <p:nvPr/>
        </p:nvSpPr>
        <p:spPr>
          <a:xfrm xmlns:a="http://schemas.openxmlformats.org/drawingml/2006/main">
            <a:off x="5295900" y="445770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C225">
              <a:alpha val="48000"/>
            </a:srgbClr>
          </a:solidFill>
          <a:ln xmlns:a="http://schemas.openxmlformats.org/drawingml/2006/main" w="25400">
            <a:solidFill>
              <a:srgbClr val="F3EFE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map-region-3"/>
          <p:cNvSpPr/>
          <p:nvPr/>
        </p:nvSpPr>
        <p:spPr>
          <a:xfrm xmlns:a="http://schemas.openxmlformats.org/drawingml/2006/main">
            <a:off x="6705600" y="3848100"/>
            <a:ext cx="123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EA3">
              <a:alpha val="76000"/>
            </a:srgbClr>
          </a:solidFill>
          <a:ln xmlns:a="http://schemas.openxmlformats.org/drawingml/2006/main" w="25400">
            <a:solidFill>
              <a:srgbClr val="F3EFE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map-region-4"/>
          <p:cNvSpPr/>
          <p:nvPr/>
        </p:nvSpPr>
        <p:spPr>
          <a:xfrm xmlns:a="http://schemas.openxmlformats.org/drawingml/2006/main">
            <a:off x="2590800" y="5219700"/>
            <a:ext cx="1943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9B9D">
              <a:alpha val="48000"/>
            </a:srgbClr>
          </a:solidFill>
          <a:ln xmlns:a="http://schemas.openxmlformats.org/drawingml/2006/main" w="25400">
            <a:solidFill>
              <a:srgbClr val="F3EFE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map-region-5"/>
          <p:cNvSpPr/>
          <p:nvPr/>
        </p:nvSpPr>
        <p:spPr>
          <a:xfrm xmlns:a="http://schemas.openxmlformats.org/drawingml/2006/main">
            <a:off x="4895850" y="5334000"/>
            <a:ext cx="1447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C225">
              <a:alpha val="76000"/>
            </a:srgbClr>
          </a:solidFill>
          <a:ln xmlns:a="http://schemas.openxmlformats.org/drawingml/2006/main" w="25400">
            <a:solidFill>
              <a:srgbClr val="F3EFE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map-leader-0"/>
          <p:cNvSpPr/>
          <p:nvPr/>
        </p:nvSpPr>
        <p:spPr>
          <a:xfrm xmlns:a="http://schemas.openxmlformats.org/drawingml/2006/main">
            <a:off x="1943100" y="4362450"/>
            <a:ext cx="20955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D415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map-label-0"/>
          <p:cNvSpPr txBox="1"/>
          <p:nvPr/>
        </p:nvSpPr>
        <p:spPr>
          <a:xfrm xmlns:a="http://schemas.openxmlformats.org/drawingml/2006/main">
            <a:off x="2190750" y="4095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1D4150"/>
                </a:solidFill>
                <a:latin typeface="Arial"/>
                <a:ea typeface="Arial"/>
              </a:rPr>
              <a:t>North · 42%</a:t>
            </a:r>
            <a:endParaRPr lang="en-US"/>
          </a:p>
        </p:txBody>
      </p:sp>
      <p:sp>
        <p:nvSpPr>
          <p:cNvPr id="18" name="map-leader-1"/>
          <p:cNvSpPr/>
          <p:nvPr/>
        </p:nvSpPr>
        <p:spPr>
          <a:xfrm xmlns:a="http://schemas.openxmlformats.org/drawingml/2006/main">
            <a:off x="3676650" y="3981450"/>
            <a:ext cx="20955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D415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map-label-1"/>
          <p:cNvSpPr txBox="1"/>
          <p:nvPr/>
        </p:nvSpPr>
        <p:spPr>
          <a:xfrm xmlns:a="http://schemas.openxmlformats.org/drawingml/2006/main">
            <a:off x="3924300" y="3714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1D4150"/>
                </a:solidFill>
                <a:latin typeface="Arial"/>
                <a:ea typeface="Arial"/>
              </a:rPr>
              <a:t>Central · 68%</a:t>
            </a:r>
            <a:endParaRPr lang="en-US"/>
          </a:p>
        </p:txBody>
      </p:sp>
      <p:sp>
        <p:nvSpPr>
          <p:cNvPr id="20" name="map-leader-2"/>
          <p:cNvSpPr/>
          <p:nvPr/>
        </p:nvSpPr>
        <p:spPr>
          <a:xfrm xmlns:a="http://schemas.openxmlformats.org/drawingml/2006/main">
            <a:off x="6934200" y="3886200"/>
            <a:ext cx="20955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D415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map-label-2"/>
          <p:cNvSpPr txBox="1"/>
          <p:nvPr/>
        </p:nvSpPr>
        <p:spPr>
          <a:xfrm xmlns:a="http://schemas.openxmlformats.org/drawingml/2006/main">
            <a:off x="7181850" y="3619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1D4150"/>
                </a:solidFill>
                <a:latin typeface="Arial"/>
                <a:ea typeface="Arial"/>
              </a:rPr>
              <a:t>East · 55%</a:t>
            </a:r>
            <a:endParaRPr lang="en-US"/>
          </a:p>
        </p:txBody>
      </p:sp>
      <p:sp>
        <p:nvSpPr>
          <p:cNvPr id="22" name="map-leader-3"/>
          <p:cNvSpPr/>
          <p:nvPr/>
        </p:nvSpPr>
        <p:spPr>
          <a:xfrm xmlns:a="http://schemas.openxmlformats.org/drawingml/2006/main">
            <a:off x="2952750" y="6343650"/>
            <a:ext cx="20955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D4150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map-label-3"/>
          <p:cNvSpPr txBox="1"/>
          <p:nvPr/>
        </p:nvSpPr>
        <p:spPr>
          <a:xfrm xmlns:a="http://schemas.openxmlformats.org/drawingml/2006/main">
            <a:off x="3200400" y="6076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1D4150"/>
                </a:solidFill>
                <a:latin typeface="Arial"/>
                <a:ea typeface="Arial"/>
              </a:rPr>
              <a:t>South · 31%</a:t>
            </a:r>
            <a:endParaRPr lang="en-US"/>
          </a:p>
        </p:txBody>
      </p:sp>
      <p:sp>
        <p:nvSpPr>
          <p:cNvPr id="24" name="map-read-label"/>
          <p:cNvSpPr txBox="1"/>
          <p:nvPr/>
        </p:nvSpPr>
        <p:spPr>
          <a:xfrm xmlns:a="http://schemas.openxmlformats.org/drawingml/2006/main">
            <a:off x="9906000" y="33337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0B8EA3"/>
                </a:solidFill>
                <a:latin typeface="Arial"/>
                <a:ea typeface="Arial"/>
              </a:rPr>
              <a:t>READ-THROUGH</a:t>
            </a:r>
            <a:endParaRPr lang="en-US"/>
          </a:p>
        </p:txBody>
      </p:sp>
      <p:sp>
        <p:nvSpPr>
          <p:cNvPr id="25" name="map-read-title"/>
          <p:cNvSpPr txBox="1"/>
          <p:nvPr/>
        </p:nvSpPr>
        <p:spPr>
          <a:xfrm xmlns:a="http://schemas.openxmlformats.org/drawingml/2006/main">
            <a:off x="9906000" y="38290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D4150"/>
                </a:solidFill>
                <a:latin typeface="Arial"/>
                <a:ea typeface="Arial"/>
              </a:rPr>
              <a:t>The geography changes the decision.</a:t>
            </a:r>
            <a:endParaRPr lang="en-US"/>
          </a:p>
        </p:txBody>
      </p:sp>
      <p:sp>
        <p:nvSpPr>
          <p:cNvPr id="26" name="map-read-body"/>
          <p:cNvSpPr txBox="1"/>
          <p:nvPr/>
        </p:nvSpPr>
        <p:spPr>
          <a:xfrm xmlns:a="http://schemas.openxmlformats.org/drawingml/2006/main">
            <a:off x="9906000" y="4953000"/>
            <a:ext cx="342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C9B9D"/>
                </a:solidFill>
                <a:latin typeface="Arial"/>
                <a:ea typeface="Arial"/>
              </a:rPr>
              <a:t>Use a map only when position, distribution, or concentration carries the argument. Direct labels stay next to the region they qualify.</a:t>
            </a:r>
            <a:endParaRPr lang="en-US"/>
          </a:p>
        </p:txBody>
      </p:sp>
      <p:sp>
        <p:nvSpPr>
          <p:cNvPr id="27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A24"/>
          </a:solidFill>
          <a:ln xmlns:a="http://schemas.openxmlformats.org/drawingml/2006/main" w="0">
            <a:solidFill>
              <a:srgbClr val="131A2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8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D4150"/>
                </a:solidFill>
                <a:latin typeface="Arial"/>
                <a:ea typeface="Arial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29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B9D"/>
                </a:solidFill>
                <a:latin typeface="Arial"/>
                <a:ea typeface="Arial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30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B9D"/>
                </a:solidFill>
                <a:latin typeface="Arial"/>
                <a:ea typeface="Arial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4"/>
          </a:solidFill>
          <a:ln xmlns:a="http://schemas.openxmlformats.org/drawingml/2006/main" w="0">
            <a:solidFill>
              <a:srgbClr val="F3EFE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8EA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AQUA IMPACT STORY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B8EA3"/>
                </a:solidFill>
                <a:latin typeface="Arial"/>
                <a:ea typeface="Arial"/>
              </a:rPr>
              <a:t>AQUA IMPACT STORY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1D4150"/>
                </a:solidFill>
                <a:latin typeface="Arial"/>
                <a:ea typeface="Arial"/>
              </a:rPr>
              <a:t>The same idea can hold several views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B9D"/>
                </a:solidFill>
                <a:latin typeface="Arial"/>
                <a:ea typeface="Arial"/>
              </a:rPr>
              <a:t>Unequal image frames · visual variety without decorative filler.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B9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8" name="image-evidence-0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84ff976f39aab728_1"/>
          <a:srcRect xmlns:a="http://schemas.openxmlformats.org/drawingml/2006/main" l="0" t="31971" r="0" b="3197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90600" y="3162300"/>
            <a:ext cx="3714750" cy="2381250"/>
          </a:xfrm>
          <a:prstGeom xmlns:a="http://schemas.openxmlformats.org/drawingml/2006/main" prst="rect">
            <a:avLst/>
          </a:prstGeom>
        </p:spPr>
      </p:pic>
      <p:pic>
        <p:nvPicPr>
          <p:cNvPr id="9" name="image-evidence-1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20fc6993425855c3_1"/>
          <a:srcRect xmlns:a="http://schemas.openxmlformats.org/drawingml/2006/main" l="0" t="32333" r="0" b="3233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895850" y="3162300"/>
            <a:ext cx="1790700" cy="1123950"/>
          </a:xfrm>
          <a:prstGeom xmlns:a="http://schemas.openxmlformats.org/drawingml/2006/main" prst="rect">
            <a:avLst/>
          </a:prstGeom>
        </p:spPr>
      </p:pic>
      <p:pic>
        <p:nvPicPr>
          <p:cNvPr id="10" name="image-evidence-2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e977612ad933c986_1"/>
          <a:srcRect xmlns:a="http://schemas.openxmlformats.org/drawingml/2006/main" l="0" t="32333" r="0" b="3233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858000" y="3162300"/>
            <a:ext cx="1790700" cy="1123950"/>
          </a:xfrm>
          <a:prstGeom xmlns:a="http://schemas.openxmlformats.org/drawingml/2006/main" prst="rect">
            <a:avLst/>
          </a:prstGeom>
        </p:spPr>
      </p:pic>
      <p:pic>
        <p:nvPicPr>
          <p:cNvPr id="11" name="image-evidence-3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d96cedd8678b85ac_1"/>
          <a:srcRect xmlns:a="http://schemas.openxmlformats.org/drawingml/2006/main" l="0" t="32347" r="0" b="3234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895850" y="4457700"/>
            <a:ext cx="1790700" cy="1123950"/>
          </a:xfrm>
          <a:prstGeom xmlns:a="http://schemas.openxmlformats.org/drawingml/2006/main" prst="rect">
            <a:avLst/>
          </a:prstGeom>
        </p:spPr>
      </p:pic>
      <p:pic>
        <p:nvPicPr>
          <p:cNvPr id="12" name="image-evidence-4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35d943dc999c7d05_1"/>
          <a:srcRect xmlns:a="http://schemas.openxmlformats.org/drawingml/2006/main" l="0" t="32347" r="0" b="3234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858000" y="4457700"/>
            <a:ext cx="1790700" cy="1123950"/>
          </a:xfrm>
          <a:prstGeom xmlns:a="http://schemas.openxmlformats.org/drawingml/2006/main" prst="rect">
            <a:avLst/>
          </a:prstGeom>
        </p:spPr>
      </p:pic>
      <p:sp>
        <p:nvSpPr>
          <p:cNvPr id="13" name="image-matrix-label"/>
          <p:cNvSpPr txBox="1"/>
          <p:nvPr/>
        </p:nvSpPr>
        <p:spPr>
          <a:xfrm xmlns:a="http://schemas.openxmlformats.org/drawingml/2006/main">
            <a:off x="9620250" y="3314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0B8EA3"/>
                </a:solidFill>
                <a:latin typeface="Arial"/>
                <a:ea typeface="Arial"/>
              </a:rPr>
              <a:t>IMAGE MATRIX</a:t>
            </a:r>
            <a:endParaRPr lang="en-US"/>
          </a:p>
        </p:txBody>
      </p:sp>
      <p:sp>
        <p:nvSpPr>
          <p:cNvPr id="14" name="image-matrix-title"/>
          <p:cNvSpPr txBox="1"/>
          <p:nvPr/>
        </p:nvSpPr>
        <p:spPr>
          <a:xfrm xmlns:a="http://schemas.openxmlformats.org/drawingml/2006/main">
            <a:off x="9620250" y="37909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D4150"/>
                </a:solidFill>
                <a:latin typeface="Arial"/>
                <a:ea typeface="Arial"/>
              </a:rPr>
              <a:t>One subject, five ways to notice it.</a:t>
            </a:r>
            <a:endParaRPr lang="en-US"/>
          </a:p>
        </p:txBody>
      </p:sp>
      <p:sp>
        <p:nvSpPr>
          <p:cNvPr id="15" name="image-matrix-body"/>
          <p:cNvSpPr txBox="1"/>
          <p:nvPr/>
        </p:nvSpPr>
        <p:spPr>
          <a:xfrm xmlns:a="http://schemas.openxmlformats.org/drawingml/2006/main">
            <a:off x="9620250" y="4953000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C9B9D"/>
                </a:solidFill>
                <a:latin typeface="Arial"/>
                <a:ea typeface="Arial"/>
              </a:rPr>
              <a:t>One dominant frame plus four</a:t>
            </a:r>
            <a:endParaRPr lang="en-US"/>
          </a:p>
          <a:p xmlns:a="http://schemas.openxmlformats.org/drawingml/2006/main">
            <a:r>
              <a:rPr lang="en-US" sz="1200">
                <a:solidFill>
                  <a:srgbClr val="8C9B9D"/>
                </a:solidFill>
                <a:latin typeface="Arial"/>
                <a:ea typeface="Arial"/>
              </a:rPr>
              <a:t>supporting crops. Image carries</a:t>
            </a:r>
            <a:endParaRPr lang="en-US"/>
          </a:p>
          <a:p xmlns:a="http://schemas.openxmlformats.org/drawingml/2006/main">
            <a:r>
              <a:rPr lang="en-US" sz="1200">
                <a:solidFill>
                  <a:srgbClr val="8C9B9D"/>
                </a:solidFill>
                <a:latin typeface="Arial"/>
                <a:ea typeface="Arial"/>
              </a:rPr>
              <a:t>mood; labels carry the claim.</a:t>
            </a:r>
            <a:endParaRPr lang="en-US"/>
          </a:p>
        </p:txBody>
      </p:sp>
      <p:sp>
        <p:nvSpPr>
          <p:cNvPr id="1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B9D"/>
                </a:solidFill>
                <a:latin typeface="Arial"/>
                <a:ea typeface="Arial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1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B9D"/>
                </a:solidFill>
                <a:latin typeface="Arial"/>
                <a:ea typeface="Arial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visual-visual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df986129197cef3b_1"/>
          <a:srcRect xmlns:a="http://schemas.openxmlformats.org/drawingml/2006/main" l="0" t="34180" r="0" b="34180"/>
          <a:stretch xmlns:a="http://schemas.openxmlformats.org/drawingml/2006/main">
            <a:fillRect/>
          </a:stretch>
        </p:blipFill>
        <p:spPr>
          <a:xfrm xmlns:a="http://schemas.openxmlformats.org/drawingml/2006/main" flipH="1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visual-scrim"/>
          <p:cNvSpPr/>
          <p:nvPr/>
        </p:nvSpPr>
        <p:spPr>
          <a:xfrm xmlns:a="http://schemas.openxmlformats.org/drawingml/2006/main">
            <a:off x="0" y="0"/>
            <a:ext cx="6858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4">
              <a:alpha val="88000"/>
            </a:srgbClr>
          </a:solidFill>
          <a:ln xmlns:a="http://schemas.openxmlformats.org/drawingml/2006/main" w="0">
            <a:solidFill>
              <a:srgbClr val="F3EFE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visual-eyebrow"/>
          <p:cNvSpPr txBox="1"/>
          <p:nvPr/>
        </p:nvSpPr>
        <p:spPr>
          <a:xfrm xmlns:a="http://schemas.openxmlformats.org/drawingml/2006/main">
            <a:off x="914400" y="8953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B8EA3"/>
                </a:solidFill>
                <a:latin typeface="Arial"/>
                <a:ea typeface="Arial"/>
              </a:rPr>
              <a:t>AQUA IMPACT STORY · VISUAL CARRIER</a:t>
            </a:r>
            <a:endParaRPr lang="en-US"/>
          </a:p>
        </p:txBody>
      </p:sp>
      <p:sp>
        <p:nvSpPr>
          <p:cNvPr id="5" name="visual-title"/>
          <p:cNvSpPr txBox="1"/>
          <p:nvPr/>
        </p:nvSpPr>
        <p:spPr>
          <a:xfrm xmlns:a="http://schemas.openxmlformats.org/drawingml/2006/main">
            <a:off x="914400" y="16383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300" b="1">
                <a:solidFill>
                  <a:srgbClr val="1D4150"/>
                </a:solidFill>
                <a:latin typeface="Arial"/>
                <a:ea typeface="Arial"/>
              </a:rPr>
              <a:t>Let the subject do the work</a:t>
            </a:r>
            <a:endParaRPr lang="en-US"/>
          </a:p>
        </p:txBody>
      </p:sp>
      <p:sp>
        <p:nvSpPr>
          <p:cNvPr id="6" name="visual-body"/>
          <p:cNvSpPr txBox="1"/>
          <p:nvPr/>
        </p:nvSpPr>
        <p:spPr>
          <a:xfrm xmlns:a="http://schemas.openxmlformats.org/drawingml/2006/main">
            <a:off x="914400" y="32194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D4150"/>
                </a:solidFill>
                <a:latin typeface="Arial"/>
                <a:ea typeface="Arial"/>
              </a:rPr>
              <a:t>A strong crop gives the proposition a place to live.</a:t>
            </a:r>
            <a:endParaRPr lang="en-US"/>
          </a:p>
        </p:txBody>
      </p:sp>
      <p:sp>
        <p:nvSpPr>
          <p:cNvPr id="7" name="visual-rule"/>
          <p:cNvSpPr/>
          <p:nvPr/>
        </p:nvSpPr>
        <p:spPr>
          <a:xfrm xmlns:a="http://schemas.openxmlformats.org/drawingml/2006/main">
            <a:off x="914400" y="4476750"/>
            <a:ext cx="441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8EA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visual-label"/>
          <p:cNvSpPr txBox="1"/>
          <p:nvPr/>
        </p:nvSpPr>
        <p:spPr>
          <a:xfrm xmlns:a="http://schemas.openxmlformats.org/drawingml/2006/main">
            <a:off x="914400" y="4819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B8EA3"/>
                </a:solidFill>
                <a:latin typeface="Arial"/>
                <a:ea typeface="Arial"/>
              </a:rPr>
              <a:t>THE IMAGE IS EVIDENCE, NOT FILL</a:t>
            </a:r>
            <a:endParaRPr lang="en-US"/>
          </a:p>
        </p:txBody>
      </p:sp>
      <p:sp>
        <p:nvSpPr>
          <p:cNvPr id="9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B9D"/>
                </a:solidFill>
                <a:latin typeface="Arial"/>
                <a:ea typeface="Arial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10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B9D"/>
                </a:solidFill>
                <a:latin typeface="Arial"/>
                <a:ea typeface="Arial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bg>
      <p:bgPr>
        <a:blipFill xmlns:a="http://schemas.openxmlformats.org/drawingml/2006/main">
          <a:blip xmlns:r="http://schemas.openxmlformats.org/officeDocument/2006/relationships" r:embed="rIdOfficeKitImagecb4e39f1eccfa545_1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lose-paper-scrim"/>
          <p:cNvSpPr/>
          <p:nvPr/>
        </p:nvSpPr>
        <p:spPr>
          <a:xfrm xmlns:a="http://schemas.openxmlformats.org/drawingml/2006/main">
            <a:off x="0" y="0"/>
            <a:ext cx="8191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E4">
              <a:alpha val="96000"/>
            </a:srgbClr>
          </a:solidFill>
          <a:ln xmlns:a="http://schemas.openxmlformats.org/drawingml/2006/main" w="0">
            <a:solidFill>
              <a:srgbClr val="F3EFE4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8EA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AQUA IMPACT STORY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0B8EA3"/>
                </a:solidFill>
                <a:latin typeface="Arial"/>
                <a:ea typeface="Arial"/>
              </a:rPr>
              <a:t>AQUA IMPACT STORY · CLOSE</a:t>
            </a:r>
            <a:endParaRPr lang="en-US"/>
          </a:p>
        </p:txBody>
      </p:sp>
      <p:sp>
        <p:nvSpPr>
          <p:cNvPr id="5" name="close-title"/>
          <p:cNvSpPr txBox="1"/>
          <p:nvPr/>
        </p:nvSpPr>
        <p:spPr>
          <a:xfrm xmlns:a="http://schemas.openxmlformats.org/drawingml/2006/main">
            <a:off x="914400" y="1314450"/>
            <a:ext cx="628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1D4150"/>
                </a:solidFill>
                <a:latin typeface="Arial"/>
                <a:ea typeface="Arial"/>
              </a:rPr>
              <a:t>Turn the shared invitation into an</a:t>
            </a:r>
            <a:endParaRPr lang="en-US"/>
          </a:p>
          <a:p xmlns:a="http://schemas.openxmlformats.org/drawingml/2006/main">
            <a:r>
              <a:rPr lang="en-US" sz="2550" b="1">
                <a:solidFill>
                  <a:srgbClr val="1D4150"/>
                </a:solidFill>
                <a:latin typeface="Arial"/>
                <a:ea typeface="Arial"/>
              </a:rPr>
              <a:t>action plan</a:t>
            </a:r>
            <a:endParaRPr lang="en-US"/>
          </a:p>
        </p:txBody>
      </p:sp>
      <p:sp>
        <p:nvSpPr>
          <p:cNvPr id="6" name="close-basis"/>
          <p:cNvSpPr txBox="1"/>
          <p:nvPr/>
        </p:nvSpPr>
        <p:spPr>
          <a:xfrm xmlns:a="http://schemas.openxmlformats.org/drawingml/2006/main">
            <a:off x="952500" y="21907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C9B9D"/>
                </a:solidFill>
                <a:latin typeface="Arial"/>
                <a:ea typeface="Arial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7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C9B9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0B8EA3"/>
                </a:solidFill>
                <a:latin typeface="Arial"/>
                <a:ea typeface="Arial"/>
              </a:rPr>
              <a:t>01</a:t>
            </a:r>
            <a:endParaRPr lang="en-US"/>
          </a:p>
        </p:txBody>
      </p:sp>
      <p:sp>
        <p:nvSpPr>
          <p:cNvPr id="9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B9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D4150"/>
                </a:solidFill>
                <a:latin typeface="Arial"/>
                <a:ea typeface="Arial"/>
              </a:rPr>
              <a:t>Promise</a:t>
            </a:r>
            <a:endParaRPr lang="en-US"/>
          </a:p>
        </p:txBody>
      </p:sp>
      <p:sp>
        <p:nvSpPr>
          <p:cNvPr id="11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D4150"/>
                </a:solidFill>
                <a:latin typeface="Arial"/>
                <a:ea typeface="Arial"/>
              </a:rPr>
              <a:t>The proposition is legible.</a:t>
            </a:r>
            <a:endParaRPr lang="en-US"/>
          </a:p>
        </p:txBody>
      </p:sp>
      <p:sp>
        <p:nvSpPr>
          <p:cNvPr id="12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D4150"/>
                </a:solidFill>
                <a:latin typeface="Arial"/>
                <a:ea typeface="Arial"/>
              </a:rPr>
              <a:t>02</a:t>
            </a:r>
            <a:endParaRPr lang="en-US"/>
          </a:p>
        </p:txBody>
      </p:sp>
      <p:sp>
        <p:nvSpPr>
          <p:cNvPr id="13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C9B9D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D4150"/>
                </a:solidFill>
                <a:latin typeface="Arial"/>
                <a:ea typeface="Arial"/>
              </a:rPr>
              <a:t>Proof</a:t>
            </a:r>
            <a:endParaRPr lang="en-US"/>
          </a:p>
        </p:txBody>
      </p:sp>
      <p:sp>
        <p:nvSpPr>
          <p:cNvPr id="15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D4150"/>
                </a:solidFill>
                <a:latin typeface="Arial"/>
                <a:ea typeface="Arial"/>
              </a:rPr>
              <a:t>The response is measurable.</a:t>
            </a:r>
            <a:endParaRPr lang="en-US"/>
          </a:p>
        </p:txBody>
      </p:sp>
      <p:sp>
        <p:nvSpPr>
          <p:cNvPr id="16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0B8EA3"/>
                </a:solidFill>
                <a:latin typeface="Arial"/>
                <a:ea typeface="Arial"/>
              </a:rPr>
              <a:t>03</a:t>
            </a:r>
            <a:endParaRPr lang="en-US"/>
          </a:p>
        </p:txBody>
      </p:sp>
      <p:sp>
        <p:nvSpPr>
          <p:cNvPr id="17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B8EA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D4150"/>
                </a:solidFill>
                <a:latin typeface="Arial"/>
                <a:ea typeface="Arial"/>
              </a:rPr>
              <a:t>Move</a:t>
            </a:r>
            <a:endParaRPr lang="en-US"/>
          </a:p>
        </p:txBody>
      </p:sp>
      <p:sp>
        <p:nvSpPr>
          <p:cNvPr id="19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D4150"/>
                </a:solidFill>
                <a:latin typeface="Arial"/>
                <a:ea typeface="Arial"/>
              </a:rPr>
              <a:t>Give the audience one action.</a:t>
            </a:r>
            <a:endParaRPr lang="en-US"/>
          </a:p>
        </p:txBody>
      </p:sp>
      <p:sp>
        <p:nvSpPr>
          <p:cNvPr id="20" name="next-rule"/>
          <p:cNvSpPr/>
          <p:nvPr/>
        </p:nvSpPr>
        <p:spPr>
          <a:xfrm xmlns:a="http://schemas.openxmlformats.org/drawingml/2006/main">
            <a:off x="10668000" y="37147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8EA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next-label"/>
          <p:cNvSpPr txBox="1"/>
          <p:nvPr/>
        </p:nvSpPr>
        <p:spPr>
          <a:xfrm xmlns:a="http://schemas.openxmlformats.org/drawingml/2006/main">
            <a:off x="10668000" y="403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0B8EA3"/>
                </a:solidFill>
                <a:latin typeface="Arial"/>
                <a:ea typeface="Arial"/>
              </a:rPr>
              <a:t>NEXT MOVE</a:t>
            </a:r>
            <a:endParaRPr lang="en-US"/>
          </a:p>
        </p:txBody>
      </p:sp>
      <p:sp>
        <p:nvSpPr>
          <p:cNvPr id="22" name="next-text"/>
          <p:cNvSpPr txBox="1"/>
          <p:nvPr/>
        </p:nvSpPr>
        <p:spPr>
          <a:xfrm xmlns:a="http://schemas.openxmlformats.org/drawingml/2006/main">
            <a:off x="10668000" y="45148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1D4150"/>
                </a:solidFill>
                <a:latin typeface="Arial"/>
                <a:ea typeface="Arial"/>
              </a:rPr>
              <a:t>Publish the invitation</a:t>
            </a:r>
            <a:endParaRPr lang="en-US"/>
          </a:p>
        </p:txBody>
      </p:sp>
      <p:sp>
        <p:nvSpPr>
          <p:cNvPr id="23" name="next-foot"/>
          <p:cNvSpPr txBox="1"/>
          <p:nvPr/>
        </p:nvSpPr>
        <p:spPr>
          <a:xfrm xmlns:a="http://schemas.openxmlformats.org/drawingml/2006/main">
            <a:off x="10668000" y="5600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C9B9D"/>
                </a:solidFill>
                <a:latin typeface="Arial"/>
                <a:ea typeface="Arial"/>
              </a:rPr>
              <a:t>Owner · reviewer · date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C9B9D"/>
                </a:solidFill>
                <a:latin typeface="Arial"/>
                <a:ea typeface="Arial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C9B9D"/>
                </a:solidFill>
                <a:latin typeface="Arial"/>
                <a:ea typeface="Arial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