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c07b03d0a364a3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13db13f70d7843cc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7790b68b5d8fcd92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7f3383881f3d446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c7b73f8fac405495_1" /><Relationship Type="http://schemas.openxmlformats.org/officeDocument/2006/relationships/image" Target="/ppt/media/image4.jpg" Id="rIdOfficeKitImage59ee3aa5202fd02f_1" /><Relationship Type="http://schemas.openxmlformats.org/officeDocument/2006/relationships/image" Target="/ppt/media/image5.jpg" Id="rIdOfficeKitImageaeb6f74d36d260d0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2.xml" Id="Rfb513e53764b472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0B8EA3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C9B9D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Signal carried by the evidence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Observed</c:v>
          </c:tx>
          <c:spPr>
            <a:solidFill>
              <a:srgbClr val="0B8EA3"/>
            </a:solidFill>
          </c:spPr>
          <c:cat>
            <c:strLit>
              <c:ptCount val="5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</c:strLit>
          </c:cat>
          <c:val>
            <c:numLit>
              <c:formatCode>General</c:formatCode>
              <c:ptCount val="5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C9B9D"/>
            </a:solidFill>
          </c:spPr>
          <c:cat>
            <c:strLit>
              <c:ptCount val="5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</c:strLit>
          </c:cat>
          <c:val>
            <c:numLit>
              <c:formatCode>General</c:formatCode>
              <c:ptCount val="5"/>
              <c:pt idx="0">
                <c:v>32</c:v>
              </c:pt>
              <c:pt idx="1">
                <c:v>36</c:v>
              </c:pt>
              <c:pt idx="2">
                <c:v>40</c:v>
              </c:pt>
              <c:pt idx="3">
                <c:v>44</c:v>
              </c:pt>
              <c:pt idx="4">
                <c:v>49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editorial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3db13f70d7843cc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150">
              <a:alpha val="84000"/>
            </a:srgbClr>
          </a:solidFill>
          <a:ln xmlns:a="http://schemas.openxmlformats.org/drawingml/2006/main" w="0">
            <a:solidFill>
              <a:srgbClr val="1D415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Arial"/>
                <a:ea typeface="Arial"/>
              </a:rPr>
              <a:t>Aqua Impact Story: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Arial"/>
                <a:ea typeface="Arial"/>
              </a:rPr>
              <a:t>A clean-room reference for a visual proposition.</a:t>
            </a:r>
            <a:endParaRPr lang="en-US"/>
          </a:p>
        </p:txBody>
      </p:sp>
      <p:sp>
        <p:nvSpPr>
          <p:cNvPr id="7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9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D4150"/>
                </a:solidFill>
                <a:latin typeface="Arial"/>
                <a:ea typeface="Arial"/>
              </a:rPr>
              <a:t>The proposition is the page's visual 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D4150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D4150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790b68b5d8fcd92_1"/>
          <a:srcRect xmlns:a="http://schemas.openxmlformats.org/drawingml/2006/main" l="0" t="31920" r="0" b="319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2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0B8EA3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D4150"/>
                </a:solidFill>
                <a:latin typeface="Arial"/>
                <a:ea typeface="Arial"/>
              </a:rPr>
              <a:t>The signal grows when the invitation 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f3383881f3d4469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0B8EA3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qualified response · campaign close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Reach is useful only when the audience can see and take the next step.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D4150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D4150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28354" r="0" b="2835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85750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9ee3aa5202fd02f_1"/>
          <a:srcRect xmlns:a="http://schemas.openxmlformats.org/drawingml/2006/main" l="0" t="39904" r="0" b="3990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3714750" cy="133350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39904" r="0" b="3990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686300"/>
            <a:ext cx="3714750" cy="1333500"/>
          </a:xfrm>
          <a:prstGeom xmlns:a="http://schemas.openxmlformats.org/drawingml/2006/main" prst="rect">
            <a:avLst/>
          </a:prstGeom>
        </p:spPr>
      </p:pic>
      <p:sp>
        <p:nvSpPr>
          <p:cNvPr id="11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2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D4150"/>
                </a:solidFill>
                <a:latin typeface="Arial"/>
                <a:ea typeface="Arial"/>
              </a:rPr>
              <a:t>One subject, three ways to notice it.</a:t>
            </a:r>
            <a:endParaRPr lang="en-US"/>
          </a:p>
        </p:txBody>
      </p:sp>
      <p:sp>
        <p:nvSpPr>
          <p:cNvPr id="13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B9D"/>
                </a:solidFill>
                <a:latin typeface="Arial"/>
                <a:ea typeface="Arial"/>
              </a:rPr>
              <a:t>Use unequal frames to show facets of one idea. The crop carries the mood; the label carries the claim.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D4150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visual-field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7429500" cy="3695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b513e53764b472b"/>
          </a:graphicData>
        </a:graphic>
      </p:graphicFrame>
      <p:sp>
        <p:nvSpPr>
          <p:cNvPr id="9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11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D4150"/>
                </a:solidFill>
                <a:latin typeface="Arial"/>
                <a:ea typeface="Arial"/>
              </a:rPr>
              <a:t>Subject before slogan</a:t>
            </a:r>
            <a:endParaRPr lang="en-US"/>
          </a:p>
        </p:txBody>
      </p:sp>
      <p:sp>
        <p:nvSpPr>
          <p:cNvPr id="12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B9D"/>
                </a:solidFill>
                <a:latin typeface="Arial"/>
                <a:ea typeface="Arial"/>
              </a:rPr>
              <a:t>Crop, contrast and source role are reviewed before delivery.</a:t>
            </a:r>
            <a:endParaRPr lang="en-US"/>
          </a:p>
        </p:txBody>
      </p:sp>
      <p:sp>
        <p:nvSpPr>
          <p:cNvPr id="1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D4150"/>
                </a:solidFill>
                <a:latin typeface="Arial"/>
                <a:ea typeface="Arial"/>
              </a:rPr>
              <a:t>Turn the shared invitation into an 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B8EA3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415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B8EA3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D4150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B9D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