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officeKit/program.ppj" ContentType="application/vnd.officekit.ppj+json"/>
  <Override PartName="/officeKit/program-map.json" ContentType="application/vnd.officekit.ppj-map+json"/>
  <Override PartName="/officeKit/assets/8253eb0783e28989e86f0eea4a24dbfac688980da1785960b2ab2e583c2f8f99.bin" ContentType="image/jpeg"/>
  <Override PartName="/officeKit/assets/fba04475c10567fda97c549ea0239951ae12ecb241c1af8954daa41644053ed2.bin" ContentType="image/jpeg"/>
  <Override PartName="/officeKit/assets/1efb88ea280729bf80ad9f6a35af649b296db6113e096985971531bcec0d5f4c.bin" ContentType="image/jpeg"/>
  <Override PartName="/officeKit/assets/64616baa080a78f9a2265c2f34d8ae36840f6e2d0ae52e587c0885053cc23ca2.bin" ContentType="image/jpeg"/>
</Types>
</file>

<file path=_rels/.rels><?xml version="1.0" encoding="utf-8"?><Relationships xmlns="http://schemas.openxmlformats.org/package/2006/relationships"><Relationship Type="http://schemas.openxmlformats.org/officeDocument/2006/relationships/officeDocument" Target="/ppt/presentation.xml" Id="rIdOfficeKitPresentation" /><Relationship Id="rIdOfficeKitProgram" Type="https://schemas.officekit.dev/relationships/presentation-program" Target="officeKit/program.ppj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Office Clean Roo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Aqua Impact Stor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7F0"/>
      </a:accent1>
      <a:accent2>
        <a:srgbClr val="F8EED3"/>
      </a:accent2>
      <a:accent3>
        <a:srgbClr val="DDE9F6"/>
      </a:accent3>
      <a:accent4>
        <a:srgbClr val="222520"/>
      </a:accent4>
      <a:accent5>
        <a:srgbClr val="6E746F"/>
      </a:accent5>
      <a:accent6>
        <a:srgbClr val="5493D3"/>
      </a:accent6>
      <a:hlink>
        <a:srgbClr val="0000FF"/>
      </a:hlink>
      <a:folHlink>
        <a:srgbClr val="800080"/>
      </a:folHlink>
    </a:clrScheme>
    <a:fontScheme name="Aqua Impact Story">
      <a:majorFont>
        <a:latin typeface="Georgia"/>
        <a:ea typeface="Georgia"/>
        <a:cs typeface="Georgia"/>
      </a:majorFont>
      <a:minorFont>
        <a:latin typeface="Arial"/>
        <a:ea typeface="Arial"/>
        <a:cs typeface="Arial"/>
      </a:minorFont>
    </a:fontScheme>
    <a:fmtScheme name="Aqua Impact Sto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8253eb0783e28989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1efb88ea280729bf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IdOfficeKitChart8" /></Relationships>
</file>

<file path=ppt/slides/charts/chart1.xml><?xml version="1.0" encoding="utf-8"?>
<c:chartSpace xmlns:c="http://schemas.openxmlformats.org/drawingml/2006/chart" xmlns:a="http://schemas.openxmlformats.org/drawingml/2006/main">
  <c:chart>
    <c:plotArea>
      <c:layout/>
      <c:doughnutChart>
        <c:varyColors val="1"/>
        <c:ser>
          <c:idx val="0"/>
          <c:order val="0"/>
          <c:tx>
            <c:v>Allocation</c:v>
          </c:tx>
          <c:dPt>
            <c:idx val="0"/>
            <c:spPr>
              <a:solidFill>
                <a:srgbClr val="FFC907"/>
              </a:solidFill>
            </c:spPr>
          </c:dPt>
          <c:dPt>
            <c:idx val="1"/>
            <c:spPr>
              <a:solidFill>
                <a:srgbClr val="5493D3"/>
              </a:solidFill>
            </c:spPr>
          </c:dPt>
          <c:dPt>
            <c:idx val="2"/>
            <c:spPr>
              <a:solidFill>
                <a:srgbClr val="76A9DC"/>
              </a:solidFill>
            </c:spPr>
          </c:dPt>
          <c:dPt>
            <c:idx val="3"/>
            <c:spPr>
              <a:solidFill>
                <a:srgbClr val="CCDFF2"/>
              </a:solidFill>
            </c:spPr>
          </c:dPt>
          <c:cat>
            <c:strLit>
              <c:ptCount val="4"/>
              <c:pt idx="0">
                <c:v>Restoration</c:v>
              </c:pt>
              <c:pt idx="1">
                <c:v>Access</c:v>
              </c:pt>
              <c:pt idx="2">
                <c:v>Verification</c:v>
              </c:pt>
              <c:pt idx="3">
                <c:v>Maintenance</c:v>
              </c:pt>
            </c:strLit>
          </c:cat>
          <c:val>
            <c:numLit>
              <c:formatCode>General</c:formatCode>
              <c:ptCount val="4"/>
              <c:pt idx="0">
                <c:v>46</c:v>
              </c:pt>
              <c:pt idx="1">
                <c:v>28</c:v>
              </c:pt>
              <c:pt idx="2">
                <c:v>16</c:v>
              </c:pt>
              <c:pt idx="3">
                <c:v>10</c:v>
              </c:pt>
            </c:numLit>
          </c:val>
        </c:ser>
        <c:dLbls>
          <c:txPr>
            <a:bodyPr/>
            <a:lstStyle/>
            <a:p>
              <a:pPr>
                <a:defRPr sz="800">
                  <a:solidFill>
                    <a:srgbClr val="222520"/>
                  </a:solidFill>
                </a:defRPr>
              </a:pPr>
              <a:endParaRPr/>
            </a:p>
          </c:txPr>
          <c:dLblPos val="outEnd"/>
          <c:showVal val="0"/>
          <c:showCatName val="1"/>
          <c:showPercent val="1"/>
        </c:dLbls>
        <c:firstSliceAng val="120"/>
        <c:holeSize val="58"/>
      </c:doughnutChart>
      <c:spPr>
        <a:noFill/>
      </c:spPr>
    </c:plotArea>
    <c:plotVisOnly val="1"/>
  </c:chart>
  <c:spPr>
    <a:noFill/>
  </c:spPr>
</c:chartSpace>
</file>

<file path=ppt/slides/slide1.xml><?xml version="1.0" encoding="utf-8"?>
<p:sld xmlns:p="http://schemas.openxmlformats.org/presentationml/2006/main">
  <p:cSld name="opening proposition">
    <p:bg>
      <p:bgPr>
        <a:blipFill xmlns:a="http://schemas.openxmlformats.org/drawingml/2006/main">
          <a:blip xmlns:r="http://schemas.openxmlformats.org/officeDocument/2006/relationships" r:embed="rIdOfficeKitImage8253eb0783e28989_1">
            <a:alphaModFix amt="9600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opening-pap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0" y="0"/>
            <a:ext cx="7747000" cy="6858000"/>
          </a:xfrm>
          <a:custGeom xmlns:a="http://schemas.openxmlformats.org/drawingml/2006/main">
            <a:avLst/>
            <a:pathLst>
              <a:path w="610000" h="540000" fill="norm" stroke="0">
                <a:moveTo>
                  <a:pt x="0" y="0"/>
                </a:moveTo>
                <a:lnTo>
                  <a:pt x="545000" y="0"/>
                </a:lnTo>
                <a:cubicBezTo>
                  <a:pt x="570000" y="85000"/>
                  <a:pt x="520000" y="155000"/>
                  <a:pt x="560000" y="235000"/>
                </a:cubicBezTo>
                <a:cubicBezTo>
                  <a:pt x="590000" y="305000"/>
                  <a:pt x="520000" y="390000"/>
                  <a:pt x="555000" y="540000"/>
                </a:cubicBezTo>
                <a:lnTo>
                  <a:pt x="0" y="540000"/>
                </a:lnTo>
                <a:close/>
              </a:path>
            </a:pathLst>
          </a:custGeom>
          <a:solidFill xmlns:a="http://schemas.openxmlformats.org/drawingml/2006/main">
            <a:srgbClr val="FAF7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opening-yellow-contour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0" y="0"/>
            <a:ext cx="7747000" cy="6858000"/>
          </a:xfrm>
          <a:custGeom xmlns:a="http://schemas.openxmlformats.org/drawingml/2006/main">
            <a:avLst/>
            <a:pathLst>
              <a:path w="610000" h="540000" fill="none" stroke="1">
                <a:moveTo>
                  <a:pt x="545000" y="0"/>
                </a:moveTo>
                <a:cubicBezTo>
                  <a:pt x="570000" y="85000"/>
                  <a:pt x="520000" y="155000"/>
                  <a:pt x="560000" y="235000"/>
                </a:cubicBezTo>
                <a:cubicBezTo>
                  <a:pt x="590000" y="305000"/>
                  <a:pt x="520000" y="390000"/>
                  <a:pt x="555000" y="5400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800" cap="rnd">
            <a:solidFill>
              <a:srgbClr val="FFC90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opening-kicker" descr="Pilot identity"/>
          <p:cNvSpPr txBox="1"/>
          <p:nvPr/>
        </p:nvSpPr>
        <p:spPr>
          <a:xfrm xmlns:a="http://schemas.openxmlformats.org/drawingml/2006/main">
            <a:off x="609600" y="431800"/>
            <a:ext cx="495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20">
                <a:solidFill>
                  <a:srgbClr val="5493D3"/>
                </a:solidFill>
                <a:latin typeface="Arial"/>
                <a:ea typeface="Arial"/>
              </a:rPr>
              <a:t>BLUE BELT PILOT · CIVIC IMPACT NOTE 07</a:t>
            </a:r>
            <a:endParaRPr lang="en-US"/>
          </a:p>
        </p:txBody>
      </p:sp>
      <p:sp>
        <p:nvSpPr>
          <p:cNvPr id="5" name="opening-blue" descr="Program title"/>
          <p:cNvSpPr txBox="1"/>
          <p:nvPr/>
        </p:nvSpPr>
        <p:spPr>
          <a:xfrm xmlns:a="http://schemas.openxmlformats.org/drawingml/2006/main">
            <a:off x="609600" y="1155700"/>
            <a:ext cx="5207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900">
                <a:solidFill>
                  <a:srgbClr val="5493D3"/>
                </a:solidFill>
                <a:latin typeface="Georgia"/>
                <a:ea typeface="Georgia"/>
              </a:rPr>
              <a:t>BLUE BELT</a:t>
            </a:r>
            <a:endParaRPr lang="en-US"/>
          </a:p>
        </p:txBody>
      </p:sp>
      <p:sp>
        <p:nvSpPr>
          <p:cNvPr id="6" name="opening-city" descr="Program title continuation"/>
          <p:cNvSpPr txBox="1"/>
          <p:nvPr/>
        </p:nvSpPr>
        <p:spPr>
          <a:xfrm xmlns:a="http://schemas.openxmlformats.org/drawingml/2006/main">
            <a:off x="609600" y="1765300"/>
            <a:ext cx="584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4400">
                <a:solidFill>
                  <a:srgbClr val="222520"/>
                </a:solidFill>
                <a:latin typeface="Georgia"/>
                <a:ea typeface="Georgia"/>
              </a:rPr>
              <a:t>FOR THE CITY'S</a:t>
            </a:r>
            <a:endParaRPr lang="en-US"/>
          </a:p>
        </p:txBody>
      </p:sp>
      <p:sp>
        <p:nvSpPr>
          <p:cNvPr id="7" name="opening-lifeline" descr="Program title conclusion"/>
          <p:cNvSpPr txBox="1"/>
          <p:nvPr/>
        </p:nvSpPr>
        <p:spPr>
          <a:xfrm xmlns:a="http://schemas.openxmlformats.org/drawingml/2006/main">
            <a:off x="609600" y="2349500"/>
            <a:ext cx="635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4400">
                <a:solidFill>
                  <a:srgbClr val="222520"/>
                </a:solidFill>
                <a:latin typeface="Georgia"/>
                <a:ea typeface="Georgia"/>
              </a:rPr>
              <a:t>EVERYDAY LIFE</a:t>
            </a:r>
            <a:endParaRPr lang="en-US"/>
          </a:p>
        </p:txBody>
      </p:sp>
      <p:sp>
        <p:nvSpPr>
          <p:cNvPr id="8" name="opening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3390900"/>
            <a:ext cx="5080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opening-subtitle" descr="Program subtitle"/>
          <p:cNvSpPr txBox="1"/>
          <p:nvPr/>
        </p:nvSpPr>
        <p:spPr>
          <a:xfrm xmlns:a="http://schemas.openxmlformats.org/drawingml/2006/main">
            <a:off x="609600" y="3594100"/>
            <a:ext cx="508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A six-month pilot connecting flood relief, habitat, and public access</a:t>
            </a:r>
            <a:endParaRPr lang="en-US"/>
          </a:p>
        </p:txBody>
      </p:sp>
      <p:sp>
        <p:nvSpPr>
          <p:cNvPr id="10" name="opening-boundary" descr="Evidence boundary"/>
          <p:cNvSpPr txBox="1"/>
          <p:nvPr/>
        </p:nvSpPr>
        <p:spPr>
          <a:xfrm xmlns:a="http://schemas.openxmlformats.org/drawingml/2006/main">
            <a:off x="609600" y="4445000"/>
            <a:ext cx="520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All figures are synthetic calibration data. Photography is contextual, not project evidence.</a:t>
            </a:r>
            <a:endParaRPr lang="en-US"/>
          </a:p>
        </p:txBody>
      </p:sp>
      <p:sp>
        <p:nvSpPr>
          <p:cNvPr id="11" name="opening-metric-rail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0" y="5765800"/>
            <a:ext cx="121920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2" name="opening-rail-1" descr="Pilot district count"/>
          <p:cNvSpPr txBox="1"/>
          <p:nvPr/>
        </p:nvSpPr>
        <p:spPr>
          <a:xfrm xmlns:a="http://schemas.openxmlformats.org/drawingml/2006/main">
            <a:off x="609600" y="5969000"/>
            <a:ext cx="165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8 districts</a:t>
            </a:r>
            <a:endParaRPr lang="en-US"/>
          </a:p>
        </p:txBody>
      </p:sp>
      <p:sp>
        <p:nvSpPr>
          <p:cNvPr id="13" name="opening-rail-2" descr="Pilot node count"/>
          <p:cNvSpPr txBox="1"/>
          <p:nvPr/>
        </p:nvSpPr>
        <p:spPr>
          <a:xfrm xmlns:a="http://schemas.openxmlformats.org/drawingml/2006/main">
            <a:off x="2489200" y="5969000"/>
            <a:ext cx="165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14 blue nodes</a:t>
            </a:r>
            <a:endParaRPr lang="en-US"/>
          </a:p>
        </p:txBody>
      </p:sp>
      <p:sp>
        <p:nvSpPr>
          <p:cNvPr id="14" name="opening-rail-3" descr="Illustrative reach"/>
          <p:cNvSpPr txBox="1"/>
          <p:nvPr/>
        </p:nvSpPr>
        <p:spPr>
          <a:xfrm xmlns:a="http://schemas.openxmlformats.org/drawingml/2006/main">
            <a:off x="4445000" y="5969000"/>
            <a:ext cx="215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38,000 residents</a:t>
            </a:r>
            <a:endParaRPr lang="en-US"/>
          </a:p>
        </p:txBody>
      </p:sp>
      <p:sp>
        <p:nvSpPr>
          <p:cNvPr id="15" name="opening-rail-4" descr="Pilot window"/>
          <p:cNvSpPr txBox="1"/>
          <p:nvPr/>
        </p:nvSpPr>
        <p:spPr>
          <a:xfrm xmlns:a="http://schemas.openxmlformats.org/drawingml/2006/main">
            <a:off x="6908800" y="5969000"/>
            <a:ext cx="2159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6-month window</a:t>
            </a:r>
            <a:endParaRPr lang="en-US"/>
          </a:p>
        </p:txBody>
      </p:sp>
      <p:sp>
        <p:nvSpPr>
          <p:cNvPr id="16" name="opening-year" descr="Illustrative report year"/>
          <p:cNvSpPr txBox="1"/>
          <p:nvPr/>
        </p:nvSpPr>
        <p:spPr>
          <a:xfrm xmlns:a="http://schemas.openxmlformats.org/drawingml/2006/main" rot="5400000">
            <a:off x="10998200" y="609600"/>
            <a:ext cx="4064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FFFFFF"/>
                </a:solidFill>
                <a:latin typeface="Arial"/>
                <a:ea typeface="Arial"/>
              </a:rPr>
              <a:t>2027</a:t>
            </a:r>
            <a:endParaRPr lang="en-US"/>
          </a:p>
        </p:txBody>
      </p:sp>
      <p:sp>
        <p:nvSpPr>
          <p:cNvPr id="17" name="opening-photo-credit" descr="Photo credit"/>
          <p:cNvSpPr txBox="1"/>
          <p:nvPr/>
        </p:nvSpPr>
        <p:spPr>
          <a:xfrm xmlns:a="http://schemas.openxmlformats.org/drawingml/2006/main">
            <a:off x="8890000" y="6604000"/>
            <a:ext cx="279400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FFFFFF"/>
                </a:solidFill>
                <a:latin typeface="Arial"/>
                <a:ea typeface="Arial"/>
              </a:rPr>
              <a:t>Photo · BLM Oregon and Washington · public domain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direct-labelled map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2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2-kicker" descr="Page section label"/>
          <p:cNvSpPr txBox="1"/>
          <p:nvPr/>
        </p:nvSpPr>
        <p:spPr>
          <a:xfrm xmlns:a="http://schemas.openxmlformats.org/drawingml/2006/main">
            <a:off x="609600" y="457200"/>
            <a:ext cx="533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20">
                <a:solidFill>
                  <a:srgbClr val="5493D3"/>
                </a:solidFill>
                <a:latin typeface="Arial"/>
                <a:ea typeface="Arial"/>
              </a:rPr>
              <a:t>NETWORK PRESSURE · SYNTHETIC BASELINE</a:t>
            </a:r>
            <a:endParaRPr lang="en-US"/>
          </a:p>
        </p:txBody>
      </p:sp>
      <p:sp>
        <p:nvSpPr>
          <p:cNvPr id="4" name="p02-source" descr="Source and evidence boundary"/>
          <p:cNvSpPr txBox="1"/>
          <p:nvPr/>
        </p:nvSpPr>
        <p:spPr>
          <a:xfrm xmlns:a="http://schemas.openxmlformats.org/drawingml/2006/main">
            <a:off x="609600" y="6426200"/>
            <a:ext cx="850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Source · Fictional calibration ledger · values are illustrative</a:t>
            </a:r>
            <a:endParaRPr lang="en-US"/>
          </a:p>
        </p:txBody>
      </p:sp>
      <p:sp>
        <p:nvSpPr>
          <p:cNvPr id="5" name="p02-folio" descr="Page number"/>
          <p:cNvSpPr txBox="1"/>
          <p:nvPr/>
        </p:nvSpPr>
        <p:spPr>
          <a:xfrm xmlns:a="http://schemas.openxmlformats.org/drawingml/2006/main">
            <a:off x="11074400" y="6426200"/>
            <a:ext cx="50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02 / 06</a:t>
            </a:r>
            <a:endParaRPr lang="en-US"/>
          </a:p>
        </p:txBody>
      </p:sp>
      <p:sp>
        <p:nvSpPr>
          <p:cNvPr id="6" name="p02-title" descr="Hotspot conclusion"/>
          <p:cNvSpPr txBox="1"/>
          <p:nvPr/>
        </p:nvSpPr>
        <p:spPr>
          <a:xfrm xmlns:a="http://schemas.openxmlformats.org/drawingml/2006/main">
            <a:off x="609600" y="838200"/>
            <a:ext cx="889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222520"/>
                </a:solidFill>
                <a:latin typeface="Georgia"/>
                <a:ea typeface="Georgia"/>
              </a:rPr>
              <a:t>Four drainage gaps concentrate the pilot's risk and opportunity</a:t>
            </a:r>
            <a:endParaRPr lang="en-US"/>
          </a:p>
        </p:txBody>
      </p:sp>
      <p:sp>
        <p:nvSpPr>
          <p:cNvPr id="7" name="p02-subtitle" descr="Hotspot explanation"/>
          <p:cNvSpPr txBox="1"/>
          <p:nvPr/>
        </p:nvSpPr>
        <p:spPr>
          <a:xfrm xmlns:a="http://schemas.openxmlformats.org/drawingml/2006/main">
            <a:off x="609600" y="1371600"/>
            <a:ext cx="7874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The corridor behaves as one connected water system; isolated projects miss the handoffs.</a:t>
            </a:r>
            <a:endParaRPr lang="en-US"/>
          </a:p>
        </p:txBody>
      </p:sp>
      <p:sp>
        <p:nvSpPr>
          <p:cNvPr id="8" name="p02-water-ribbon" descr="A synthetic blue corridor connecting four hotspots"/>
          <p:cNvSpPr/>
          <p:nvPr/>
        </p:nvSpPr>
        <p:spPr>
          <a:xfrm xmlns:a="http://schemas.openxmlformats.org/drawingml/2006/main">
            <a:off x="889000" y="2286000"/>
            <a:ext cx="8890000" cy="1651000"/>
          </a:xfrm>
          <a:custGeom xmlns:a="http://schemas.openxmlformats.org/drawingml/2006/main">
            <a:avLst/>
            <a:pathLst>
              <a:path w="700000" h="130000" fill="norm" stroke="1">
                <a:moveTo>
                  <a:pt x="0" y="50000"/>
                </a:moveTo>
                <a:cubicBezTo>
                  <a:pt x="120000" y="12000"/>
                  <a:pt x="205000" y="96000"/>
                  <a:pt x="320000" y="62000"/>
                </a:cubicBezTo>
                <a:cubicBezTo>
                  <a:pt x="430000" y="24000"/>
                  <a:pt x="535000" y="90000"/>
                  <a:pt x="700000" y="35000"/>
                </a:cubicBezTo>
                <a:lnTo>
                  <a:pt x="700000" y="98000"/>
                </a:lnTo>
                <a:cubicBezTo>
                  <a:pt x="535000" y="132000"/>
                  <a:pt x="430000" y="68000"/>
                  <a:pt x="320000" y="103000"/>
                </a:cubicBezTo>
                <a:cubicBezTo>
                  <a:pt x="205000" y="136000"/>
                  <a:pt x="120000" y="55000"/>
                  <a:pt x="0" y="95000"/>
                </a:cubicBezTo>
                <a:close/>
              </a:path>
            </a:pathLst>
          </a:custGeom>
          <a:solidFill xmlns:a="http://schemas.openxmlformats.org/drawingml/2006/main">
            <a:srgbClr val="CCDFF2"/>
          </a:solidFill>
          <a:ln xmlns:a="http://schemas.openxmlformats.org/drawingml/2006/main" w="16510">
            <a:solidFill>
              <a:srgbClr val="76A9DC">
                <a:alpha val="7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p02-lagoon" descr="A separate storage lagoon"/>
          <p:cNvSpPr/>
          <p:nvPr/>
        </p:nvSpPr>
        <p:spPr>
          <a:xfrm xmlns:a="http://schemas.openxmlformats.org/drawingml/2006/main">
            <a:off x="8763000" y="1841500"/>
            <a:ext cx="15875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DFF2"/>
          </a:solidFill>
          <a:ln xmlns:a="http://schemas.openxmlformats.org/drawingml/2006/main" w="12700">
            <a:solidFill>
              <a:srgbClr val="76A9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0" name="p02-dot-0" descr="NORTH GATE hotspot"/>
          <p:cNvSpPr/>
          <p:nvPr/>
        </p:nvSpPr>
        <p:spPr>
          <a:xfrm xmlns:a="http://schemas.openxmlformats.org/drawingml/2006/main">
            <a:off x="1968500" y="2794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93D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cxnSp>
        <p:nvCxnSpPr>
          <p:cNvPr id="11" name="p02-leader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032000" y="21082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5493D3"/>
            </a:solidFill>
            <a:round/>
          </a:ln>
        </p:spPr>
      </p:cxnSp>
      <p:sp>
        <p:nvSpPr>
          <p:cNvPr id="12" name="p02-label-0" descr="NORTH GATE label"/>
          <p:cNvSpPr txBox="1"/>
          <p:nvPr/>
        </p:nvSpPr>
        <p:spPr>
          <a:xfrm xmlns:a="http://schemas.openxmlformats.org/drawingml/2006/main">
            <a:off x="1498600" y="1879600"/>
            <a:ext cx="1651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5493D3"/>
                </a:solidFill>
                <a:latin typeface="Arial"/>
                <a:ea typeface="Arial"/>
              </a:rPr>
              <a:t>NORTH GATE</a:t>
            </a:r>
            <a:endParaRPr lang="en-US"/>
          </a:p>
        </p:txBody>
      </p:sp>
      <p:sp>
        <p:nvSpPr>
          <p:cNvPr id="13" name="p02-facts-0" descr="NORTH GATE facts"/>
          <p:cNvSpPr txBox="1"/>
          <p:nvPr/>
        </p:nvSpPr>
        <p:spPr>
          <a:xfrm xmlns:a="http://schemas.openxmlformats.org/drawingml/2006/main">
            <a:off x="1498600" y="3987800"/>
            <a:ext cx="1803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11 flood calls
−18% shade</a:t>
            </a:r>
            <a:endParaRPr lang="en-US"/>
          </a:p>
        </p:txBody>
      </p:sp>
      <p:sp>
        <p:nvSpPr>
          <p:cNvPr id="14" name="p02-rul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149860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5" name="p02-dot-1" descr="MARKET CUT hotspot"/>
          <p:cNvSpPr/>
          <p:nvPr/>
        </p:nvSpPr>
        <p:spPr>
          <a:xfrm xmlns:a="http://schemas.openxmlformats.org/drawingml/2006/main">
            <a:off x="4191000" y="30988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93D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cxnSp>
        <p:nvCxnSpPr>
          <p:cNvPr id="16" name="p02-leader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254500" y="210820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5493D3"/>
            </a:solidFill>
            <a:round/>
          </a:ln>
        </p:spPr>
      </p:cxnSp>
      <p:sp>
        <p:nvSpPr>
          <p:cNvPr id="17" name="p02-label-1" descr="MARKET CUT label"/>
          <p:cNvSpPr txBox="1"/>
          <p:nvPr/>
        </p:nvSpPr>
        <p:spPr>
          <a:xfrm xmlns:a="http://schemas.openxmlformats.org/drawingml/2006/main">
            <a:off x="3733800" y="1879600"/>
            <a:ext cx="1651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5493D3"/>
                </a:solidFill>
                <a:latin typeface="Arial"/>
                <a:ea typeface="Arial"/>
              </a:rPr>
              <a:t>MARKET CUT</a:t>
            </a:r>
            <a:endParaRPr lang="en-US"/>
          </a:p>
        </p:txBody>
      </p:sp>
      <p:sp>
        <p:nvSpPr>
          <p:cNvPr id="18" name="p02-facts-1" descr="MARKET CUT facts"/>
          <p:cNvSpPr txBox="1"/>
          <p:nvPr/>
        </p:nvSpPr>
        <p:spPr>
          <a:xfrm xmlns:a="http://schemas.openxmlformats.org/drawingml/2006/main">
            <a:off x="3733800" y="3987800"/>
            <a:ext cx="1803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2.1 ha gap
4 schools</a:t>
            </a:r>
            <a:endParaRPr lang="en-US"/>
          </a:p>
        </p:txBody>
      </p:sp>
      <p:sp>
        <p:nvSpPr>
          <p:cNvPr id="19" name="p02-rul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373380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20" name="p02-dot-2" descr="RAIL MARSH hotspot"/>
          <p:cNvSpPr/>
          <p:nvPr/>
        </p:nvSpPr>
        <p:spPr>
          <a:xfrm xmlns:a="http://schemas.openxmlformats.org/drawingml/2006/main">
            <a:off x="6350000" y="2667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93D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cxnSp>
        <p:nvCxnSpPr>
          <p:cNvPr id="21" name="p02-leader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413500" y="2108200"/>
            <a:ext cx="0" cy="5588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5493D3"/>
            </a:solidFill>
            <a:round/>
          </a:ln>
        </p:spPr>
      </p:cxnSp>
      <p:sp>
        <p:nvSpPr>
          <p:cNvPr id="22" name="p02-label-2" descr="RAIL MARSH label"/>
          <p:cNvSpPr txBox="1"/>
          <p:nvPr/>
        </p:nvSpPr>
        <p:spPr>
          <a:xfrm xmlns:a="http://schemas.openxmlformats.org/drawingml/2006/main">
            <a:off x="5905500" y="1879600"/>
            <a:ext cx="1651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5493D3"/>
                </a:solidFill>
                <a:latin typeface="Arial"/>
                <a:ea typeface="Arial"/>
              </a:rPr>
              <a:t>RAIL MARSH</a:t>
            </a:r>
            <a:endParaRPr lang="en-US"/>
          </a:p>
        </p:txBody>
      </p:sp>
      <p:sp>
        <p:nvSpPr>
          <p:cNvPr id="23" name="p02-facts-2" descr="RAIL MARSH facts"/>
          <p:cNvSpPr txBox="1"/>
          <p:nvPr/>
        </p:nvSpPr>
        <p:spPr>
          <a:xfrm xmlns:a="http://schemas.openxmlformats.org/drawingml/2006/main">
            <a:off x="5905500" y="3987800"/>
            <a:ext cx="1803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31% runoff
1 habitat break</a:t>
            </a:r>
            <a:endParaRPr lang="en-US"/>
          </a:p>
        </p:txBody>
      </p:sp>
      <p:sp>
        <p:nvSpPr>
          <p:cNvPr id="24" name="p02-rul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590550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25" name="p02-dot-3" descr="SOUTH REACH hotspot"/>
          <p:cNvSpPr/>
          <p:nvPr/>
        </p:nvSpPr>
        <p:spPr>
          <a:xfrm xmlns:a="http://schemas.openxmlformats.org/drawingml/2006/main">
            <a:off x="8763000" y="32131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93D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cxnSp>
        <p:nvCxnSpPr>
          <p:cNvPr id="26" name="p02-leader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826500" y="21082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5493D3"/>
            </a:solidFill>
            <a:round/>
          </a:ln>
        </p:spPr>
      </p:cxnSp>
      <p:sp>
        <p:nvSpPr>
          <p:cNvPr id="27" name="p02-label-3" descr="SOUTH REACH label"/>
          <p:cNvSpPr txBox="1"/>
          <p:nvPr/>
        </p:nvSpPr>
        <p:spPr>
          <a:xfrm xmlns:a="http://schemas.openxmlformats.org/drawingml/2006/main">
            <a:off x="8255000" y="1879600"/>
            <a:ext cx="1651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5493D3"/>
                </a:solidFill>
                <a:latin typeface="Arial"/>
                <a:ea typeface="Arial"/>
              </a:rPr>
              <a:t>SOUTH REACH</a:t>
            </a:r>
            <a:endParaRPr lang="en-US"/>
          </a:p>
        </p:txBody>
      </p:sp>
      <p:sp>
        <p:nvSpPr>
          <p:cNvPr id="28" name="p02-facts-3" descr="SOUTH REACH facts"/>
          <p:cNvSpPr txBox="1"/>
          <p:nvPr/>
        </p:nvSpPr>
        <p:spPr>
          <a:xfrm xmlns:a="http://schemas.openxmlformats.org/drawingml/2006/main">
            <a:off x="8255000" y="3987800"/>
            <a:ext cx="1803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8 access points
+22 min walk</a:t>
            </a:r>
            <a:endParaRPr lang="en-US"/>
          </a:p>
        </p:txBody>
      </p:sp>
      <p:sp>
        <p:nvSpPr>
          <p:cNvPr id="29" name="p02-rule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8255000" y="3810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0" name="p02-summary" descr="Hotspot concentration summary"/>
          <p:cNvSpPr txBox="1"/>
          <p:nvPr/>
        </p:nvSpPr>
        <p:spPr>
          <a:xfrm xmlns:a="http://schemas.openxmlformats.org/drawingml/2006/main">
            <a:off x="9271000" y="4470400"/>
            <a:ext cx="203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42% of calls cluster within four linked gaps.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process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3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3-kicker" descr="Page section label"/>
          <p:cNvSpPr txBox="1"/>
          <p:nvPr/>
        </p:nvSpPr>
        <p:spPr>
          <a:xfrm xmlns:a="http://schemas.openxmlformats.org/drawingml/2006/main">
            <a:off x="609600" y="457200"/>
            <a:ext cx="533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20">
                <a:solidFill>
                  <a:srgbClr val="5493D3"/>
                </a:solidFill>
                <a:latin typeface="Arial"/>
                <a:ea typeface="Arial"/>
              </a:rPr>
              <a:t>DELIVERY CHAIN · THREE LINKED PHASES</a:t>
            </a:r>
            <a:endParaRPr lang="en-US"/>
          </a:p>
        </p:txBody>
      </p:sp>
      <p:sp>
        <p:nvSpPr>
          <p:cNvPr id="4" name="p03-source" descr="Source and evidence boundary"/>
          <p:cNvSpPr txBox="1"/>
          <p:nvPr/>
        </p:nvSpPr>
        <p:spPr>
          <a:xfrm xmlns:a="http://schemas.openxmlformats.org/drawingml/2006/main">
            <a:off x="609600" y="6426200"/>
            <a:ext cx="850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Source · Fictional calibration plan · durations and outputs are illustrative</a:t>
            </a:r>
            <a:endParaRPr lang="en-US"/>
          </a:p>
        </p:txBody>
      </p:sp>
      <p:sp>
        <p:nvSpPr>
          <p:cNvPr id="5" name="p03-folio" descr="Page number"/>
          <p:cNvSpPr txBox="1"/>
          <p:nvPr/>
        </p:nvSpPr>
        <p:spPr>
          <a:xfrm xmlns:a="http://schemas.openxmlformats.org/drawingml/2006/main">
            <a:off x="11074400" y="6426200"/>
            <a:ext cx="50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03 / 06</a:t>
            </a:r>
            <a:endParaRPr lang="en-US"/>
          </a:p>
        </p:txBody>
      </p:sp>
      <p:sp>
        <p:nvSpPr>
          <p:cNvPr id="6" name="p03-title" descr="Delivery chain conclusion"/>
          <p:cNvSpPr txBox="1"/>
          <p:nvPr/>
        </p:nvSpPr>
        <p:spPr>
          <a:xfrm xmlns:a="http://schemas.openxmlformats.org/drawingml/2006/main">
            <a:off x="609600" y="838200"/>
            <a:ext cx="889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222520"/>
                </a:solidFill>
                <a:latin typeface="Georgia"/>
                <a:ea typeface="Georgia"/>
              </a:rPr>
              <a:t>Restore—connect—measure operates as one field chain</a:t>
            </a:r>
            <a:endParaRPr lang="en-US"/>
          </a:p>
        </p:txBody>
      </p:sp>
      <p:sp>
        <p:nvSpPr>
          <p:cNvPr id="7" name="p03-subtitle" descr="Delivery chain explanation"/>
          <p:cNvSpPr txBox="1"/>
          <p:nvPr/>
        </p:nvSpPr>
        <p:spPr>
          <a:xfrm xmlns:a="http://schemas.openxmlformats.org/drawingml/2006/main">
            <a:off x="609600" y="1371600"/>
            <a:ext cx="889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The next phase starts only when the previous handoff leaves verifiable evidence.</a:t>
            </a:r>
            <a:endParaRPr lang="en-US"/>
          </a:p>
        </p:txBody>
      </p:sp>
      <p:sp>
        <p:nvSpPr>
          <p:cNvPr id="8" name="p03-band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2108200"/>
            <a:ext cx="330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D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9" name="p03-band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3911600" y="2108200"/>
            <a:ext cx="419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0" name="p03-band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8102600" y="2108200"/>
            <a:ext cx="3479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3D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1" name="p03-band-label-1" descr="First delivery phase"/>
          <p:cNvSpPr txBox="1"/>
          <p:nvPr/>
        </p:nvSpPr>
        <p:spPr>
          <a:xfrm xmlns:a="http://schemas.openxmlformats.org/drawingml/2006/main">
            <a:off x="812800" y="2298700"/>
            <a:ext cx="27940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01 · RESTORE FLOW</a:t>
            </a:r>
            <a:endParaRPr lang="en-US"/>
          </a:p>
        </p:txBody>
      </p:sp>
      <p:sp>
        <p:nvSpPr>
          <p:cNvPr id="12" name="p03-band-label-2" descr="Second delivery phase"/>
          <p:cNvSpPr txBox="1"/>
          <p:nvPr/>
        </p:nvSpPr>
        <p:spPr>
          <a:xfrm xmlns:a="http://schemas.openxmlformats.org/drawingml/2006/main">
            <a:off x="4140200" y="2298700"/>
            <a:ext cx="35560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02 · CONNECT ACCESS</a:t>
            </a:r>
            <a:endParaRPr lang="en-US"/>
          </a:p>
        </p:txBody>
      </p:sp>
      <p:sp>
        <p:nvSpPr>
          <p:cNvPr id="13" name="p03-band-label-3" descr="Third delivery phase"/>
          <p:cNvSpPr txBox="1"/>
          <p:nvPr/>
        </p:nvSpPr>
        <p:spPr>
          <a:xfrm xmlns:a="http://schemas.openxmlformats.org/drawingml/2006/main">
            <a:off x="8331200" y="2298700"/>
            <a:ext cx="27940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FFFFFF"/>
                </a:solidFill>
                <a:latin typeface="Arial"/>
                <a:ea typeface="Arial"/>
              </a:rPr>
              <a:t>03 · VERIFY OUTCOMES</a:t>
            </a:r>
            <a:endParaRPr lang="en-US"/>
          </a:p>
        </p:txBody>
      </p:sp>
      <p:sp>
        <p:nvSpPr>
          <p:cNvPr id="14" name="p03-band-time-1" descr="First phase timing"/>
          <p:cNvSpPr txBox="1"/>
          <p:nvPr/>
        </p:nvSpPr>
        <p:spPr>
          <a:xfrm xmlns:a="http://schemas.openxmlformats.org/drawingml/2006/main">
            <a:off x="812800" y="2527300"/>
            <a:ext cx="2794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Jan–Feb · 8 weeks</a:t>
            </a:r>
            <a:endParaRPr lang="en-US"/>
          </a:p>
        </p:txBody>
      </p:sp>
      <p:sp>
        <p:nvSpPr>
          <p:cNvPr id="15" name="p03-band-time-2" descr="Second phase timing"/>
          <p:cNvSpPr txBox="1"/>
          <p:nvPr/>
        </p:nvSpPr>
        <p:spPr>
          <a:xfrm xmlns:a="http://schemas.openxmlformats.org/drawingml/2006/main">
            <a:off x="4140200" y="2527300"/>
            <a:ext cx="3556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Mar–May · 12 weeks</a:t>
            </a:r>
            <a:endParaRPr lang="en-US"/>
          </a:p>
        </p:txBody>
      </p:sp>
      <p:sp>
        <p:nvSpPr>
          <p:cNvPr id="16" name="p03-band-time-3" descr="Third phase timing"/>
          <p:cNvSpPr txBox="1"/>
          <p:nvPr/>
        </p:nvSpPr>
        <p:spPr>
          <a:xfrm xmlns:a="http://schemas.openxmlformats.org/drawingml/2006/main">
            <a:off x="8331200" y="2527300"/>
            <a:ext cx="2794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FFFFFF"/>
                </a:solidFill>
                <a:latin typeface="Arial"/>
                <a:ea typeface="Arial"/>
              </a:rPr>
              <a:t>Jun–Aug · 12 weeks</a:t>
            </a:r>
            <a:endParaRPr lang="en-US"/>
          </a:p>
        </p:txBody>
      </p:sp>
      <p:sp>
        <p:nvSpPr>
          <p:cNvPr id="17" name="p03-metric-0" descr="wetland nodes metric"/>
          <p:cNvSpPr txBox="1"/>
          <p:nvPr/>
        </p:nvSpPr>
        <p:spPr>
          <a:xfrm xmlns:a="http://schemas.openxmlformats.org/drawingml/2006/main">
            <a:off x="812800" y="3429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14</a:t>
            </a:r>
            <a:endParaRPr lang="en-US"/>
          </a:p>
        </p:txBody>
      </p:sp>
      <p:sp>
        <p:nvSpPr>
          <p:cNvPr id="18" name="p03-metric-label-0" descr="wetland nodes label"/>
          <p:cNvSpPr txBox="1"/>
          <p:nvPr/>
        </p:nvSpPr>
        <p:spPr>
          <a:xfrm xmlns:a="http://schemas.openxmlformats.org/drawingml/2006/main">
            <a:off x="812800" y="3987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wetland nodes</a:t>
            </a:r>
            <a:endParaRPr lang="en-US"/>
          </a:p>
        </p:txBody>
      </p:sp>
      <p:sp>
        <p:nvSpPr>
          <p:cNvPr id="19" name="p03-metric-method-0" descr="wetland nodes method"/>
          <p:cNvSpPr txBox="1"/>
          <p:nvPr/>
        </p:nvSpPr>
        <p:spPr>
          <a:xfrm xmlns:a="http://schemas.openxmlformats.org/drawingml/2006/main">
            <a:off x="812800" y="427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hydrology assessment</a:t>
            </a:r>
            <a:endParaRPr lang="en-US"/>
          </a:p>
        </p:txBody>
      </p:sp>
      <p:sp>
        <p:nvSpPr>
          <p:cNvPr id="20" name="p03-metric-1" descr="continuous path metric"/>
          <p:cNvSpPr txBox="1"/>
          <p:nvPr/>
        </p:nvSpPr>
        <p:spPr>
          <a:xfrm xmlns:a="http://schemas.openxmlformats.org/drawingml/2006/main">
            <a:off x="3073400" y="3429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7.2 km</a:t>
            </a:r>
            <a:endParaRPr lang="en-US"/>
          </a:p>
        </p:txBody>
      </p:sp>
      <p:sp>
        <p:nvSpPr>
          <p:cNvPr id="21" name="p03-metric-label-1" descr="continuous path label"/>
          <p:cNvSpPr txBox="1"/>
          <p:nvPr/>
        </p:nvSpPr>
        <p:spPr>
          <a:xfrm xmlns:a="http://schemas.openxmlformats.org/drawingml/2006/main">
            <a:off x="3073400" y="3987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continuous path</a:t>
            </a:r>
            <a:endParaRPr lang="en-US"/>
          </a:p>
        </p:txBody>
      </p:sp>
      <p:sp>
        <p:nvSpPr>
          <p:cNvPr id="22" name="p03-metric-method-1" descr="continuous path method"/>
          <p:cNvSpPr txBox="1"/>
          <p:nvPr/>
        </p:nvSpPr>
        <p:spPr>
          <a:xfrm xmlns:a="http://schemas.openxmlformats.org/drawingml/2006/main">
            <a:off x="3073400" y="427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mobility audit</a:t>
            </a:r>
            <a:endParaRPr lang="en-US"/>
          </a:p>
        </p:txBody>
      </p:sp>
      <p:sp>
        <p:nvSpPr>
          <p:cNvPr id="23" name="p03-metric-2" descr="habitat restored metric"/>
          <p:cNvSpPr txBox="1"/>
          <p:nvPr/>
        </p:nvSpPr>
        <p:spPr>
          <a:xfrm xmlns:a="http://schemas.openxmlformats.org/drawingml/2006/main">
            <a:off x="5562600" y="3429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286 ha</a:t>
            </a:r>
            <a:endParaRPr lang="en-US"/>
          </a:p>
        </p:txBody>
      </p:sp>
      <p:sp>
        <p:nvSpPr>
          <p:cNvPr id="24" name="p03-metric-label-2" descr="habitat restored label"/>
          <p:cNvSpPr txBox="1"/>
          <p:nvPr/>
        </p:nvSpPr>
        <p:spPr>
          <a:xfrm xmlns:a="http://schemas.openxmlformats.org/drawingml/2006/main">
            <a:off x="5562600" y="3987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habitat restored</a:t>
            </a:r>
            <a:endParaRPr lang="en-US"/>
          </a:p>
        </p:txBody>
      </p:sp>
      <p:sp>
        <p:nvSpPr>
          <p:cNvPr id="25" name="p03-metric-method-2" descr="habitat restored method"/>
          <p:cNvSpPr txBox="1"/>
          <p:nvPr/>
        </p:nvSpPr>
        <p:spPr>
          <a:xfrm xmlns:a="http://schemas.openxmlformats.org/drawingml/2006/main">
            <a:off x="5562600" y="427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field survey</a:t>
            </a:r>
            <a:endParaRPr lang="en-US"/>
          </a:p>
        </p:txBody>
      </p:sp>
      <p:sp>
        <p:nvSpPr>
          <p:cNvPr id="26" name="p03-metric-3" descr="water samples metric"/>
          <p:cNvSpPr txBox="1"/>
          <p:nvPr/>
        </p:nvSpPr>
        <p:spPr>
          <a:xfrm xmlns:a="http://schemas.openxmlformats.org/drawingml/2006/main">
            <a:off x="8026400" y="3429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144</a:t>
            </a:r>
            <a:endParaRPr lang="en-US"/>
          </a:p>
        </p:txBody>
      </p:sp>
      <p:sp>
        <p:nvSpPr>
          <p:cNvPr id="27" name="p03-metric-label-3" descr="water samples label"/>
          <p:cNvSpPr txBox="1"/>
          <p:nvPr/>
        </p:nvSpPr>
        <p:spPr>
          <a:xfrm xmlns:a="http://schemas.openxmlformats.org/drawingml/2006/main">
            <a:off x="8026400" y="3987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water samples</a:t>
            </a:r>
            <a:endParaRPr lang="en-US"/>
          </a:p>
        </p:txBody>
      </p:sp>
      <p:sp>
        <p:nvSpPr>
          <p:cNvPr id="28" name="p03-metric-method-3" descr="water samples method"/>
          <p:cNvSpPr txBox="1"/>
          <p:nvPr/>
        </p:nvSpPr>
        <p:spPr>
          <a:xfrm xmlns:a="http://schemas.openxmlformats.org/drawingml/2006/main">
            <a:off x="8026400" y="427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quality protocol</a:t>
            </a:r>
            <a:endParaRPr lang="en-US"/>
          </a:p>
        </p:txBody>
      </p:sp>
      <p:sp>
        <p:nvSpPr>
          <p:cNvPr id="29" name="p03-metric-4" descr="community checks metric"/>
          <p:cNvSpPr txBox="1"/>
          <p:nvPr/>
        </p:nvSpPr>
        <p:spPr>
          <a:xfrm xmlns:a="http://schemas.openxmlformats.org/drawingml/2006/main">
            <a:off x="10160000" y="3429000"/>
            <a:ext cx="190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24</a:t>
            </a:r>
            <a:endParaRPr lang="en-US"/>
          </a:p>
        </p:txBody>
      </p:sp>
      <p:sp>
        <p:nvSpPr>
          <p:cNvPr id="30" name="p03-metric-label-4" descr="community checks label"/>
          <p:cNvSpPr txBox="1"/>
          <p:nvPr/>
        </p:nvSpPr>
        <p:spPr>
          <a:xfrm xmlns:a="http://schemas.openxmlformats.org/drawingml/2006/main">
            <a:off x="10160000" y="3987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community checks</a:t>
            </a:r>
            <a:endParaRPr lang="en-US"/>
          </a:p>
        </p:txBody>
      </p:sp>
      <p:sp>
        <p:nvSpPr>
          <p:cNvPr id="31" name="p03-metric-method-4" descr="community checks method"/>
          <p:cNvSpPr txBox="1"/>
          <p:nvPr/>
        </p:nvSpPr>
        <p:spPr>
          <a:xfrm xmlns:a="http://schemas.openxmlformats.org/drawingml/2006/main">
            <a:off x="10160000" y="427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open review</a:t>
            </a:r>
            <a:endParaRPr lang="en-US"/>
          </a:p>
        </p:txBody>
      </p:sp>
      <p:cxnSp>
        <p:nvCxnSpPr>
          <p:cNvPr id="32" name="p03-base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50165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76A9DC"/>
            </a:solidFill>
            <a:round/>
          </a:ln>
        </p:spPr>
      </p:cxnSp>
      <p:sp>
        <p:nvSpPr>
          <p:cNvPr id="33" name="p03-partner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5359400"/>
            <a:ext cx="25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4" name="p03-partners" descr="Delivery partners"/>
          <p:cNvSpPr txBox="1"/>
          <p:nvPr/>
        </p:nvSpPr>
        <p:spPr>
          <a:xfrm xmlns:a="http://schemas.openxmlformats.org/drawingml/2006/main">
            <a:off x="609600" y="5524500"/>
            <a:ext cx="863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31 partners · 6 public agencies · 9 technical reviewers · 16 community groups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photographic evidence context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04-photo" descr="Contextual public-domain photograph of families using a waterfront city park; not the fictional pilot."/>
          <p:cNvPicPr>
            <a:picLocks xmlns:a="http://schemas.openxmlformats.org/drawingml/2006/main" noGrp="1" noSelect="1" noRot="1" noChangeAspect="1" noMove="1" noResize="1" noEditPoints="1" noAdjustHandles="1" noChangeArrowheads="1" noChangeShapeType="1" noCrop="1"/>
          </p:cNvPicPr>
          <p:nvPr/>
        </p:nvPicPr>
        <p:blipFill>
          <a:blip xmlns:r="http://schemas.openxmlformats.org/officeDocument/2006/relationships" xmlns:a="http://schemas.openxmlformats.org/drawingml/2006/main" r:embed="rIdOfficeKitImage1efb88ea280729bf_1"/>
          <a:srcRect xmlns:a="http://schemas.openxmlformats.org/drawingml/2006/main" l="0" t="9596" r="0" b="959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</p:spPr>
      </p:pic>
      <p:sp>
        <p:nvSpPr>
          <p:cNvPr id="3" name="p04-scrim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228600" y="228600"/>
            <a:ext cx="64770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>
              <a:alpha val="78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04-kicker" descr="Page section label"/>
          <p:cNvSpPr txBox="1"/>
          <p:nvPr/>
        </p:nvSpPr>
        <p:spPr>
          <a:xfrm xmlns:a="http://schemas.openxmlformats.org/drawingml/2006/main">
            <a:off x="609600" y="558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FFFFFF"/>
                </a:solidFill>
                <a:latin typeface="Arial"/>
                <a:ea typeface="Arial"/>
              </a:rPr>
              <a:t>PUBLIC VALUE · ACCESS BEFORE SLOGAN</a:t>
            </a:r>
            <a:endParaRPr lang="en-US"/>
          </a:p>
        </p:txBody>
      </p:sp>
      <p:sp>
        <p:nvSpPr>
          <p:cNvPr id="5" name="p04-title" descr="Human-context conclusion"/>
          <p:cNvSpPr txBox="1"/>
          <p:nvPr/>
        </p:nvSpPr>
        <p:spPr>
          <a:xfrm xmlns:a="http://schemas.openxmlformats.org/drawingml/2006/main">
            <a:off x="609600" y="1092200"/>
            <a:ext cx="520700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FFFFF"/>
                </a:solidFill>
                <a:latin typeface="Georgia"/>
                <a:ea typeface="Georgia"/>
              </a:rPr>
              <a:t>A corridor matters only when everyday use becomes easier</a:t>
            </a:r>
            <a:endParaRPr lang="en-US"/>
          </a:p>
        </p:txBody>
      </p:sp>
      <p:sp>
        <p:nvSpPr>
          <p:cNvPr id="6" name="p04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609600" y="2413000"/>
            <a:ext cx="457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7" name="p04-body" descr="Human context and evidence boundary"/>
          <p:cNvSpPr txBox="1"/>
          <p:nvPr/>
        </p:nvSpPr>
        <p:spPr>
          <a:xfrm xmlns:a="http://schemas.openxmlformats.org/drawingml/2006/main">
            <a:off x="609600" y="2667000"/>
            <a:ext cx="52070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FFFFFF"/>
                </a:solidFill>
                <a:latin typeface="Arial"/>
                <a:ea typeface="Arial"/>
              </a:rPr>
              <a:t>The pilot treats access as an outcome alongside flood relief and habitat. The image establishes the public-space question; it is not project evidence.</a:t>
            </a:r>
            <a:endParaRPr lang="en-US"/>
          </a:p>
        </p:txBody>
      </p:sp>
      <p:sp>
        <p:nvSpPr>
          <p:cNvPr id="8" name="p04-metric-1" descr="Illustrative walk-time change"/>
          <p:cNvSpPr txBox="1"/>
          <p:nvPr/>
        </p:nvSpPr>
        <p:spPr>
          <a:xfrm xmlns:a="http://schemas.openxmlformats.org/drawingml/2006/main">
            <a:off x="609600" y="40132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100">
                <a:solidFill>
                  <a:srgbClr val="FFC907"/>
                </a:solidFill>
                <a:latin typeface="Georgia"/>
                <a:ea typeface="Georgia"/>
              </a:rPr>
              <a:t>−11 min</a:t>
            </a:r>
            <a:endParaRPr lang="en-US"/>
          </a:p>
        </p:txBody>
      </p:sp>
      <p:sp>
        <p:nvSpPr>
          <p:cNvPr id="9" name="p04-label-1" descr="Walk-time metric context"/>
          <p:cNvSpPr txBox="1"/>
          <p:nvPr/>
        </p:nvSpPr>
        <p:spPr>
          <a:xfrm xmlns:a="http://schemas.openxmlformats.org/drawingml/2006/main">
            <a:off x="609600" y="4572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FFFFFF"/>
                </a:solidFill>
                <a:latin typeface="Arial"/>
                <a:ea typeface="Arial"/>
              </a:rPr>
              <a:t>median walk to water
illustrative</a:t>
            </a:r>
            <a:endParaRPr lang="en-US"/>
          </a:p>
        </p:txBody>
      </p:sp>
      <p:sp>
        <p:nvSpPr>
          <p:cNvPr id="10" name="p04-metric-2" descr="Illustrative weekly-use change"/>
          <p:cNvSpPr txBox="1"/>
          <p:nvPr/>
        </p:nvSpPr>
        <p:spPr>
          <a:xfrm xmlns:a="http://schemas.openxmlformats.org/drawingml/2006/main">
            <a:off x="3022600" y="40132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100">
                <a:solidFill>
                  <a:srgbClr val="FFFFFF"/>
                </a:solidFill>
                <a:latin typeface="Georgia"/>
                <a:ea typeface="Georgia"/>
              </a:rPr>
              <a:t>+38%</a:t>
            </a:r>
            <a:endParaRPr lang="en-US"/>
          </a:p>
        </p:txBody>
      </p:sp>
      <p:sp>
        <p:nvSpPr>
          <p:cNvPr id="11" name="p04-label-2" descr="Use metric context"/>
          <p:cNvSpPr txBox="1"/>
          <p:nvPr/>
        </p:nvSpPr>
        <p:spPr>
          <a:xfrm xmlns:a="http://schemas.openxmlformats.org/drawingml/2006/main">
            <a:off x="3022600" y="4572000"/>
            <a:ext cx="215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FFFFFF"/>
                </a:solidFill>
                <a:latin typeface="Arial"/>
                <a:ea typeface="Arial"/>
              </a:rPr>
              <a:t>weekly public use
illustrative</a:t>
            </a:r>
            <a:endParaRPr lang="en-US"/>
          </a:p>
        </p:txBody>
      </p:sp>
      <p:sp>
        <p:nvSpPr>
          <p:cNvPr id="12" name="p04-credit" descr="Photo credit"/>
          <p:cNvSpPr txBox="1"/>
          <p:nvPr/>
        </p:nvSpPr>
        <p:spPr>
          <a:xfrm xmlns:a="http://schemas.openxmlformats.org/drawingml/2006/main">
            <a:off x="609600" y="6273800"/>
            <a:ext cx="5715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FFFFFF"/>
                </a:solidFill>
                <a:latin typeface="Arial"/>
                <a:ea typeface="Arial"/>
              </a:rPr>
              <a:t>Photo · East River Park · Danny Lyon / NARA · public domain · contextual only</a:t>
            </a:r>
            <a:endParaRPr lang="en-US"/>
          </a:p>
        </p:txBody>
      </p:sp>
      <p:sp>
        <p:nvSpPr>
          <p:cNvPr id="13" name="p04-folio" descr="Page number"/>
          <p:cNvSpPr txBox="1"/>
          <p:nvPr/>
        </p:nvSpPr>
        <p:spPr>
          <a:xfrm xmlns:a="http://schemas.openxmlformats.org/drawingml/2006/main">
            <a:off x="11074400" y="6426200"/>
            <a:ext cx="50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FFFFFF"/>
                </a:solidFill>
                <a:latin typeface="Arial"/>
                <a:ea typeface="Arial"/>
              </a:rPr>
              <a:t>04 / 06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data table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5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5-kicker" descr="Page section label"/>
          <p:cNvSpPr txBox="1"/>
          <p:nvPr/>
        </p:nvSpPr>
        <p:spPr>
          <a:xfrm xmlns:a="http://schemas.openxmlformats.org/drawingml/2006/main">
            <a:off x="609600" y="457200"/>
            <a:ext cx="533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20">
                <a:solidFill>
                  <a:srgbClr val="5493D3"/>
                </a:solidFill>
                <a:latin typeface="Arial"/>
                <a:ea typeface="Arial"/>
              </a:rPr>
              <a:t>OUTCOME LEDGER · BASELINE TO FOLLOW-UP</a:t>
            </a:r>
            <a:endParaRPr lang="en-US"/>
          </a:p>
        </p:txBody>
      </p:sp>
      <p:sp>
        <p:nvSpPr>
          <p:cNvPr id="4" name="p05-source" descr="Source and evidence boundary"/>
          <p:cNvSpPr txBox="1"/>
          <p:nvPr/>
        </p:nvSpPr>
        <p:spPr>
          <a:xfrm xmlns:a="http://schemas.openxmlformats.org/drawingml/2006/main">
            <a:off x="609600" y="6426200"/>
            <a:ext cx="850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Source · Fictional calibration ledger · synthetic 2027 values</a:t>
            </a:r>
            <a:endParaRPr lang="en-US"/>
          </a:p>
        </p:txBody>
      </p:sp>
      <p:sp>
        <p:nvSpPr>
          <p:cNvPr id="5" name="p05-folio" descr="Page number"/>
          <p:cNvSpPr txBox="1"/>
          <p:nvPr/>
        </p:nvSpPr>
        <p:spPr>
          <a:xfrm xmlns:a="http://schemas.openxmlformats.org/drawingml/2006/main">
            <a:off x="11074400" y="6426200"/>
            <a:ext cx="50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05 / 06</a:t>
            </a:r>
            <a:endParaRPr lang="en-US"/>
          </a:p>
        </p:txBody>
      </p:sp>
      <p:sp>
        <p:nvSpPr>
          <p:cNvPr id="6" name="p05-title" descr="Outcome conclusion"/>
          <p:cNvSpPr txBox="1"/>
          <p:nvPr/>
        </p:nvSpPr>
        <p:spPr>
          <a:xfrm xmlns:a="http://schemas.openxmlformats.org/drawingml/2006/main">
            <a:off x="609600" y="8382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222520"/>
                </a:solidFill>
                <a:latin typeface="Georgia"/>
                <a:ea typeface="Georgia"/>
              </a:rPr>
              <a:t>Four indicators move together; no single metric carries the claim</a:t>
            </a:r>
            <a:endParaRPr lang="en-US"/>
          </a:p>
        </p:txBody>
      </p:sp>
      <p:sp>
        <p:nvSpPr>
          <p:cNvPr id="7" name="p05-subtitle" descr="Outcome interpretation"/>
          <p:cNvSpPr txBox="1"/>
          <p:nvPr/>
        </p:nvSpPr>
        <p:spPr>
          <a:xfrm xmlns:a="http://schemas.openxmlformats.org/drawingml/2006/main">
            <a:off x="609600" y="1371600"/>
            <a:ext cx="889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Follow-up improves water, habitat, access, and participation against one declared baseline.</a:t>
            </a:r>
            <a:endParaRPr lang="en-US"/>
          </a:p>
        </p:txBody>
      </p:sp>
      <p:graphicFrame>
        <p:nvGraphicFramePr>
          <p:cNvPr id="8" name="editable outcome ledger" descr="Outcome ledger comparing baseline, follow-up, and measured chang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09600" y="2006600"/>
          <a:ext xmlns:a="http://schemas.openxmlformats.org/drawingml/2006/main" cx="8255000" cy="3302000"/>
        </p:xfrm>
        <a:graphic xmlns:a="http://schemas.openxmlformats.org/drawingml/2006/main">
          <a:graphicData uri="http://schemas.openxmlformats.org/drawingml/2006/table">
            <a:tbl>
              <a:tblPr firstRow="1" firstCol="1" lastCol="0" bandRow="0" bandCol="0"/>
              <a:tblGrid>
                <a:gridCol w="3403600"/>
                <a:gridCol w="1651000"/>
                <a:gridCol w="1549400"/>
                <a:gridCol w="1651000"/>
              </a:tblGrid>
              <a:tr h="66040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INDICATOR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15240" cap="rnd">
                      <a:solidFill>
                        <a:srgbClr val="22252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BASELINE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15240" cap="rnd">
                      <a:solidFill>
                        <a:srgbClr val="22252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FOLLOW-UP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15240" cap="rnd">
                      <a:solidFill>
                        <a:srgbClr val="22252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CHANGE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15240" cap="rnd">
                      <a:solidFill>
                        <a:srgbClr val="222520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040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Water-quality compliance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66%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84%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5493D3"/>
                          </a:solidFill>
                          <a:latin typeface="Arial"/>
                          <a:ea typeface="Arial"/>
                        </a:rPr>
                        <a:t>+18 pp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040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Native breeding success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52%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68%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5493D3"/>
                          </a:solidFill>
                          <a:latin typeface="Arial"/>
                          <a:ea typeface="Arial"/>
                        </a:rPr>
                        <a:t>+16 pp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040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Access within 15 minutes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41%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63%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5493D3"/>
                          </a:solidFill>
                          <a:latin typeface="Arial"/>
                          <a:ea typeface="Arial"/>
                        </a:rPr>
                        <a:t>+22 pp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660400"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Verified public records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1,820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>
                          <a:solidFill>
                            <a:srgbClr val="222520"/>
                          </a:solidFill>
                          <a:latin typeface="Arial"/>
                          <a:ea typeface="Arial"/>
                        </a:rPr>
                        <a:t>3,460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lIns="76200" tIns="38100" rIns="76200" bIns="38100" anchor="ctr">
                      <a:normAutofit/>
                    </a:bodyPr>
                    <a:lstStyle/>
                    <a:p>
                      <a:r>
                        <a:rPr lang="en-US" sz="900" b="1">
                          <a:solidFill>
                            <a:srgbClr val="5493D3"/>
                          </a:solidFill>
                          <a:latin typeface="Arial"/>
                          <a:ea typeface="Arial"/>
                        </a:rPr>
                        <a:t>+1,640</a:t>
                      </a:r>
                      <a:endParaRPr lang="en-US"/>
                    </a:p>
                  </a:txBody>
                  <a:tcPr>
                    <a:lnL w="3175" cap="rnd">
                      <a:solidFill>
                        <a:srgbClr val="FAF7F0"/>
                      </a:solidFill>
                      <a:prstDash val="solid"/>
                      <a:round/>
                    </a:lnL>
                    <a:lnR w="3175" cap="rnd">
                      <a:solidFill>
                        <a:srgbClr val="FAF7F0"/>
                      </a:solidFill>
                      <a:prstDash val="solid"/>
                      <a:round/>
                    </a:lnR>
                    <a:lnT w="3175" cap="rnd">
                      <a:solidFill>
                        <a:srgbClr val="FAF7F0"/>
                      </a:solidFill>
                      <a:prstDash val="solid"/>
                      <a:round/>
                    </a:lnT>
                    <a:lnB w="8890" cap="rnd">
                      <a:solidFill>
                        <a:srgbClr val="76A9DC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" name="p05-divider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71000" y="2006600"/>
            <a:ext cx="0" cy="35052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76A9DC"/>
            </a:solidFill>
            <a:round/>
          </a:ln>
        </p:spPr>
      </p:cxnSp>
      <p:sp>
        <p:nvSpPr>
          <p:cNvPr id="10" name="p05-direction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9652000" y="2159000"/>
            <a:ext cx="25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1" name="p05-direction-label" descr="Direction label"/>
          <p:cNvSpPr txBox="1"/>
          <p:nvPr/>
        </p:nvSpPr>
        <p:spPr>
          <a:xfrm xmlns:a="http://schemas.openxmlformats.org/drawingml/2006/main">
            <a:off x="9652000" y="2336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DIRECTION</a:t>
            </a:r>
            <a:endParaRPr lang="en-US"/>
          </a:p>
        </p:txBody>
      </p:sp>
      <p:sp>
        <p:nvSpPr>
          <p:cNvPr id="12" name="p05-direction" descr="Direction of all four indicators"/>
          <p:cNvSpPr txBox="1"/>
          <p:nvPr/>
        </p:nvSpPr>
        <p:spPr>
          <a:xfrm xmlns:a="http://schemas.openxmlformats.org/drawingml/2006/main">
            <a:off x="9652000" y="2717800"/>
            <a:ext cx="1905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Water ↑
Habitat ↑
Access ↑
Participation ↑</a:t>
            </a:r>
            <a:endParaRPr lang="en-US"/>
          </a:p>
        </p:txBody>
      </p:sp>
      <p:sp>
        <p:nvSpPr>
          <p:cNvPr id="13" name="p05-basis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9652000" y="4140200"/>
            <a:ext cx="25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4" name="p05-basis-label" descr="Measurement basis label"/>
          <p:cNvSpPr txBox="1"/>
          <p:nvPr/>
        </p:nvSpPr>
        <p:spPr>
          <a:xfrm xmlns:a="http://schemas.openxmlformats.org/drawingml/2006/main">
            <a:off x="9652000" y="4318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MEASUREMENT BASIS</a:t>
            </a:r>
            <a:endParaRPr lang="en-US"/>
          </a:p>
        </p:txBody>
      </p:sp>
      <p:sp>
        <p:nvSpPr>
          <p:cNvPr id="15" name="p05-basis" descr="Measurement basis"/>
          <p:cNvSpPr txBox="1"/>
          <p:nvPr/>
        </p:nvSpPr>
        <p:spPr>
          <a:xfrm xmlns:a="http://schemas.openxmlformats.org/drawingml/2006/main">
            <a:off x="9652000" y="4699000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Same six-month window
Same definitions
Synthetic calibration only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closing decision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06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p06-kicker" descr="Page section label"/>
          <p:cNvSpPr txBox="1"/>
          <p:nvPr/>
        </p:nvSpPr>
        <p:spPr>
          <a:xfrm xmlns:a="http://schemas.openxmlformats.org/drawingml/2006/main">
            <a:off x="609600" y="457200"/>
            <a:ext cx="533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750" b="1" cap="all" spc="120">
                <a:solidFill>
                  <a:srgbClr val="5493D3"/>
                </a:solidFill>
                <a:latin typeface="Arial"/>
                <a:ea typeface="Arial"/>
              </a:rPr>
              <a:t>FUNDING DECISION · NETWORK LOGIC</a:t>
            </a:r>
            <a:endParaRPr lang="en-US"/>
          </a:p>
        </p:txBody>
      </p:sp>
      <p:sp>
        <p:nvSpPr>
          <p:cNvPr id="4" name="p06-source" descr="Source and evidence boundary"/>
          <p:cNvSpPr txBox="1"/>
          <p:nvPr/>
        </p:nvSpPr>
        <p:spPr>
          <a:xfrm xmlns:a="http://schemas.openxmlformats.org/drawingml/2006/main">
            <a:off x="609600" y="6426200"/>
            <a:ext cx="850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Source · Fictional calibration budget · values are illustrative</a:t>
            </a:r>
            <a:endParaRPr lang="en-US"/>
          </a:p>
        </p:txBody>
      </p:sp>
      <p:sp>
        <p:nvSpPr>
          <p:cNvPr id="5" name="p06-folio" descr="Page number"/>
          <p:cNvSpPr txBox="1"/>
          <p:nvPr/>
        </p:nvSpPr>
        <p:spPr>
          <a:xfrm xmlns:a="http://schemas.openxmlformats.org/drawingml/2006/main">
            <a:off x="11074400" y="6426200"/>
            <a:ext cx="50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650">
                <a:solidFill>
                  <a:srgbClr val="6E746F"/>
                </a:solidFill>
                <a:latin typeface="Arial"/>
                <a:ea typeface="Arial"/>
              </a:rPr>
              <a:t>06 / 06</a:t>
            </a:r>
            <a:endParaRPr lang="en-US"/>
          </a:p>
        </p:txBody>
      </p:sp>
      <p:sp>
        <p:nvSpPr>
          <p:cNvPr id="6" name="p06-title" descr="Funding conclusion"/>
          <p:cNvSpPr txBox="1"/>
          <p:nvPr/>
        </p:nvSpPr>
        <p:spPr>
          <a:xfrm xmlns:a="http://schemas.openxmlformats.org/drawingml/2006/main">
            <a:off x="609600" y="838200"/>
            <a:ext cx="889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222520"/>
                </a:solidFill>
                <a:latin typeface="Georgia"/>
                <a:ea typeface="Georgia"/>
              </a:rPr>
              <a:t>Fund the network, not isolated sites</a:t>
            </a:r>
            <a:endParaRPr lang="en-US"/>
          </a:p>
        </p:txBody>
      </p:sp>
      <p:sp>
        <p:nvSpPr>
          <p:cNvPr id="7" name="p06-subtitle" descr="Funding rationale"/>
          <p:cNvSpPr txBox="1"/>
          <p:nvPr/>
        </p:nvSpPr>
        <p:spPr>
          <a:xfrm xmlns:a="http://schemas.openxmlformats.org/drawingml/2006/main">
            <a:off x="609600" y="1371600"/>
            <a:ext cx="889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A balanced second phase keeps restoration dominant while protecting access, verification, and maintenance.</a:t>
            </a:r>
            <a:endParaRPr lang="en-US"/>
          </a:p>
        </p:txBody>
      </p:sp>
      <p:graphicFrame>
        <p:nvGraphicFramePr>
          <p:cNvPr id="8" name="funding composition" descr="Illustrative second-phase allocation: 46 percent restoration, 28 percent access, 16 percent verification, and 10 percent maintenance.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09600" y="2032000"/>
          <a:ext xmlns:a="http://schemas.openxmlformats.org/drawingml/2006/main" cx="6350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OfficeKitChart8"/>
          </a:graphicData>
        </a:graphic>
      </p:graphicFrame>
      <p:sp>
        <p:nvSpPr>
          <p:cNvPr id="9" name="p06-total" descr="Illustrative total budget"/>
          <p:cNvSpPr txBox="1"/>
          <p:nvPr/>
        </p:nvSpPr>
        <p:spPr>
          <a:xfrm xmlns:a="http://schemas.openxmlformats.org/drawingml/2006/main">
            <a:off x="3073400" y="3378200"/>
            <a:ext cx="15240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24.0m</a:t>
            </a:r>
            <a:endParaRPr lang="en-US"/>
          </a:p>
        </p:txBody>
      </p:sp>
      <p:sp>
        <p:nvSpPr>
          <p:cNvPr id="10" name="p06-total-label" descr="Total budget label"/>
          <p:cNvSpPr txBox="1"/>
          <p:nvPr/>
        </p:nvSpPr>
        <p:spPr>
          <a:xfrm xmlns:a="http://schemas.openxmlformats.org/drawingml/2006/main">
            <a:off x="3251200" y="3937000"/>
            <a:ext cx="127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TOTAL BUDGET</a:t>
            </a:r>
            <a:endParaRPr lang="en-US"/>
          </a:p>
        </p:txBody>
      </p:sp>
      <p:sp>
        <p:nvSpPr>
          <p:cNvPr id="11" name="p06-decision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xmlns:a="http://schemas.openxmlformats.org/drawingml/2006/main">
            <a:off x="7874000" y="1981200"/>
            <a:ext cx="3708400" cy="383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0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2" name="p06-decision-label" descr="Decision gates label"/>
          <p:cNvSpPr txBox="1"/>
          <p:nvPr/>
        </p:nvSpPr>
        <p:spPr>
          <a:xfrm xmlns:a="http://schemas.openxmlformats.org/drawingml/2006/main">
            <a:off x="8229600" y="233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SECOND-PHASE GATES</a:t>
            </a:r>
            <a:endParaRPr lang="en-US"/>
          </a:p>
        </p:txBody>
      </p:sp>
      <p:sp>
        <p:nvSpPr>
          <p:cNvPr id="13" name="p06-decision-number" descr="Decision gates passed"/>
          <p:cNvSpPr txBox="1"/>
          <p:nvPr/>
        </p:nvSpPr>
        <p:spPr>
          <a:xfrm xmlns:a="http://schemas.openxmlformats.org/drawingml/2006/main">
            <a:off x="8229600" y="27432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3000">
                <a:solidFill>
                  <a:srgbClr val="222520"/>
                </a:solidFill>
                <a:latin typeface="Georgia"/>
                <a:ea typeface="Georgia"/>
              </a:rPr>
              <a:t>4 / 4</a:t>
            </a:r>
            <a:endParaRPr lang="en-US"/>
          </a:p>
        </p:txBody>
      </p:sp>
      <p:sp>
        <p:nvSpPr>
          <p:cNvPr id="14" name="p06-decision-copy" descr="Illustrative decision gates"/>
          <p:cNvSpPr txBox="1"/>
          <p:nvPr/>
        </p:nvSpPr>
        <p:spPr>
          <a:xfrm xmlns:a="http://schemas.openxmlformats.org/drawingml/2006/main">
            <a:off x="8229600" y="3454400"/>
            <a:ext cx="2794000" cy="14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1150">
                <a:solidFill>
                  <a:srgbClr val="222520"/>
                </a:solidFill>
                <a:latin typeface="Arial"/>
                <a:ea typeface="Arial"/>
              </a:rPr>
              <a:t>01 · water target holds
02 · access gap closes
03 · habitat signal persists
04 · public record stays open</a:t>
            </a:r>
            <a:endParaRPr lang="en-US"/>
          </a:p>
        </p:txBody>
      </p:sp>
      <p:cxnSp>
        <p:nvCxnSpPr>
          <p:cNvPr id="15" name="p06-field-rul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29600" y="5181600"/>
            <a:ext cx="27940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rnd">
            <a:solidFill>
              <a:srgbClr val="222520"/>
            </a:solidFill>
            <a:round/>
          </a:ln>
        </p:spPr>
      </p:cxnSp>
      <p:sp>
        <p:nvSpPr>
          <p:cNvPr id="16" name="p06-action" descr="Recommended action"/>
          <p:cNvSpPr txBox="1"/>
          <p:nvPr/>
        </p:nvSpPr>
        <p:spPr>
          <a:xfrm xmlns:a="http://schemas.openxmlformats.org/drawingml/2006/main">
            <a:off x="8229600" y="53594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rPr lang="en-US" sz="800" b="1" cap="all" spc="70">
                <a:solidFill>
                  <a:srgbClr val="222520"/>
                </a:solidFill>
                <a:latin typeface="Arial"/>
                <a:ea typeface="Arial"/>
              </a:rPr>
              <a:t>APPROVE A BOUNDED SECOND PHASE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officeKit/_rels/program.ppj.rels><?xml version="1.0" encoding="utf-8" standalone="yes"?><Relationships xmlns="http://schemas.openxmlformats.org/package/2006/relationships"><Relationship Id="rIdOfficeKitProgramMap" Type="https://schemas.officekit.dev/relationships/presentation-program-map" Target="program-map.json" /><Relationship Id="rIdOfficeKitAsset0001" Type="https://schemas.officekit.dev/relationships/presentation-program-asset" Target="assets/1efb88ea280729bf80ad9f6a35af649b296db6113e096985971531bcec0d5f4c.bin" /><Relationship Id="rIdOfficeKitAsset0002" Type="https://schemas.officekit.dev/relationships/presentation-program-asset" Target="assets/64616baa080a78f9a2265c2f34d8ae36840f6e2d0ae52e587c0885053cc23ca2.bin" /><Relationship Id="rIdOfficeKitAsset0003" Type="https://schemas.officekit.dev/relationships/presentation-program-asset" Target="assets/8253eb0783e28989e86f0eea4a24dbfac688980da1785960b2ab2e583c2f8f99.bin" /><Relationship Id="rIdOfficeKitAsset0004" Type="https://schemas.officekit.dev/relationships/presentation-program-asset" Target="assets/fba04475c10567fda97c549ea0239951ae12ecb241c1af8954daa41644053ed2.bin" /></Relationships>
</file>