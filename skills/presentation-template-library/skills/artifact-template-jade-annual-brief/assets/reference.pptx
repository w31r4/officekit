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e47e9b80f5d48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2930549abca3ae0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26be3a43029630d_1" /><Relationship Type="http://schemas.openxmlformats.org/officeDocument/2006/relationships/image" Target="/ppt/media/image3.jpg" Id="rIdOfficeKitImage083106afebc7d419_1" /><Relationship Type="http://schemas.openxmlformats.org/officeDocument/2006/relationships/image" Target="/ppt/media/image4.jpg" Id="rIdOfficeKitImagebdd32fb5cfa65986_1" /><Relationship Type="http://schemas.openxmlformats.org/officeDocument/2006/relationships/image" Target="/ppt/media/image5.jpg" Id="rIdOfficeKitImage092dd3ee8018753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2930549abca3ae0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100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22222"/>
                </a:solidFill>
                <a:latin typeface="Tahoma"/>
                <a:ea typeface="Tahoma"/>
              </a:rPr>
              <a:t>Jade Annual Brief: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7A530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222222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22222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B7A530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work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METHOD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boundary travels with the result.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event-period-0"/>
          <p:cNvSpPr txBox="1"/>
          <p:nvPr/>
        </p:nvSpPr>
        <p:spPr>
          <a:xfrm xmlns:a="http://schemas.openxmlformats.org/drawingml/2006/main">
            <a:off x="9906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2019</a:t>
            </a:r>
            <a:endParaRPr lang="en-US"/>
          </a:p>
        </p:txBody>
      </p:sp>
      <p:sp>
        <p:nvSpPr>
          <p:cNvPr id="20" name="event-title-0"/>
          <p:cNvSpPr txBox="1"/>
          <p:nvPr/>
        </p:nvSpPr>
        <p:spPr>
          <a:xfrm xmlns:a="http://schemas.openxmlformats.org/drawingml/2006/main">
            <a:off x="9906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First signal</a:t>
            </a:r>
            <a:endParaRPr lang="en-US"/>
          </a:p>
        </p:txBody>
      </p:sp>
      <p:sp>
        <p:nvSpPr>
          <p:cNvPr id="21" name="event-text-0"/>
          <p:cNvSpPr txBox="1"/>
          <p:nvPr/>
        </p:nvSpPr>
        <p:spPr>
          <a:xfrm xmlns:a="http://schemas.openxmlformats.org/drawingml/2006/main">
            <a:off x="9906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A small operating change makes the hidden pattern visible.</a:t>
            </a:r>
            <a:endParaRPr lang="en-US"/>
          </a:p>
        </p:txBody>
      </p:sp>
      <p:pic>
        <p:nvPicPr>
          <p:cNvPr id="22" name="event-photo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23" name="event-rule-0"/>
          <p:cNvSpPr/>
          <p:nvPr/>
        </p:nvSpPr>
        <p:spPr>
          <a:xfrm xmlns:a="http://schemas.openxmlformats.org/drawingml/2006/main">
            <a:off x="9906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event-period-1"/>
          <p:cNvSpPr txBox="1"/>
          <p:nvPr/>
        </p:nvSpPr>
        <p:spPr>
          <a:xfrm xmlns:a="http://schemas.openxmlformats.org/drawingml/2006/main">
            <a:off x="43434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2021</a:t>
            </a:r>
            <a:endParaRPr lang="en-US"/>
          </a:p>
        </p:txBody>
      </p:sp>
      <p:sp>
        <p:nvSpPr>
          <p:cNvPr id="25" name="event-title-1"/>
          <p:cNvSpPr txBox="1"/>
          <p:nvPr/>
        </p:nvSpPr>
        <p:spPr>
          <a:xfrm xmlns:a="http://schemas.openxmlformats.org/drawingml/2006/main">
            <a:off x="43434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Proof point</a:t>
            </a:r>
            <a:endParaRPr lang="en-US"/>
          </a:p>
        </p:txBody>
      </p:sp>
      <p:sp>
        <p:nvSpPr>
          <p:cNvPr id="26" name="event-text-1"/>
          <p:cNvSpPr txBox="1"/>
          <p:nvPr/>
        </p:nvSpPr>
        <p:spPr>
          <a:xfrm xmlns:a="http://schemas.openxmlformats.org/drawingml/2006/main">
            <a:off x="43434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repeatable practice earns a place in the annual rhythm.</a:t>
            </a:r>
            <a:endParaRPr lang="en-US"/>
          </a:p>
        </p:txBody>
      </p:sp>
      <p:pic>
        <p:nvPicPr>
          <p:cNvPr id="27" name="event-photo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3434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28" name="event-rule-1"/>
          <p:cNvSpPr/>
          <p:nvPr/>
        </p:nvSpPr>
        <p:spPr>
          <a:xfrm xmlns:a="http://schemas.openxmlformats.org/drawingml/2006/main">
            <a:off x="43434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ent-period-2"/>
          <p:cNvSpPr txBox="1"/>
          <p:nvPr/>
        </p:nvSpPr>
        <p:spPr>
          <a:xfrm xmlns:a="http://schemas.openxmlformats.org/drawingml/2006/main">
            <a:off x="76962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2023</a:t>
            </a:r>
            <a:endParaRPr lang="en-US"/>
          </a:p>
        </p:txBody>
      </p:sp>
      <p:sp>
        <p:nvSpPr>
          <p:cNvPr id="30" name="event-title-2"/>
          <p:cNvSpPr txBox="1"/>
          <p:nvPr/>
        </p:nvSpPr>
        <p:spPr>
          <a:xfrm xmlns:a="http://schemas.openxmlformats.org/drawingml/2006/main">
            <a:off x="76962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Scale</a:t>
            </a:r>
            <a:endParaRPr lang="en-US"/>
          </a:p>
        </p:txBody>
      </p:sp>
      <p:sp>
        <p:nvSpPr>
          <p:cNvPr id="31" name="event-text-2"/>
          <p:cNvSpPr txBox="1"/>
          <p:nvPr/>
        </p:nvSpPr>
        <p:spPr>
          <a:xfrm xmlns:a="http://schemas.openxmlformats.org/drawingml/2006/main">
            <a:off x="76962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network grows without losing the original constraint.</a:t>
            </a:r>
            <a:endParaRPr lang="en-US"/>
          </a:p>
        </p:txBody>
      </p:sp>
      <p:pic>
        <p:nvPicPr>
          <p:cNvPr id="32" name="event-photo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6962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33" name="event-rule-2"/>
          <p:cNvSpPr/>
          <p:nvPr/>
        </p:nvSpPr>
        <p:spPr>
          <a:xfrm xmlns:a="http://schemas.openxmlformats.org/drawingml/2006/main">
            <a:off x="76962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event-period-3"/>
          <p:cNvSpPr txBox="1"/>
          <p:nvPr/>
        </p:nvSpPr>
        <p:spPr>
          <a:xfrm xmlns:a="http://schemas.openxmlformats.org/drawingml/2006/main">
            <a:off x="110490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B7A530"/>
                </a:solidFill>
                <a:latin typeface="Tahoma"/>
                <a:ea typeface="Tahoma"/>
              </a:rPr>
              <a:t>2025</a:t>
            </a:r>
            <a:endParaRPr lang="en-US"/>
          </a:p>
        </p:txBody>
      </p:sp>
      <p:sp>
        <p:nvSpPr>
          <p:cNvPr id="35" name="event-title-3"/>
          <p:cNvSpPr txBox="1"/>
          <p:nvPr/>
        </p:nvSpPr>
        <p:spPr>
          <a:xfrm xmlns:a="http://schemas.openxmlformats.org/drawingml/2006/main">
            <a:off x="110490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Next chapter</a:t>
            </a:r>
            <a:endParaRPr lang="en-US"/>
          </a:p>
        </p:txBody>
      </p:sp>
      <p:sp>
        <p:nvSpPr>
          <p:cNvPr id="36" name="event-text-3"/>
          <p:cNvSpPr txBox="1"/>
          <p:nvPr/>
        </p:nvSpPr>
        <p:spPr>
          <a:xfrm xmlns:a="http://schemas.openxmlformats.org/drawingml/2006/main">
            <a:off x="110490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next period turns evidence into one bounded move.</a:t>
            </a:r>
            <a:endParaRPr lang="en-US"/>
          </a:p>
        </p:txBody>
      </p:sp>
      <p:pic>
        <p:nvPicPr>
          <p:cNvPr id="37" name="event-photo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0490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38" name="event-rule-3"/>
          <p:cNvSpPr/>
          <p:nvPr/>
        </p:nvSpPr>
        <p:spPr>
          <a:xfrm xmlns:a="http://schemas.openxmlformats.org/drawingml/2006/main">
            <a:off x="110490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event-footnote"/>
          <p:cNvSpPr txBox="1"/>
          <p:nvPr/>
        </p:nvSpPr>
        <p:spPr>
          <a:xfrm xmlns:a="http://schemas.openxmlformats.org/drawingml/2006/main">
            <a:off x="990600" y="7239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Event sequence · one image per milestone · source and period remain adjacent</a:t>
            </a:r>
            <a:endParaRPr lang="en-US"/>
          </a:p>
        </p:txBody>
      </p:sp>
      <p:sp>
        <p:nvSpPr>
          <p:cNvPr id="4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3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94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SECTION</a:t>
            </a:r>
            <a:endParaRPr lang="en-US"/>
          </a:p>
        </p:txBody>
      </p:sp>
      <p:sp>
        <p:nvSpPr>
          <p:cNvPr id="15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22222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16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22222"/>
                </a:solidFill>
                <a:latin typeface="Tahoma"/>
                <a:ea typeface="Tahoma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ONE IMAGE · ONE THESIS · ONE TURN</a:t>
            </a:r>
            <a:endParaRPr lang="en-US"/>
          </a:p>
        </p:txBody>
      </p:sp>
      <p:sp>
        <p:nvSpPr>
          <p:cNvPr id="19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