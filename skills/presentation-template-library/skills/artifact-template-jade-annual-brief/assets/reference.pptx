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93527b5a16b4b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2930549abca3ae0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026be3a43029630d_1" /><Relationship Type="http://schemas.openxmlformats.org/officeDocument/2006/relationships/image" Target="/ppt/media/image3.jpg" Id="rIdOfficeKitImage083106afebc7d419_1" /><Relationship Type="http://schemas.openxmlformats.org/officeDocument/2006/relationships/image" Target="/ppt/media/image4.jpg" Id="rIdOfficeKitImagebdd32fb5cfa65986_1" /><Relationship Type="http://schemas.openxmlformats.org/officeDocument/2006/relationships/image" Target="/ppt/media/image5.jpg" Id="rIdOfficeKitImage092dd3ee80187530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d3ade97fd9ca0fdd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2930549abca3ae0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>
              <a:alpha val="100000"/>
            </a:srgbClr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22222"/>
                </a:solidFill>
                <a:latin typeface="Tahoma"/>
                <a:ea typeface="Tahoma"/>
              </a:rPr>
              <a:t>Jade Annual Brief: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B7A530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2222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One operating constraint should own the page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2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222222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2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22222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2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2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2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2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B7A530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2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3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3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work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Method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Control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Pilot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Read-through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Sample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Balanced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Window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3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Pre-registered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Measure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Baseline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Outcome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Comparable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Limit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No generalization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METHOD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The boundary travels with the result.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8D88"/>
                </a:solidFill>
                <a:latin typeface="Tahoma"/>
                <a:ea typeface="Tahoma"/>
              </a:rPr>
              <a:t>Keep the method, window and limitation adjacent to the outcome so the reader can audit the claim.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The gap becomes useful when it has an owner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event-period-0"/>
          <p:cNvSpPr txBox="1"/>
          <p:nvPr/>
        </p:nvSpPr>
        <p:spPr>
          <a:xfrm xmlns:a="http://schemas.openxmlformats.org/drawingml/2006/main">
            <a:off x="990600" y="31623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2019</a:t>
            </a:r>
            <a:endParaRPr lang="en-US"/>
          </a:p>
        </p:txBody>
      </p:sp>
      <p:sp>
        <p:nvSpPr>
          <p:cNvPr id="20" name="event-title-0"/>
          <p:cNvSpPr txBox="1"/>
          <p:nvPr/>
        </p:nvSpPr>
        <p:spPr>
          <a:xfrm xmlns:a="http://schemas.openxmlformats.org/drawingml/2006/main">
            <a:off x="990600" y="35623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First signal</a:t>
            </a:r>
            <a:endParaRPr lang="en-US"/>
          </a:p>
        </p:txBody>
      </p:sp>
      <p:sp>
        <p:nvSpPr>
          <p:cNvPr id="21" name="event-text-0"/>
          <p:cNvSpPr txBox="1"/>
          <p:nvPr/>
        </p:nvSpPr>
        <p:spPr>
          <a:xfrm xmlns:a="http://schemas.openxmlformats.org/drawingml/2006/main">
            <a:off x="990600" y="39052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8D88"/>
                </a:solidFill>
                <a:latin typeface="Tahoma"/>
                <a:ea typeface="Tahoma"/>
              </a:rPr>
              <a:t>A small operating change makes the hidden pattern visible.</a:t>
            </a:r>
            <a:endParaRPr lang="en-US"/>
          </a:p>
        </p:txBody>
      </p:sp>
      <p:pic>
        <p:nvPicPr>
          <p:cNvPr id="22" name="event-photo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4001" r="0" b="3400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4914900"/>
            <a:ext cx="3181350" cy="1809750"/>
          </a:xfrm>
          <a:prstGeom xmlns:a="http://schemas.openxmlformats.org/drawingml/2006/main" prst="rect">
            <a:avLst/>
          </a:prstGeom>
        </p:spPr>
      </p:pic>
      <p:sp>
        <p:nvSpPr>
          <p:cNvPr id="23" name="event-rule-0"/>
          <p:cNvSpPr/>
          <p:nvPr/>
        </p:nvSpPr>
        <p:spPr>
          <a:xfrm xmlns:a="http://schemas.openxmlformats.org/drawingml/2006/main">
            <a:off x="990600" y="6934200"/>
            <a:ext cx="318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event-period-1"/>
          <p:cNvSpPr txBox="1"/>
          <p:nvPr/>
        </p:nvSpPr>
        <p:spPr>
          <a:xfrm xmlns:a="http://schemas.openxmlformats.org/drawingml/2006/main">
            <a:off x="4343400" y="31623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2021</a:t>
            </a:r>
            <a:endParaRPr lang="en-US"/>
          </a:p>
        </p:txBody>
      </p:sp>
      <p:sp>
        <p:nvSpPr>
          <p:cNvPr id="25" name="event-title-1"/>
          <p:cNvSpPr txBox="1"/>
          <p:nvPr/>
        </p:nvSpPr>
        <p:spPr>
          <a:xfrm xmlns:a="http://schemas.openxmlformats.org/drawingml/2006/main">
            <a:off x="4343400" y="35623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Proof point</a:t>
            </a:r>
            <a:endParaRPr lang="en-US"/>
          </a:p>
        </p:txBody>
      </p:sp>
      <p:sp>
        <p:nvSpPr>
          <p:cNvPr id="26" name="event-text-1"/>
          <p:cNvSpPr txBox="1"/>
          <p:nvPr/>
        </p:nvSpPr>
        <p:spPr>
          <a:xfrm xmlns:a="http://schemas.openxmlformats.org/drawingml/2006/main">
            <a:off x="4343400" y="39052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8D88"/>
                </a:solidFill>
                <a:latin typeface="Tahoma"/>
                <a:ea typeface="Tahoma"/>
              </a:rPr>
              <a:t>The repeatable practice earns a place in the annual rhythm.</a:t>
            </a:r>
            <a:endParaRPr lang="en-US"/>
          </a:p>
        </p:txBody>
      </p:sp>
      <p:pic>
        <p:nvPicPr>
          <p:cNvPr id="27" name="event-photo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83106afebc7d419_1"/>
          <a:srcRect xmlns:a="http://schemas.openxmlformats.org/drawingml/2006/main" l="0" t="34001" r="0" b="3400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343400" y="4914900"/>
            <a:ext cx="3181350" cy="1809750"/>
          </a:xfrm>
          <a:prstGeom xmlns:a="http://schemas.openxmlformats.org/drawingml/2006/main" prst="rect">
            <a:avLst/>
          </a:prstGeom>
        </p:spPr>
      </p:pic>
      <p:sp>
        <p:nvSpPr>
          <p:cNvPr id="28" name="event-rule-1"/>
          <p:cNvSpPr/>
          <p:nvPr/>
        </p:nvSpPr>
        <p:spPr>
          <a:xfrm xmlns:a="http://schemas.openxmlformats.org/drawingml/2006/main">
            <a:off x="4343400" y="6934200"/>
            <a:ext cx="318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event-period-2"/>
          <p:cNvSpPr txBox="1"/>
          <p:nvPr/>
        </p:nvSpPr>
        <p:spPr>
          <a:xfrm xmlns:a="http://schemas.openxmlformats.org/drawingml/2006/main">
            <a:off x="7696200" y="31623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2023</a:t>
            </a:r>
            <a:endParaRPr lang="en-US"/>
          </a:p>
        </p:txBody>
      </p:sp>
      <p:sp>
        <p:nvSpPr>
          <p:cNvPr id="30" name="event-title-2"/>
          <p:cNvSpPr txBox="1"/>
          <p:nvPr/>
        </p:nvSpPr>
        <p:spPr>
          <a:xfrm xmlns:a="http://schemas.openxmlformats.org/drawingml/2006/main">
            <a:off x="7696200" y="35623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Scale</a:t>
            </a:r>
            <a:endParaRPr lang="en-US"/>
          </a:p>
        </p:txBody>
      </p:sp>
      <p:sp>
        <p:nvSpPr>
          <p:cNvPr id="31" name="event-text-2"/>
          <p:cNvSpPr txBox="1"/>
          <p:nvPr/>
        </p:nvSpPr>
        <p:spPr>
          <a:xfrm xmlns:a="http://schemas.openxmlformats.org/drawingml/2006/main">
            <a:off x="7696200" y="39052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8D88"/>
                </a:solidFill>
                <a:latin typeface="Tahoma"/>
                <a:ea typeface="Tahoma"/>
              </a:rPr>
              <a:t>The network grows without losing the original constraint.</a:t>
            </a:r>
            <a:endParaRPr lang="en-US"/>
          </a:p>
        </p:txBody>
      </p:sp>
      <p:pic>
        <p:nvPicPr>
          <p:cNvPr id="32" name="event-photo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dd32fb5cfa65986_1"/>
          <a:srcRect xmlns:a="http://schemas.openxmlformats.org/drawingml/2006/main" l="0" t="34001" r="0" b="3400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696200" y="4914900"/>
            <a:ext cx="3181350" cy="1809750"/>
          </a:xfrm>
          <a:prstGeom xmlns:a="http://schemas.openxmlformats.org/drawingml/2006/main" prst="rect">
            <a:avLst/>
          </a:prstGeom>
        </p:spPr>
      </p:pic>
      <p:sp>
        <p:nvSpPr>
          <p:cNvPr id="33" name="event-rule-2"/>
          <p:cNvSpPr/>
          <p:nvPr/>
        </p:nvSpPr>
        <p:spPr>
          <a:xfrm xmlns:a="http://schemas.openxmlformats.org/drawingml/2006/main">
            <a:off x="7696200" y="6934200"/>
            <a:ext cx="318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event-period-3"/>
          <p:cNvSpPr txBox="1"/>
          <p:nvPr/>
        </p:nvSpPr>
        <p:spPr>
          <a:xfrm xmlns:a="http://schemas.openxmlformats.org/drawingml/2006/main">
            <a:off x="11049000" y="31623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B7A530"/>
                </a:solidFill>
                <a:latin typeface="Tahoma"/>
                <a:ea typeface="Tahoma"/>
              </a:rPr>
              <a:t>2025</a:t>
            </a:r>
            <a:endParaRPr lang="en-US"/>
          </a:p>
        </p:txBody>
      </p:sp>
      <p:sp>
        <p:nvSpPr>
          <p:cNvPr id="35" name="event-title-3"/>
          <p:cNvSpPr txBox="1"/>
          <p:nvPr/>
        </p:nvSpPr>
        <p:spPr>
          <a:xfrm xmlns:a="http://schemas.openxmlformats.org/drawingml/2006/main">
            <a:off x="11049000" y="35623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Next chapter</a:t>
            </a:r>
            <a:endParaRPr lang="en-US"/>
          </a:p>
        </p:txBody>
      </p:sp>
      <p:sp>
        <p:nvSpPr>
          <p:cNvPr id="36" name="event-text-3"/>
          <p:cNvSpPr txBox="1"/>
          <p:nvPr/>
        </p:nvSpPr>
        <p:spPr>
          <a:xfrm xmlns:a="http://schemas.openxmlformats.org/drawingml/2006/main">
            <a:off x="11049000" y="39052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8D88"/>
                </a:solidFill>
                <a:latin typeface="Tahoma"/>
                <a:ea typeface="Tahoma"/>
              </a:rPr>
              <a:t>The next period turns evidence into one bounded move.</a:t>
            </a:r>
            <a:endParaRPr lang="en-US"/>
          </a:p>
        </p:txBody>
      </p:sp>
      <p:pic>
        <p:nvPicPr>
          <p:cNvPr id="37" name="event-photo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92dd3ee80187530_1"/>
          <a:srcRect xmlns:a="http://schemas.openxmlformats.org/drawingml/2006/main" l="0" t="34001" r="0" b="3400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1049000" y="4914900"/>
            <a:ext cx="3181350" cy="1809750"/>
          </a:xfrm>
          <a:prstGeom xmlns:a="http://schemas.openxmlformats.org/drawingml/2006/main" prst="rect">
            <a:avLst/>
          </a:prstGeom>
        </p:spPr>
      </p:pic>
      <p:sp>
        <p:nvSpPr>
          <p:cNvPr id="38" name="event-rule-3"/>
          <p:cNvSpPr/>
          <p:nvPr/>
        </p:nvSpPr>
        <p:spPr>
          <a:xfrm xmlns:a="http://schemas.openxmlformats.org/drawingml/2006/main">
            <a:off x="11049000" y="6934200"/>
            <a:ext cx="318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9" name="event-footnote"/>
          <p:cNvSpPr txBox="1"/>
          <p:nvPr/>
        </p:nvSpPr>
        <p:spPr>
          <a:xfrm xmlns:a="http://schemas.openxmlformats.org/drawingml/2006/main">
            <a:off x="990600" y="72390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Event sequence · one image per milestone · source and period remain adjacent</a:t>
            </a:r>
            <a:endParaRPr lang="en-US"/>
          </a:p>
        </p:txBody>
      </p:sp>
      <p:sp>
        <p:nvSpPr>
          <p:cNvPr id="4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d3ade97fd9ca0fd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3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>
              <a:alpha val="94000"/>
            </a:srgbClr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SECTION</a:t>
            </a:r>
            <a:endParaRPr lang="en-US"/>
          </a:p>
        </p:txBody>
      </p:sp>
      <p:sp>
        <p:nvSpPr>
          <p:cNvPr id="15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22222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16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22222"/>
                </a:solidFill>
                <a:latin typeface="Tahoma"/>
                <a:ea typeface="Tahoma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18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ONE IMAGE · ONE THESIS · ONE TURN</a:t>
            </a:r>
            <a:endParaRPr lang="en-US"/>
          </a:p>
        </p:txBody>
      </p:sp>
      <p:sp>
        <p:nvSpPr>
          <p:cNvPr id="19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2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Make the owner and the next date impossible to miss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2222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