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f172b549cef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2930549abca3ae00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026be3a43029630d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2930549abca3ae00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>
              <a:alpha val="100000"/>
            </a:srgbClr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WORK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22222"/>
                </a:solidFill>
                <a:latin typeface="Tahoma"/>
                <a:ea typeface="Tahoma"/>
              </a:rPr>
              <a:t>Jade Annual Brief: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B7A530"/>
                </a:solidFill>
                <a:latin typeface="Tahoma"/>
                <a:ea typeface="Tahoma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2222"/>
                </a:solidFill>
                <a:latin typeface="Tahoma"/>
                <a:ea typeface="Tahoma"/>
              </a:rPr>
              <a:t>A visible operating signal creates a shared next action.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127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One operating constraint should own the page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Status, cause, owner, and date make the next operational move visible.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OPERATING SIGNAL</a:t>
            </a:r>
            <a:endParaRPr lang="en-US"/>
          </a:p>
        </p:txBody>
      </p:sp>
      <p:sp>
        <p:nvSpPr>
          <p:cNvPr id="2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222222"/>
                </a:solidFill>
                <a:latin typeface="Tahoma"/>
                <a:ea typeface="Tahoma"/>
              </a:rPr>
              <a:t>The queue is healthy; the handoff is not.</a:t>
            </a:r>
            <a:endParaRPr lang="en-US"/>
          </a:p>
        </p:txBody>
      </p:sp>
      <p:sp>
        <p:nvSpPr>
          <p:cNvPr id="2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222222"/>
                </a:solidFill>
                <a:latin typeface="Tahoma"/>
                <a:ea typeface="Tahoma"/>
              </a:rPr>
              <a:t>Three visible signals point to one owner and one date.</a:t>
            </a:r>
            <a:endParaRPr lang="en-US"/>
          </a:p>
        </p:txBody>
      </p:sp>
      <p:sp>
        <p:nvSpPr>
          <p:cNvPr id="2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2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Queue</a:t>
            </a:r>
            <a:endParaRPr lang="en-US"/>
          </a:p>
        </p:txBody>
      </p:sp>
      <p:sp>
        <p:nvSpPr>
          <p:cNvPr id="2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8D88"/>
                </a:solidFill>
                <a:latin typeface="Tahoma"/>
                <a:ea typeface="Tahoma"/>
              </a:rPr>
              <a:t>On target</a:t>
            </a:r>
            <a:endParaRPr lang="en-US"/>
          </a:p>
        </p:txBody>
      </p:sp>
      <p:sp>
        <p:nvSpPr>
          <p:cNvPr id="2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2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Handoff</a:t>
            </a:r>
            <a:endParaRPr lang="en-US"/>
          </a:p>
        </p:txBody>
      </p:sp>
      <p:sp>
        <p:nvSpPr>
          <p:cNvPr id="2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B7A530"/>
                </a:solidFill>
                <a:latin typeface="Tahoma"/>
                <a:ea typeface="Tahoma"/>
              </a:rPr>
              <a:t>At risk</a:t>
            </a:r>
            <a:endParaRPr lang="en-US"/>
          </a:p>
        </p:txBody>
      </p:sp>
      <p:sp>
        <p:nvSpPr>
          <p:cNvPr id="2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B7A530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3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222222"/>
                </a:solidFill>
                <a:latin typeface="Tahoma"/>
                <a:ea typeface="Tahoma"/>
              </a:rPr>
              <a:t>Owner</a:t>
            </a:r>
            <a:endParaRPr lang="en-US"/>
          </a:p>
        </p:txBody>
      </p:sp>
      <p:sp>
        <p:nvSpPr>
          <p:cNvPr id="3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8D88"/>
                </a:solidFill>
                <a:latin typeface="Tahoma"/>
                <a:ea typeface="Tahoma"/>
              </a:rPr>
              <a:t>Named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The operating signal improves while the exception stays visible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Illustrative operations ledger · current state, target, and exception share one frame.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work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Control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Pilot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Read-through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Sample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Balanced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Window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3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Pre-registered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Measure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Outcome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Comparable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Limit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 generalization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METHOD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The boundary travels with the result.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8D88"/>
                </a:solidFill>
                <a:latin typeface="Tahoma"/>
                <a:ea typeface="Tahoma"/>
              </a:rPr>
              <a:t>Keep the method, window and limitation adjacent to the outcome so the reader can audit the claim.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22222"/>
                </a:solidFill>
                <a:latin typeface="Tahoma"/>
                <a:ea typeface="Tahoma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The gap becomes useful when it has an owner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operating-label-0"/>
          <p:cNvSpPr txBox="1"/>
          <p:nvPr/>
        </p:nvSpPr>
        <p:spPr>
          <a:xfrm xmlns:a="http://schemas.openxmlformats.org/drawingml/2006/main">
            <a:off x="11049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NOW</a:t>
            </a:r>
            <a:endParaRPr lang="en-US"/>
          </a:p>
        </p:txBody>
      </p:sp>
      <p:sp>
        <p:nvSpPr>
          <p:cNvPr id="20" name="operating-bar-0"/>
          <p:cNvSpPr/>
          <p:nvPr/>
        </p:nvSpPr>
        <p:spPr>
          <a:xfrm xmlns:a="http://schemas.openxmlformats.org/drawingml/2006/main">
            <a:off x="11049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operating-fill-0"/>
          <p:cNvSpPr/>
          <p:nvPr/>
        </p:nvSpPr>
        <p:spPr>
          <a:xfrm xmlns:a="http://schemas.openxmlformats.org/drawingml/2006/main">
            <a:off x="1104900" y="384810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operating-value-0"/>
          <p:cNvSpPr txBox="1"/>
          <p:nvPr/>
        </p:nvSpPr>
        <p:spPr>
          <a:xfrm xmlns:a="http://schemas.openxmlformats.org/drawingml/2006/main">
            <a:off x="11049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54%</a:t>
            </a:r>
            <a:endParaRPr lang="en-US"/>
          </a:p>
        </p:txBody>
      </p:sp>
      <p:sp>
        <p:nvSpPr>
          <p:cNvPr id="23" name="operating-label-1"/>
          <p:cNvSpPr txBox="1"/>
          <p:nvPr/>
        </p:nvSpPr>
        <p:spPr>
          <a:xfrm xmlns:a="http://schemas.openxmlformats.org/drawingml/2006/main">
            <a:off x="379095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TARGET</a:t>
            </a:r>
            <a:endParaRPr lang="en-US"/>
          </a:p>
        </p:txBody>
      </p:sp>
      <p:sp>
        <p:nvSpPr>
          <p:cNvPr id="24" name="operating-bar-1"/>
          <p:cNvSpPr/>
          <p:nvPr/>
        </p:nvSpPr>
        <p:spPr>
          <a:xfrm xmlns:a="http://schemas.openxmlformats.org/drawingml/2006/main">
            <a:off x="379095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operating-fill-1"/>
          <p:cNvSpPr/>
          <p:nvPr/>
        </p:nvSpPr>
        <p:spPr>
          <a:xfrm xmlns:a="http://schemas.openxmlformats.org/drawingml/2006/main">
            <a:off x="3790950" y="3848100"/>
            <a:ext cx="1590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E65"/>
          </a:solidFill>
          <a:ln xmlns:a="http://schemas.openxmlformats.org/drawingml/2006/main" w="0">
            <a:solidFill>
              <a:srgbClr val="6B7E6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operating-value-1"/>
          <p:cNvSpPr txBox="1"/>
          <p:nvPr/>
        </p:nvSpPr>
        <p:spPr>
          <a:xfrm xmlns:a="http://schemas.openxmlformats.org/drawingml/2006/main">
            <a:off x="379095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76%</a:t>
            </a:r>
            <a:endParaRPr lang="en-US"/>
          </a:p>
        </p:txBody>
      </p:sp>
      <p:sp>
        <p:nvSpPr>
          <p:cNvPr id="27" name="operating-label-2"/>
          <p:cNvSpPr txBox="1"/>
          <p:nvPr/>
        </p:nvSpPr>
        <p:spPr>
          <a:xfrm xmlns:a="http://schemas.openxmlformats.org/drawingml/2006/main">
            <a:off x="64770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E8D88"/>
                </a:solidFill>
                <a:latin typeface="Tahoma"/>
                <a:ea typeface="Tahoma"/>
              </a:rPr>
              <a:t>GAP</a:t>
            </a:r>
            <a:endParaRPr lang="en-US"/>
          </a:p>
        </p:txBody>
      </p:sp>
      <p:sp>
        <p:nvSpPr>
          <p:cNvPr id="28" name="operating-bar-2"/>
          <p:cNvSpPr/>
          <p:nvPr/>
        </p:nvSpPr>
        <p:spPr>
          <a:xfrm xmlns:a="http://schemas.openxmlformats.org/drawingml/2006/main">
            <a:off x="6477000" y="3848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operating-fill-2"/>
          <p:cNvSpPr/>
          <p:nvPr/>
        </p:nvSpPr>
        <p:spPr>
          <a:xfrm xmlns:a="http://schemas.openxmlformats.org/drawingml/2006/main">
            <a:off x="6477000" y="38481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operating-value-2"/>
          <p:cNvSpPr txBox="1"/>
          <p:nvPr/>
        </p:nvSpPr>
        <p:spPr>
          <a:xfrm xmlns:a="http://schemas.openxmlformats.org/drawingml/2006/main">
            <a:off x="6477000" y="4400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22222"/>
                </a:solidFill>
                <a:latin typeface="Tahoma"/>
                <a:ea typeface="Tahoma"/>
              </a:rPr>
              <a:t>22%</a:t>
            </a:r>
            <a:endParaRPr lang="en-US"/>
          </a:p>
        </p:txBody>
      </p:sp>
      <p:sp>
        <p:nvSpPr>
          <p:cNvPr id="31" name="operating-axis"/>
          <p:cNvSpPr/>
          <p:nvPr/>
        </p:nvSpPr>
        <p:spPr>
          <a:xfrm xmlns:a="http://schemas.openxmlformats.org/drawingml/2006/main">
            <a:off x="1104900" y="53340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operating-read"/>
          <p:cNvSpPr txBox="1"/>
          <p:nvPr/>
        </p:nvSpPr>
        <p:spPr>
          <a:xfrm xmlns:a="http://schemas.openxmlformats.org/drawingml/2006/main">
            <a:off x="1104900" y="5657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22222"/>
                </a:solidFill>
                <a:latin typeface="Tahoma"/>
                <a:ea typeface="Tahoma"/>
              </a:rPr>
              <a:t>Status is useful only when the next handoff is visible.</a:t>
            </a:r>
            <a:endParaRPr lang="en-US"/>
          </a:p>
        </p:txBody>
      </p:sp>
      <p:sp>
        <p:nvSpPr>
          <p:cNvPr id="33" name="operating-note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EXCEPTION</a:t>
            </a:r>
            <a:endParaRPr lang="en-US"/>
          </a:p>
        </p:txBody>
      </p:sp>
      <p:sp>
        <p:nvSpPr>
          <p:cNvPr id="34" name="operating-note"/>
          <p:cNvSpPr txBox="1"/>
          <p:nvPr/>
        </p:nvSpPr>
        <p:spPr>
          <a:xfrm xmlns:a="http://schemas.openxmlformats.org/drawingml/2006/main">
            <a:off x="10287000" y="38290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The gap is not a decoration; it is the work.</a:t>
            </a:r>
            <a:endParaRPr lang="en-US"/>
          </a:p>
        </p:txBody>
      </p:sp>
      <p:sp>
        <p:nvSpPr>
          <p:cNvPr id="35" name="operating-note-foot"/>
          <p:cNvSpPr txBox="1"/>
          <p:nvPr/>
        </p:nvSpPr>
        <p:spPr>
          <a:xfrm xmlns:a="http://schemas.openxmlformats.org/drawingml/2006/main">
            <a:off x="10287000" y="5010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E8D88"/>
                </a:solidFill>
                <a:latin typeface="Tahoma"/>
                <a:ea typeface="Tahoma"/>
              </a:rPr>
              <a:t>A healthy page names the owner and the next date.</a:t>
            </a:r>
            <a:endParaRPr lang="en-US"/>
          </a:p>
        </p:txBody>
      </p:sp>
      <p:sp>
        <p:nvSpPr>
          <p:cNvPr id="3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026be3a43029630d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3" name="section-reading-plane"/>
          <p:cNvSpPr/>
          <p:nvPr/>
        </p:nvSpPr>
        <p:spPr>
          <a:xfrm xmlns:a="http://schemas.openxmlformats.org/drawingml/2006/main">
            <a:off x="0" y="0"/>
            <a:ext cx="7810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>
              <a:alpha val="94000"/>
            </a:srgbClr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ection-eyebrow"/>
          <p:cNvSpPr txBox="1"/>
          <p:nvPr/>
        </p:nvSpPr>
        <p:spPr>
          <a:xfrm xmlns:a="http://schemas.openxmlformats.org/drawingml/2006/main">
            <a:off x="914400" y="9144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SECTION</a:t>
            </a:r>
            <a:endParaRPr lang="en-US"/>
          </a:p>
        </p:txBody>
      </p:sp>
      <p:sp>
        <p:nvSpPr>
          <p:cNvPr id="15" name="section-title"/>
          <p:cNvSpPr txBox="1"/>
          <p:nvPr/>
        </p:nvSpPr>
        <p:spPr>
          <a:xfrm xmlns:a="http://schemas.openxmlformats.org/drawingml/2006/main">
            <a:off x="914400" y="16573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450" b="1">
                <a:solidFill>
                  <a:srgbClr val="222222"/>
                </a:solidFill>
                <a:latin typeface="Tahoma"/>
                <a:ea typeface="Tahoma"/>
              </a:rPr>
              <a:t>Show the operating shape</a:t>
            </a:r>
            <a:endParaRPr lang="en-US"/>
          </a:p>
        </p:txBody>
      </p:sp>
      <p:sp>
        <p:nvSpPr>
          <p:cNvPr id="16" name="section-rule"/>
          <p:cNvSpPr/>
          <p:nvPr/>
        </p:nvSpPr>
        <p:spPr>
          <a:xfrm xmlns:a="http://schemas.openxmlformats.org/drawingml/2006/main">
            <a:off x="914400" y="31813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section-body"/>
          <p:cNvSpPr txBox="1"/>
          <p:nvPr/>
        </p:nvSpPr>
        <p:spPr>
          <a:xfrm xmlns:a="http://schemas.openxmlformats.org/drawingml/2006/main">
            <a:off x="914400" y="36004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22222"/>
                </a:solidFill>
                <a:latin typeface="Tahoma"/>
                <a:ea typeface="Tahoma"/>
              </a:rPr>
              <a:t>An operating page should reveal the shape of the work, not decorate the status.</a:t>
            </a:r>
            <a:endParaRPr lang="en-US"/>
          </a:p>
        </p:txBody>
      </p:sp>
      <p:sp>
        <p:nvSpPr>
          <p:cNvPr id="18" name="section-note"/>
          <p:cNvSpPr txBox="1"/>
          <p:nvPr/>
        </p:nvSpPr>
        <p:spPr>
          <a:xfrm xmlns:a="http://schemas.openxmlformats.org/drawingml/2006/main">
            <a:off x="914400" y="523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7A530"/>
                </a:solidFill>
                <a:latin typeface="Tahoma"/>
                <a:ea typeface="Tahoma"/>
              </a:rPr>
              <a:t>ONE IMAGE · ONE THESIS · ONE TURN</a:t>
            </a:r>
            <a:endParaRPr lang="en-US"/>
          </a:p>
        </p:txBody>
      </p:sp>
      <p:sp>
        <p:nvSpPr>
          <p:cNvPr id="19" name="section-next"/>
          <p:cNvSpPr txBox="1"/>
          <p:nvPr/>
        </p:nvSpPr>
        <p:spPr>
          <a:xfrm xmlns:a="http://schemas.openxmlformats.org/drawingml/2006/main">
            <a:off x="914400" y="5772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22222"/>
                </a:solidFill>
                <a:latin typeface="Tahoma"/>
                <a:ea typeface="Tahoma"/>
              </a:rPr>
              <a:t>Assign the handoff</a:t>
            </a:r>
            <a:endParaRPr lang="en-US"/>
          </a:p>
        </p:txBody>
      </p:sp>
      <p:sp>
        <p:nvSpPr>
          <p:cNvPr id="20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1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7"/>
          </a:solidFill>
          <a:ln xmlns:a="http://schemas.openxmlformats.org/drawingml/2006/main" w="0">
            <a:solidFill>
              <a:srgbClr val="F2F0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E8D88"/>
                </a:solidFill>
                <a:latin typeface="Tahoma"/>
                <a:ea typeface="Tahoma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JADE ANNUAL BRIEF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7A530"/>
                </a:solidFill>
                <a:latin typeface="Tahoma"/>
                <a:ea typeface="Tahoma"/>
              </a:rPr>
              <a:t>JADE ANNUAL BRIEF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222222"/>
                </a:solidFill>
                <a:latin typeface="Tahoma"/>
                <a:ea typeface="Tahoma"/>
              </a:rPr>
              <a:t>Make the owner and the next date impossible to miss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E8D88"/>
                </a:solidFill>
                <a:latin typeface="Tahoma"/>
                <a:ea typeface="Tahoma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7A530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Status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The queue is on target.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2222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E8D8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Exception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The handoff is the constraint.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7A530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22222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22222"/>
                </a:solidFill>
                <a:latin typeface="Tahoma"/>
                <a:ea typeface="Tahoma"/>
              </a:rPr>
              <a:t>Name the owner today.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530"/>
          </a:solidFill>
          <a:ln xmlns:a="http://schemas.openxmlformats.org/drawingml/2006/main" w="0">
            <a:solidFill>
              <a:srgbClr val="B7A53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02124"/>
                </a:solidFill>
                <a:latin typeface="Tahoma"/>
                <a:ea typeface="Tahoma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124"/>
                </a:solidFill>
                <a:latin typeface="Tahoma"/>
                <a:ea typeface="Tahoma"/>
              </a:rPr>
              <a:t>Assign the handoff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202124"/>
                </a:solidFill>
                <a:latin typeface="Tahoma"/>
                <a:ea typeface="Tahoma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E8D88"/>
                </a:solidFill>
                <a:latin typeface="Tahoma"/>
                <a:ea typeface="Tahoma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