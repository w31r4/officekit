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9d1ee6569648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7650495d0c3b8602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86e2f1ddedec4dca" /><Relationship Type="http://schemas.openxmlformats.org/officeDocument/2006/relationships/chart" Target="/ppt/slides/charts/chart2.xml" Id="Rc4d968485980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B7A530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6B7E65"/>
            </a:solidFill>
            <a:ln w="38100">
              <a:solidFill>
                <a:srgbClr val="6B7E65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7650495d0c3b8602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>
              <a:alpha val="100000"/>
            </a:srgbClr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WORK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22222"/>
                </a:solidFill>
                <a:latin typeface="Tahoma"/>
                <a:ea typeface="Tahoma"/>
              </a:rPr>
              <a:t>Jade Annual Brief: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B7A530"/>
                </a:solidFill>
                <a:latin typeface="Tahoma"/>
                <a:ea typeface="Tahoma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2222"/>
                </a:solidFill>
                <a:latin typeface="Tahoma"/>
                <a:ea typeface="Tahoma"/>
              </a:rPr>
              <a:t>A visible operating signal creates a shared next action.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One operating constraint should own the page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OPERATING SIGNAL</a:t>
            </a:r>
            <a:endParaRPr lang="en-US"/>
          </a:p>
        </p:txBody>
      </p:sp>
      <p:sp>
        <p:nvSpPr>
          <p:cNvPr id="2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222222"/>
                </a:solidFill>
                <a:latin typeface="Tahoma"/>
                <a:ea typeface="Tahoma"/>
              </a:rPr>
              <a:t>The queue is healthy; the handoff is not.</a:t>
            </a:r>
            <a:endParaRPr lang="en-US"/>
          </a:p>
        </p:txBody>
      </p:sp>
      <p:sp>
        <p:nvSpPr>
          <p:cNvPr id="2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222222"/>
                </a:solidFill>
                <a:latin typeface="Tahoma"/>
                <a:ea typeface="Tahoma"/>
              </a:rPr>
              <a:t>Three visible signals point to one owner and one date.</a:t>
            </a:r>
            <a:endParaRPr lang="en-US"/>
          </a:p>
        </p:txBody>
      </p:sp>
      <p:sp>
        <p:nvSpPr>
          <p:cNvPr id="2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2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Queue</a:t>
            </a:r>
            <a:endParaRPr lang="en-US"/>
          </a:p>
        </p:txBody>
      </p:sp>
      <p:sp>
        <p:nvSpPr>
          <p:cNvPr id="2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8D88"/>
                </a:solidFill>
                <a:latin typeface="Tahoma"/>
                <a:ea typeface="Tahoma"/>
              </a:rPr>
              <a:t>On target</a:t>
            </a:r>
            <a:endParaRPr lang="en-US"/>
          </a:p>
        </p:txBody>
      </p:sp>
      <p:sp>
        <p:nvSpPr>
          <p:cNvPr id="2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2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Handoff</a:t>
            </a:r>
            <a:endParaRPr lang="en-US"/>
          </a:p>
        </p:txBody>
      </p:sp>
      <p:sp>
        <p:nvSpPr>
          <p:cNvPr id="2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B7A530"/>
                </a:solidFill>
                <a:latin typeface="Tahoma"/>
                <a:ea typeface="Tahoma"/>
              </a:rPr>
              <a:t>At risk</a:t>
            </a:r>
            <a:endParaRPr lang="en-US"/>
          </a:p>
        </p:txBody>
      </p:sp>
      <p:sp>
        <p:nvSpPr>
          <p:cNvPr id="2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3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Owner</a:t>
            </a:r>
            <a:endParaRPr lang="en-US"/>
          </a:p>
        </p:txBody>
      </p:sp>
      <p:sp>
        <p:nvSpPr>
          <p:cNvPr id="3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8D88"/>
                </a:solidFill>
                <a:latin typeface="Tahoma"/>
                <a:ea typeface="Tahoma"/>
              </a:rPr>
              <a:t>Named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work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Control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Pilot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Read-through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Sample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Balanced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Window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3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Pre-registered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Measure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Outcome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Comparable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Limit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 generalization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METHOD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The boundary travels with the result.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8D88"/>
                </a:solidFill>
                <a:latin typeface="Tahoma"/>
                <a:ea typeface="Tahoma"/>
              </a:rPr>
              <a:t>Keep the method, window and limitation adjacent to the outcome so the reader can audit the claim.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22222"/>
                </a:solidFill>
                <a:latin typeface="Tahoma"/>
                <a:ea typeface="Tahoma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The gap becomes useful when it has an owner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NOW</a:t>
            </a:r>
            <a:endParaRPr lang="en-US"/>
          </a:p>
        </p:txBody>
      </p:sp>
      <p:sp>
        <p:nvSpPr>
          <p:cNvPr id="20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54%</a:t>
            </a:r>
            <a:endParaRPr lang="en-US"/>
          </a:p>
        </p:txBody>
      </p:sp>
      <p:sp>
        <p:nvSpPr>
          <p:cNvPr id="23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TARGET</a:t>
            </a:r>
            <a:endParaRPr lang="en-US"/>
          </a:p>
        </p:txBody>
      </p:sp>
      <p:sp>
        <p:nvSpPr>
          <p:cNvPr id="24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E65"/>
          </a:solidFill>
          <a:ln xmlns:a="http://schemas.openxmlformats.org/drawingml/2006/main" w="0">
            <a:solidFill>
              <a:srgbClr val="6B7E6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76%</a:t>
            </a:r>
            <a:endParaRPr lang="en-US"/>
          </a:p>
        </p:txBody>
      </p:sp>
      <p:sp>
        <p:nvSpPr>
          <p:cNvPr id="27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GAP</a:t>
            </a:r>
            <a:endParaRPr lang="en-US"/>
          </a:p>
        </p:txBody>
      </p:sp>
      <p:sp>
        <p:nvSpPr>
          <p:cNvPr id="28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22%</a:t>
            </a:r>
            <a:endParaRPr lang="en-US"/>
          </a:p>
        </p:txBody>
      </p:sp>
      <p:sp>
        <p:nvSpPr>
          <p:cNvPr id="31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22222"/>
                </a:solidFill>
                <a:latin typeface="Tahoma"/>
                <a:ea typeface="Tahoma"/>
              </a:rPr>
              <a:t>Status is useful only when the next handoff is visible.</a:t>
            </a:r>
            <a:endParaRPr lang="en-US"/>
          </a:p>
        </p:txBody>
      </p:sp>
      <p:sp>
        <p:nvSpPr>
          <p:cNvPr id="33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EXCEPTION</a:t>
            </a:r>
            <a:endParaRPr lang="en-US"/>
          </a:p>
        </p:txBody>
      </p:sp>
      <p:sp>
        <p:nvSpPr>
          <p:cNvPr id="34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The gap is not a decoration; it is the work.</a:t>
            </a:r>
            <a:endParaRPr lang="en-US"/>
          </a:p>
        </p:txBody>
      </p:sp>
      <p:sp>
        <p:nvSpPr>
          <p:cNvPr id="35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8D88"/>
                </a:solidFill>
                <a:latin typeface="Tahoma"/>
                <a:ea typeface="Tahoma"/>
              </a:rPr>
              <a:t>A healthy page names the owner and the next date.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Show the operating shape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e2f1ddedec4dca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d968485980451d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Exception before polish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8D88"/>
                </a:solidFill>
                <a:latin typeface="Tahoma"/>
                <a:ea typeface="Tahoma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Make the owner and the next date impossible to miss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7A530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Status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The queue is on target.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2222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Exception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The handoff is the constraint.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7A530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Name the owner today.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Tahoma"/>
                <a:ea typeface="Tahoma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124"/>
                </a:solidFill>
                <a:latin typeface="Tahoma"/>
                <a:ea typeface="Tahoma"/>
              </a:rPr>
              <a:t>Assign the handoff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202124"/>
                </a:solidFill>
                <a:latin typeface="Tahoma"/>
                <a:ea typeface="Tahoma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