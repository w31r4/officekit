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5f5d8dfaeea0400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chart" Target="/ppt/slides/charts/chart1.xml" Id="R081e75594de944b6" /><Relationship Type="http://schemas.openxmlformats.org/officeDocument/2006/relationships/chart" Target="/ppt/slides/charts/chart2.xml" Id="Rdaeba79296f9499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15A6D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8C99AD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F06B4F"/>
            </a:solidFill>
            <a:ln w="38100">
              <a:solidFill>
                <a:srgbClr val="F06B4F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ACADEMIC · OFFICEKIT CALIBRATION</a:t>
            </a:r>
            <a:endParaRPr lang="en-US"/>
          </a:p>
        </p:txBody>
      </p:sp>
      <p:sp>
        <p:nvSpPr>
          <p:cNvPr id="1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02B55"/>
                </a:solidFill>
                <a:latin typeface="Inter"/>
                <a:ea typeface="Inter"/>
              </a:rPr>
              <a:t>Axis Atlas: a claim worth testing</a:t>
            </a:r>
            <a:endParaRPr lang="en-US"/>
          </a:p>
        </p:txBody>
      </p:sp>
      <p:sp>
        <p:nvSpPr>
          <p:cNvPr id="1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15A6D8"/>
                </a:solidFill>
                <a:latin typeface="Inter"/>
                <a:ea typeface="Inter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1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2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02B55"/>
                </a:solidFill>
                <a:latin typeface="Inter"/>
                <a:ea typeface="Inter"/>
              </a:rPr>
              <a:t>A falsifiable claim is a design decision.</a:t>
            </a:r>
            <a:endParaRPr lang="en-US"/>
          </a:p>
        </p:txBody>
      </p:sp>
      <p:sp>
        <p:nvSpPr>
          <p:cNvPr id="2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2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  <p:sp>
        <p:nvSpPr>
          <p:cNvPr id="2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argument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ARGUMENT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ARGUMENT</a:t>
            </a:r>
            <a:endParaRPr lang="en-US"/>
          </a:p>
        </p:txBody>
      </p:sp>
      <p:sp>
        <p:nvSpPr>
          <p:cNvPr id="16" name="argument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method keeps mechanism separate from drift</a:t>
            </a:r>
            <a:endParaRPr lang="en-US"/>
          </a:p>
        </p:txBody>
      </p:sp>
      <p:sp>
        <p:nvSpPr>
          <p:cNvPr id="17" name="argument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Question → method → result → limitation, without marketing language.</a:t>
            </a:r>
            <a:endParaRPr lang="en-US"/>
          </a:p>
        </p:txBody>
      </p:sp>
      <p:sp>
        <p:nvSpPr>
          <p:cNvPr id="18" name="argument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cademic-number-0"/>
          <p:cNvSpPr txBox="1"/>
          <p:nvPr/>
        </p:nvSpPr>
        <p:spPr>
          <a:xfrm xmlns:a="http://schemas.openxmlformats.org/drawingml/2006/main">
            <a:off x="1104900" y="3238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academic-rule-0"/>
          <p:cNvSpPr/>
          <p:nvPr/>
        </p:nvSpPr>
        <p:spPr>
          <a:xfrm xmlns:a="http://schemas.openxmlformats.org/drawingml/2006/main">
            <a:off x="2000250" y="3390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cademic-label-0"/>
          <p:cNvSpPr txBox="1"/>
          <p:nvPr/>
        </p:nvSpPr>
        <p:spPr>
          <a:xfrm xmlns:a="http://schemas.openxmlformats.org/drawingml/2006/main">
            <a:off x="2114550" y="3200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Question</a:t>
            </a:r>
            <a:endParaRPr lang="en-US"/>
          </a:p>
        </p:txBody>
      </p:sp>
      <p:sp>
        <p:nvSpPr>
          <p:cNvPr id="22" name="academic-text-0"/>
          <p:cNvSpPr txBox="1"/>
          <p:nvPr/>
        </p:nvSpPr>
        <p:spPr>
          <a:xfrm xmlns:a="http://schemas.openxmlformats.org/drawingml/2006/main">
            <a:off x="4095750" y="3238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Can the intervention move the outcome?</a:t>
            </a:r>
            <a:endParaRPr lang="en-US"/>
          </a:p>
        </p:txBody>
      </p:sp>
      <p:sp>
        <p:nvSpPr>
          <p:cNvPr id="23" name="academic-number-1"/>
          <p:cNvSpPr txBox="1"/>
          <p:nvPr/>
        </p:nvSpPr>
        <p:spPr>
          <a:xfrm xmlns:a="http://schemas.openxmlformats.org/drawingml/2006/main">
            <a:off x="1104900" y="41910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academic-rule-1"/>
          <p:cNvSpPr/>
          <p:nvPr/>
        </p:nvSpPr>
        <p:spPr>
          <a:xfrm xmlns:a="http://schemas.openxmlformats.org/drawingml/2006/main">
            <a:off x="2000250" y="43434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academic-label-1"/>
          <p:cNvSpPr txBox="1"/>
          <p:nvPr/>
        </p:nvSpPr>
        <p:spPr>
          <a:xfrm xmlns:a="http://schemas.openxmlformats.org/drawingml/2006/main">
            <a:off x="2114550" y="41529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Method</a:t>
            </a:r>
            <a:endParaRPr lang="en-US"/>
          </a:p>
        </p:txBody>
      </p:sp>
      <p:sp>
        <p:nvSpPr>
          <p:cNvPr id="26" name="academic-text-1"/>
          <p:cNvSpPr txBox="1"/>
          <p:nvPr/>
        </p:nvSpPr>
        <p:spPr>
          <a:xfrm xmlns:a="http://schemas.openxmlformats.org/drawingml/2006/main">
            <a:off x="4095750" y="41910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Two groups, one rule, registered before launch.</a:t>
            </a:r>
            <a:endParaRPr lang="en-US"/>
          </a:p>
        </p:txBody>
      </p:sp>
      <p:sp>
        <p:nvSpPr>
          <p:cNvPr id="27" name="academic-number-2"/>
          <p:cNvSpPr txBox="1"/>
          <p:nvPr/>
        </p:nvSpPr>
        <p:spPr>
          <a:xfrm xmlns:a="http://schemas.openxmlformats.org/drawingml/2006/main">
            <a:off x="1104900" y="5143500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academic-rule-2"/>
          <p:cNvSpPr/>
          <p:nvPr/>
        </p:nvSpPr>
        <p:spPr>
          <a:xfrm xmlns:a="http://schemas.openxmlformats.org/drawingml/2006/main">
            <a:off x="2000250" y="52959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academic-label-2"/>
          <p:cNvSpPr txBox="1"/>
          <p:nvPr/>
        </p:nvSpPr>
        <p:spPr>
          <a:xfrm xmlns:a="http://schemas.openxmlformats.org/drawingml/2006/main">
            <a:off x="2114550" y="51054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30" name="academic-text-2"/>
          <p:cNvSpPr txBox="1"/>
          <p:nvPr/>
        </p:nvSpPr>
        <p:spPr>
          <a:xfrm xmlns:a="http://schemas.openxmlformats.org/drawingml/2006/main">
            <a:off x="4095750" y="5143500"/>
            <a:ext cx="533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result applies to this window and sample.</a:t>
            </a:r>
            <a:endParaRPr lang="en-US"/>
          </a:p>
        </p:txBody>
      </p:sp>
      <p:sp>
        <p:nvSpPr>
          <p:cNvPr id="31" name="method-panel"/>
          <p:cNvSpPr/>
          <p:nvPr/>
        </p:nvSpPr>
        <p:spPr>
          <a:xfrm xmlns:a="http://schemas.openxmlformats.org/drawingml/2006/main">
            <a:off x="10287000" y="3238500"/>
            <a:ext cx="36195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method-label"/>
          <p:cNvSpPr txBox="1"/>
          <p:nvPr/>
        </p:nvSpPr>
        <p:spPr>
          <a:xfrm xmlns:a="http://schemas.openxmlformats.org/drawingml/2006/main">
            <a:off x="10668000" y="3571875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REGISTERED RULE</a:t>
            </a:r>
            <a:endParaRPr lang="en-US"/>
          </a:p>
        </p:txBody>
      </p:sp>
      <p:sp>
        <p:nvSpPr>
          <p:cNvPr id="33" name="method-value"/>
          <p:cNvSpPr txBox="1"/>
          <p:nvPr/>
        </p:nvSpPr>
        <p:spPr>
          <a:xfrm xmlns:a="http://schemas.openxmlformats.org/drawingml/2006/main">
            <a:off x="10668000" y="4048125"/>
            <a:ext cx="2571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750" b="1">
                <a:solidFill>
                  <a:srgbClr val="15A6D8"/>
                </a:solidFill>
                <a:latin typeface="Inter"/>
                <a:ea typeface="Inter"/>
              </a:rPr>
              <a:t>≥ 2 pp</a:t>
            </a:r>
            <a:endParaRPr lang="en-US"/>
          </a:p>
        </p:txBody>
      </p:sp>
      <p:sp>
        <p:nvSpPr>
          <p:cNvPr id="34" name="method-foot"/>
          <p:cNvSpPr txBox="1"/>
          <p:nvPr/>
        </p:nvSpPr>
        <p:spPr>
          <a:xfrm xmlns:a="http://schemas.openxmlformats.org/drawingml/2006/main">
            <a:off x="10668000" y="476250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9AD"/>
                </a:solidFill>
                <a:latin typeface="Inter"/>
                <a:ea typeface="Inter"/>
              </a:rPr>
              <a:t>confidence interval excludes zero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evidenc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EVIDENC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EVIDENCE</a:t>
            </a:r>
            <a:endParaRPr lang="en-US"/>
          </a:p>
        </p:txBody>
      </p:sp>
      <p:sp>
        <p:nvSpPr>
          <p:cNvPr id="16" name="evidenc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result clears the rule; uncertainty remains visible</a:t>
            </a:r>
            <a:endParaRPr lang="en-US"/>
          </a:p>
        </p:txBody>
      </p:sp>
      <p:sp>
        <p:nvSpPr>
          <p:cNvPr id="17" name="evidenc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Illustrative measure · mean of 24 observations · 95% CI shown in the read-through.</a:t>
            </a:r>
            <a:endParaRPr lang="en-US"/>
          </a:p>
        </p:txBody>
      </p:sp>
      <p:sp>
        <p:nvSpPr>
          <p:cNvPr id="18" name="evidenc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9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1e75594de944b6"/>
          </a:graphicData>
        </a:graphic>
      </p:graphicFrame>
      <p:graphicFrame>
        <p:nvGraphicFramePr>
          <p:cNvPr id="20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eba79296f94996"/>
          </a:graphicData>
        </a:graphic>
      </p:graphicFrame>
      <p:sp>
        <p:nvSpPr>
          <p:cNvPr id="21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15A6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23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02B55"/>
                </a:solidFill>
                <a:latin typeface="Inter"/>
                <a:ea typeface="Inter"/>
              </a:rPr>
              <a:t>The pattern is bounded by the method.</a:t>
            </a:r>
            <a:endParaRPr lang="en-US"/>
          </a:p>
        </p:txBody>
      </p:sp>
      <p:sp>
        <p:nvSpPr>
          <p:cNvPr id="24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9AD"/>
                </a:solidFill>
                <a:latin typeface="Inter"/>
                <a:ea typeface="Inter"/>
              </a:rPr>
              <a:t>Read the curve, then check the sample and limitation.</a:t>
            </a:r>
            <a:endParaRPr lang="en-US"/>
          </a:p>
        </p:txBody>
      </p:sp>
      <p:sp>
        <p:nvSpPr>
          <p:cNvPr id="25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02B55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27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8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detai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DETAIL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DETAIL</a:t>
            </a:r>
            <a:endParaRPr lang="en-US"/>
          </a:p>
        </p:txBody>
      </p:sp>
      <p:sp>
        <p:nvSpPr>
          <p:cNvPr id="16" name="detai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The table keeps the result honest</a:t>
            </a:r>
            <a:endParaRPr lang="en-US"/>
          </a:p>
        </p:txBody>
      </p:sp>
      <p:sp>
        <p:nvSpPr>
          <p:cNvPr id="17" name="detail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Structured comparison · method, window, measure and boundary remain adjacent.</a:t>
            </a:r>
            <a:endParaRPr lang="en-US"/>
          </a:p>
        </p:txBody>
      </p:sp>
      <p:sp>
        <p:nvSpPr>
          <p:cNvPr id="18" name="detai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process-axis"/>
          <p:cNvSpPr/>
          <p:nvPr/>
        </p:nvSpPr>
        <p:spPr>
          <a:xfrm xmlns:a="http://schemas.openxmlformats.org/drawingml/2006/main">
            <a:off x="1390650" y="4114800"/>
            <a:ext cx="8839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process-node-0"/>
          <p:cNvSpPr/>
          <p:nvPr/>
        </p:nvSpPr>
        <p:spPr>
          <a:xfrm xmlns:a="http://schemas.openxmlformats.org/drawingml/2006/main">
            <a:off x="12192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process-number-0"/>
          <p:cNvSpPr txBox="1"/>
          <p:nvPr/>
        </p:nvSpPr>
        <p:spPr>
          <a:xfrm xmlns:a="http://schemas.openxmlformats.org/drawingml/2006/main">
            <a:off x="12001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process-label-0"/>
          <p:cNvSpPr txBox="1"/>
          <p:nvPr/>
        </p:nvSpPr>
        <p:spPr>
          <a:xfrm xmlns:a="http://schemas.openxmlformats.org/drawingml/2006/main">
            <a:off x="17145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Frame</a:t>
            </a:r>
            <a:endParaRPr lang="en-US"/>
          </a:p>
        </p:txBody>
      </p:sp>
      <p:sp>
        <p:nvSpPr>
          <p:cNvPr id="23" name="process-text-0"/>
          <p:cNvSpPr txBox="1"/>
          <p:nvPr/>
        </p:nvSpPr>
        <p:spPr>
          <a:xfrm xmlns:a="http://schemas.openxmlformats.org/drawingml/2006/main">
            <a:off x="17145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Name the question</a:t>
            </a:r>
            <a:endParaRPr lang="en-US"/>
          </a:p>
        </p:txBody>
      </p:sp>
      <p:sp>
        <p:nvSpPr>
          <p:cNvPr id="24" name="process-separator-0"/>
          <p:cNvSpPr/>
          <p:nvPr/>
        </p:nvSpPr>
        <p:spPr>
          <a:xfrm xmlns:a="http://schemas.openxmlformats.org/drawingml/2006/main">
            <a:off x="16764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process-node-1"/>
          <p:cNvSpPr/>
          <p:nvPr/>
        </p:nvSpPr>
        <p:spPr>
          <a:xfrm xmlns:a="http://schemas.openxmlformats.org/drawingml/2006/main">
            <a:off x="35242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process-number-1"/>
          <p:cNvSpPr txBox="1"/>
          <p:nvPr/>
        </p:nvSpPr>
        <p:spPr>
          <a:xfrm xmlns:a="http://schemas.openxmlformats.org/drawingml/2006/main">
            <a:off x="35052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7" name="process-label-1"/>
          <p:cNvSpPr txBox="1"/>
          <p:nvPr/>
        </p:nvSpPr>
        <p:spPr>
          <a:xfrm xmlns:a="http://schemas.openxmlformats.org/drawingml/2006/main">
            <a:off x="40195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Test</a:t>
            </a:r>
            <a:endParaRPr lang="en-US"/>
          </a:p>
        </p:txBody>
      </p:sp>
      <p:sp>
        <p:nvSpPr>
          <p:cNvPr id="28" name="process-text-1"/>
          <p:cNvSpPr txBox="1"/>
          <p:nvPr/>
        </p:nvSpPr>
        <p:spPr>
          <a:xfrm xmlns:a="http://schemas.openxmlformats.org/drawingml/2006/main">
            <a:off x="40195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Hold the rule</a:t>
            </a:r>
            <a:endParaRPr lang="en-US"/>
          </a:p>
        </p:txBody>
      </p:sp>
      <p:sp>
        <p:nvSpPr>
          <p:cNvPr id="29" name="process-separator-1"/>
          <p:cNvSpPr/>
          <p:nvPr/>
        </p:nvSpPr>
        <p:spPr>
          <a:xfrm xmlns:a="http://schemas.openxmlformats.org/drawingml/2006/main">
            <a:off x="398145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process-node-2"/>
          <p:cNvSpPr/>
          <p:nvPr/>
        </p:nvSpPr>
        <p:spPr>
          <a:xfrm xmlns:a="http://schemas.openxmlformats.org/drawingml/2006/main">
            <a:off x="582930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1" name="process-number-2"/>
          <p:cNvSpPr txBox="1"/>
          <p:nvPr/>
        </p:nvSpPr>
        <p:spPr>
          <a:xfrm xmlns:a="http://schemas.openxmlformats.org/drawingml/2006/main">
            <a:off x="581025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2" name="process-label-2"/>
          <p:cNvSpPr txBox="1"/>
          <p:nvPr/>
        </p:nvSpPr>
        <p:spPr>
          <a:xfrm xmlns:a="http://schemas.openxmlformats.org/drawingml/2006/main">
            <a:off x="632460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Read</a:t>
            </a:r>
            <a:endParaRPr lang="en-US"/>
          </a:p>
        </p:txBody>
      </p:sp>
      <p:sp>
        <p:nvSpPr>
          <p:cNvPr id="33" name="process-text-2"/>
          <p:cNvSpPr txBox="1"/>
          <p:nvPr/>
        </p:nvSpPr>
        <p:spPr>
          <a:xfrm xmlns:a="http://schemas.openxmlformats.org/drawingml/2006/main">
            <a:off x="632460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Separate signal</a:t>
            </a:r>
            <a:endParaRPr lang="en-US"/>
          </a:p>
        </p:txBody>
      </p:sp>
      <p:sp>
        <p:nvSpPr>
          <p:cNvPr id="34" name="process-separator-2"/>
          <p:cNvSpPr/>
          <p:nvPr/>
        </p:nvSpPr>
        <p:spPr>
          <a:xfrm xmlns:a="http://schemas.openxmlformats.org/drawingml/2006/main">
            <a:off x="6286500" y="4724400"/>
            <a:ext cx="1676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5" name="process-node-3"/>
          <p:cNvSpPr/>
          <p:nvPr/>
        </p:nvSpPr>
        <p:spPr>
          <a:xfrm xmlns:a="http://schemas.openxmlformats.org/drawingml/2006/main">
            <a:off x="8134350" y="39433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6" name="process-number-3"/>
          <p:cNvSpPr txBox="1"/>
          <p:nvPr/>
        </p:nvSpPr>
        <p:spPr>
          <a:xfrm xmlns:a="http://schemas.openxmlformats.org/drawingml/2006/main">
            <a:off x="8115300" y="3486150"/>
            <a:ext cx="419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75" b="1">
                <a:solidFill>
                  <a:srgbClr val="15A6D8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7" name="process-label-3"/>
          <p:cNvSpPr txBox="1"/>
          <p:nvPr/>
        </p:nvSpPr>
        <p:spPr>
          <a:xfrm xmlns:a="http://schemas.openxmlformats.org/drawingml/2006/main">
            <a:off x="8629650" y="40005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00" b="1">
                <a:solidFill>
                  <a:srgbClr val="102B55"/>
                </a:solidFill>
                <a:latin typeface="Inter"/>
                <a:ea typeface="Inter"/>
              </a:rPr>
              <a:t>Decide</a:t>
            </a:r>
            <a:endParaRPr lang="en-US"/>
          </a:p>
        </p:txBody>
      </p:sp>
      <p:sp>
        <p:nvSpPr>
          <p:cNvPr id="38" name="process-text-3"/>
          <p:cNvSpPr txBox="1"/>
          <p:nvPr/>
        </p:nvSpPr>
        <p:spPr>
          <a:xfrm xmlns:a="http://schemas.openxmlformats.org/drawingml/2006/main">
            <a:off x="8629650" y="4324350"/>
            <a:ext cx="1524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8C99AD"/>
                </a:solidFill>
                <a:latin typeface="Inter"/>
                <a:ea typeface="Inter"/>
              </a:rPr>
              <a:t>Set the next gate</a:t>
            </a:r>
            <a:endParaRPr lang="en-US"/>
          </a:p>
        </p:txBody>
      </p:sp>
      <p:sp>
        <p:nvSpPr>
          <p:cNvPr id="39" name="process-read-label"/>
          <p:cNvSpPr txBox="1"/>
          <p:nvPr/>
        </p:nvSpPr>
        <p:spPr>
          <a:xfrm xmlns:a="http://schemas.openxmlformats.org/drawingml/2006/main">
            <a:off x="10668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READ-THROUGH</a:t>
            </a:r>
            <a:endParaRPr lang="en-US"/>
          </a:p>
        </p:txBody>
      </p:sp>
      <p:sp>
        <p:nvSpPr>
          <p:cNvPr id="40" name="process-read-title"/>
          <p:cNvSpPr txBox="1"/>
          <p:nvPr/>
        </p:nvSpPr>
        <p:spPr>
          <a:xfrm xmlns:a="http://schemas.openxmlformats.org/drawingml/2006/main">
            <a:off x="10668000" y="3810000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102B55"/>
                </a:solidFill>
                <a:latin typeface="Inter"/>
                <a:ea typeface="Inter"/>
              </a:rPr>
              <a:t>The sequence is the evidence.</a:t>
            </a:r>
            <a:endParaRPr lang="en-US"/>
          </a:p>
        </p:txBody>
      </p:sp>
      <p:sp>
        <p:nvSpPr>
          <p:cNvPr id="41" name="process-read-body"/>
          <p:cNvSpPr txBox="1"/>
          <p:nvPr/>
        </p:nvSpPr>
        <p:spPr>
          <a:xfrm xmlns:a="http://schemas.openxmlformats.org/drawingml/2006/main">
            <a:off x="10668000" y="4762500"/>
            <a:ext cx="3143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Keep each handoff adjacent to the condition that unlocks it; do not turn a real dependency into a decorative arrow.</a:t>
            </a:r>
            <a:endParaRPr lang="en-US"/>
          </a:p>
        </p:txBody>
      </p:sp>
      <p:sp>
        <p:nvSpPr>
          <p:cNvPr id="42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43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VISUAL CARRIER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VISUAL CARRIER</a:t>
            </a:r>
            <a:endParaRPr lang="en-US"/>
          </a:p>
        </p:txBody>
      </p:sp>
      <p:sp>
        <p:nvSpPr>
          <p:cNvPr id="16" name="visual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Evidence has a texture</a:t>
            </a:r>
            <a:endParaRPr lang="en-US"/>
          </a:p>
        </p:txBody>
      </p:sp>
      <p:sp>
        <p:nvSpPr>
          <p:cNvPr id="17" name="visual-body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Use a visual carrier when the audience needs to see a pattern before reading the caveat.</a:t>
            </a:r>
            <a:endParaRPr lang="en-US"/>
          </a:p>
        </p:txBody>
      </p:sp>
      <p:sp>
        <p:nvSpPr>
          <p:cNvPr id="18" name="visual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visual-process-rail"/>
          <p:cNvSpPr/>
          <p:nvPr/>
        </p:nvSpPr>
        <p:spPr>
          <a:xfrm xmlns:a="http://schemas.openxmlformats.org/drawingml/2006/main">
            <a:off x="1447800" y="3524250"/>
            <a:ext cx="0" cy="2647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visual-process-node-0"/>
          <p:cNvSpPr/>
          <p:nvPr/>
        </p:nvSpPr>
        <p:spPr>
          <a:xfrm xmlns:a="http://schemas.openxmlformats.org/drawingml/2006/main">
            <a:off x="1257300" y="33528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visual-process-number-0"/>
          <p:cNvSpPr txBox="1"/>
          <p:nvPr/>
        </p:nvSpPr>
        <p:spPr>
          <a:xfrm xmlns:a="http://schemas.openxmlformats.org/drawingml/2006/main">
            <a:off x="1238250" y="34671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2" name="visual-process-label-0"/>
          <p:cNvSpPr txBox="1"/>
          <p:nvPr/>
        </p:nvSpPr>
        <p:spPr>
          <a:xfrm xmlns:a="http://schemas.openxmlformats.org/drawingml/2006/main">
            <a:off x="1943100" y="3371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Observe</a:t>
            </a:r>
            <a:endParaRPr lang="en-US"/>
          </a:p>
        </p:txBody>
      </p:sp>
      <p:sp>
        <p:nvSpPr>
          <p:cNvPr id="23" name="visual-process-text-0"/>
          <p:cNvSpPr txBox="1"/>
          <p:nvPr/>
        </p:nvSpPr>
        <p:spPr>
          <a:xfrm xmlns:a="http://schemas.openxmlformats.org/drawingml/2006/main">
            <a:off x="3829050" y="34004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Find the signal</a:t>
            </a:r>
            <a:endParaRPr lang="en-US"/>
          </a:p>
        </p:txBody>
      </p:sp>
      <p:sp>
        <p:nvSpPr>
          <p:cNvPr id="24" name="visual-process-node-1"/>
          <p:cNvSpPr/>
          <p:nvPr/>
        </p:nvSpPr>
        <p:spPr>
          <a:xfrm xmlns:a="http://schemas.openxmlformats.org/drawingml/2006/main">
            <a:off x="1257300" y="40957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visual-process-number-1"/>
          <p:cNvSpPr txBox="1"/>
          <p:nvPr/>
        </p:nvSpPr>
        <p:spPr>
          <a:xfrm xmlns:a="http://schemas.openxmlformats.org/drawingml/2006/main">
            <a:off x="1238250" y="42100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6" name="visual-process-label-1"/>
          <p:cNvSpPr txBox="1"/>
          <p:nvPr/>
        </p:nvSpPr>
        <p:spPr>
          <a:xfrm xmlns:a="http://schemas.openxmlformats.org/drawingml/2006/main">
            <a:off x="1943100" y="41148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Explain</a:t>
            </a:r>
            <a:endParaRPr lang="en-US"/>
          </a:p>
        </p:txBody>
      </p:sp>
      <p:sp>
        <p:nvSpPr>
          <p:cNvPr id="27" name="visual-process-text-1"/>
          <p:cNvSpPr txBox="1"/>
          <p:nvPr/>
        </p:nvSpPr>
        <p:spPr>
          <a:xfrm xmlns:a="http://schemas.openxmlformats.org/drawingml/2006/main">
            <a:off x="3829050" y="41433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Name the mechanism</a:t>
            </a:r>
            <a:endParaRPr lang="en-US"/>
          </a:p>
        </p:txBody>
      </p:sp>
      <p:sp>
        <p:nvSpPr>
          <p:cNvPr id="28" name="visual-process-node-2"/>
          <p:cNvSpPr/>
          <p:nvPr/>
        </p:nvSpPr>
        <p:spPr>
          <a:xfrm xmlns:a="http://schemas.openxmlformats.org/drawingml/2006/main">
            <a:off x="1257300" y="483870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3810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visual-process-number-2"/>
          <p:cNvSpPr txBox="1"/>
          <p:nvPr/>
        </p:nvSpPr>
        <p:spPr>
          <a:xfrm xmlns:a="http://schemas.openxmlformats.org/drawingml/2006/main">
            <a:off x="1238250" y="495300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30" name="visual-process-label-2"/>
          <p:cNvSpPr txBox="1"/>
          <p:nvPr/>
        </p:nvSpPr>
        <p:spPr>
          <a:xfrm xmlns:a="http://schemas.openxmlformats.org/drawingml/2006/main">
            <a:off x="1943100" y="4857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Choose</a:t>
            </a:r>
            <a:endParaRPr lang="en-US"/>
          </a:p>
        </p:txBody>
      </p:sp>
      <p:sp>
        <p:nvSpPr>
          <p:cNvPr id="31" name="visual-process-text-2"/>
          <p:cNvSpPr txBox="1"/>
          <p:nvPr/>
        </p:nvSpPr>
        <p:spPr>
          <a:xfrm xmlns:a="http://schemas.openxmlformats.org/drawingml/2006/main">
            <a:off x="3829050" y="488632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Set the condition</a:t>
            </a:r>
            <a:endParaRPr lang="en-US"/>
          </a:p>
        </p:txBody>
      </p:sp>
      <p:sp>
        <p:nvSpPr>
          <p:cNvPr id="32" name="visual-process-node-3"/>
          <p:cNvSpPr/>
          <p:nvPr/>
        </p:nvSpPr>
        <p:spPr>
          <a:xfrm xmlns:a="http://schemas.openxmlformats.org/drawingml/2006/main">
            <a:off x="1257300" y="55816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visual-process-number-3"/>
          <p:cNvSpPr txBox="1"/>
          <p:nvPr/>
        </p:nvSpPr>
        <p:spPr>
          <a:xfrm xmlns:a="http://schemas.openxmlformats.org/drawingml/2006/main">
            <a:off x="1238250" y="5695950"/>
            <a:ext cx="438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900" b="1">
                <a:solidFill>
                  <a:srgbClr val="FFFFFF"/>
                </a:solidFill>
                <a:latin typeface="Inter"/>
                <a:ea typeface="Inter"/>
              </a:rPr>
              <a:t>04</a:t>
            </a:r>
            <a:endParaRPr lang="en-US"/>
          </a:p>
        </p:txBody>
      </p:sp>
      <p:sp>
        <p:nvSpPr>
          <p:cNvPr id="34" name="visual-process-label-3"/>
          <p:cNvSpPr txBox="1"/>
          <p:nvPr/>
        </p:nvSpPr>
        <p:spPr>
          <a:xfrm xmlns:a="http://schemas.openxmlformats.org/drawingml/2006/main">
            <a:off x="1943100" y="56007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Act</a:t>
            </a:r>
            <a:endParaRPr lang="en-US"/>
          </a:p>
        </p:txBody>
      </p:sp>
      <p:sp>
        <p:nvSpPr>
          <p:cNvPr id="35" name="visual-process-text-3"/>
          <p:cNvSpPr txBox="1"/>
          <p:nvPr/>
        </p:nvSpPr>
        <p:spPr>
          <a:xfrm xmlns:a="http://schemas.openxmlformats.org/drawingml/2006/main">
            <a:off x="3829050" y="5629275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Return with proof</a:t>
            </a:r>
            <a:endParaRPr lang="en-US"/>
          </a:p>
        </p:txBody>
      </p:sp>
      <p:sp>
        <p:nvSpPr>
          <p:cNvPr id="36" name="visual-process-rule"/>
          <p:cNvSpPr/>
          <p:nvPr/>
        </p:nvSpPr>
        <p:spPr>
          <a:xfrm xmlns:a="http://schemas.openxmlformats.org/drawingml/2006/main">
            <a:off x="7239000" y="3486150"/>
            <a:ext cx="0" cy="27051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7" name="visual-process-note-label"/>
          <p:cNvSpPr txBox="1"/>
          <p:nvPr/>
        </p:nvSpPr>
        <p:spPr>
          <a:xfrm xmlns:a="http://schemas.openxmlformats.org/drawingml/2006/main">
            <a:off x="8001000" y="35623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PROCESS CARRIER</a:t>
            </a:r>
            <a:endParaRPr lang="en-US"/>
          </a:p>
        </p:txBody>
      </p:sp>
      <p:sp>
        <p:nvSpPr>
          <p:cNvPr id="38" name="visual-process-note-title"/>
          <p:cNvSpPr txBox="1"/>
          <p:nvPr/>
        </p:nvSpPr>
        <p:spPr>
          <a:xfrm xmlns:a="http://schemas.openxmlformats.org/drawingml/2006/main">
            <a:off x="8001000" y="4038600"/>
            <a:ext cx="4381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02B55"/>
                </a:solidFill>
                <a:latin typeface="Inter"/>
                <a:ea typeface="Inter"/>
              </a:rPr>
              <a:t>A relationship earns a line.</a:t>
            </a:r>
            <a:endParaRPr lang="en-US"/>
          </a:p>
        </p:txBody>
      </p:sp>
      <p:sp>
        <p:nvSpPr>
          <p:cNvPr id="39" name="visual-process-note-body"/>
          <p:cNvSpPr txBox="1"/>
          <p:nvPr/>
        </p:nvSpPr>
        <p:spPr>
          <a:xfrm xmlns:a="http://schemas.openxmlformats.org/drawingml/2006/main">
            <a:off x="8001000" y="5048250"/>
            <a:ext cx="4572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8C99AD"/>
                </a:solidFill>
                <a:latin typeface="Inter"/>
                <a:ea typeface="Inter"/>
              </a:rPr>
              <a:t>Use sequence, direction and conditions to make the mechanism visible. If the relationship is not real, remove the arrow.</a:t>
            </a:r>
            <a:endParaRPr lang="en-US"/>
          </a:p>
        </p:txBody>
      </p:sp>
      <p:sp>
        <p:nvSpPr>
          <p:cNvPr id="40" name="visual-note"/>
          <p:cNvSpPr/>
          <p:nvPr/>
        </p:nvSpPr>
        <p:spPr>
          <a:xfrm xmlns:a="http://schemas.openxmlformats.org/drawingml/2006/main">
            <a:off x="11049000" y="3333750"/>
            <a:ext cx="30480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1" name="visual-note-label"/>
          <p:cNvSpPr txBox="1"/>
          <p:nvPr/>
        </p:nvSpPr>
        <p:spPr>
          <a:xfrm xmlns:a="http://schemas.openxmlformats.org/drawingml/2006/main">
            <a:off x="11430000" y="36957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15A6D8"/>
                </a:solidFill>
                <a:latin typeface="Inter"/>
                <a:ea typeface="Inter"/>
              </a:rPr>
              <a:t>CARRIER</a:t>
            </a:r>
            <a:endParaRPr lang="en-US"/>
          </a:p>
        </p:txBody>
      </p:sp>
      <p:sp>
        <p:nvSpPr>
          <p:cNvPr id="42" name="visual-note-text"/>
          <p:cNvSpPr txBox="1"/>
          <p:nvPr/>
        </p:nvSpPr>
        <p:spPr>
          <a:xfrm xmlns:a="http://schemas.openxmlformats.org/drawingml/2006/main">
            <a:off x="11430000" y="4171950"/>
            <a:ext cx="2286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02B55"/>
                </a:solidFill>
                <a:latin typeface="Inter"/>
                <a:ea typeface="Inter"/>
              </a:rPr>
              <a:t>Pattern before caveat</a:t>
            </a:r>
            <a:endParaRPr lang="en-US"/>
          </a:p>
        </p:txBody>
      </p:sp>
      <p:sp>
        <p:nvSpPr>
          <p:cNvPr id="43" name="visual-note-foot"/>
          <p:cNvSpPr txBox="1"/>
          <p:nvPr/>
        </p:nvSpPr>
        <p:spPr>
          <a:xfrm xmlns:a="http://schemas.openxmlformats.org/drawingml/2006/main">
            <a:off x="11430000" y="521970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C99AD"/>
                </a:solidFill>
                <a:latin typeface="Inter"/>
                <a:ea typeface="Inter"/>
              </a:rPr>
              <a:t>Read the mark, unit, and basis.</a:t>
            </a:r>
            <a:endParaRPr lang="en-US"/>
          </a:p>
        </p:txBody>
      </p:sp>
      <p:sp>
        <p:nvSpPr>
          <p:cNvPr id="44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45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8C99AD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26289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B55"/>
          </a:solidFill>
          <a:ln xmlns:a="http://schemas.openxmlformats.org/drawingml/2006/main" w="0">
            <a:solidFill>
              <a:srgbClr val="102B5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26670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FFFFFF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4" name="close-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XIS ATLAS · CLOSE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15A6D8"/>
                </a:solidFill>
                <a:latin typeface="Inter"/>
                <a:ea typeface="Inter"/>
              </a:rPr>
              <a:t>AXIS ATLAS · CLOSE</a:t>
            </a:r>
            <a:endParaRPr lang="en-US"/>
          </a:p>
        </p:txBody>
      </p:sp>
      <p:sp>
        <p:nvSpPr>
          <p:cNvPr id="16" name="close-title"/>
          <p:cNvSpPr txBox="1"/>
          <p:nvPr/>
        </p:nvSpPr>
        <p:spPr>
          <a:xfrm xmlns:a="http://schemas.openxmlformats.org/drawingml/2006/main">
            <a:off x="914400" y="1314450"/>
            <a:ext cx="1181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850" b="1">
                <a:solidFill>
                  <a:srgbClr val="102B55"/>
                </a:solidFill>
                <a:latin typeface="Inter"/>
                <a:ea typeface="Inter"/>
              </a:rPr>
              <a:t>A cleared gate is a decision, not a universal claim</a:t>
            </a:r>
            <a:endParaRPr lang="en-US"/>
          </a:p>
        </p:txBody>
      </p:sp>
      <p:sp>
        <p:nvSpPr>
          <p:cNvPr id="17" name="close-basis"/>
          <p:cNvSpPr txBox="1"/>
          <p:nvPr/>
        </p:nvSpPr>
        <p:spPr>
          <a:xfrm xmlns:a="http://schemas.openxmlformats.org/drawingml/2006/main">
            <a:off x="952500" y="19812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8C99AD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8" name="close-rule"/>
          <p:cNvSpPr/>
          <p:nvPr/>
        </p:nvSpPr>
        <p:spPr>
          <a:xfrm xmlns:a="http://schemas.openxmlformats.org/drawingml/2006/main">
            <a:off x="914400" y="2457450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A6D8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0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Claim</a:t>
            </a:r>
            <a:endParaRPr lang="en-US"/>
          </a:p>
        </p:txBody>
      </p:sp>
      <p:sp>
        <p:nvSpPr>
          <p:cNvPr id="22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mechanism moved the measured outcome.</a:t>
            </a:r>
            <a:endParaRPr lang="en-US"/>
          </a:p>
        </p:txBody>
      </p:sp>
      <p:sp>
        <p:nvSpPr>
          <p:cNvPr id="23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02B55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4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8C99AD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5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Boundary</a:t>
            </a:r>
            <a:endParaRPr lang="en-US"/>
          </a:p>
        </p:txBody>
      </p:sp>
      <p:sp>
        <p:nvSpPr>
          <p:cNvPr id="26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The sample does not establish persistence.</a:t>
            </a:r>
            <a:endParaRPr lang="en-US"/>
          </a:p>
        </p:txBody>
      </p:sp>
      <p:sp>
        <p:nvSpPr>
          <p:cNvPr id="27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5A6D8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8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02B55"/>
                </a:solidFill>
                <a:latin typeface="Inter"/>
                <a:ea typeface="Inter"/>
              </a:rPr>
              <a:t>Next test</a:t>
            </a:r>
            <a:endParaRPr lang="en-US"/>
          </a:p>
        </p:txBody>
      </p:sp>
      <p:sp>
        <p:nvSpPr>
          <p:cNvPr id="30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02B55"/>
                </a:solidFill>
                <a:latin typeface="Inter"/>
                <a:ea typeface="Inter"/>
              </a:rPr>
              <a:t>Replicate across a new region.</a:t>
            </a:r>
            <a:endParaRPr lang="en-US"/>
          </a:p>
        </p:txBody>
      </p:sp>
      <p:sp>
        <p:nvSpPr>
          <p:cNvPr id="31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A6D8"/>
          </a:solidFill>
          <a:ln xmlns:a="http://schemas.openxmlformats.org/drawingml/2006/main" w="0">
            <a:solidFill>
              <a:srgbClr val="15A6D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2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3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Inter"/>
                <a:ea typeface="Inter"/>
              </a:rPr>
              <a:t>Replicate the test</a:t>
            </a:r>
            <a:endParaRPr lang="en-US"/>
          </a:p>
        </p:txBody>
      </p:sp>
      <p:sp>
        <p:nvSpPr>
          <p:cNvPr id="34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5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6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8C99AD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