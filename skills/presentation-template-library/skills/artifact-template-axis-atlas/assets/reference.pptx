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b4e959f72854f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8d8af719fe4f41ec" /><Relationship Type="http://schemas.openxmlformats.org/officeDocument/2006/relationships/chart" Target="/ppt/slides/charts/chart2.xml" Id="R92d06990bd154f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15A6D8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C99AD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F06B4F"/>
            </a:solidFill>
            <a:ln w="38100">
              <a:solidFill>
                <a:srgbClr val="F06B4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ACADEMIC · OFFICEKIT CALIBRATION</a:t>
            </a:r>
            <a:endParaRPr lang="en-US"/>
          </a:p>
        </p:txBody>
      </p:sp>
      <p:sp>
        <p:nvSpPr>
          <p:cNvPr id="1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02B55"/>
                </a:solidFill>
                <a:latin typeface="Inter"/>
                <a:ea typeface="Inter"/>
              </a:rPr>
              <a:t>Axis Atlas: a claim worth testing</a:t>
            </a:r>
            <a:endParaRPr lang="en-US"/>
          </a:p>
        </p:txBody>
      </p:sp>
      <p:sp>
        <p:nvSpPr>
          <p:cNvPr id="1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15A6D8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1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2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02B55"/>
                </a:solidFill>
                <a:latin typeface="Inter"/>
                <a:ea typeface="Inter"/>
              </a:rPr>
              <a:t>A falsifiable claim is a design decision.</a:t>
            </a:r>
            <a:endParaRPr lang="en-US"/>
          </a:p>
        </p:txBody>
      </p:sp>
      <p:sp>
        <p:nvSpPr>
          <p:cNvPr id="2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23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XIS ATLAS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AXIS ATLAS · ARGUMENT</a:t>
            </a:r>
            <a:endParaRPr lang="en-US"/>
          </a:p>
        </p:txBody>
      </p:sp>
      <p:sp>
        <p:nvSpPr>
          <p:cNvPr id="16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02B55"/>
                </a:solidFill>
                <a:latin typeface="Inter"/>
                <a:ea typeface="Inter"/>
              </a:rPr>
              <a:t>The method keeps mechanism separate from drift</a:t>
            </a:r>
            <a:endParaRPr lang="en-US"/>
          </a:p>
        </p:txBody>
      </p:sp>
      <p:sp>
        <p:nvSpPr>
          <p:cNvPr id="17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9AD"/>
                </a:solidFill>
                <a:latin typeface="Inter"/>
                <a:ea typeface="Inter"/>
              </a:rPr>
              <a:t>Question → method → result → limitation, without marketing language.</a:t>
            </a:r>
            <a:endParaRPr lang="en-US"/>
          </a:p>
        </p:txBody>
      </p:sp>
      <p:sp>
        <p:nvSpPr>
          <p:cNvPr id="1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cademic-number-0"/>
          <p:cNvSpPr txBox="1"/>
          <p:nvPr/>
        </p:nvSpPr>
        <p:spPr>
          <a:xfrm xmlns:a="http://schemas.openxmlformats.org/drawingml/2006/main">
            <a:off x="1104900" y="3238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5A6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0" name="academic-rule-0"/>
          <p:cNvSpPr/>
          <p:nvPr/>
        </p:nvSpPr>
        <p:spPr>
          <a:xfrm xmlns:a="http://schemas.openxmlformats.org/drawingml/2006/main">
            <a:off x="2000250" y="3390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cademic-label-0"/>
          <p:cNvSpPr txBox="1"/>
          <p:nvPr/>
        </p:nvSpPr>
        <p:spPr>
          <a:xfrm xmlns:a="http://schemas.openxmlformats.org/drawingml/2006/main">
            <a:off x="2114550" y="3200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Question</a:t>
            </a:r>
            <a:endParaRPr lang="en-US"/>
          </a:p>
        </p:txBody>
      </p:sp>
      <p:sp>
        <p:nvSpPr>
          <p:cNvPr id="22" name="academic-text-0"/>
          <p:cNvSpPr txBox="1"/>
          <p:nvPr/>
        </p:nvSpPr>
        <p:spPr>
          <a:xfrm xmlns:a="http://schemas.openxmlformats.org/drawingml/2006/main">
            <a:off x="4095750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Can the intervention move the outcome?</a:t>
            </a:r>
            <a:endParaRPr lang="en-US"/>
          </a:p>
        </p:txBody>
      </p:sp>
      <p:sp>
        <p:nvSpPr>
          <p:cNvPr id="23" name="academic-number-1"/>
          <p:cNvSpPr txBox="1"/>
          <p:nvPr/>
        </p:nvSpPr>
        <p:spPr>
          <a:xfrm xmlns:a="http://schemas.openxmlformats.org/drawingml/2006/main">
            <a:off x="1104900" y="4191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5A6D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4" name="academic-rule-1"/>
          <p:cNvSpPr/>
          <p:nvPr/>
        </p:nvSpPr>
        <p:spPr>
          <a:xfrm xmlns:a="http://schemas.openxmlformats.org/drawingml/2006/main">
            <a:off x="2000250" y="43434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cademic-label-1"/>
          <p:cNvSpPr txBox="1"/>
          <p:nvPr/>
        </p:nvSpPr>
        <p:spPr>
          <a:xfrm xmlns:a="http://schemas.openxmlformats.org/drawingml/2006/main">
            <a:off x="2114550" y="4152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Method</a:t>
            </a:r>
            <a:endParaRPr lang="en-US"/>
          </a:p>
        </p:txBody>
      </p:sp>
      <p:sp>
        <p:nvSpPr>
          <p:cNvPr id="26" name="academic-text-1"/>
          <p:cNvSpPr txBox="1"/>
          <p:nvPr/>
        </p:nvSpPr>
        <p:spPr>
          <a:xfrm xmlns:a="http://schemas.openxmlformats.org/drawingml/2006/main">
            <a:off x="4095750" y="419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Two groups, one rule, registered before launch.</a:t>
            </a:r>
            <a:endParaRPr lang="en-US"/>
          </a:p>
        </p:txBody>
      </p:sp>
      <p:sp>
        <p:nvSpPr>
          <p:cNvPr id="27" name="academic-number-2"/>
          <p:cNvSpPr txBox="1"/>
          <p:nvPr/>
        </p:nvSpPr>
        <p:spPr>
          <a:xfrm xmlns:a="http://schemas.openxmlformats.org/drawingml/2006/main">
            <a:off x="1104900" y="5143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5A6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8" name="academic-rule-2"/>
          <p:cNvSpPr/>
          <p:nvPr/>
        </p:nvSpPr>
        <p:spPr>
          <a:xfrm xmlns:a="http://schemas.openxmlformats.org/drawingml/2006/main">
            <a:off x="2000250" y="5295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academic-label-2"/>
          <p:cNvSpPr txBox="1"/>
          <p:nvPr/>
        </p:nvSpPr>
        <p:spPr>
          <a:xfrm xmlns:a="http://schemas.openxmlformats.org/drawingml/2006/main">
            <a:off x="2114550" y="510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30" name="academic-text-2"/>
          <p:cNvSpPr txBox="1"/>
          <p:nvPr/>
        </p:nvSpPr>
        <p:spPr>
          <a:xfrm xmlns:a="http://schemas.openxmlformats.org/drawingml/2006/main">
            <a:off x="4095750" y="5143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The result applies to this window and sample.</a:t>
            </a:r>
            <a:endParaRPr lang="en-US"/>
          </a:p>
        </p:txBody>
      </p:sp>
      <p:sp>
        <p:nvSpPr>
          <p:cNvPr id="31" name="method-panel"/>
          <p:cNvSpPr/>
          <p:nvPr/>
        </p:nvSpPr>
        <p:spPr>
          <a:xfrm xmlns:a="http://schemas.openxmlformats.org/drawingml/2006/main">
            <a:off x="10287000" y="323850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method-label"/>
          <p:cNvSpPr txBox="1"/>
          <p:nvPr/>
        </p:nvSpPr>
        <p:spPr>
          <a:xfrm xmlns:a="http://schemas.openxmlformats.org/drawingml/2006/main">
            <a:off x="106680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5A6D8"/>
                </a:solidFill>
                <a:latin typeface="Inter"/>
                <a:ea typeface="Inter"/>
              </a:rPr>
              <a:t>REGISTERED RULE</a:t>
            </a:r>
            <a:endParaRPr lang="en-US"/>
          </a:p>
        </p:txBody>
      </p:sp>
      <p:sp>
        <p:nvSpPr>
          <p:cNvPr id="33" name="method-value"/>
          <p:cNvSpPr txBox="1"/>
          <p:nvPr/>
        </p:nvSpPr>
        <p:spPr>
          <a:xfrm xmlns:a="http://schemas.openxmlformats.org/drawingml/2006/main">
            <a:off x="10668000" y="40481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750" b="1">
                <a:solidFill>
                  <a:srgbClr val="15A6D8"/>
                </a:solidFill>
                <a:latin typeface="Inter"/>
                <a:ea typeface="Inter"/>
              </a:rPr>
              <a:t>≥ 2 pp</a:t>
            </a:r>
            <a:endParaRPr lang="en-US"/>
          </a:p>
        </p:txBody>
      </p:sp>
      <p:sp>
        <p:nvSpPr>
          <p:cNvPr id="34" name="method-foot"/>
          <p:cNvSpPr txBox="1"/>
          <p:nvPr/>
        </p:nvSpPr>
        <p:spPr>
          <a:xfrm xmlns:a="http://schemas.openxmlformats.org/drawingml/2006/main">
            <a:off x="10668000" y="4762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9AD"/>
                </a:solidFill>
                <a:latin typeface="Inter"/>
                <a:ea typeface="Inter"/>
              </a:rPr>
              <a:t>confidence interval excludes zero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XIS ATLAS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AXIS ATLAS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02B55"/>
                </a:solidFill>
                <a:latin typeface="Inter"/>
                <a:ea typeface="Inter"/>
              </a:rPr>
              <a:t>The result clears the rule; uncertainty remains visible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9AD"/>
                </a:solidFill>
                <a:latin typeface="Inter"/>
                <a:ea typeface="Inter"/>
              </a:rPr>
              <a:t>Illustrative measure · mean of 24 observations · 95% CI shown in the read-through.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8af719fe4f41ec"/>
          </a:graphicData>
        </a:graphic>
      </p:graphicFrame>
      <p:graphicFrame>
        <p:nvGraphicFramePr>
          <p:cNvPr id="20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d06990bd154fae"/>
          </a:graphicData>
        </a:graphic>
      </p:graphicFrame>
      <p:sp>
        <p:nvSpPr>
          <p:cNvPr id="21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15A6D8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3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102B55"/>
                </a:solidFill>
                <a:latin typeface="Inter"/>
                <a:ea typeface="Inter"/>
              </a:rPr>
              <a:t>The pattern is bounded by the method.</a:t>
            </a:r>
            <a:endParaRPr lang="en-US"/>
          </a:p>
        </p:txBody>
      </p:sp>
      <p:sp>
        <p:nvSpPr>
          <p:cNvPr id="24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9AD"/>
                </a:solidFill>
                <a:latin typeface="Inter"/>
                <a:ea typeface="Inter"/>
              </a:rPr>
              <a:t>Read the curve, then check the sample and limitation.</a:t>
            </a:r>
            <a:endParaRPr lang="en-US"/>
          </a:p>
        </p:txBody>
      </p:sp>
      <p:sp>
        <p:nvSpPr>
          <p:cNvPr id="25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02B55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7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8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XIS ATLAS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AXIS ATLAS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02B55"/>
                </a:solidFill>
                <a:latin typeface="Inter"/>
                <a:ea typeface="Inter"/>
              </a:rPr>
              <a:t>The table keeps the result honest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9AD"/>
                </a:solidFill>
                <a:latin typeface="Inter"/>
                <a:ea typeface="Inter"/>
              </a:rPr>
              <a:t>Structured comparison · method, window, measure and boundary remain adjacent.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5A6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2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02B55"/>
                </a:solidFill>
                <a:latin typeface="Inter"/>
                <a:ea typeface="Inter"/>
              </a:rPr>
              <a:t>Frame</a:t>
            </a:r>
            <a:endParaRPr lang="en-US"/>
          </a:p>
        </p:txBody>
      </p:sp>
      <p:sp>
        <p:nvSpPr>
          <p:cNvPr id="23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9AD"/>
                </a:solidFill>
                <a:latin typeface="Inter"/>
                <a:ea typeface="Inter"/>
              </a:rPr>
              <a:t>Name the question</a:t>
            </a:r>
            <a:endParaRPr lang="en-US"/>
          </a:p>
        </p:txBody>
      </p:sp>
      <p:sp>
        <p:nvSpPr>
          <p:cNvPr id="24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5A6D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7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02B55"/>
                </a:solidFill>
                <a:latin typeface="Inter"/>
                <a:ea typeface="Inter"/>
              </a:rPr>
              <a:t>Test</a:t>
            </a:r>
            <a:endParaRPr lang="en-US"/>
          </a:p>
        </p:txBody>
      </p:sp>
      <p:sp>
        <p:nvSpPr>
          <p:cNvPr id="28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9AD"/>
                </a:solidFill>
                <a:latin typeface="Inter"/>
                <a:ea typeface="Inter"/>
              </a:rPr>
              <a:t>Hold the rule</a:t>
            </a:r>
            <a:endParaRPr lang="en-US"/>
          </a:p>
        </p:txBody>
      </p:sp>
      <p:sp>
        <p:nvSpPr>
          <p:cNvPr id="29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5A6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32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02B55"/>
                </a:solidFill>
                <a:latin typeface="Inter"/>
                <a:ea typeface="Inter"/>
              </a:rPr>
              <a:t>Read</a:t>
            </a:r>
            <a:endParaRPr lang="en-US"/>
          </a:p>
        </p:txBody>
      </p:sp>
      <p:sp>
        <p:nvSpPr>
          <p:cNvPr id="33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9AD"/>
                </a:solidFill>
                <a:latin typeface="Inter"/>
                <a:ea typeface="Inter"/>
              </a:rPr>
              <a:t>Separate signal</a:t>
            </a:r>
            <a:endParaRPr lang="en-US"/>
          </a:p>
        </p:txBody>
      </p:sp>
      <p:sp>
        <p:nvSpPr>
          <p:cNvPr id="34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5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6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15A6D8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37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02B55"/>
                </a:solidFill>
                <a:latin typeface="Inter"/>
                <a:ea typeface="Inter"/>
              </a:rPr>
              <a:t>Decide</a:t>
            </a:r>
            <a:endParaRPr lang="en-US"/>
          </a:p>
        </p:txBody>
      </p:sp>
      <p:sp>
        <p:nvSpPr>
          <p:cNvPr id="38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9AD"/>
                </a:solidFill>
                <a:latin typeface="Inter"/>
                <a:ea typeface="Inter"/>
              </a:rPr>
              <a:t>Set the next gate</a:t>
            </a:r>
            <a:endParaRPr lang="en-US"/>
          </a:p>
        </p:txBody>
      </p:sp>
      <p:sp>
        <p:nvSpPr>
          <p:cNvPr id="39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5A6D8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40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02B55"/>
                </a:solidFill>
                <a:latin typeface="Inter"/>
                <a:ea typeface="Inter"/>
              </a:rPr>
              <a:t>The sequence is the evidence.</a:t>
            </a:r>
            <a:endParaRPr lang="en-US"/>
          </a:p>
        </p:txBody>
      </p:sp>
      <p:sp>
        <p:nvSpPr>
          <p:cNvPr id="41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42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43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3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XIS ATLAS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AXIS ATLAS · VISUAL CARRIER</a:t>
            </a:r>
            <a:endParaRPr lang="en-US"/>
          </a:p>
        </p:txBody>
      </p:sp>
      <p:sp>
        <p:nvSpPr>
          <p:cNvPr id="16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02B55"/>
                </a:solidFill>
                <a:latin typeface="Inter"/>
                <a:ea typeface="Inter"/>
              </a:rPr>
              <a:t>Evidence has a texture</a:t>
            </a:r>
            <a:endParaRPr lang="en-US"/>
          </a:p>
        </p:txBody>
      </p:sp>
      <p:sp>
        <p:nvSpPr>
          <p:cNvPr id="17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9AD"/>
                </a:solidFill>
                <a:latin typeface="Inter"/>
                <a:ea typeface="Inter"/>
              </a:rPr>
              <a:t>Use a visual carrier when the audience needs to see a pattern before reading the caveat.</a:t>
            </a:r>
            <a:endParaRPr lang="en-US"/>
          </a:p>
        </p:txBody>
      </p:sp>
      <p:sp>
        <p:nvSpPr>
          <p:cNvPr id="18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15A6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2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Observe</a:t>
            </a:r>
            <a:endParaRPr lang="en-US"/>
          </a:p>
        </p:txBody>
      </p:sp>
      <p:sp>
        <p:nvSpPr>
          <p:cNvPr id="23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Find the signal</a:t>
            </a:r>
            <a:endParaRPr lang="en-US"/>
          </a:p>
        </p:txBody>
      </p:sp>
      <p:sp>
        <p:nvSpPr>
          <p:cNvPr id="24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15A6D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6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Explain</a:t>
            </a:r>
            <a:endParaRPr lang="en-US"/>
          </a:p>
        </p:txBody>
      </p:sp>
      <p:sp>
        <p:nvSpPr>
          <p:cNvPr id="27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Name the mechanism</a:t>
            </a:r>
            <a:endParaRPr lang="en-US"/>
          </a:p>
        </p:txBody>
      </p:sp>
      <p:sp>
        <p:nvSpPr>
          <p:cNvPr id="28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15A6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30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Choose</a:t>
            </a:r>
            <a:endParaRPr lang="en-US"/>
          </a:p>
        </p:txBody>
      </p:sp>
      <p:sp>
        <p:nvSpPr>
          <p:cNvPr id="31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Set the condition</a:t>
            </a:r>
            <a:endParaRPr lang="en-US"/>
          </a:p>
        </p:txBody>
      </p:sp>
      <p:sp>
        <p:nvSpPr>
          <p:cNvPr id="32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34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Act</a:t>
            </a:r>
            <a:endParaRPr lang="en-US"/>
          </a:p>
        </p:txBody>
      </p:sp>
      <p:sp>
        <p:nvSpPr>
          <p:cNvPr id="35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Return with proof</a:t>
            </a:r>
            <a:endParaRPr lang="en-US"/>
          </a:p>
        </p:txBody>
      </p:sp>
      <p:sp>
        <p:nvSpPr>
          <p:cNvPr id="36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7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5A6D8"/>
                </a:solidFill>
                <a:latin typeface="Inter"/>
                <a:ea typeface="Inter"/>
              </a:rPr>
              <a:t>PROCESS CARRIER</a:t>
            </a:r>
            <a:endParaRPr lang="en-US"/>
          </a:p>
        </p:txBody>
      </p:sp>
      <p:sp>
        <p:nvSpPr>
          <p:cNvPr id="38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02B55"/>
                </a:solidFill>
                <a:latin typeface="Inter"/>
                <a:ea typeface="Inter"/>
              </a:rPr>
              <a:t>A relationship earns a line.</a:t>
            </a:r>
            <a:endParaRPr lang="en-US"/>
          </a:p>
        </p:txBody>
      </p:sp>
      <p:sp>
        <p:nvSpPr>
          <p:cNvPr id="39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9AD"/>
                </a:solidFill>
                <a:latin typeface="Inter"/>
                <a:ea typeface="Inter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40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1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5A6D8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42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02B55"/>
                </a:solidFill>
                <a:latin typeface="Inter"/>
                <a:ea typeface="Inter"/>
              </a:rPr>
              <a:t>Pattern before caveat</a:t>
            </a:r>
            <a:endParaRPr lang="en-US"/>
          </a:p>
        </p:txBody>
      </p:sp>
      <p:sp>
        <p:nvSpPr>
          <p:cNvPr id="43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9AD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4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4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9AD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55"/>
          </a:solidFill>
          <a:ln xmlns:a="http://schemas.openxmlformats.org/drawingml/2006/main" w="0">
            <a:solidFill>
              <a:srgbClr val="102B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XIS ATLAS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5A6D8"/>
                </a:solidFill>
                <a:latin typeface="Inter"/>
                <a:ea typeface="Inter"/>
              </a:rPr>
              <a:t>AXIS ATLAS · CLOSE</a:t>
            </a:r>
            <a:endParaRPr lang="en-US"/>
          </a:p>
        </p:txBody>
      </p:sp>
      <p:sp>
        <p:nvSpPr>
          <p:cNvPr id="16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02B55"/>
                </a:solidFill>
                <a:latin typeface="Inter"/>
                <a:ea typeface="Inter"/>
              </a:rPr>
              <a:t>A cleared gate is a decision, not a universal claim</a:t>
            </a:r>
            <a:endParaRPr lang="en-US"/>
          </a:p>
        </p:txBody>
      </p:sp>
      <p:sp>
        <p:nvSpPr>
          <p:cNvPr id="17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9AD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1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5A6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Claim</a:t>
            </a:r>
            <a:endParaRPr lang="en-US"/>
          </a:p>
        </p:txBody>
      </p:sp>
      <p:sp>
        <p:nvSpPr>
          <p:cNvPr id="2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The mechanism moved the measured outcome.</a:t>
            </a:r>
            <a:endParaRPr lang="en-US"/>
          </a:p>
        </p:txBody>
      </p:sp>
      <p:sp>
        <p:nvSpPr>
          <p:cNvPr id="2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02B55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9A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2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The sample does not establish persistence.</a:t>
            </a:r>
            <a:endParaRPr lang="en-US"/>
          </a:p>
        </p:txBody>
      </p:sp>
      <p:sp>
        <p:nvSpPr>
          <p:cNvPr id="2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5A6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02B55"/>
                </a:solidFill>
                <a:latin typeface="Inter"/>
                <a:ea typeface="Inter"/>
              </a:rPr>
              <a:t>Next test</a:t>
            </a:r>
            <a:endParaRPr lang="en-US"/>
          </a:p>
        </p:txBody>
      </p:sp>
      <p:sp>
        <p:nvSpPr>
          <p:cNvPr id="3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02B55"/>
                </a:solidFill>
                <a:latin typeface="Inter"/>
                <a:ea typeface="Inter"/>
              </a:rPr>
              <a:t>Replicate across a new region.</a:t>
            </a:r>
            <a:endParaRPr lang="en-US"/>
          </a:p>
        </p:txBody>
      </p:sp>
      <p:sp>
        <p:nvSpPr>
          <p:cNvPr id="3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D8"/>
          </a:solidFill>
          <a:ln xmlns:a="http://schemas.openxmlformats.org/drawingml/2006/main" w="0">
            <a:solidFill>
              <a:srgbClr val="15A6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3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Inter"/>
                <a:ea typeface="Inter"/>
              </a:rPr>
              <a:t>Replicate the test</a:t>
            </a:r>
            <a:endParaRPr lang="en-US"/>
          </a:p>
        </p:txBody>
      </p:sp>
      <p:sp>
        <p:nvSpPr>
          <p:cNvPr id="3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9AD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