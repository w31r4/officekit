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390df0a716f4a4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0b85bfb735d14c7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Units shipped and indexed utilization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Units</c:v>
          </c:tx>
          <c:spPr>
            <a:solidFill>
              <a:srgbClr val="A7A7A7"/>
            </a:solidFill>
          </c:spPr>
          <c:cat>
            <c:strLit>
              <c:ptCount val="8"/>
              <c:pt idx="0">
                <c:v>24Q3</c:v>
              </c:pt>
              <c:pt idx="1">
                <c:v>24Q4</c:v>
              </c:pt>
              <c:pt idx="2">
                <c:v>25Q1</c:v>
              </c:pt>
              <c:pt idx="3">
                <c:v>25Q2</c:v>
              </c:pt>
              <c:pt idx="4">
                <c:v>25Q3</c:v>
              </c:pt>
              <c:pt idx="5">
                <c:v>25Q4</c:v>
              </c:pt>
              <c:pt idx="6">
                <c:v>26Q1</c:v>
              </c:pt>
              <c:pt idx="7">
                <c:v>26Q2</c:v>
              </c:pt>
            </c:strLit>
          </c:cat>
          <c:val>
            <c:numLit>
              <c:formatCode>General</c:formatCode>
              <c:ptCount val="8"/>
              <c:pt idx="0">
                <c:v>69</c:v>
              </c:pt>
              <c:pt idx="1">
                <c:v>64</c:v>
              </c:pt>
              <c:pt idx="2">
                <c:v>61</c:v>
              </c:pt>
              <c:pt idx="3">
                <c:v>58</c:v>
              </c:pt>
              <c:pt idx="4">
                <c:v>55</c:v>
              </c:pt>
              <c:pt idx="5">
                <c:v>50</c:v>
              </c:pt>
              <c:pt idx="6">
                <c:v>47</c:v>
              </c:pt>
              <c:pt idx="7">
                <c:v>43</c:v>
              </c:pt>
            </c:numLit>
          </c:val>
        </c:ser>
        <c:axId val="1"/>
        <c:axId val="2"/>
      </c:barChart>
      <c:lineChart>
        <c:grouping val="standard"/>
        <c:ser>
          <c:idx val="1"/>
          <c:order val="1"/>
          <c:tx>
            <c:v>Utilization</c:v>
          </c:tx>
          <c:spPr>
            <a:solidFill>
              <a:srgbClr val="191A1B"/>
            </a:solidFill>
            <a:ln w="38100">
              <a:solidFill>
                <a:srgbClr val="191A1B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8"/>
              <c:pt idx="0">
                <c:v>24Q3</c:v>
              </c:pt>
              <c:pt idx="1">
                <c:v>24Q4</c:v>
              </c:pt>
              <c:pt idx="2">
                <c:v>25Q1</c:v>
              </c:pt>
              <c:pt idx="3">
                <c:v>25Q2</c:v>
              </c:pt>
              <c:pt idx="4">
                <c:v>25Q3</c:v>
              </c:pt>
              <c:pt idx="5">
                <c:v>25Q4</c:v>
              </c:pt>
              <c:pt idx="6">
                <c:v>26Q1</c:v>
              </c:pt>
              <c:pt idx="7">
                <c:v>26Q2</c:v>
              </c:pt>
            </c:strLit>
          </c:cat>
          <c:val>
            <c:numLit>
              <c:formatCode>General</c:formatCode>
              <c:ptCount val="8"/>
              <c:pt idx="0">
                <c:v>82</c:v>
              </c:pt>
              <c:pt idx="1">
                <c:v>88</c:v>
              </c:pt>
              <c:pt idx="2">
                <c:v>94</c:v>
              </c:pt>
              <c:pt idx="3">
                <c:v>98</c:v>
              </c:pt>
              <c:pt idx="4">
                <c:v>106</c:v>
              </c:pt>
              <c:pt idx="5">
                <c:v>112</c:v>
              </c:pt>
              <c:pt idx="6">
                <c:v>118</c:v>
              </c:pt>
              <c:pt idx="7">
                <c:v>127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proposi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paper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0">
            <a:solidFill>
              <a:srgbClr val="FB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8580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91A1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masthead"/>
          <p:cNvSpPr txBox="1"/>
          <p:nvPr/>
        </p:nvSpPr>
        <p:spPr>
          <a:xfrm xmlns:a="http://schemas.openxmlformats.org/drawingml/2006/main">
            <a:off x="914400" y="8763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E6266"/>
                </a:solidFill>
                <a:latin typeface="Arial"/>
                <a:ea typeface="Arial"/>
              </a:rPr>
              <a:t>NORTHSTAR OPERATING REVIEW · Q2 2026</a:t>
            </a:r>
            <a:endParaRPr lang="en-US"/>
          </a:p>
        </p:txBody>
      </p:sp>
      <p:sp>
        <p:nvSpPr>
          <p:cNvPr id="5" name="date"/>
          <p:cNvSpPr txBox="1"/>
          <p:nvPr/>
        </p:nvSpPr>
        <p:spPr>
          <a:xfrm xmlns:a="http://schemas.openxmlformats.org/drawingml/2006/main">
            <a:off x="11525250" y="8763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125">
                <a:solidFill>
                  <a:srgbClr val="5E6266"/>
                </a:solidFill>
                <a:latin typeface="Arial"/>
                <a:ea typeface="Arial"/>
              </a:rPr>
              <a:t>Published Apr 30, 2026</a:t>
            </a:r>
            <a:endParaRPr lang="en-US"/>
          </a:p>
        </p:txBody>
      </p:sp>
      <p:sp>
        <p:nvSpPr>
          <p:cNvPr id="6" name="gold-line"/>
          <p:cNvSpPr/>
          <p:nvPr/>
        </p:nvSpPr>
        <p:spPr>
          <a:xfrm xmlns:a="http://schemas.openxmlformats.org/drawingml/2006/main">
            <a:off x="914400" y="1619250"/>
            <a:ext cx="552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522"/>
          </a:solidFill>
          <a:ln xmlns:a="http://schemas.openxmlformats.org/drawingml/2006/main" w="0">
            <a:solidFill>
              <a:srgbClr val="C79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itle"/>
          <p:cNvSpPr txBox="1"/>
          <p:nvPr/>
        </p:nvSpPr>
        <p:spPr>
          <a:xfrm xmlns:a="http://schemas.openxmlformats.org/drawingml/2006/main">
            <a:off x="914400" y="1981200"/>
            <a:ext cx="7524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050" b="1">
                <a:solidFill>
                  <a:srgbClr val="191A1B"/>
                </a:solidFill>
                <a:latin typeface="Arial"/>
                <a:ea typeface="Arial"/>
              </a:rPr>
              <a:t>Operating signal, not noise</a:t>
            </a:r>
            <a:endParaRPr lang="en-US"/>
          </a:p>
        </p:txBody>
      </p:sp>
      <p:sp>
        <p:nvSpPr>
          <p:cNvPr id="8" name="cover-subtitle"/>
          <p:cNvSpPr txBox="1"/>
          <p:nvPr/>
        </p:nvSpPr>
        <p:spPr>
          <a:xfrm xmlns:a="http://schemas.openxmlformats.org/drawingml/2006/main">
            <a:off x="952500" y="314325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5E6266"/>
                </a:solidFill>
                <a:latin typeface="Arial"/>
                <a:ea typeface="Arial"/>
              </a:rPr>
              <a:t>A clean-room calibration deck for evidence-led decisions</a:t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14750"/>
            <a:ext cx="619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5E6266"/>
                </a:solidFill>
                <a:latin typeface="Arial"/>
                <a:ea typeface="Arial"/>
              </a:rPr>
              <a:t>Funding, throughput, and concentration read as one operating system.</a:t>
            </a:r>
            <a:endParaRPr lang="en-US"/>
          </a:p>
        </p:txBody>
      </p:sp>
      <p:sp>
        <p:nvSpPr>
          <p:cNvPr id="10" name="metric-one"/>
          <p:cNvSpPr txBox="1"/>
          <p:nvPr/>
        </p:nvSpPr>
        <p:spPr>
          <a:xfrm xmlns:a="http://schemas.openxmlformats.org/drawingml/2006/main">
            <a:off x="952500" y="4905375"/>
            <a:ext cx="161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C79522"/>
                </a:solidFill>
                <a:latin typeface="Arial"/>
                <a:ea typeface="Arial"/>
              </a:rPr>
              <a:t>142.0</a:t>
            </a:r>
            <a:endParaRPr lang="en-US"/>
          </a:p>
        </p:txBody>
      </p:sp>
      <p:sp>
        <p:nvSpPr>
          <p:cNvPr id="11" name="metric-one-caption"/>
          <p:cNvSpPr txBox="1"/>
          <p:nvPr/>
        </p:nvSpPr>
        <p:spPr>
          <a:xfrm xmlns:a="http://schemas.openxmlformats.org/drawingml/2006/main">
            <a:off x="952500" y="54387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5E6266"/>
                </a:solidFill>
                <a:latin typeface="Arial"/>
                <a:ea typeface="Arial"/>
              </a:rPr>
              <a:t>units funded · Q2</a:t>
            </a:r>
            <a:endParaRPr lang="en-US"/>
          </a:p>
        </p:txBody>
      </p:sp>
      <p:sp>
        <p:nvSpPr>
          <p:cNvPr id="12" name="metric-two"/>
          <p:cNvSpPr txBox="1"/>
          <p:nvPr/>
        </p:nvSpPr>
        <p:spPr>
          <a:xfrm xmlns:a="http://schemas.openxmlformats.org/drawingml/2006/main">
            <a:off x="3143250" y="4905375"/>
            <a:ext cx="161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191A1B"/>
                </a:solidFill>
                <a:latin typeface="Arial"/>
                <a:ea typeface="Arial"/>
              </a:rPr>
              <a:t>58</a:t>
            </a:r>
            <a:endParaRPr lang="en-US"/>
          </a:p>
        </p:txBody>
      </p:sp>
      <p:sp>
        <p:nvSpPr>
          <p:cNvPr id="13" name="metric-two-caption"/>
          <p:cNvSpPr txBox="1"/>
          <p:nvPr/>
        </p:nvSpPr>
        <p:spPr>
          <a:xfrm xmlns:a="http://schemas.openxmlformats.org/drawingml/2006/main">
            <a:off x="3143250" y="54387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5E6266"/>
                </a:solidFill>
                <a:latin typeface="Arial"/>
                <a:ea typeface="Arial"/>
              </a:rPr>
              <a:t>active sites · Q2</a:t>
            </a:r>
            <a:endParaRPr lang="en-US"/>
          </a:p>
        </p:txBody>
      </p:sp>
      <p:sp>
        <p:nvSpPr>
          <p:cNvPr id="14" name="metric-three"/>
          <p:cNvSpPr txBox="1"/>
          <p:nvPr/>
        </p:nvSpPr>
        <p:spPr>
          <a:xfrm xmlns:a="http://schemas.openxmlformats.org/drawingml/2006/main">
            <a:off x="5334000" y="4905375"/>
            <a:ext cx="161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191A1B"/>
                </a:solidFill>
                <a:latin typeface="Arial"/>
                <a:ea typeface="Arial"/>
              </a:rPr>
              <a:t>4.1×</a:t>
            </a:r>
            <a:endParaRPr lang="en-US"/>
          </a:p>
        </p:txBody>
      </p:sp>
      <p:sp>
        <p:nvSpPr>
          <p:cNvPr id="15" name="metric-three-caption"/>
          <p:cNvSpPr txBox="1"/>
          <p:nvPr/>
        </p:nvSpPr>
        <p:spPr>
          <a:xfrm xmlns:a="http://schemas.openxmlformats.org/drawingml/2006/main">
            <a:off x="5334000" y="54387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5E6266"/>
                </a:solidFill>
                <a:latin typeface="Arial"/>
                <a:ea typeface="Arial"/>
              </a:rPr>
              <a:t>coverage multiple</a:t>
            </a:r>
            <a:endParaRPr lang="en-US"/>
          </a:p>
        </p:txBody>
      </p:sp>
      <p:sp>
        <p:nvSpPr>
          <p:cNvPr id="16" name="watermark"/>
          <p:cNvSpPr txBox="1"/>
          <p:nvPr/>
        </p:nvSpPr>
        <p:spPr>
          <a:xfrm xmlns:a="http://schemas.openxmlformats.org/drawingml/2006/main">
            <a:off x="10953750" y="1714500"/>
            <a:ext cx="3333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0">
                <a:solidFill>
                  <a:srgbClr val="E7E5DE"/>
                </a:solidFill>
                <a:latin typeface="Arial"/>
                <a:ea typeface="Arial"/>
              </a:rPr>
              <a:t>26</a:t>
            </a:r>
            <a:endParaRPr lang="en-US"/>
          </a:p>
        </p:txBody>
      </p:sp>
      <p:sp>
        <p:nvSpPr>
          <p:cNvPr id="17" name="basis-band"/>
          <p:cNvSpPr/>
          <p:nvPr/>
        </p:nvSpPr>
        <p:spPr>
          <a:xfrm xmlns:a="http://schemas.openxmlformats.org/drawingml/2006/main">
            <a:off x="914400" y="6858000"/>
            <a:ext cx="134112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A1B"/>
          </a:solidFill>
          <a:ln xmlns:a="http://schemas.openxmlformats.org/drawingml/2006/main" w="0">
            <a:solidFill>
              <a:srgbClr val="191A1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basis-band-text"/>
          <p:cNvSpPr txBox="1"/>
          <p:nvPr/>
        </p:nvSpPr>
        <p:spPr>
          <a:xfrm xmlns:a="http://schemas.openxmlformats.org/drawingml/2006/main">
            <a:off x="1143000" y="7048500"/>
            <a:ext cx="1143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BFBF8"/>
                </a:solidFill>
                <a:latin typeface="Arial"/>
                <a:ea typeface="Arial"/>
              </a:rPr>
              <a:t>Illustrative operating ledger · all figures fictional · basis as of 2026-04-30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5E6266"/>
                </a:solidFill>
                <a:latin typeface="Arial"/>
                <a:ea typeface="Arial"/>
              </a:rPr>
              <a:t>1 / 4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Sta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solidFill>
              <a:srgbClr val="1515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7429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79522"/>
                </a:solidFill>
                <a:latin typeface="Arial"/>
                <a:ea typeface="Arial"/>
              </a:rPr>
              <a:t>NORTHSTAR · STANCE</a:t>
            </a:r>
            <a:endParaRPr lang="en-US"/>
          </a:p>
        </p:txBody>
      </p:sp>
      <p:sp>
        <p:nvSpPr>
          <p:cNvPr id="4" name="stance-title"/>
          <p:cNvSpPr txBox="1"/>
          <p:nvPr/>
        </p:nvSpPr>
        <p:spPr>
          <a:xfrm xmlns:a="http://schemas.openxmlformats.org/drawingml/2006/main">
            <a:off x="914400" y="1200150"/>
            <a:ext cx="8858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225" b="1">
                <a:solidFill>
                  <a:srgbClr val="FBFBF8"/>
                </a:solidFill>
                <a:latin typeface="Arial"/>
                <a:ea typeface="Arial"/>
              </a:rPr>
              <a:t>Growth is intact; concentration is the next constraint</a:t>
            </a:r>
            <a:endParaRPr lang="en-US"/>
          </a:p>
        </p:txBody>
      </p:sp>
      <p:sp>
        <p:nvSpPr>
          <p:cNvPr id="5" name="stance-basis"/>
          <p:cNvSpPr txBox="1"/>
          <p:nvPr/>
        </p:nvSpPr>
        <p:spPr>
          <a:xfrm xmlns:a="http://schemas.openxmlformats.org/drawingml/2006/main">
            <a:off x="952500" y="23431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A7A7A7"/>
                </a:solidFill>
                <a:latin typeface="Arial"/>
                <a:ea typeface="Arial"/>
              </a:rPr>
              <a:t>Three observations separate signal from momentum.</a:t>
            </a:r>
            <a:endParaRPr lang="en-US"/>
          </a:p>
        </p:txBody>
      </p:sp>
      <p:sp>
        <p:nvSpPr>
          <p:cNvPr id="6" name="stance-number-0"/>
          <p:cNvSpPr txBox="1"/>
          <p:nvPr/>
        </p:nvSpPr>
        <p:spPr>
          <a:xfrm xmlns:a="http://schemas.openxmlformats.org/drawingml/2006/main">
            <a:off x="1066800" y="33337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>
                <a:solidFill>
                  <a:srgbClr val="E7E5DE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7" name="stance-0"/>
          <p:cNvSpPr txBox="1"/>
          <p:nvPr/>
        </p:nvSpPr>
        <p:spPr>
          <a:xfrm xmlns:a="http://schemas.openxmlformats.org/drawingml/2006/main">
            <a:off x="2095500" y="33337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BFBF8"/>
                </a:solidFill>
                <a:latin typeface="Arial"/>
                <a:ea typeface="Arial"/>
              </a:rPr>
              <a:t>Funding is up, but late-stage deals are fewer.</a:t>
            </a:r>
            <a:endParaRPr lang="en-US"/>
          </a:p>
        </p:txBody>
      </p:sp>
      <p:sp>
        <p:nvSpPr>
          <p:cNvPr id="8" name="stance-detail-0"/>
          <p:cNvSpPr txBox="1"/>
          <p:nvPr/>
        </p:nvSpPr>
        <p:spPr>
          <a:xfrm xmlns:a="http://schemas.openxmlformats.org/drawingml/2006/main">
            <a:off x="2095500" y="373380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A7A7A7"/>
                </a:solidFill>
                <a:latin typeface="Arial"/>
                <a:ea typeface="Arial"/>
              </a:rPr>
              <a:t>142.0 units funded; 58 active sites.</a:t>
            </a:r>
            <a:endParaRPr lang="en-US"/>
          </a:p>
        </p:txBody>
      </p:sp>
      <p:sp>
        <p:nvSpPr>
          <p:cNvPr id="9" name="stance-rule-0"/>
          <p:cNvSpPr/>
          <p:nvPr/>
        </p:nvSpPr>
        <p:spPr>
          <a:xfrm xmlns:a="http://schemas.openxmlformats.org/drawingml/2006/main">
            <a:off x="2095500" y="4171950"/>
            <a:ext cx="790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302F2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stance-number-1"/>
          <p:cNvSpPr txBox="1"/>
          <p:nvPr/>
        </p:nvSpPr>
        <p:spPr>
          <a:xfrm xmlns:a="http://schemas.openxmlformats.org/drawingml/2006/main">
            <a:off x="1066800" y="44577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>
                <a:solidFill>
                  <a:srgbClr val="E7E5DE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1" name="stance-1"/>
          <p:cNvSpPr txBox="1"/>
          <p:nvPr/>
        </p:nvSpPr>
        <p:spPr>
          <a:xfrm xmlns:a="http://schemas.openxmlformats.org/drawingml/2006/main">
            <a:off x="2095500" y="44577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BFBF8"/>
                </a:solidFill>
                <a:latin typeface="Arial"/>
                <a:ea typeface="Arial"/>
              </a:rPr>
              <a:t>Throughput improved without expanding the footprint.</a:t>
            </a:r>
            <a:endParaRPr lang="en-US"/>
          </a:p>
        </p:txBody>
      </p:sp>
      <p:sp>
        <p:nvSpPr>
          <p:cNvPr id="12" name="stance-detail-1"/>
          <p:cNvSpPr txBox="1"/>
          <p:nvPr/>
        </p:nvSpPr>
        <p:spPr>
          <a:xfrm xmlns:a="http://schemas.openxmlformats.org/drawingml/2006/main">
            <a:off x="2095500" y="48577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A7A7A7"/>
                </a:solidFill>
                <a:latin typeface="Arial"/>
                <a:ea typeface="Arial"/>
              </a:rPr>
              <a:t>Output per site is up 18% quarter on quarter.</a:t>
            </a:r>
            <a:endParaRPr lang="en-US"/>
          </a:p>
        </p:txBody>
      </p:sp>
      <p:sp>
        <p:nvSpPr>
          <p:cNvPr id="13" name="stance-rule-1"/>
          <p:cNvSpPr/>
          <p:nvPr/>
        </p:nvSpPr>
        <p:spPr>
          <a:xfrm xmlns:a="http://schemas.openxmlformats.org/drawingml/2006/main">
            <a:off x="2095500" y="5295900"/>
            <a:ext cx="790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302F2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tance-number-2"/>
          <p:cNvSpPr txBox="1"/>
          <p:nvPr/>
        </p:nvSpPr>
        <p:spPr>
          <a:xfrm xmlns:a="http://schemas.openxmlformats.org/drawingml/2006/main">
            <a:off x="1066800" y="55816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>
                <a:solidFill>
                  <a:srgbClr val="E7E5DE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5" name="stance-2"/>
          <p:cNvSpPr txBox="1"/>
          <p:nvPr/>
        </p:nvSpPr>
        <p:spPr>
          <a:xfrm xmlns:a="http://schemas.openxmlformats.org/drawingml/2006/main">
            <a:off x="2095500" y="55816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BFBF8"/>
                </a:solidFill>
                <a:latin typeface="Arial"/>
                <a:ea typeface="Arial"/>
              </a:rPr>
              <a:t>The next decision is concentration, not acceleration.</a:t>
            </a:r>
            <a:endParaRPr lang="en-US"/>
          </a:p>
        </p:txBody>
      </p:sp>
      <p:sp>
        <p:nvSpPr>
          <p:cNvPr id="16" name="stance-detail-2"/>
          <p:cNvSpPr txBox="1"/>
          <p:nvPr/>
        </p:nvSpPr>
        <p:spPr>
          <a:xfrm xmlns:a="http://schemas.openxmlformats.org/drawingml/2006/main">
            <a:off x="2095500" y="598170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A7A7A7"/>
                </a:solidFill>
                <a:latin typeface="Arial"/>
                <a:ea typeface="Arial"/>
              </a:rPr>
              <a:t>Two regions now carry 61% of active volume.</a:t>
            </a:r>
            <a:endParaRPr lang="en-US"/>
          </a:p>
        </p:txBody>
      </p:sp>
      <p:sp>
        <p:nvSpPr>
          <p:cNvPr id="17" name="stance-rule-2"/>
          <p:cNvSpPr/>
          <p:nvPr/>
        </p:nvSpPr>
        <p:spPr>
          <a:xfrm xmlns:a="http://schemas.openxmlformats.org/drawingml/2006/main">
            <a:off x="2095500" y="6419850"/>
            <a:ext cx="790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302F2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kpi-rail"/>
          <p:cNvSpPr/>
          <p:nvPr/>
        </p:nvSpPr>
        <p:spPr>
          <a:xfrm xmlns:a="http://schemas.openxmlformats.org/drawingml/2006/main">
            <a:off x="11144250" y="314325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02F2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rail-label"/>
          <p:cNvSpPr txBox="1"/>
          <p:nvPr/>
        </p:nvSpPr>
        <p:spPr>
          <a:xfrm xmlns:a="http://schemas.openxmlformats.org/drawingml/2006/main">
            <a:off x="11525250" y="3238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A7A7A7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0" name="rail-value-one"/>
          <p:cNvSpPr txBox="1"/>
          <p:nvPr/>
        </p:nvSpPr>
        <p:spPr>
          <a:xfrm xmlns:a="http://schemas.openxmlformats.org/drawingml/2006/main">
            <a:off x="11525250" y="3857625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C79522"/>
                </a:solidFill>
                <a:latin typeface="Arial"/>
                <a:ea typeface="Arial"/>
              </a:rPr>
              <a:t>18%</a:t>
            </a:r>
            <a:endParaRPr lang="en-US"/>
          </a:p>
        </p:txBody>
      </p:sp>
      <p:sp>
        <p:nvSpPr>
          <p:cNvPr id="21" name="rail-caption-one"/>
          <p:cNvSpPr txBox="1"/>
          <p:nvPr/>
        </p:nvSpPr>
        <p:spPr>
          <a:xfrm xmlns:a="http://schemas.openxmlformats.org/drawingml/2006/main">
            <a:off x="11525250" y="4495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A7A7A7"/>
                </a:solidFill>
                <a:latin typeface="Arial"/>
                <a:ea typeface="Arial"/>
              </a:rPr>
              <a:t>output per site</a:t>
            </a:r>
            <a:endParaRPr lang="en-US"/>
          </a:p>
        </p:txBody>
      </p:sp>
      <p:sp>
        <p:nvSpPr>
          <p:cNvPr id="22" name="rail-value-two"/>
          <p:cNvSpPr txBox="1"/>
          <p:nvPr/>
        </p:nvSpPr>
        <p:spPr>
          <a:xfrm xmlns:a="http://schemas.openxmlformats.org/drawingml/2006/main">
            <a:off x="11525250" y="5286375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BFBF8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23" name="rail-caption-two"/>
          <p:cNvSpPr txBox="1"/>
          <p:nvPr/>
        </p:nvSpPr>
        <p:spPr>
          <a:xfrm xmlns:a="http://schemas.openxmlformats.org/drawingml/2006/main">
            <a:off x="11525250" y="59245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A7A7A7"/>
                </a:solidFill>
                <a:latin typeface="Arial"/>
                <a:ea typeface="Arial"/>
              </a:rPr>
              <a:t>volume in two regions</a:t>
            </a:r>
            <a:endParaRPr lang="en-US"/>
          </a:p>
        </p:txBody>
      </p:sp>
      <p:sp>
        <p:nvSpPr>
          <p:cNvPr id="24" name="stance-close"/>
          <p:cNvSpPr txBox="1"/>
          <p:nvPr/>
        </p:nvSpPr>
        <p:spPr>
          <a:xfrm xmlns:a="http://schemas.openxmlformats.org/drawingml/2006/main">
            <a:off x="914400" y="7486650"/>
            <a:ext cx="1123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BFBF8"/>
                </a:solidFill>
                <a:latin typeface="Arial"/>
                <a:ea typeface="Arial"/>
              </a:rPr>
              <a:t>VIEW  ·  Hold the growth thesis; narrow the next bet.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A7A7A7"/>
                </a:solidFill>
                <a:latin typeface="Arial"/>
                <a:ea typeface="Arial"/>
              </a:rPr>
              <a:t>2 / 4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Trend data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paper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0">
            <a:solidFill>
              <a:srgbClr val="FB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8580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91A1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763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E6266"/>
                </a:solidFill>
                <a:latin typeface="Arial"/>
                <a:ea typeface="Arial"/>
              </a:rPr>
              <a:t>OPERATING REVIEW · EIGHT QUARTERS</a:t>
            </a:r>
            <a:endParaRPr lang="en-US"/>
          </a:p>
        </p:txBody>
      </p:sp>
      <p:sp>
        <p:nvSpPr>
          <p:cNvPr id="5" name="trend-title"/>
          <p:cNvSpPr txBox="1"/>
          <p:nvPr/>
        </p:nvSpPr>
        <p:spPr>
          <a:xfrm xmlns:a="http://schemas.openxmlformats.org/drawingml/2006/main">
            <a:off x="914400" y="129540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91A1B"/>
                </a:solidFill>
                <a:latin typeface="Arial"/>
                <a:ea typeface="Arial"/>
              </a:rPr>
              <a:t>Throughput rose while the footprint stayed flat</a:t>
            </a:r>
            <a:endParaRPr lang="en-US"/>
          </a:p>
        </p:txBody>
      </p:sp>
      <p:sp>
        <p:nvSpPr>
          <p:cNvPr id="6" name="trend-basis"/>
          <p:cNvSpPr txBox="1"/>
          <p:nvPr/>
        </p:nvSpPr>
        <p:spPr>
          <a:xfrm xmlns:a="http://schemas.openxmlformats.org/drawingml/2006/main">
            <a:off x="952500" y="19431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5E6266"/>
                </a:solidFill>
                <a:latin typeface="Arial"/>
                <a:ea typeface="Arial"/>
              </a:rPr>
              <a:t>Units shipped are bars; indexed utilization is the line. Labels show period-end values.</a:t>
            </a:r>
            <a:endParaRPr lang="en-US"/>
          </a:p>
        </p:txBody>
      </p:sp>
      <p:sp>
        <p:nvSpPr>
          <p:cNvPr id="7" name="titl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7E5D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throughput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52500" y="2800350"/>
          <a:ext xmlns:a="http://schemas.openxmlformats.org/drawingml/2006/main" cx="866775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b85bfb735d14c7f"/>
          </a:graphicData>
        </a:graphic>
      </p:graphicFrame>
      <p:sp>
        <p:nvSpPr>
          <p:cNvPr id="9" name="chart-callout"/>
          <p:cNvSpPr txBox="1"/>
          <p:nvPr/>
        </p:nvSpPr>
        <p:spPr>
          <a:xfrm xmlns:a="http://schemas.openxmlformats.org/drawingml/2006/main">
            <a:off x="7524750" y="29718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200" b="1">
                <a:solidFill>
                  <a:srgbClr val="C79522"/>
                </a:solidFill>
                <a:latin typeface="Arial"/>
                <a:ea typeface="Arial"/>
              </a:rPr>
              <a:t>127 utilization index</a:t>
            </a:r>
            <a:endParaRPr lang="en-US"/>
          </a:p>
        </p:txBody>
      </p:sp>
      <p:sp>
        <p:nvSpPr>
          <p:cNvPr id="10" name="rail"/>
          <p:cNvSpPr/>
          <p:nvPr/>
        </p:nvSpPr>
        <p:spPr>
          <a:xfrm xmlns:a="http://schemas.openxmlformats.org/drawingml/2006/main">
            <a:off x="10382250" y="2933700"/>
            <a:ext cx="0" cy="3352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7E5D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rail-title"/>
          <p:cNvSpPr txBox="1"/>
          <p:nvPr/>
        </p:nvSpPr>
        <p:spPr>
          <a:xfrm xmlns:a="http://schemas.openxmlformats.org/drawingml/2006/main">
            <a:off x="10858500" y="3048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E6266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2" name="rail-number"/>
          <p:cNvSpPr txBox="1"/>
          <p:nvPr/>
        </p:nvSpPr>
        <p:spPr>
          <a:xfrm xmlns:a="http://schemas.openxmlformats.org/drawingml/2006/main">
            <a:off x="10858500" y="36195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C79522"/>
                </a:solidFill>
                <a:latin typeface="Arial"/>
                <a:ea typeface="Arial"/>
              </a:rPr>
              <a:t>−26</a:t>
            </a:r>
            <a:endParaRPr lang="en-US"/>
          </a:p>
        </p:txBody>
      </p:sp>
      <p:sp>
        <p:nvSpPr>
          <p:cNvPr id="13" name="rail-unit"/>
          <p:cNvSpPr txBox="1"/>
          <p:nvPr/>
        </p:nvSpPr>
        <p:spPr>
          <a:xfrm xmlns:a="http://schemas.openxmlformats.org/drawingml/2006/main">
            <a:off x="10858500" y="4238625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5E6266"/>
                </a:solidFill>
                <a:latin typeface="Arial"/>
                <a:ea typeface="Arial"/>
              </a:rPr>
              <a:t>hours per run</a:t>
            </a:r>
            <a:endParaRPr lang="en-US"/>
          </a:p>
        </p:txBody>
      </p:sp>
      <p:sp>
        <p:nvSpPr>
          <p:cNvPr id="14" name="rail-number-two"/>
          <p:cNvSpPr txBox="1"/>
          <p:nvPr/>
        </p:nvSpPr>
        <p:spPr>
          <a:xfrm xmlns:a="http://schemas.openxmlformats.org/drawingml/2006/main">
            <a:off x="10858500" y="49530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191A1B"/>
                </a:solidFill>
                <a:latin typeface="Arial"/>
                <a:ea typeface="Arial"/>
              </a:rPr>
              <a:t>+27%</a:t>
            </a:r>
            <a:endParaRPr lang="en-US"/>
          </a:p>
        </p:txBody>
      </p:sp>
      <p:sp>
        <p:nvSpPr>
          <p:cNvPr id="15" name="rail-unit-two"/>
          <p:cNvSpPr txBox="1"/>
          <p:nvPr/>
        </p:nvSpPr>
        <p:spPr>
          <a:xfrm xmlns:a="http://schemas.openxmlformats.org/drawingml/2006/main">
            <a:off x="10858500" y="5572125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5E6266"/>
                </a:solidFill>
                <a:latin typeface="Arial"/>
                <a:ea typeface="Arial"/>
              </a:rPr>
              <a:t>protected workload</a:t>
            </a:r>
            <a:endParaRPr lang="en-US"/>
          </a:p>
        </p:txBody>
      </p:sp>
      <p:sp>
        <p:nvSpPr>
          <p:cNvPr id="16" name="verdict"/>
          <p:cNvSpPr/>
          <p:nvPr/>
        </p:nvSpPr>
        <p:spPr>
          <a:xfrm xmlns:a="http://schemas.openxmlformats.org/drawingml/2006/main">
            <a:off x="914400" y="6858000"/>
            <a:ext cx="134112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0ED"/>
          </a:solidFill>
          <a:ln xmlns:a="http://schemas.openxmlformats.org/drawingml/2006/main" w="0">
            <a:solidFill>
              <a:srgbClr val="F0F0E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verdict-text"/>
          <p:cNvSpPr txBox="1"/>
          <p:nvPr/>
        </p:nvSpPr>
        <p:spPr>
          <a:xfrm xmlns:a="http://schemas.openxmlformats.org/drawingml/2006/main">
            <a:off x="1143000" y="7038975"/>
            <a:ext cx="1219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91A1B"/>
                </a:solidFill>
                <a:latin typeface="Arial"/>
                <a:ea typeface="Arial"/>
              </a:rPr>
              <a:t>VIEW  ·  The improvement survives growth; shared dependency concentration now sets the ceiling.</a:t>
            </a:r>
            <a:endParaRPr lang="en-US"/>
          </a:p>
        </p:txBody>
      </p:sp>
      <p:sp>
        <p:nvSpPr>
          <p:cNvPr id="18" name="source"/>
          <p:cNvSpPr txBox="1"/>
          <p:nvPr/>
        </p:nvSpPr>
        <p:spPr>
          <a:xfrm xmlns:a="http://schemas.openxmlformats.org/drawingml/2006/main">
            <a:off x="914400" y="7867650"/>
            <a:ext cx="1047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5E6266"/>
                </a:solidFill>
                <a:latin typeface="Arial"/>
                <a:ea typeface="Arial"/>
              </a:rPr>
              <a:t>Illustrative reliability ledger · source basis: internal operating review · 2024Q3–2026Q2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67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5E6266"/>
                </a:solidFill>
                <a:latin typeface="Arial"/>
                <a:ea typeface="Arial"/>
              </a:rPr>
              <a:t>3 / 4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paper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0">
            <a:solidFill>
              <a:srgbClr val="FB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8580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91A1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E6266"/>
                </a:solidFill>
                <a:latin typeface="Arial"/>
                <a:ea typeface="Arial"/>
              </a:rPr>
              <a:t>DECISION MEMO · NEXT QUARTER</a:t>
            </a:r>
            <a:endParaRPr lang="en-US"/>
          </a:p>
        </p:txBody>
      </p:sp>
      <p:sp>
        <p:nvSpPr>
          <p:cNvPr id="5" name="decision-title"/>
          <p:cNvSpPr txBox="1"/>
          <p:nvPr/>
        </p:nvSpPr>
        <p:spPr>
          <a:xfrm xmlns:a="http://schemas.openxmlformats.org/drawingml/2006/main">
            <a:off x="914400" y="133350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91A1B"/>
                </a:solidFill>
                <a:latin typeface="Arial"/>
                <a:ea typeface="Arial"/>
              </a:rPr>
              <a:t>Approve the narrow bet; keep the ledger open</a:t>
            </a:r>
            <a:endParaRPr lang="en-US"/>
          </a:p>
        </p:txBody>
      </p:sp>
      <p:sp>
        <p:nvSpPr>
          <p:cNvPr id="6" name="decision-basis"/>
          <p:cNvSpPr txBox="1"/>
          <p:nvPr/>
        </p:nvSpPr>
        <p:spPr>
          <a:xfrm xmlns:a="http://schemas.openxmlformats.org/drawingml/2006/main">
            <a:off x="952500" y="19812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5E6266"/>
                </a:solidFill>
                <a:latin typeface="Arial"/>
                <a:ea typeface="Arial"/>
              </a:rPr>
              <a:t>The evidence supports one constrained expansion, not a broad acceleration.</a:t>
            </a:r>
            <a:endParaRPr lang="en-US"/>
          </a:p>
        </p:txBody>
      </p:sp>
      <p:sp>
        <p:nvSpPr>
          <p:cNvPr id="7" name="decision-rule"/>
          <p:cNvSpPr/>
          <p:nvPr/>
        </p:nvSpPr>
        <p:spPr>
          <a:xfrm xmlns:a="http://schemas.openxmlformats.org/drawingml/2006/main">
            <a:off x="914400" y="247650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7E5D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table-title"/>
          <p:cNvSpPr txBox="1"/>
          <p:nvPr/>
        </p:nvSpPr>
        <p:spPr>
          <a:xfrm xmlns:a="http://schemas.openxmlformats.org/drawingml/2006/main">
            <a:off x="952500" y="28575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191A1B"/>
                </a:solidFill>
                <a:latin typeface="Arial"/>
                <a:ea typeface="Arial"/>
              </a:rPr>
              <a:t>Gates for the next allocation</a:t>
            </a:r>
            <a:endParaRPr lang="en-US"/>
          </a:p>
        </p:txBody>
      </p:sp>
      <p:graphicFrame>
        <p:nvGraphicFramePr>
          <p:cNvPr id="9" name="decision-gate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52500" y="3333750"/>
          <a:ext xmlns:a="http://schemas.openxmlformats.org/drawingml/2006/main" cx="8858250" cy="2667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214563"/>
                <a:gridCol w="2214563"/>
                <a:gridCol w="2214562"/>
                <a:gridCol w="2214562"/>
              </a:tblGrid>
              <a:tr h="53340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Gate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Observed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Threshold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Action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Volume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142.0 units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≥ 135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Proceed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Concentration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61% in top two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≤ 65%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Proceed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4.1×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≥ 3.5×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Proceed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8.2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≥ 10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Hold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ask-label"/>
          <p:cNvSpPr txBox="1"/>
          <p:nvPr/>
        </p:nvSpPr>
        <p:spPr>
          <a:xfrm xmlns:a="http://schemas.openxmlformats.org/drawingml/2006/main">
            <a:off x="10858500" y="3048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E6266"/>
                </a:solidFill>
                <a:latin typeface="Arial"/>
                <a:ea typeface="Arial"/>
              </a:rPr>
              <a:t>DECISION ASK</a:t>
            </a:r>
            <a:endParaRPr lang="en-US"/>
          </a:p>
        </p:txBody>
      </p:sp>
      <p:sp>
        <p:nvSpPr>
          <p:cNvPr id="11" name="ask-value"/>
          <p:cNvSpPr txBox="1"/>
          <p:nvPr/>
        </p:nvSpPr>
        <p:spPr>
          <a:xfrm xmlns:a="http://schemas.openxmlformats.org/drawingml/2006/main">
            <a:off x="10858500" y="3524250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C79522"/>
                </a:solidFill>
                <a:latin typeface="Arial"/>
                <a:ea typeface="Arial"/>
              </a:rPr>
              <a:t>One region</a:t>
            </a:r>
            <a:endParaRPr lang="en-US"/>
          </a:p>
        </p:txBody>
      </p:sp>
      <p:sp>
        <p:nvSpPr>
          <p:cNvPr id="12" name="ask-body"/>
          <p:cNvSpPr txBox="1"/>
          <p:nvPr/>
        </p:nvSpPr>
        <p:spPr>
          <a:xfrm xmlns:a="http://schemas.openxmlformats.org/drawingml/2006/main">
            <a:off x="10858500" y="4095750"/>
            <a:ext cx="285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5E6266"/>
                </a:solidFill>
                <a:latin typeface="Arial"/>
                <a:ea typeface="Arial"/>
              </a:rPr>
              <a:t>Release the next tranche only after the cash-buffer gate clears.</a:t>
            </a:r>
            <a:endParaRPr lang="en-US"/>
          </a:p>
        </p:txBody>
      </p:sp>
      <p:sp>
        <p:nvSpPr>
          <p:cNvPr id="13" name="ask-rule"/>
          <p:cNvSpPr/>
          <p:nvPr/>
        </p:nvSpPr>
        <p:spPr>
          <a:xfrm xmlns:a="http://schemas.openxmlformats.org/drawingml/2006/main">
            <a:off x="10858500" y="51435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7E5D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sk-next"/>
          <p:cNvSpPr txBox="1"/>
          <p:nvPr/>
        </p:nvSpPr>
        <p:spPr>
          <a:xfrm xmlns:a="http://schemas.openxmlformats.org/drawingml/2006/main">
            <a:off x="10858500" y="54292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5E6266"/>
                </a:solidFill>
                <a:latin typeface="Arial"/>
                <a:ea typeface="Arial"/>
              </a:rPr>
              <a:t>Owner  ·  Operations finance</a:t>
            </a:r>
            <a:endParaRPr lang="en-US"/>
          </a:p>
        </p:txBody>
      </p:sp>
      <p:sp>
        <p:nvSpPr>
          <p:cNvPr id="15" name="ask-next-two"/>
          <p:cNvSpPr txBox="1"/>
          <p:nvPr/>
        </p:nvSpPr>
        <p:spPr>
          <a:xfrm xmlns:a="http://schemas.openxmlformats.org/drawingml/2006/main">
            <a:off x="10858500" y="58102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5E6266"/>
                </a:solidFill>
                <a:latin typeface="Arial"/>
                <a:ea typeface="Arial"/>
              </a:rPr>
              <a:t>Review  ·  2026-05-15</a:t>
            </a:r>
            <a:endParaRPr lang="en-US"/>
          </a:p>
        </p:txBody>
      </p:sp>
      <p:sp>
        <p:nvSpPr>
          <p:cNvPr id="16" name="close-band"/>
          <p:cNvSpPr/>
          <p:nvPr/>
        </p:nvSpPr>
        <p:spPr>
          <a:xfrm xmlns:a="http://schemas.openxmlformats.org/drawingml/2006/main">
            <a:off x="914400" y="6858000"/>
            <a:ext cx="134112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A1B"/>
          </a:solidFill>
          <a:ln xmlns:a="http://schemas.openxmlformats.org/drawingml/2006/main" w="0">
            <a:solidFill>
              <a:srgbClr val="191A1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close-text"/>
          <p:cNvSpPr txBox="1"/>
          <p:nvPr/>
        </p:nvSpPr>
        <p:spPr>
          <a:xfrm xmlns:a="http://schemas.openxmlformats.org/drawingml/2006/main">
            <a:off x="1143000" y="7038975"/>
            <a:ext cx="1219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BFBF8"/>
                </a:solidFill>
                <a:latin typeface="Arial"/>
                <a:ea typeface="Arial"/>
              </a:rPr>
              <a:t>STANCE  ·  Fund the proven constraint, then measure the next one.</a:t>
            </a:r>
            <a:endParaRPr lang="en-US"/>
          </a:p>
        </p:txBody>
      </p:sp>
      <p:sp>
        <p:nvSpPr>
          <p:cNvPr id="18" name="source"/>
          <p:cNvSpPr txBox="1"/>
          <p:nvPr/>
        </p:nvSpPr>
        <p:spPr>
          <a:xfrm xmlns:a="http://schemas.openxmlformats.org/drawingml/2006/main">
            <a:off x="914400" y="7867650"/>
            <a:ext cx="1047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5E6266"/>
                </a:solidFill>
                <a:latin typeface="Arial"/>
                <a:ea typeface="Arial"/>
              </a:rPr>
              <a:t>Illustrative operating ledger · values are fictional and for calibration only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67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5E6266"/>
                </a:solidFill>
                <a:latin typeface="Arial"/>
                <a:ea typeface="Arial"/>
              </a:rPr>
              <a:t>4 / 4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