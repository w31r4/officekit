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ece4f25d99b4e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1.xml" Id="Rebfbbc01a5234d60" /><Relationship Type="http://schemas.openxmlformats.org/officeDocument/2006/relationships/chart" Target="/ppt/slides/charts/chart2.xml" Id="Rdaf1181cd1454c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Observed signal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Observed</c:v>
          </c:tx>
          <c:spPr>
            <a:solidFill>
              <a:srgbClr val="C79522"/>
            </a:solidFill>
          </c:spPr>
          <c:cat>
            <c:strLit>
              <c:ptCount val="6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  <c:pt idx="4">
                <c:v>E</c:v>
              </c:pt>
              <c:pt idx="5">
                <c:v>F</c:v>
              </c:pt>
            </c:strLit>
          </c:cat>
          <c:val>
            <c:numLit>
              <c:formatCode>General</c:formatCode>
              <c:ptCount val="6"/>
              <c:pt idx="0">
                <c:v>38</c:v>
              </c:pt>
              <c:pt idx="1">
                <c:v>46</c:v>
              </c:pt>
              <c:pt idx="2">
                <c:v>43</c:v>
              </c:pt>
              <c:pt idx="3">
                <c:v>58</c:v>
              </c:pt>
              <c:pt idx="4">
                <c:v>68</c:v>
              </c:pt>
              <c:pt idx="5">
                <c:v>74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charts/chart2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Context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v>Context</c:v>
          </c:tx>
          <c:spPr>
            <a:solidFill>
              <a:srgbClr val="5E6266"/>
            </a:solidFill>
            <a:ln w="38100">
              <a:solidFill>
                <a:srgbClr val="5E6266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  <c:pt idx="4">
                <c:v>E</c:v>
              </c:pt>
              <c:pt idx="5">
                <c:v>F</c:v>
              </c:pt>
            </c:strLit>
          </c:cat>
          <c:val>
            <c:numLit>
              <c:formatCode>General</c:formatCode>
              <c:ptCount val="6"/>
              <c:pt idx="0">
                <c:v>34</c:v>
              </c:pt>
              <c:pt idx="1">
                <c:v>39</c:v>
              </c:pt>
              <c:pt idx="2">
                <c:v>41</c:v>
              </c:pt>
              <c:pt idx="3">
                <c:v>45</c:v>
              </c:pt>
              <c:pt idx="4">
                <c:v>49</c:v>
              </c:pt>
              <c:pt idx="5">
                <c:v>52</c:v>
              </c:pt>
            </c:numLit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slide1.xml><?xml version="1.0" encoding="utf-8"?>
<p:sld xmlns:p="http://schemas.openxmlformats.org/presentationml/2006/main">
  <p:cSld name="Opening proposi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dark-fiel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B"/>
          </a:solidFill>
          <a:ln xmlns:a="http://schemas.openxmlformats.org/drawingml/2006/main" w="0">
            <a:solidFill>
              <a:srgbClr val="191A1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cover-evidence-field"/>
          <p:cNvSpPr/>
          <p:nvPr/>
        </p:nvSpPr>
        <p:spPr>
          <a:xfrm xmlns:a="http://schemas.openxmlformats.org/drawingml/2006/main">
            <a:off x="8667750" y="0"/>
            <a:ext cx="657225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>
              <a:alpha val="12000"/>
            </a:srgbClr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over-gold-line"/>
          <p:cNvSpPr/>
          <p:nvPr/>
        </p:nvSpPr>
        <p:spPr>
          <a:xfrm xmlns:a="http://schemas.openxmlformats.org/drawingml/2006/main">
            <a:off x="914400" y="15621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0">
            <a:solidFill>
              <a:srgbClr val="C7952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eyebrow"/>
          <p:cNvSpPr txBox="1"/>
          <p:nvPr/>
        </p:nvSpPr>
        <p:spPr>
          <a:xfrm xmlns:a="http://schemas.openxmlformats.org/drawingml/2006/main">
            <a:off x="914400" y="8572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C79522"/>
                </a:solidFill>
                <a:latin typeface="Inter"/>
                <a:ea typeface="Inter"/>
              </a:rPr>
              <a:t>FINANCE · OFFICEKIT CALIBRATION</a:t>
            </a:r>
            <a:endParaRPr lang="en-US"/>
          </a:p>
        </p:txBody>
      </p:sp>
      <p:sp>
        <p:nvSpPr>
          <p:cNvPr id="6" name="cover-date"/>
          <p:cNvSpPr txBox="1"/>
          <p:nvPr/>
        </p:nvSpPr>
        <p:spPr>
          <a:xfrm xmlns:a="http://schemas.openxmlformats.org/drawingml/2006/main">
            <a:off x="11239500" y="876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125">
                <a:solidFill>
                  <a:srgbClr val="8F8F8E"/>
                </a:solidFill>
                <a:latin typeface="Inter"/>
                <a:ea typeface="Inter"/>
              </a:rPr>
              <a:t>RESEARCH NOTE · 2026</a:t>
            </a:r>
            <a:endParaRPr lang="en-US"/>
          </a:p>
        </p:txBody>
      </p:sp>
      <p:sp>
        <p:nvSpPr>
          <p:cNvPr id="7" name="cover-title"/>
          <p:cNvSpPr txBox="1"/>
          <p:nvPr/>
        </p:nvSpPr>
        <p:spPr>
          <a:xfrm xmlns:a="http://schemas.openxmlformats.org/drawingml/2006/main">
            <a:off x="914400" y="1981200"/>
            <a:ext cx="723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900" b="1">
                <a:solidFill>
                  <a:srgbClr val="FBFBF8"/>
                </a:solidFill>
                <a:latin typeface="Inter"/>
                <a:ea typeface="Inter"/>
              </a:rPr>
              <a:t>Gilt Market Ledger: a claim worth testing</a:t>
            </a:r>
            <a:endParaRPr lang="en-US"/>
          </a:p>
        </p:txBody>
      </p:sp>
      <p:sp>
        <p:nvSpPr>
          <p:cNvPr id="8" name="cover-subtitle"/>
          <p:cNvSpPr txBox="1"/>
          <p:nvPr/>
        </p:nvSpPr>
        <p:spPr>
          <a:xfrm xmlns:a="http://schemas.openxmlformats.org/drawingml/2006/main">
            <a:off x="952500" y="34099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75">
                <a:solidFill>
                  <a:srgbClr val="8F8F8E"/>
                </a:solidFill>
                <a:latin typeface="Inter"/>
                <a:ea typeface="Inter"/>
              </a:rPr>
              <a:t>A clean-room reference for bounded financial decisions.</a:t>
            </a:r>
            <a:endParaRPr lang="en-US"/>
          </a:p>
        </p:txBody>
      </p:sp>
      <p:sp>
        <p:nvSpPr>
          <p:cNvPr id="9" name="cover-thesis"/>
          <p:cNvSpPr txBox="1"/>
          <p:nvPr/>
        </p:nvSpPr>
        <p:spPr>
          <a:xfrm xmlns:a="http://schemas.openxmlformats.org/drawingml/2006/main">
            <a:off x="952500" y="41148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BFBF8"/>
                </a:solidFill>
                <a:latin typeface="Inter"/>
                <a:ea typeface="Inter"/>
              </a:rPr>
              <a:t>A ledger turns evidence into a bounded stance.</a:t>
            </a:r>
            <a:endParaRPr lang="en-US"/>
          </a:p>
        </p:txBody>
      </p:sp>
      <p:sp>
        <p:nvSpPr>
          <p:cNvPr id="10" name="cover-metric-one"/>
          <p:cNvSpPr txBox="1"/>
          <p:nvPr/>
        </p:nvSpPr>
        <p:spPr>
          <a:xfrm xmlns:a="http://schemas.openxmlformats.org/drawingml/2006/main">
            <a:off x="952500" y="56197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700" b="1">
                <a:solidFill>
                  <a:srgbClr val="C79522"/>
                </a:solidFill>
                <a:latin typeface="Inter"/>
                <a:ea typeface="Inter"/>
              </a:rPr>
              <a:t>142.0</a:t>
            </a:r>
            <a:endParaRPr lang="en-US"/>
          </a:p>
        </p:txBody>
      </p:sp>
      <p:sp>
        <p:nvSpPr>
          <p:cNvPr id="11" name="cover-metric-one-caption"/>
          <p:cNvSpPr txBox="1"/>
          <p:nvPr/>
        </p:nvSpPr>
        <p:spPr>
          <a:xfrm xmlns:a="http://schemas.openxmlformats.org/drawingml/2006/main">
            <a:off x="952500" y="615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A7A7A7"/>
                </a:solidFill>
                <a:latin typeface="Inter"/>
                <a:ea typeface="Inter"/>
              </a:rPr>
              <a:t>units funded · Q2</a:t>
            </a:r>
            <a:endParaRPr lang="en-US"/>
          </a:p>
        </p:txBody>
      </p:sp>
      <p:sp>
        <p:nvSpPr>
          <p:cNvPr id="12" name="cover-metric-two"/>
          <p:cNvSpPr txBox="1"/>
          <p:nvPr/>
        </p:nvSpPr>
        <p:spPr>
          <a:xfrm xmlns:a="http://schemas.openxmlformats.org/drawingml/2006/main">
            <a:off x="3238500" y="56197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700" b="1">
                <a:solidFill>
                  <a:srgbClr val="FBFBF8"/>
                </a:solidFill>
                <a:latin typeface="Inter"/>
                <a:ea typeface="Inter"/>
              </a:rPr>
              <a:t>4.1×</a:t>
            </a:r>
            <a:endParaRPr lang="en-US"/>
          </a:p>
        </p:txBody>
      </p:sp>
      <p:sp>
        <p:nvSpPr>
          <p:cNvPr id="13" name="cover-metric-two-caption"/>
          <p:cNvSpPr txBox="1"/>
          <p:nvPr/>
        </p:nvSpPr>
        <p:spPr>
          <a:xfrm xmlns:a="http://schemas.openxmlformats.org/drawingml/2006/main">
            <a:off x="3238500" y="615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A7A7A7"/>
                </a:solidFill>
                <a:latin typeface="Inter"/>
                <a:ea typeface="Inter"/>
              </a:rPr>
              <a:t>coverage · month end</a:t>
            </a:r>
            <a:endParaRPr lang="en-US"/>
          </a:p>
        </p:txBody>
      </p:sp>
      <p:sp>
        <p:nvSpPr>
          <p:cNvPr id="14" name="cover-metric-three"/>
          <p:cNvSpPr txBox="1"/>
          <p:nvPr/>
        </p:nvSpPr>
        <p:spPr>
          <a:xfrm xmlns:a="http://schemas.openxmlformats.org/drawingml/2006/main">
            <a:off x="5524500" y="56197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700" b="1">
                <a:solidFill>
                  <a:srgbClr val="FBFBF8"/>
                </a:solidFill>
                <a:latin typeface="Inter"/>
                <a:ea typeface="Inter"/>
              </a:rPr>
              <a:t>61%</a:t>
            </a:r>
            <a:endParaRPr lang="en-US"/>
          </a:p>
        </p:txBody>
      </p:sp>
      <p:sp>
        <p:nvSpPr>
          <p:cNvPr id="15" name="cover-metric-three-caption"/>
          <p:cNvSpPr txBox="1"/>
          <p:nvPr/>
        </p:nvSpPr>
        <p:spPr>
          <a:xfrm xmlns:a="http://schemas.openxmlformats.org/drawingml/2006/main">
            <a:off x="5524500" y="615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A7A7A7"/>
                </a:solidFill>
                <a:latin typeface="Inter"/>
                <a:ea typeface="Inter"/>
              </a:rPr>
              <a:t>top two regions</a:t>
            </a:r>
            <a:endParaRPr lang="en-US"/>
          </a:p>
        </p:txBody>
      </p:sp>
      <p:sp>
        <p:nvSpPr>
          <p:cNvPr id="16" name="cover-watermark"/>
          <p:cNvSpPr txBox="1"/>
          <p:nvPr/>
        </p:nvSpPr>
        <p:spPr>
          <a:xfrm xmlns:a="http://schemas.openxmlformats.org/drawingml/2006/main">
            <a:off x="10572750" y="1809750"/>
            <a:ext cx="323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050">
                <a:solidFill>
                  <a:srgbClr val="8F8F8E"/>
                </a:solidFill>
                <a:latin typeface="Inter"/>
                <a:ea typeface="Inter"/>
              </a:rPr>
              <a:t>26</a:t>
            </a:r>
            <a:endParaRPr lang="en-US"/>
          </a:p>
        </p:txBody>
      </p:sp>
      <p:sp>
        <p:nvSpPr>
          <p:cNvPr id="17" name="basis-band"/>
          <p:cNvSpPr/>
          <p:nvPr/>
        </p:nvSpPr>
        <p:spPr>
          <a:xfrm xmlns:a="http://schemas.openxmlformats.org/drawingml/2006/main">
            <a:off x="914400" y="7086600"/>
            <a:ext cx="13411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8">
              <a:alpha val="10000"/>
            </a:srgbClr>
          </a:solidFill>
          <a:ln xmlns:a="http://schemas.openxmlformats.org/drawingml/2006/main" w="0">
            <a:solidFill>
              <a:srgbClr val="FBFB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basis-band-text"/>
          <p:cNvSpPr txBox="1"/>
          <p:nvPr/>
        </p:nvSpPr>
        <p:spPr>
          <a:xfrm xmlns:a="http://schemas.openxmlformats.org/drawingml/2006/main">
            <a:off x="1143000" y="7239000"/>
            <a:ext cx="1190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F8F8E"/>
                </a:solidFill>
                <a:latin typeface="Inter"/>
                <a:ea typeface="Inter"/>
              </a:rPr>
              <a:t>Illustrative ledger · values fictional · read the unit, period, and decision threshold</a:t>
            </a:r>
            <a:endParaRPr lang="en-US"/>
          </a:p>
        </p:txBody>
      </p:sp>
      <p:sp>
        <p:nvSpPr>
          <p:cNvPr id="19" name="page-number"/>
          <p:cNvSpPr txBox="1"/>
          <p:nvPr/>
        </p:nvSpPr>
        <p:spPr>
          <a:xfrm xmlns:a="http://schemas.openxmlformats.org/drawingml/2006/main">
            <a:off x="13335000" y="7886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F8F8E"/>
                </a:solidFill>
                <a:latin typeface="Inter"/>
                <a:ea typeface="Inter"/>
              </a:rPr>
              <a:t>1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dark-fiel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B"/>
          </a:solidFill>
          <a:ln xmlns:a="http://schemas.openxmlformats.org/drawingml/2006/main" w="0">
            <a:solidFill>
              <a:srgbClr val="191A1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yebrow"/>
          <p:cNvSpPr txBox="1"/>
          <p:nvPr/>
        </p:nvSpPr>
        <p:spPr>
          <a:xfrm xmlns:a="http://schemas.openxmlformats.org/drawingml/2006/main">
            <a:off x="914400" y="781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C79522"/>
                </a:solidFill>
                <a:latin typeface="Inter"/>
                <a:ea typeface="Inter"/>
              </a:rPr>
              <a:t>FINANCE · STANCE</a:t>
            </a:r>
            <a:endParaRPr lang="en-US"/>
          </a:p>
        </p:txBody>
      </p:sp>
      <p:sp>
        <p:nvSpPr>
          <p:cNvPr id="4" name="argument-title"/>
          <p:cNvSpPr txBox="1"/>
          <p:nvPr/>
        </p:nvSpPr>
        <p:spPr>
          <a:xfrm xmlns:a="http://schemas.openxmlformats.org/drawingml/2006/main">
            <a:off x="914400" y="1257300"/>
            <a:ext cx="857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150" b="1">
                <a:solidFill>
                  <a:srgbClr val="FBFBF8"/>
                </a:solidFill>
                <a:latin typeface="Inter"/>
                <a:ea typeface="Inter"/>
              </a:rPr>
              <a:t>The ledger supports a narrow allocation, not a broad acceleration</a:t>
            </a:r>
            <a:endParaRPr lang="en-US"/>
          </a:p>
        </p:txBody>
      </p:sp>
      <p:sp>
        <p:nvSpPr>
          <p:cNvPr id="5" name="argument-basis"/>
          <p:cNvSpPr txBox="1"/>
          <p:nvPr/>
        </p:nvSpPr>
        <p:spPr>
          <a:xfrm xmlns:a="http://schemas.openxmlformats.org/drawingml/2006/main">
            <a:off x="952500" y="2571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F8F8E"/>
                </a:solidFill>
                <a:latin typeface="Inter"/>
                <a:ea typeface="Inter"/>
              </a:rPr>
              <a:t>Three observations separate the signal from the momentum.</a:t>
            </a:r>
            <a:endParaRPr lang="en-US"/>
          </a:p>
        </p:txBody>
      </p:sp>
      <p:sp>
        <p:nvSpPr>
          <p:cNvPr id="6" name="stance-number-0"/>
          <p:cNvSpPr txBox="1"/>
          <p:nvPr/>
        </p:nvSpPr>
        <p:spPr>
          <a:xfrm xmlns:a="http://schemas.openxmlformats.org/drawingml/2006/main">
            <a:off x="1066800" y="35052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400">
                <a:solidFill>
                  <a:srgbClr val="8F8F8E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7" name="stance-0"/>
          <p:cNvSpPr txBox="1"/>
          <p:nvPr/>
        </p:nvSpPr>
        <p:spPr>
          <a:xfrm xmlns:a="http://schemas.openxmlformats.org/drawingml/2006/main">
            <a:off x="2095500" y="35052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 b="1">
                <a:solidFill>
                  <a:srgbClr val="FBFBF8"/>
                </a:solidFill>
                <a:latin typeface="Inter"/>
                <a:ea typeface="Inter"/>
              </a:rPr>
              <a:t>Funding is up, but late-stage deals are fewer.</a:t>
            </a:r>
            <a:endParaRPr lang="en-US"/>
          </a:p>
        </p:txBody>
      </p:sp>
      <p:sp>
        <p:nvSpPr>
          <p:cNvPr id="8" name="stance-detail-0"/>
          <p:cNvSpPr txBox="1"/>
          <p:nvPr/>
        </p:nvSpPr>
        <p:spPr>
          <a:xfrm xmlns:a="http://schemas.openxmlformats.org/drawingml/2006/main">
            <a:off x="2095500" y="392430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F8F8E"/>
                </a:solidFill>
                <a:latin typeface="Inter"/>
                <a:ea typeface="Inter"/>
              </a:rPr>
              <a:t>142.0 units funded; 58 active sites.</a:t>
            </a:r>
            <a:endParaRPr lang="en-US"/>
          </a:p>
        </p:txBody>
      </p:sp>
      <p:sp>
        <p:nvSpPr>
          <p:cNvPr id="9" name="stance-rule-0"/>
          <p:cNvSpPr/>
          <p:nvPr/>
        </p:nvSpPr>
        <p:spPr>
          <a:xfrm xmlns:a="http://schemas.openxmlformats.org/drawingml/2006/main">
            <a:off x="2095500" y="43434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F8F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stance-number-1"/>
          <p:cNvSpPr txBox="1"/>
          <p:nvPr/>
        </p:nvSpPr>
        <p:spPr>
          <a:xfrm xmlns:a="http://schemas.openxmlformats.org/drawingml/2006/main">
            <a:off x="1066800" y="46291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400">
                <a:solidFill>
                  <a:srgbClr val="8F8F8E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11" name="stance-1"/>
          <p:cNvSpPr txBox="1"/>
          <p:nvPr/>
        </p:nvSpPr>
        <p:spPr>
          <a:xfrm xmlns:a="http://schemas.openxmlformats.org/drawingml/2006/main">
            <a:off x="2095500" y="462915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 b="1">
                <a:solidFill>
                  <a:srgbClr val="FBFBF8"/>
                </a:solidFill>
                <a:latin typeface="Inter"/>
                <a:ea typeface="Inter"/>
              </a:rPr>
              <a:t>Throughput improved without expanding the footprint.</a:t>
            </a:r>
            <a:endParaRPr lang="en-US"/>
          </a:p>
        </p:txBody>
      </p:sp>
      <p:sp>
        <p:nvSpPr>
          <p:cNvPr id="12" name="stance-detail-1"/>
          <p:cNvSpPr txBox="1"/>
          <p:nvPr/>
        </p:nvSpPr>
        <p:spPr>
          <a:xfrm xmlns:a="http://schemas.openxmlformats.org/drawingml/2006/main">
            <a:off x="2095500" y="504825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F8F8E"/>
                </a:solidFill>
                <a:latin typeface="Inter"/>
                <a:ea typeface="Inter"/>
              </a:rPr>
              <a:t>Output per site is up 18% quarter on quarter.</a:t>
            </a:r>
            <a:endParaRPr lang="en-US"/>
          </a:p>
        </p:txBody>
      </p:sp>
      <p:sp>
        <p:nvSpPr>
          <p:cNvPr id="13" name="stance-rule-1"/>
          <p:cNvSpPr/>
          <p:nvPr/>
        </p:nvSpPr>
        <p:spPr>
          <a:xfrm xmlns:a="http://schemas.openxmlformats.org/drawingml/2006/main">
            <a:off x="2095500" y="546735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F8F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stance-number-2"/>
          <p:cNvSpPr txBox="1"/>
          <p:nvPr/>
        </p:nvSpPr>
        <p:spPr>
          <a:xfrm xmlns:a="http://schemas.openxmlformats.org/drawingml/2006/main">
            <a:off x="1066800" y="57531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400">
                <a:solidFill>
                  <a:srgbClr val="8F8F8E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15" name="stance-2"/>
          <p:cNvSpPr txBox="1"/>
          <p:nvPr/>
        </p:nvSpPr>
        <p:spPr>
          <a:xfrm xmlns:a="http://schemas.openxmlformats.org/drawingml/2006/main">
            <a:off x="2095500" y="57531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 b="1">
                <a:solidFill>
                  <a:srgbClr val="FBFBF8"/>
                </a:solidFill>
                <a:latin typeface="Inter"/>
                <a:ea typeface="Inter"/>
              </a:rPr>
              <a:t>The next decision is concentration, not acceleration.</a:t>
            </a:r>
            <a:endParaRPr lang="en-US"/>
          </a:p>
        </p:txBody>
      </p:sp>
      <p:sp>
        <p:nvSpPr>
          <p:cNvPr id="16" name="stance-detail-2"/>
          <p:cNvSpPr txBox="1"/>
          <p:nvPr/>
        </p:nvSpPr>
        <p:spPr>
          <a:xfrm xmlns:a="http://schemas.openxmlformats.org/drawingml/2006/main">
            <a:off x="2095500" y="617220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F8F8E"/>
                </a:solidFill>
                <a:latin typeface="Inter"/>
                <a:ea typeface="Inter"/>
              </a:rPr>
              <a:t>Two regions now carry 61% of active volume.</a:t>
            </a:r>
            <a:endParaRPr lang="en-US"/>
          </a:p>
        </p:txBody>
      </p:sp>
      <p:sp>
        <p:nvSpPr>
          <p:cNvPr id="17" name="stance-rule-2"/>
          <p:cNvSpPr/>
          <p:nvPr/>
        </p:nvSpPr>
        <p:spPr>
          <a:xfrm xmlns:a="http://schemas.openxmlformats.org/drawingml/2006/main">
            <a:off x="2095500" y="65913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F8F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stance-rail"/>
          <p:cNvSpPr/>
          <p:nvPr/>
        </p:nvSpPr>
        <p:spPr>
          <a:xfrm xmlns:a="http://schemas.openxmlformats.org/drawingml/2006/main">
            <a:off x="11163300" y="3276600"/>
            <a:ext cx="0" cy="3676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F8F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stance-rail-label"/>
          <p:cNvSpPr txBox="1"/>
          <p:nvPr/>
        </p:nvSpPr>
        <p:spPr>
          <a:xfrm xmlns:a="http://schemas.openxmlformats.org/drawingml/2006/main">
            <a:off x="11525250" y="3352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8F8F8E"/>
                </a:solidFill>
                <a:latin typeface="Inter"/>
                <a:ea typeface="Inter"/>
              </a:rPr>
              <a:t>READ-THROUGH</a:t>
            </a:r>
            <a:endParaRPr lang="en-US"/>
          </a:p>
        </p:txBody>
      </p:sp>
      <p:sp>
        <p:nvSpPr>
          <p:cNvPr id="20" name="stance-rail-value"/>
          <p:cNvSpPr txBox="1"/>
          <p:nvPr/>
        </p:nvSpPr>
        <p:spPr>
          <a:xfrm xmlns:a="http://schemas.openxmlformats.org/drawingml/2006/main">
            <a:off x="11525250" y="39814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150" b="1">
                <a:solidFill>
                  <a:srgbClr val="C79522"/>
                </a:solidFill>
                <a:latin typeface="Inter"/>
                <a:ea typeface="Inter"/>
              </a:rPr>
              <a:t>18%</a:t>
            </a:r>
            <a:endParaRPr lang="en-US"/>
          </a:p>
        </p:txBody>
      </p:sp>
      <p:sp>
        <p:nvSpPr>
          <p:cNvPr id="21" name="stance-rail-caption"/>
          <p:cNvSpPr txBox="1"/>
          <p:nvPr/>
        </p:nvSpPr>
        <p:spPr>
          <a:xfrm xmlns:a="http://schemas.openxmlformats.org/drawingml/2006/main">
            <a:off x="11525250" y="46101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F8F8E"/>
                </a:solidFill>
                <a:latin typeface="Inter"/>
                <a:ea typeface="Inter"/>
              </a:rPr>
              <a:t>output per site</a:t>
            </a:r>
            <a:endParaRPr lang="en-US"/>
          </a:p>
        </p:txBody>
      </p:sp>
      <p:sp>
        <p:nvSpPr>
          <p:cNvPr id="22" name="stance-rail-value-two"/>
          <p:cNvSpPr txBox="1"/>
          <p:nvPr/>
        </p:nvSpPr>
        <p:spPr>
          <a:xfrm xmlns:a="http://schemas.openxmlformats.org/drawingml/2006/main">
            <a:off x="11525250" y="54292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150" b="1">
                <a:solidFill>
                  <a:srgbClr val="FBFBF8"/>
                </a:solidFill>
                <a:latin typeface="Inter"/>
                <a:ea typeface="Inter"/>
              </a:rPr>
              <a:t>61%</a:t>
            </a:r>
            <a:endParaRPr lang="en-US"/>
          </a:p>
        </p:txBody>
      </p:sp>
      <p:sp>
        <p:nvSpPr>
          <p:cNvPr id="23" name="stance-rail-caption-two"/>
          <p:cNvSpPr txBox="1"/>
          <p:nvPr/>
        </p:nvSpPr>
        <p:spPr>
          <a:xfrm xmlns:a="http://schemas.openxmlformats.org/drawingml/2006/main">
            <a:off x="11525250" y="60579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F8F8E"/>
                </a:solidFill>
                <a:latin typeface="Inter"/>
                <a:ea typeface="Inter"/>
              </a:rPr>
              <a:t>volume in two regions</a:t>
            </a:r>
            <a:endParaRPr lang="en-US"/>
          </a:p>
        </p:txBody>
      </p:sp>
      <p:sp>
        <p:nvSpPr>
          <p:cNvPr id="2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F8F8E"/>
                </a:solidFill>
                <a:latin typeface="Inter"/>
                <a:ea typeface="Inter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2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F8F8E"/>
                </a:solidFill>
                <a:latin typeface="Inter"/>
                <a:ea typeface="Inter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0">
            <a:solidFill>
              <a:srgbClr val="FBFB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videnc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7952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GILT MARKET LEDGER · EVIDENC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C79522"/>
                </a:solidFill>
                <a:latin typeface="Inter"/>
                <a:ea typeface="Inter"/>
              </a:rPr>
              <a:t>GILT MARKET LEDGER · EVIDENCE</a:t>
            </a:r>
            <a:endParaRPr lang="en-US"/>
          </a:p>
        </p:txBody>
      </p:sp>
      <p:sp>
        <p:nvSpPr>
          <p:cNvPr id="5" name="evidenc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91A1B"/>
                </a:solidFill>
                <a:latin typeface="Inter"/>
                <a:ea typeface="Inter"/>
              </a:rPr>
              <a:t>The ledger moves, but the threshold still governs</a:t>
            </a:r>
            <a:endParaRPr lang="en-US"/>
          </a:p>
        </p:txBody>
      </p:sp>
      <p:sp>
        <p:nvSpPr>
          <p:cNvPr id="6" name="evidenc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F8F8E"/>
                </a:solidFill>
                <a:latin typeface="Inter"/>
                <a:ea typeface="Inter"/>
              </a:rPr>
              <a:t>Illustrative ledger · values show period, unit, and decision threshold.</a:t>
            </a:r>
            <a:endParaRPr lang="en-US"/>
          </a:p>
        </p:txBody>
      </p:sp>
      <p:sp>
        <p:nvSpPr>
          <p:cNvPr id="7" name="evidenc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F8F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8" name="finance-evidence-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90600" y="3162300"/>
          <a:ext xmlns:a="http://schemas.openxmlformats.org/drawingml/2006/main" cx="8001000" cy="28956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000250"/>
                <a:gridCol w="2000250"/>
                <a:gridCol w="2000250"/>
                <a:gridCol w="2000250"/>
              </a:tblGrid>
              <a:tr h="579120"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Base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Plan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Delta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Coverage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42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51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+9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Cash conversion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1.6x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2.1x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+0.5x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Risk buffer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8w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10w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+2w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Release gate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Open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Clear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—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able-note-label"/>
          <p:cNvSpPr txBox="1"/>
          <p:nvPr/>
        </p:nvSpPr>
        <p:spPr>
          <a:xfrm xmlns:a="http://schemas.openxmlformats.org/drawingml/2006/main">
            <a:off x="9810750" y="3314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C79522"/>
                </a:solidFill>
                <a:latin typeface="Inter"/>
                <a:ea typeface="Inter"/>
              </a:rPr>
              <a:t>MODEL READ-THROUGH</a:t>
            </a:r>
            <a:endParaRPr lang="en-US"/>
          </a:p>
        </p:txBody>
      </p:sp>
      <p:sp>
        <p:nvSpPr>
          <p:cNvPr id="10" name="table-note-title"/>
          <p:cNvSpPr txBox="1"/>
          <p:nvPr/>
        </p:nvSpPr>
        <p:spPr>
          <a:xfrm xmlns:a="http://schemas.openxmlformats.org/drawingml/2006/main">
            <a:off x="9810750" y="3790950"/>
            <a:ext cx="3619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91A1B"/>
                </a:solidFill>
                <a:latin typeface="Inter"/>
                <a:ea typeface="Inter"/>
              </a:rPr>
              <a:t>The gate stays visible beside the number.</a:t>
            </a:r>
            <a:endParaRPr lang="en-US"/>
          </a:p>
        </p:txBody>
      </p:sp>
      <p:sp>
        <p:nvSpPr>
          <p:cNvPr id="11" name="table-note-rule"/>
          <p:cNvSpPr/>
          <p:nvPr/>
        </p:nvSpPr>
        <p:spPr>
          <a:xfrm xmlns:a="http://schemas.openxmlformats.org/drawingml/2006/main">
            <a:off x="9810750" y="50101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F8F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table-note-body"/>
          <p:cNvSpPr txBox="1"/>
          <p:nvPr/>
        </p:nvSpPr>
        <p:spPr>
          <a:xfrm xmlns:a="http://schemas.openxmlformats.org/drawingml/2006/main">
            <a:off x="9810750" y="527685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F8F8E"/>
                </a:solidFill>
                <a:latin typeface="Inter"/>
                <a:ea typeface="Inter"/>
              </a:rPr>
              <a:t>Use a table when assumptions and units carry the decision. Charts support the ledger; they do not replace it.</a:t>
            </a:r>
            <a:endParaRPr lang="en-US"/>
          </a:p>
        </p:txBody>
      </p:sp>
      <p:sp>
        <p:nvSpPr>
          <p:cNvPr id="13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191A1B"/>
                </a:solidFill>
                <a:latin typeface="Inter"/>
                <a:ea typeface="Inter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1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F8F8E"/>
                </a:solidFill>
                <a:latin typeface="Inter"/>
                <a:ea typeface="Inter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1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F8F8E"/>
                </a:solidFill>
                <a:latin typeface="Inter"/>
                <a:ea typeface="Inter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0">
            <a:solidFill>
              <a:srgbClr val="FBFB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detai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7952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GILT MARKET LEDGER · DETAIL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C79522"/>
                </a:solidFill>
                <a:latin typeface="Inter"/>
                <a:ea typeface="Inter"/>
              </a:rPr>
              <a:t>GILT MARKET LEDGER · DETAIL</a:t>
            </a:r>
            <a:endParaRPr lang="en-US"/>
          </a:p>
        </p:txBody>
      </p:sp>
      <p:sp>
        <p:nvSpPr>
          <p:cNvPr id="5" name="detai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91A1B"/>
                </a:solidFill>
                <a:latin typeface="Inter"/>
                <a:ea typeface="Inter"/>
              </a:rPr>
              <a:t>The ledger carries the assumptions</a:t>
            </a:r>
            <a:endParaRPr lang="en-US"/>
          </a:p>
        </p:txBody>
      </p:sp>
      <p:sp>
        <p:nvSpPr>
          <p:cNvPr id="6" name="detail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F8F8E"/>
                </a:solidFill>
                <a:latin typeface="Inter"/>
                <a:ea typeface="Inter"/>
              </a:rPr>
              <a:t>Assumption grid · values stay aligned to their basis and release gate.</a:t>
            </a:r>
            <a:endParaRPr lang="en-US"/>
          </a:p>
        </p:txBody>
      </p:sp>
      <p:sp>
        <p:nvSpPr>
          <p:cNvPr id="7" name="detai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F8F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8" name="finance-evidence-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90600" y="3162300"/>
          <a:ext xmlns:a="http://schemas.openxmlformats.org/drawingml/2006/main" cx="8001000" cy="28956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000250"/>
                <a:gridCol w="2000250"/>
                <a:gridCol w="2000250"/>
                <a:gridCol w="2000250"/>
              </a:tblGrid>
              <a:tr h="579120"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Base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Plan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Delta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Coverage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42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51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+9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Cash conversion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1.6x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2.1x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+0.5x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Risk buffer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8w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10w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+2w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Release gate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Open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Clear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—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able-note-label"/>
          <p:cNvSpPr txBox="1"/>
          <p:nvPr/>
        </p:nvSpPr>
        <p:spPr>
          <a:xfrm xmlns:a="http://schemas.openxmlformats.org/drawingml/2006/main">
            <a:off x="9810750" y="3314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C79522"/>
                </a:solidFill>
                <a:latin typeface="Inter"/>
                <a:ea typeface="Inter"/>
              </a:rPr>
              <a:t>MODEL READ-THROUGH</a:t>
            </a:r>
            <a:endParaRPr lang="en-US"/>
          </a:p>
        </p:txBody>
      </p:sp>
      <p:sp>
        <p:nvSpPr>
          <p:cNvPr id="10" name="table-note-title"/>
          <p:cNvSpPr txBox="1"/>
          <p:nvPr/>
        </p:nvSpPr>
        <p:spPr>
          <a:xfrm xmlns:a="http://schemas.openxmlformats.org/drawingml/2006/main">
            <a:off x="9810750" y="3790950"/>
            <a:ext cx="3619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91A1B"/>
                </a:solidFill>
                <a:latin typeface="Inter"/>
                <a:ea typeface="Inter"/>
              </a:rPr>
              <a:t>The gate stays visible beside the number.</a:t>
            </a:r>
            <a:endParaRPr lang="en-US"/>
          </a:p>
        </p:txBody>
      </p:sp>
      <p:sp>
        <p:nvSpPr>
          <p:cNvPr id="11" name="table-note-rule"/>
          <p:cNvSpPr/>
          <p:nvPr/>
        </p:nvSpPr>
        <p:spPr>
          <a:xfrm xmlns:a="http://schemas.openxmlformats.org/drawingml/2006/main">
            <a:off x="9810750" y="50101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F8F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table-note-body"/>
          <p:cNvSpPr txBox="1"/>
          <p:nvPr/>
        </p:nvSpPr>
        <p:spPr>
          <a:xfrm xmlns:a="http://schemas.openxmlformats.org/drawingml/2006/main">
            <a:off x="9810750" y="527685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F8F8E"/>
                </a:solidFill>
                <a:latin typeface="Inter"/>
                <a:ea typeface="Inter"/>
              </a:rPr>
              <a:t>Use a table when assumptions and units carry the decision. Charts support the ledger; they do not replace it.</a:t>
            </a:r>
            <a:endParaRPr lang="en-US"/>
          </a:p>
        </p:txBody>
      </p:sp>
      <p:sp>
        <p:nvSpPr>
          <p:cNvPr id="13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F8F8E"/>
                </a:solidFill>
                <a:latin typeface="Inter"/>
                <a:ea typeface="Inter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14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F8F8E"/>
                </a:solidFill>
                <a:latin typeface="Inter"/>
                <a:ea typeface="Inter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0">
            <a:solidFill>
              <a:srgbClr val="FBFB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visua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7952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GILT MARKET LEDGER · VISUAL CARRIER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C79522"/>
                </a:solidFill>
                <a:latin typeface="Inter"/>
                <a:ea typeface="Inter"/>
              </a:rPr>
              <a:t>GILT MARKET LEDGER · VISUAL CARRIER</a:t>
            </a:r>
            <a:endParaRPr lang="en-US"/>
          </a:p>
        </p:txBody>
      </p:sp>
      <p:sp>
        <p:nvSpPr>
          <p:cNvPr id="5" name="visua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91A1B"/>
                </a:solidFill>
                <a:latin typeface="Inter"/>
                <a:ea typeface="Inter"/>
              </a:rPr>
              <a:t>A visual field can carry a signal</a:t>
            </a:r>
            <a:endParaRPr lang="en-US"/>
          </a:p>
        </p:txBody>
      </p:sp>
      <p:sp>
        <p:nvSpPr>
          <p:cNvPr id="6" name="visual-body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F8F8E"/>
                </a:solidFill>
                <a:latin typeface="Inter"/>
                <a:ea typeface="Inter"/>
              </a:rPr>
              <a:t>The picture is not a mood board; it is the surface where the argument lands.</a:t>
            </a:r>
            <a:endParaRPr lang="en-US"/>
          </a:p>
        </p:txBody>
      </p:sp>
      <p:sp>
        <p:nvSpPr>
          <p:cNvPr id="7" name="visua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F8F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8" name="dense-visual-bars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14400" y="3028950"/>
          <a:ext xmlns:a="http://schemas.openxmlformats.org/drawingml/2006/main" cx="5334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fbbc01a5234d60"/>
          </a:graphicData>
        </a:graphic>
      </p:graphicFrame>
      <p:graphicFrame>
        <p:nvGraphicFramePr>
          <p:cNvPr id="9" name="dense-visual-lin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6667500" y="3028950"/>
          <a:ext xmlns:a="http://schemas.openxmlformats.org/drawingml/2006/main" cx="3810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f1181cd1454c80"/>
          </a:graphicData>
        </a:graphic>
      </p:graphicFrame>
      <p:sp>
        <p:nvSpPr>
          <p:cNvPr id="10" name="visual-note"/>
          <p:cNvSpPr/>
          <p:nvPr/>
        </p:nvSpPr>
        <p:spPr>
          <a:xfrm xmlns:a="http://schemas.openxmlformats.org/drawingml/2006/main">
            <a:off x="11049000" y="33337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F8F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visual-note-label"/>
          <p:cNvSpPr txBox="1"/>
          <p:nvPr/>
        </p:nvSpPr>
        <p:spPr>
          <a:xfrm xmlns:a="http://schemas.openxmlformats.org/drawingml/2006/main">
            <a:off x="11430000" y="3695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C79522"/>
                </a:solidFill>
                <a:latin typeface="Inter"/>
                <a:ea typeface="Inter"/>
              </a:rPr>
              <a:t>CARRIER</a:t>
            </a:r>
            <a:endParaRPr lang="en-US"/>
          </a:p>
        </p:txBody>
      </p:sp>
      <p:sp>
        <p:nvSpPr>
          <p:cNvPr id="12" name="visual-note-text"/>
          <p:cNvSpPr txBox="1"/>
          <p:nvPr/>
        </p:nvSpPr>
        <p:spPr>
          <a:xfrm xmlns:a="http://schemas.openxmlformats.org/drawingml/2006/main">
            <a:off x="11430000" y="41719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91A1B"/>
                </a:solidFill>
                <a:latin typeface="Inter"/>
                <a:ea typeface="Inter"/>
              </a:rPr>
              <a:t>Signal before decoration</a:t>
            </a:r>
            <a:endParaRPr lang="en-US"/>
          </a:p>
        </p:txBody>
      </p:sp>
      <p:sp>
        <p:nvSpPr>
          <p:cNvPr id="13" name="visual-note-foot"/>
          <p:cNvSpPr txBox="1"/>
          <p:nvPr/>
        </p:nvSpPr>
        <p:spPr>
          <a:xfrm xmlns:a="http://schemas.openxmlformats.org/drawingml/2006/main">
            <a:off x="11430000" y="52197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F8F8E"/>
                </a:solidFill>
                <a:latin typeface="Inter"/>
                <a:ea typeface="Inter"/>
              </a:rPr>
              <a:t>Read the mark, unit, and basis.</a:t>
            </a:r>
            <a:endParaRPr lang="en-US"/>
          </a:p>
        </p:txBody>
      </p:sp>
      <p:sp>
        <p:nvSpPr>
          <p:cNvPr id="1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F8F8E"/>
                </a:solidFill>
                <a:latin typeface="Inter"/>
                <a:ea typeface="Inter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1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F8F8E"/>
                </a:solidFill>
                <a:latin typeface="Inter"/>
                <a:ea typeface="Inter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dark-fiel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B"/>
          </a:solidFill>
          <a:ln xmlns:a="http://schemas.openxmlformats.org/drawingml/2006/main" w="0">
            <a:solidFill>
              <a:srgbClr val="191A1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yebrow"/>
          <p:cNvSpPr txBox="1"/>
          <p:nvPr/>
        </p:nvSpPr>
        <p:spPr>
          <a:xfrm xmlns:a="http://schemas.openxmlformats.org/drawingml/2006/main">
            <a:off x="914400" y="8191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C79522"/>
                </a:solidFill>
                <a:latin typeface="Inter"/>
                <a:ea typeface="Inter"/>
              </a:rPr>
              <a:t>FINANCE · DECISION</a:t>
            </a:r>
            <a:endParaRPr lang="en-US"/>
          </a:p>
        </p:txBody>
      </p:sp>
      <p:sp>
        <p:nvSpPr>
          <p:cNvPr id="4" name="close-title"/>
          <p:cNvSpPr txBox="1"/>
          <p:nvPr/>
        </p:nvSpPr>
        <p:spPr>
          <a:xfrm xmlns:a="http://schemas.openxmlformats.org/drawingml/2006/main">
            <a:off x="914400" y="13144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150" b="1">
                <a:solidFill>
                  <a:srgbClr val="FBFBF8"/>
                </a:solidFill>
                <a:latin typeface="Inter"/>
                <a:ea typeface="Inter"/>
              </a:rPr>
              <a:t>Fund the proven constraint, then measure the next one</a:t>
            </a:r>
            <a:endParaRPr lang="en-US"/>
          </a:p>
        </p:txBody>
      </p:sp>
      <p:sp>
        <p:nvSpPr>
          <p:cNvPr id="5" name="close-basis"/>
          <p:cNvSpPr txBox="1"/>
          <p:nvPr/>
        </p:nvSpPr>
        <p:spPr>
          <a:xfrm xmlns:a="http://schemas.openxmlformats.org/drawingml/2006/main">
            <a:off x="952500" y="2419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F8F8E"/>
                </a:solidFill>
                <a:latin typeface="Inter"/>
                <a:ea typeface="Inter"/>
              </a:rPr>
              <a:t>A decision is bounded by the evidence it is willing to revisit.</a:t>
            </a:r>
            <a:endParaRPr lang="en-US"/>
          </a:p>
        </p:txBody>
      </p:sp>
      <p:sp>
        <p:nvSpPr>
          <p:cNvPr id="6" name="close-number-0"/>
          <p:cNvSpPr txBox="1"/>
          <p:nvPr/>
        </p:nvSpPr>
        <p:spPr>
          <a:xfrm xmlns:a="http://schemas.openxmlformats.org/drawingml/2006/main">
            <a:off x="1104900" y="34861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8F8F8E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7" name="close-row-rule-0"/>
          <p:cNvSpPr/>
          <p:nvPr/>
        </p:nvSpPr>
        <p:spPr>
          <a:xfrm xmlns:a="http://schemas.openxmlformats.org/drawingml/2006/main">
            <a:off x="2038350" y="3638550"/>
            <a:ext cx="729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F8F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lose-label-0"/>
          <p:cNvSpPr txBox="1"/>
          <p:nvPr/>
        </p:nvSpPr>
        <p:spPr>
          <a:xfrm xmlns:a="http://schemas.openxmlformats.org/drawingml/2006/main">
            <a:off x="2190750" y="3448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FBFBF8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9" name="close-text-0"/>
          <p:cNvSpPr txBox="1"/>
          <p:nvPr/>
        </p:nvSpPr>
        <p:spPr>
          <a:xfrm xmlns:a="http://schemas.openxmlformats.org/drawingml/2006/main">
            <a:off x="4476750" y="34861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F8F8E"/>
                </a:solidFill>
                <a:latin typeface="Inter"/>
                <a:ea typeface="Inter"/>
              </a:rPr>
              <a:t>Cash conversion remains positive.</a:t>
            </a:r>
            <a:endParaRPr lang="en-US"/>
          </a:p>
        </p:txBody>
      </p:sp>
      <p:sp>
        <p:nvSpPr>
          <p:cNvPr id="10" name="close-number-1"/>
          <p:cNvSpPr txBox="1"/>
          <p:nvPr/>
        </p:nvSpPr>
        <p:spPr>
          <a:xfrm xmlns:a="http://schemas.openxmlformats.org/drawingml/2006/main">
            <a:off x="1104900" y="45529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8F8F8E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11" name="close-row-rule-1"/>
          <p:cNvSpPr/>
          <p:nvPr/>
        </p:nvSpPr>
        <p:spPr>
          <a:xfrm xmlns:a="http://schemas.openxmlformats.org/drawingml/2006/main">
            <a:off x="2038350" y="4705350"/>
            <a:ext cx="729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F8F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close-label-1"/>
          <p:cNvSpPr txBox="1"/>
          <p:nvPr/>
        </p:nvSpPr>
        <p:spPr>
          <a:xfrm xmlns:a="http://schemas.openxmlformats.org/drawingml/2006/main">
            <a:off x="2190750" y="4514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FBFBF8"/>
                </a:solidFill>
                <a:latin typeface="Inter"/>
                <a:ea typeface="Inter"/>
              </a:rPr>
              <a:t>Risk</a:t>
            </a:r>
            <a:endParaRPr lang="en-US"/>
          </a:p>
        </p:txBody>
      </p:sp>
      <p:sp>
        <p:nvSpPr>
          <p:cNvPr id="13" name="close-text-1"/>
          <p:cNvSpPr txBox="1"/>
          <p:nvPr/>
        </p:nvSpPr>
        <p:spPr>
          <a:xfrm xmlns:a="http://schemas.openxmlformats.org/drawingml/2006/main">
            <a:off x="4476750" y="45529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F8F8E"/>
                </a:solidFill>
                <a:latin typeface="Inter"/>
                <a:ea typeface="Inter"/>
              </a:rPr>
              <a:t>The buffer is below threshold.</a:t>
            </a:r>
            <a:endParaRPr lang="en-US"/>
          </a:p>
        </p:txBody>
      </p:sp>
      <p:sp>
        <p:nvSpPr>
          <p:cNvPr id="14" name="close-number-2"/>
          <p:cNvSpPr txBox="1"/>
          <p:nvPr/>
        </p:nvSpPr>
        <p:spPr>
          <a:xfrm xmlns:a="http://schemas.openxmlformats.org/drawingml/2006/main">
            <a:off x="1104900" y="56197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C79522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15" name="close-row-rule-2"/>
          <p:cNvSpPr/>
          <p:nvPr/>
        </p:nvSpPr>
        <p:spPr>
          <a:xfrm xmlns:a="http://schemas.openxmlformats.org/drawingml/2006/main">
            <a:off x="2038350" y="5772150"/>
            <a:ext cx="729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C7952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close-label-2"/>
          <p:cNvSpPr txBox="1"/>
          <p:nvPr/>
        </p:nvSpPr>
        <p:spPr>
          <a:xfrm xmlns:a="http://schemas.openxmlformats.org/drawingml/2006/main">
            <a:off x="2190750" y="55816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FBFBF8"/>
                </a:solidFill>
                <a:latin typeface="Inter"/>
                <a:ea typeface="Inter"/>
              </a:rPr>
              <a:t>Decision</a:t>
            </a:r>
            <a:endParaRPr lang="en-US"/>
          </a:p>
        </p:txBody>
      </p:sp>
      <p:sp>
        <p:nvSpPr>
          <p:cNvPr id="17" name="close-text-2"/>
          <p:cNvSpPr txBox="1"/>
          <p:nvPr/>
        </p:nvSpPr>
        <p:spPr>
          <a:xfrm xmlns:a="http://schemas.openxmlformats.org/drawingml/2006/main">
            <a:off x="4476750" y="56197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F8F8E"/>
                </a:solidFill>
                <a:latin typeface="Inter"/>
                <a:ea typeface="Inter"/>
              </a:rPr>
              <a:t>Release one constrained tranche.</a:t>
            </a:r>
            <a:endParaRPr lang="en-US"/>
          </a:p>
        </p:txBody>
      </p:sp>
      <p:sp>
        <p:nvSpPr>
          <p:cNvPr id="18" name="close-rail"/>
          <p:cNvSpPr/>
          <p:nvPr/>
        </p:nvSpPr>
        <p:spPr>
          <a:xfrm xmlns:a="http://schemas.openxmlformats.org/drawingml/2006/main">
            <a:off x="11163300" y="327660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F8F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close-rail-label"/>
          <p:cNvSpPr txBox="1"/>
          <p:nvPr/>
        </p:nvSpPr>
        <p:spPr>
          <a:xfrm xmlns:a="http://schemas.openxmlformats.org/drawingml/2006/main">
            <a:off x="11525250" y="3429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C79522"/>
                </a:solidFill>
                <a:latin typeface="Inter"/>
                <a:ea typeface="Inter"/>
              </a:rPr>
              <a:t>NEXT MOVE</a:t>
            </a:r>
            <a:endParaRPr lang="en-US"/>
          </a:p>
        </p:txBody>
      </p:sp>
      <p:sp>
        <p:nvSpPr>
          <p:cNvPr id="20" name="close-rail-value"/>
          <p:cNvSpPr txBox="1"/>
          <p:nvPr/>
        </p:nvSpPr>
        <p:spPr>
          <a:xfrm xmlns:a="http://schemas.openxmlformats.org/drawingml/2006/main">
            <a:off x="11525250" y="39433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FBFBF8"/>
                </a:solidFill>
                <a:latin typeface="Inter"/>
                <a:ea typeface="Inter"/>
              </a:rPr>
              <a:t>Clear the buffer gate</a:t>
            </a:r>
            <a:endParaRPr lang="en-US"/>
          </a:p>
        </p:txBody>
      </p:sp>
      <p:sp>
        <p:nvSpPr>
          <p:cNvPr id="21" name="close-rail-foot"/>
          <p:cNvSpPr txBox="1"/>
          <p:nvPr/>
        </p:nvSpPr>
        <p:spPr>
          <a:xfrm xmlns:a="http://schemas.openxmlformats.org/drawingml/2006/main">
            <a:off x="11525250" y="4953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F8F8E"/>
                </a:solidFill>
                <a:latin typeface="Inter"/>
                <a:ea typeface="Inter"/>
              </a:rPr>
              <a:t>Owner · reviewer · date</a:t>
            </a:r>
            <a:endParaRPr lang="en-US"/>
          </a:p>
        </p:txBody>
      </p:sp>
      <p:sp>
        <p:nvSpPr>
          <p:cNvPr id="22" name="close-band"/>
          <p:cNvSpPr/>
          <p:nvPr/>
        </p:nvSpPr>
        <p:spPr>
          <a:xfrm xmlns:a="http://schemas.openxmlformats.org/drawingml/2006/main">
            <a:off x="914400" y="7086600"/>
            <a:ext cx="13411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8">
              <a:alpha val="10000"/>
            </a:srgbClr>
          </a:solidFill>
          <a:ln xmlns:a="http://schemas.openxmlformats.org/drawingml/2006/main" w="0">
            <a:solidFill>
              <a:srgbClr val="FBFB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3" name="close-band-text"/>
          <p:cNvSpPr txBox="1"/>
          <p:nvPr/>
        </p:nvSpPr>
        <p:spPr>
          <a:xfrm xmlns:a="http://schemas.openxmlformats.org/drawingml/2006/main">
            <a:off x="1143000" y="7239000"/>
            <a:ext cx="1190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BFBF8"/>
                </a:solidFill>
                <a:latin typeface="Inter"/>
                <a:ea typeface="Inter"/>
              </a:rPr>
              <a:t>STANCE  ·  Keep the gate visible when the allocation moves.</a:t>
            </a:r>
            <a:endParaRPr lang="en-US"/>
          </a:p>
        </p:txBody>
      </p:sp>
      <p:sp>
        <p:nvSpPr>
          <p:cNvPr id="2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F8F8E"/>
                </a:solidFill>
                <a:latin typeface="Inter"/>
                <a:ea typeface="Inter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2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F8F8E"/>
                </a:solidFill>
                <a:latin typeface="Inter"/>
                <a:ea typeface="Inter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