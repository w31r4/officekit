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95f8742f60b4c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ed0c8abc703040ab" /><Relationship Type="http://schemas.openxmlformats.org/officeDocument/2006/relationships/chart" Target="/ppt/slides/charts/chart2.xml" Id="R2c9b3ab998c442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C79522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E6266"/>
            </a:solidFill>
            <a:ln w="38100">
              <a:solidFill>
                <a:srgbClr val="5E626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FINANCE · OFFICEKIT CALIBRATION</a:t>
            </a:r>
            <a:endParaRPr lang="en-US"/>
          </a:p>
        </p:txBody>
      </p:sp>
      <p:sp>
        <p:nvSpPr>
          <p:cNvPr id="6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F8F8E"/>
                </a:solidFill>
                <a:latin typeface="Inter"/>
                <a:ea typeface="Inter"/>
              </a:rPr>
              <a:t>RESEARCH NOTE · 2026</a:t>
            </a:r>
            <a:endParaRPr lang="en-US"/>
          </a:p>
        </p:txBody>
      </p:sp>
      <p:sp>
        <p:nvSpPr>
          <p:cNvPr id="7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BFBF8"/>
                </a:solidFill>
                <a:latin typeface="Inter"/>
                <a:ea typeface="Inter"/>
              </a:rPr>
              <a:t>Gilt Market Ledger: a claim worth testing</a:t>
            </a:r>
            <a:endParaRPr lang="en-US"/>
          </a:p>
        </p:txBody>
      </p:sp>
      <p:sp>
        <p:nvSpPr>
          <p:cNvPr id="8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F8F8E"/>
                </a:solidFill>
                <a:latin typeface="Inter"/>
                <a:ea typeface="Inter"/>
              </a:rPr>
              <a:t>A clean-room reference for bounded financial decisions.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BFBF8"/>
                </a:solidFill>
                <a:latin typeface="Inter"/>
                <a:ea typeface="Inter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C79522"/>
                </a:solidFill>
                <a:latin typeface="Inter"/>
                <a:ea typeface="Inter"/>
              </a:rPr>
              <a:t>142.0</a:t>
            </a:r>
            <a:endParaRPr lang="en-US"/>
          </a:p>
        </p:txBody>
      </p:sp>
      <p:sp>
        <p:nvSpPr>
          <p:cNvPr id="11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units funded · Q2</a:t>
            </a:r>
            <a:endParaRPr lang="en-US"/>
          </a:p>
        </p:txBody>
      </p:sp>
      <p:sp>
        <p:nvSpPr>
          <p:cNvPr id="12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BFBF8"/>
                </a:solidFill>
                <a:latin typeface="Inter"/>
                <a:ea typeface="Inter"/>
              </a:rPr>
              <a:t>4.1×</a:t>
            </a:r>
            <a:endParaRPr lang="en-US"/>
          </a:p>
        </p:txBody>
      </p:sp>
      <p:sp>
        <p:nvSpPr>
          <p:cNvPr id="13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coverage · month end</a:t>
            </a:r>
            <a:endParaRPr lang="en-US"/>
          </a:p>
        </p:txBody>
      </p:sp>
      <p:sp>
        <p:nvSpPr>
          <p:cNvPr id="14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BFB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15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top two regions</a:t>
            </a:r>
            <a:endParaRPr lang="en-US"/>
          </a:p>
        </p:txBody>
      </p:sp>
      <p:sp>
        <p:nvSpPr>
          <p:cNvPr id="16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F8F8E"/>
                </a:solidFill>
                <a:latin typeface="Inter"/>
                <a:ea typeface="Inter"/>
              </a:rPr>
              <a:t>26</a:t>
            </a:r>
            <a:endParaRPr lang="en-US"/>
          </a:p>
        </p:txBody>
      </p:sp>
      <p:sp>
        <p:nvSpPr>
          <p:cNvPr id="17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>
              <a:alpha val="10000"/>
            </a:srgbClr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Inter"/>
                <a:ea typeface="Inter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F8F8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BFBF8"/>
                </a:solidFill>
                <a:latin typeface="Inter"/>
                <a:ea typeface="Inter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F8F8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BFBF8"/>
                </a:solidFill>
                <a:latin typeface="Inter"/>
                <a:ea typeface="Inter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F8F8E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BFBF8"/>
                </a:solidFill>
                <a:latin typeface="Inter"/>
                <a:ea typeface="Inter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F8F8E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C79522"/>
                </a:solidFill>
                <a:latin typeface="Inter"/>
                <a:ea typeface="Inter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GILT MARKET LEDG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Inter"/>
                <a:ea typeface="Inter"/>
              </a:rPr>
              <a:t>GILT MARKET LEDGER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Inter"/>
                <a:ea typeface="Inter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91A1B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8F8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91A1B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GILT MARKET LEDG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Inter"/>
                <a:ea typeface="Inter"/>
              </a:rPr>
              <a:t>GILT MARKET LEDGER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Inter"/>
                <a:ea typeface="Inter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91A1B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8F8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GILT MARKET LEDGER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Inter"/>
                <a:ea typeface="Inter"/>
              </a:rPr>
              <a:t>GILT MARKET LEDGER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Inter"/>
                <a:ea typeface="Inter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0c8abc703040ab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9b3ab998c442fa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91A1B"/>
                </a:solidFill>
                <a:latin typeface="Inter"/>
                <a:ea typeface="Inter"/>
              </a:rPr>
              <a:t>Signal before decoration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Inter"/>
                <a:ea typeface="Inter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F8F8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BFBF8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F8F8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BFBF8"/>
                </a:solidFill>
                <a:latin typeface="Inter"/>
                <a:ea typeface="Inter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C7952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BFBF8"/>
                </a:solidFill>
                <a:latin typeface="Inter"/>
                <a:ea typeface="Inter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BFBF8"/>
                </a:solidFill>
                <a:latin typeface="Inter"/>
                <a:ea typeface="Inter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>
              <a:alpha val="10000"/>
            </a:srgbClr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BFBF8"/>
                </a:solidFill>
                <a:latin typeface="Inter"/>
                <a:ea typeface="Inter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