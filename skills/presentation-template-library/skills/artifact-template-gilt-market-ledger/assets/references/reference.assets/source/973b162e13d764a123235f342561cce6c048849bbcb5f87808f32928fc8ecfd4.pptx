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Masters/theme/theme1.xml" ContentType="application/vnd.openxmlformats-officedocument.theme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charts/chart1.xml" ContentType="application/vnd.openxmlformats-officedocument.drawingml.chart+xml"/>
  <Override PartName="/ppt/slides/charts/chart2.xml" ContentType="application/vnd.openxmlformats-officedocument.drawingml.chart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ae866362be9f431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IdMaster1"/>
  </p:sldMasterIdLst>
  <p:sldIdLst>
    <p:sldId xmlns:r="http://schemas.openxmlformats.org/officeDocument/2006/relationships" id="256" r:id="rIdSlide1"/>
    <p:sldId xmlns:r="http://schemas.openxmlformats.org/officeDocument/2006/relationships" id="257" r:id="rIdSlide2"/>
    <p:sldId xmlns:r="http://schemas.openxmlformats.org/officeDocument/2006/relationships" id="258" r:id="rIdSlide3"/>
    <p:sldId xmlns:r="http://schemas.openxmlformats.org/officeDocument/2006/relationships" id="259" r:id="rIdSlide4"/>
    <p:sldId xmlns:r="http://schemas.openxmlformats.org/officeDocument/2006/relationships" id="260" r:id="rIdSlide5"/>
    <p:sldId xmlns:r="http://schemas.openxmlformats.org/officeDocument/2006/relationships" id="261" r:id="rIdSlide6"/>
  </p:sldIdLst>
  <p:sldSz cx="15240000" cy="8572500"/>
  <p:notesSz cx="6858000" cy="9144000"/>
  <p:defaultTextStyle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Master1" /><Relationship Type="http://schemas.openxmlformats.org/officeDocument/2006/relationships/slide" Target="/ppt/slides/slide1.xml" Id="rIdSlide1" /><Relationship Type="http://schemas.openxmlformats.org/officeDocument/2006/relationships/slide" Target="/ppt/slides/slide2.xml" Id="rIdSlide2" /><Relationship Type="http://schemas.openxmlformats.org/officeDocument/2006/relationships/slide" Target="/ppt/slides/slide3.xml" Id="rIdSlide3" /><Relationship Type="http://schemas.openxmlformats.org/officeDocument/2006/relationships/slide" Target="/ppt/slides/slide4.xml" Id="rIdSlide4" /><Relationship Type="http://schemas.openxmlformats.org/officeDocument/2006/relationships/slide" Target="/ppt/slides/slide5.xml" Id="rIdSlide5" /><Relationship Type="http://schemas.openxmlformats.org/officeDocument/2006/relationships/slide" Target="/ppt/slides/slide6.xml" Id="rIdSlide6" /></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Master1" /></Relationships>
</file>

<file path=ppt/slideLayouts/slideLayout1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</p:spTree>
  </p:cSld>
  <p:clrMapOvr>
    <a:masterClrMapping xmlns:a="http://schemas.openxmlformats.org/drawingml/2006/main"/>
  </p:clrMapOvr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1.xml" Id="rIdTheme1" /><Relationship Type="http://schemas.openxmlformats.org/officeDocument/2006/relationships/slideLayout" Target="/ppt/slideLayouts/slideLayout1.xml" Id="rIdLayout1" /></Relationships>
</file>

<file path=ppt/slideMasters/slideMaster1.xml><?xml version="1.0" encoding="utf-8"?>
<p:sldMaster xmlns:p="http://schemas.openxmlformats.org/presentationml/2006/main">
  <p:cSld name="Default Master">
    <p:bg>
      <p:bgPr>
        <a:solidFill xmlns:a="http://schemas.openxmlformats.org/drawingml/2006/main">
          <a:srgbClr val="FFFFFF"/>
        </a:solidFill>
        <a:effectLst xmlns:a="http://schemas.openxmlformats.org/drawingml/2006/main"/>
      </p:bgPr>
    </p:bg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Layout1"/>
  </p:sldLayoutIdLst>
  <p:txStyles>
    <p:titleStyle/>
    <p:bodyStyle/>
    <p:otherStyle/>
  </p:txStyles>
</p:sldMaster>
</file>

<file path=ppt/slideMasters/theme/theme1.xml><?xml version="1.0" encoding="utf-8"?>
<a:theme xmlns:a="http://schemas.openxmlformats.org/drawingml/2006/main" name="Office Clean Room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Layout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Layout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Layout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Layout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Layout1" /><Relationship Type="http://schemas.openxmlformats.org/officeDocument/2006/relationships/chart" Target="/ppt/slides/charts/chart1.xml" Id="R217b57e61d4242e9" /><Relationship Type="http://schemas.openxmlformats.org/officeDocument/2006/relationships/chart" Target="/ppt/slides/charts/chart2.xml" Id="Rc0bbce6793504fe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Layout1" /></Relationships>
</file>

<file path=ppt/slides/charts/chart1.xml><?xml version="1.0" encoding="utf-8"?>
<c:chartSpace xmlns:c="http://schemas.openxmlformats.org/drawingml/2006/chart" xmlns:a="http://schemas.openxmlformats.org/drawingml/2006/main">
  <c:chart>
    <c:title>
      <c:tx>
        <c:rich>
          <a:bodyPr/>
          <a:lstStyle/>
          <a:p>
            <a:r>
              <a:t>Observed signal</a:t>
            </a:r>
          </a:p>
        </c:rich>
      </c:tx>
      <c:layout/>
    </c:title>
    <c:plotArea>
      <c:layout/>
      <c:barChart>
        <c:barDir val="col"/>
        <c:grouping val="clustered"/>
        <c:ser>
          <c:idx val="0"/>
          <c:order val="0"/>
          <c:tx>
            <c:v>Observed</c:v>
          </c:tx>
          <c:spPr>
            <a:solidFill>
              <a:srgbClr val="C79522"/>
            </a:solidFill>
          </c:spPr>
          <c:cat>
            <c:strLit>
              <c:ptCount val="6"/>
              <c:pt idx="0">
                <c:v>A</c:v>
              </c:pt>
              <c:pt idx="1">
                <c:v>B</c:v>
              </c:pt>
              <c:pt idx="2">
                <c:v>C</c:v>
              </c:pt>
              <c:pt idx="3">
                <c:v>D</c:v>
              </c:pt>
              <c:pt idx="4">
                <c:v>E</c:v>
              </c:pt>
              <c:pt idx="5">
                <c:v>F</c:v>
              </c:pt>
            </c:strLit>
          </c:cat>
          <c:val>
            <c:numLit>
              <c:formatCode>General</c:formatCode>
              <c:ptCount val="6"/>
              <c:pt idx="0">
                <c:v>38</c:v>
              </c:pt>
              <c:pt idx="1">
                <c:v>46</c:v>
              </c:pt>
              <c:pt idx="2">
                <c:v>43</c:v>
              </c:pt>
              <c:pt idx="3">
                <c:v>58</c:v>
              </c:pt>
              <c:pt idx="4">
                <c:v>68</c:v>
              </c:pt>
              <c:pt idx="5">
                <c:v>74</c:v>
              </c:pt>
            </c:numLit>
          </c:val>
        </c:ser>
        <c:axId val="1"/>
        <c:axId val="2"/>
      </c:barChart>
      <c:catAx>
        <c:axId val="1"/>
        <c:scaling>
          <c:orientation val="minMax"/>
        </c:scaling>
        <c:axPos val="b"/>
        <c:crossAx val="2"/>
      </c:catAx>
      <c:valAx>
        <c:axId val="2"/>
        <c:scaling>
          <c:orientation val="minMax"/>
        </c:scaling>
        <c:axPos val="l"/>
        <c:crossAx val="1"/>
      </c:valAx>
    </c:plotArea>
    <c:plotVisOnly val="1"/>
  </c:chart>
</c:chartSpace>
</file>

<file path=ppt/slides/charts/chart2.xml><?xml version="1.0" encoding="utf-8"?>
<c:chartSpace xmlns:c="http://schemas.openxmlformats.org/drawingml/2006/chart" xmlns:a="http://schemas.openxmlformats.org/drawingml/2006/main">
  <c:chart>
    <c:title>
      <c:tx>
        <c:rich>
          <a:bodyPr/>
          <a:lstStyle/>
          <a:p>
            <a:r>
              <a:t>Context</a:t>
            </a:r>
          </a:p>
        </c:rich>
      </c:tx>
      <c:layout/>
    </c:title>
    <c:plotArea>
      <c:layout/>
      <c:lineChart>
        <c:grouping val="standard"/>
        <c:ser>
          <c:idx val="0"/>
          <c:order val="0"/>
          <c:tx>
            <c:v>Context</c:v>
          </c:tx>
          <c:spPr>
            <a:solidFill>
              <a:srgbClr val="5E6266"/>
            </a:solidFill>
            <a:ln w="38100">
              <a:solidFill>
                <a:srgbClr val="5E6266"/>
              </a:solidFill>
              <a:prstDash val="solid"/>
            </a:ln>
          </c:spPr>
          <c:marker>
            <c:symbol val="circle"/>
            <c:size val="6"/>
          </c:marker>
          <c:cat>
            <c:strLit>
              <c:ptCount val="6"/>
              <c:pt idx="0">
                <c:v>A</c:v>
              </c:pt>
              <c:pt idx="1">
                <c:v>B</c:v>
              </c:pt>
              <c:pt idx="2">
                <c:v>C</c:v>
              </c:pt>
              <c:pt idx="3">
                <c:v>D</c:v>
              </c:pt>
              <c:pt idx="4">
                <c:v>E</c:v>
              </c:pt>
              <c:pt idx="5">
                <c:v>F</c:v>
              </c:pt>
            </c:strLit>
          </c:cat>
          <c:val>
            <c:numLit>
              <c:formatCode>General</c:formatCode>
              <c:ptCount val="6"/>
              <c:pt idx="0">
                <c:v>34</c:v>
              </c:pt>
              <c:pt idx="1">
                <c:v>39</c:v>
              </c:pt>
              <c:pt idx="2">
                <c:v>41</c:v>
              </c:pt>
              <c:pt idx="3">
                <c:v>45</c:v>
              </c:pt>
              <c:pt idx="4">
                <c:v>49</c:v>
              </c:pt>
              <c:pt idx="5">
                <c:v>52</c:v>
              </c:pt>
            </c:numLit>
          </c:val>
        </c:ser>
        <c:axId val="1"/>
        <c:axId val="2"/>
      </c:lineChart>
      <c:catAx>
        <c:axId val="1"/>
        <c:scaling>
          <c:orientation val="minMax"/>
        </c:scaling>
        <c:axPos val="b"/>
        <c:crossAx val="2"/>
      </c:catAx>
      <c:valAx>
        <c:axId val="2"/>
        <c:scaling>
          <c:orientation val="minMax"/>
        </c:scaling>
        <c:axPos val="l"/>
        <c:crossAx val="1"/>
      </c:valAx>
    </c:plotArea>
    <c:plotVisOnly val="1"/>
  </c:chart>
</c:chartSpace>
</file>

<file path=ppt/slides/slide1.xml><?xml version="1.0" encoding="utf-8"?>
<p:sld xmlns:p="http://schemas.openxmlformats.org/presentationml/2006/main">
  <p:cSld name="Opening proposition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dark-field"/>
          <p:cNvSpPr/>
          <p:nvPr/>
        </p:nvSpPr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A1B"/>
          </a:solidFill>
          <a:ln xmlns:a="http://schemas.openxmlformats.org/drawingml/2006/main" w="0">
            <a:solidFill>
              <a:srgbClr val="191A1B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3" name="cover-evidence-field"/>
          <p:cNvSpPr/>
          <p:nvPr/>
        </p:nvSpPr>
        <p:spPr>
          <a:xfrm xmlns:a="http://schemas.openxmlformats.org/drawingml/2006/main">
            <a:off x="8667750" y="0"/>
            <a:ext cx="657225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8">
              <a:alpha val="12000"/>
            </a:srgbClr>
          </a:solidFill>
          <a:ln xmlns:a="http://schemas.openxmlformats.org/drawingml/2006/main" w="0">
            <a:solidFill>
              <a:srgbClr val="F3F5F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4" name="cover-gold-line"/>
          <p:cNvSpPr/>
          <p:nvPr/>
        </p:nvSpPr>
        <p:spPr>
          <a:xfrm xmlns:a="http://schemas.openxmlformats.org/drawingml/2006/main">
            <a:off x="914400" y="1562100"/>
            <a:ext cx="552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8900">
            <a:solidFill>
              <a:srgbClr val="C79522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5" name="eyebrow"/>
          <p:cNvSpPr txBox="1"/>
          <p:nvPr/>
        </p:nvSpPr>
        <p:spPr>
          <a:xfrm xmlns:a="http://schemas.openxmlformats.org/drawingml/2006/main">
            <a:off x="914400" y="857250"/>
            <a:ext cx="704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125" b="1">
                <a:solidFill>
                  <a:srgbClr val="C79522"/>
                </a:solidFill>
                <a:latin typeface="Inter"/>
                <a:ea typeface="Inter"/>
              </a:rPr>
              <a:t>FINANCE · OFFICEKIT CALIBRATION</a:t>
            </a:r>
            <a:endParaRPr lang="en-US"/>
          </a:p>
        </p:txBody>
      </p:sp>
      <p:sp>
        <p:nvSpPr>
          <p:cNvPr id="6" name="cover-date"/>
          <p:cNvSpPr txBox="1"/>
          <p:nvPr/>
        </p:nvSpPr>
        <p:spPr>
          <a:xfrm xmlns:a="http://schemas.openxmlformats.org/drawingml/2006/main">
            <a:off x="11239500" y="87630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/>
            <a:r>
              <a:rPr lang="en-US" sz="1125">
                <a:solidFill>
                  <a:srgbClr val="8F8F8E"/>
                </a:solidFill>
                <a:latin typeface="Inter"/>
                <a:ea typeface="Inter"/>
              </a:rPr>
              <a:t>RESEARCH NOTE · 2026</a:t>
            </a:r>
            <a:endParaRPr lang="en-US"/>
          </a:p>
        </p:txBody>
      </p:sp>
      <p:sp>
        <p:nvSpPr>
          <p:cNvPr id="7" name="cover-title"/>
          <p:cNvSpPr txBox="1"/>
          <p:nvPr/>
        </p:nvSpPr>
        <p:spPr>
          <a:xfrm xmlns:a="http://schemas.openxmlformats.org/drawingml/2006/main">
            <a:off x="914400" y="1981200"/>
            <a:ext cx="72390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3900" b="1">
                <a:solidFill>
                  <a:srgbClr val="FBFBF8"/>
                </a:solidFill>
                <a:latin typeface="Inter"/>
                <a:ea typeface="Inter"/>
              </a:rPr>
              <a:t>Gilt Market Ledger: a claim worth testing</a:t>
            </a:r>
            <a:endParaRPr lang="en-US"/>
          </a:p>
        </p:txBody>
      </p:sp>
      <p:sp>
        <p:nvSpPr>
          <p:cNvPr id="8" name="cover-subtitle"/>
          <p:cNvSpPr txBox="1"/>
          <p:nvPr/>
        </p:nvSpPr>
        <p:spPr>
          <a:xfrm xmlns:a="http://schemas.openxmlformats.org/drawingml/2006/main">
            <a:off x="952500" y="3409950"/>
            <a:ext cx="685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575">
                <a:solidFill>
                  <a:srgbClr val="8F8F8E"/>
                </a:solidFill>
                <a:latin typeface="Inter"/>
                <a:ea typeface="Inter"/>
              </a:rPr>
              <a:t>A clean-room reference for bounded financial decisions.</a:t>
            </a:r>
            <a:endParaRPr lang="en-US"/>
          </a:p>
        </p:txBody>
      </p:sp>
      <p:sp>
        <p:nvSpPr>
          <p:cNvPr id="9" name="cover-thesis"/>
          <p:cNvSpPr txBox="1"/>
          <p:nvPr/>
        </p:nvSpPr>
        <p:spPr>
          <a:xfrm xmlns:a="http://schemas.openxmlformats.org/drawingml/2006/main">
            <a:off x="952500" y="4114800"/>
            <a:ext cx="666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875" b="1">
                <a:solidFill>
                  <a:srgbClr val="FBFBF8"/>
                </a:solidFill>
                <a:latin typeface="Inter"/>
                <a:ea typeface="Inter"/>
              </a:rPr>
              <a:t>A ledger turns evidence into a bounded stance.</a:t>
            </a:r>
            <a:endParaRPr lang="en-US"/>
          </a:p>
        </p:txBody>
      </p:sp>
      <p:sp>
        <p:nvSpPr>
          <p:cNvPr id="10" name="cover-metric-one"/>
          <p:cNvSpPr txBox="1"/>
          <p:nvPr/>
        </p:nvSpPr>
        <p:spPr>
          <a:xfrm xmlns:a="http://schemas.openxmlformats.org/drawingml/2006/main">
            <a:off x="952500" y="5619750"/>
            <a:ext cx="1714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2700" b="1">
                <a:solidFill>
                  <a:srgbClr val="C79522"/>
                </a:solidFill>
                <a:latin typeface="Inter"/>
                <a:ea typeface="Inter"/>
              </a:rPr>
              <a:t>142.0</a:t>
            </a:r>
            <a:endParaRPr lang="en-US"/>
          </a:p>
        </p:txBody>
      </p:sp>
      <p:sp>
        <p:nvSpPr>
          <p:cNvPr id="11" name="cover-metric-one-caption"/>
          <p:cNvSpPr txBox="1"/>
          <p:nvPr/>
        </p:nvSpPr>
        <p:spPr>
          <a:xfrm xmlns:a="http://schemas.openxmlformats.org/drawingml/2006/main">
            <a:off x="952500" y="61531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125">
                <a:solidFill>
                  <a:srgbClr val="A7A7A7"/>
                </a:solidFill>
                <a:latin typeface="Inter"/>
                <a:ea typeface="Inter"/>
              </a:rPr>
              <a:t>units funded · Q2</a:t>
            </a:r>
            <a:endParaRPr lang="en-US"/>
          </a:p>
        </p:txBody>
      </p:sp>
      <p:sp>
        <p:nvSpPr>
          <p:cNvPr id="12" name="cover-metric-two"/>
          <p:cNvSpPr txBox="1"/>
          <p:nvPr/>
        </p:nvSpPr>
        <p:spPr>
          <a:xfrm xmlns:a="http://schemas.openxmlformats.org/drawingml/2006/main">
            <a:off x="3238500" y="5619750"/>
            <a:ext cx="1714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2700" b="1">
                <a:solidFill>
                  <a:srgbClr val="FBFBF8"/>
                </a:solidFill>
                <a:latin typeface="Inter"/>
                <a:ea typeface="Inter"/>
              </a:rPr>
              <a:t>4.1×</a:t>
            </a:r>
            <a:endParaRPr lang="en-US"/>
          </a:p>
        </p:txBody>
      </p:sp>
      <p:sp>
        <p:nvSpPr>
          <p:cNvPr id="13" name="cover-metric-two-caption"/>
          <p:cNvSpPr txBox="1"/>
          <p:nvPr/>
        </p:nvSpPr>
        <p:spPr>
          <a:xfrm xmlns:a="http://schemas.openxmlformats.org/drawingml/2006/main">
            <a:off x="3238500" y="61531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125">
                <a:solidFill>
                  <a:srgbClr val="A7A7A7"/>
                </a:solidFill>
                <a:latin typeface="Inter"/>
                <a:ea typeface="Inter"/>
              </a:rPr>
              <a:t>coverage · month end</a:t>
            </a:r>
            <a:endParaRPr lang="en-US"/>
          </a:p>
        </p:txBody>
      </p:sp>
      <p:sp>
        <p:nvSpPr>
          <p:cNvPr id="14" name="cover-metric-three"/>
          <p:cNvSpPr txBox="1"/>
          <p:nvPr/>
        </p:nvSpPr>
        <p:spPr>
          <a:xfrm xmlns:a="http://schemas.openxmlformats.org/drawingml/2006/main">
            <a:off x="5524500" y="5619750"/>
            <a:ext cx="1714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2700" b="1">
                <a:solidFill>
                  <a:srgbClr val="FBFBF8"/>
                </a:solidFill>
                <a:latin typeface="Inter"/>
                <a:ea typeface="Inter"/>
              </a:rPr>
              <a:t>61%</a:t>
            </a:r>
            <a:endParaRPr lang="en-US"/>
          </a:p>
        </p:txBody>
      </p:sp>
      <p:sp>
        <p:nvSpPr>
          <p:cNvPr id="15" name="cover-metric-three-caption"/>
          <p:cNvSpPr txBox="1"/>
          <p:nvPr/>
        </p:nvSpPr>
        <p:spPr>
          <a:xfrm xmlns:a="http://schemas.openxmlformats.org/drawingml/2006/main">
            <a:off x="5524500" y="61531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125">
                <a:solidFill>
                  <a:srgbClr val="A7A7A7"/>
                </a:solidFill>
                <a:latin typeface="Inter"/>
                <a:ea typeface="Inter"/>
              </a:rPr>
              <a:t>top two regions</a:t>
            </a:r>
            <a:endParaRPr lang="en-US"/>
          </a:p>
        </p:txBody>
      </p:sp>
      <p:sp>
        <p:nvSpPr>
          <p:cNvPr id="16" name="cover-watermark"/>
          <p:cNvSpPr txBox="1"/>
          <p:nvPr/>
        </p:nvSpPr>
        <p:spPr>
          <a:xfrm xmlns:a="http://schemas.openxmlformats.org/drawingml/2006/main">
            <a:off x="10572750" y="1809750"/>
            <a:ext cx="32385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3050">
                <a:solidFill>
                  <a:srgbClr val="8F8F8E"/>
                </a:solidFill>
                <a:latin typeface="Inter"/>
                <a:ea typeface="Inter"/>
              </a:rPr>
              <a:t>26</a:t>
            </a:r>
            <a:endParaRPr lang="en-US"/>
          </a:p>
        </p:txBody>
      </p:sp>
      <p:sp>
        <p:nvSpPr>
          <p:cNvPr id="17" name="basis-band"/>
          <p:cNvSpPr/>
          <p:nvPr/>
        </p:nvSpPr>
        <p:spPr>
          <a:xfrm xmlns:a="http://schemas.openxmlformats.org/drawingml/2006/main">
            <a:off x="914400" y="7086600"/>
            <a:ext cx="134112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BF8">
              <a:alpha val="10000"/>
            </a:srgbClr>
          </a:solidFill>
          <a:ln xmlns:a="http://schemas.openxmlformats.org/drawingml/2006/main" w="0">
            <a:solidFill>
              <a:srgbClr val="FBFBF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8" name="basis-band-text"/>
          <p:cNvSpPr txBox="1"/>
          <p:nvPr/>
        </p:nvSpPr>
        <p:spPr>
          <a:xfrm xmlns:a="http://schemas.openxmlformats.org/drawingml/2006/main">
            <a:off x="1143000" y="7239000"/>
            <a:ext cx="1190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050">
                <a:solidFill>
                  <a:srgbClr val="8F8F8E"/>
                </a:solidFill>
                <a:latin typeface="Inter"/>
                <a:ea typeface="Inter"/>
              </a:rPr>
              <a:t>Illustrative ledger · values fictional · read the unit, period, and decision threshold</a:t>
            </a:r>
            <a:endParaRPr lang="en-US"/>
          </a:p>
        </p:txBody>
      </p:sp>
      <p:sp>
        <p:nvSpPr>
          <p:cNvPr id="19" name="page-number"/>
          <p:cNvSpPr txBox="1"/>
          <p:nvPr/>
        </p:nvSpPr>
        <p:spPr>
          <a:xfrm xmlns:a="http://schemas.openxmlformats.org/drawingml/2006/main">
            <a:off x="13335000" y="78867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/>
            <a:r>
              <a:rPr lang="en-US" sz="1050">
                <a:solidFill>
                  <a:srgbClr val="8F8F8E"/>
                </a:solidFill>
                <a:latin typeface="Inter"/>
                <a:ea typeface="Inter"/>
              </a:rPr>
              <a:t>1 / 6</a:t>
            </a:r>
            <a:endParaRPr lang="en-US"/>
          </a:p>
        </p:txBody>
      </p:sp>
    </p:spTree>
  </p:cSld>
  <p:clrMapOvr>
    <a:masterClrMapping xmlns:a="http://schemas.openxmlformats.org/drawingml/2006/main"/>
  </p:clrMapOvr>
</p:sld>
</file>

<file path=ppt/slides/slide2.xml><?xml version="1.0" encoding="utf-8"?>
<p:sld xmlns:p="http://schemas.openxmlformats.org/presentationml/2006/main">
  <p:cSld name="Argument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dark-field"/>
          <p:cNvSpPr/>
          <p:nvPr/>
        </p:nvSpPr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A1B"/>
          </a:solidFill>
          <a:ln xmlns:a="http://schemas.openxmlformats.org/drawingml/2006/main" w="0">
            <a:solidFill>
              <a:srgbClr val="191A1B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3" name="eyebrow"/>
          <p:cNvSpPr txBox="1"/>
          <p:nvPr/>
        </p:nvSpPr>
        <p:spPr>
          <a:xfrm xmlns:a="http://schemas.openxmlformats.org/drawingml/2006/main">
            <a:off x="914400" y="781050"/>
            <a:ext cx="647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125" b="1">
                <a:solidFill>
                  <a:srgbClr val="C79522"/>
                </a:solidFill>
                <a:latin typeface="Inter"/>
                <a:ea typeface="Inter"/>
              </a:rPr>
              <a:t>FINANCE · STANCE</a:t>
            </a:r>
            <a:endParaRPr lang="en-US"/>
          </a:p>
        </p:txBody>
      </p:sp>
      <p:sp>
        <p:nvSpPr>
          <p:cNvPr id="4" name="argument-title"/>
          <p:cNvSpPr txBox="1"/>
          <p:nvPr/>
        </p:nvSpPr>
        <p:spPr>
          <a:xfrm xmlns:a="http://schemas.openxmlformats.org/drawingml/2006/main">
            <a:off x="914400" y="1257300"/>
            <a:ext cx="8572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3150" b="1">
                <a:solidFill>
                  <a:srgbClr val="FBFBF8"/>
                </a:solidFill>
                <a:latin typeface="Inter"/>
                <a:ea typeface="Inter"/>
              </a:rPr>
              <a:t>The ledger supports a narrow allocation, not a broad acceleration</a:t>
            </a:r>
            <a:endParaRPr lang="en-US"/>
          </a:p>
        </p:txBody>
      </p:sp>
      <p:sp>
        <p:nvSpPr>
          <p:cNvPr id="5" name="argument-basis"/>
          <p:cNvSpPr txBox="1"/>
          <p:nvPr/>
        </p:nvSpPr>
        <p:spPr>
          <a:xfrm xmlns:a="http://schemas.openxmlformats.org/drawingml/2006/main">
            <a:off x="952500" y="257175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350">
                <a:solidFill>
                  <a:srgbClr val="8F8F8E"/>
                </a:solidFill>
                <a:latin typeface="Inter"/>
                <a:ea typeface="Inter"/>
              </a:rPr>
              <a:t>Three observations separate the signal from the momentum.</a:t>
            </a:r>
            <a:endParaRPr lang="en-US"/>
          </a:p>
        </p:txBody>
      </p:sp>
      <p:sp>
        <p:nvSpPr>
          <p:cNvPr id="6" name="stance-number-0"/>
          <p:cNvSpPr txBox="1"/>
          <p:nvPr/>
        </p:nvSpPr>
        <p:spPr>
          <a:xfrm xmlns:a="http://schemas.openxmlformats.org/drawingml/2006/main">
            <a:off x="1066800" y="3505200"/>
            <a:ext cx="66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2400">
                <a:solidFill>
                  <a:srgbClr val="8F8F8E"/>
                </a:solidFill>
                <a:latin typeface="Inter"/>
                <a:ea typeface="Inter"/>
              </a:rPr>
              <a:t>01</a:t>
            </a:r>
            <a:endParaRPr lang="en-US"/>
          </a:p>
        </p:txBody>
      </p:sp>
      <p:sp>
        <p:nvSpPr>
          <p:cNvPr id="7" name="stance-0"/>
          <p:cNvSpPr txBox="1"/>
          <p:nvPr/>
        </p:nvSpPr>
        <p:spPr>
          <a:xfrm xmlns:a="http://schemas.openxmlformats.org/drawingml/2006/main">
            <a:off x="2095500" y="3505200"/>
            <a:ext cx="752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725" b="1">
                <a:solidFill>
                  <a:srgbClr val="FBFBF8"/>
                </a:solidFill>
                <a:latin typeface="Inter"/>
                <a:ea typeface="Inter"/>
              </a:rPr>
              <a:t>Funding is up, but late-stage deals are fewer.</a:t>
            </a:r>
            <a:endParaRPr lang="en-US"/>
          </a:p>
        </p:txBody>
      </p:sp>
      <p:sp>
        <p:nvSpPr>
          <p:cNvPr id="8" name="stance-detail-0"/>
          <p:cNvSpPr txBox="1"/>
          <p:nvPr/>
        </p:nvSpPr>
        <p:spPr>
          <a:xfrm xmlns:a="http://schemas.openxmlformats.org/drawingml/2006/main">
            <a:off x="2095500" y="3924300"/>
            <a:ext cx="7524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00">
                <a:solidFill>
                  <a:srgbClr val="8F8F8E"/>
                </a:solidFill>
                <a:latin typeface="Inter"/>
                <a:ea typeface="Inter"/>
              </a:rPr>
              <a:t>142.0 units funded; 58 active sites.</a:t>
            </a:r>
            <a:endParaRPr lang="en-US"/>
          </a:p>
        </p:txBody>
      </p:sp>
      <p:sp>
        <p:nvSpPr>
          <p:cNvPr id="9" name="stance-rule-0"/>
          <p:cNvSpPr/>
          <p:nvPr/>
        </p:nvSpPr>
        <p:spPr>
          <a:xfrm xmlns:a="http://schemas.openxmlformats.org/drawingml/2006/main">
            <a:off x="2095500" y="4343400"/>
            <a:ext cx="7810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8F8F8E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0" name="stance-number-1"/>
          <p:cNvSpPr txBox="1"/>
          <p:nvPr/>
        </p:nvSpPr>
        <p:spPr>
          <a:xfrm xmlns:a="http://schemas.openxmlformats.org/drawingml/2006/main">
            <a:off x="1066800" y="4629150"/>
            <a:ext cx="66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2400">
                <a:solidFill>
                  <a:srgbClr val="8F8F8E"/>
                </a:solidFill>
                <a:latin typeface="Inter"/>
                <a:ea typeface="Inter"/>
              </a:rPr>
              <a:t>02</a:t>
            </a:r>
            <a:endParaRPr lang="en-US"/>
          </a:p>
        </p:txBody>
      </p:sp>
      <p:sp>
        <p:nvSpPr>
          <p:cNvPr id="11" name="stance-1"/>
          <p:cNvSpPr txBox="1"/>
          <p:nvPr/>
        </p:nvSpPr>
        <p:spPr>
          <a:xfrm xmlns:a="http://schemas.openxmlformats.org/drawingml/2006/main">
            <a:off x="2095500" y="4629150"/>
            <a:ext cx="752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725" b="1">
                <a:solidFill>
                  <a:srgbClr val="FBFBF8"/>
                </a:solidFill>
                <a:latin typeface="Inter"/>
                <a:ea typeface="Inter"/>
              </a:rPr>
              <a:t>Throughput improved without expanding the footprint.</a:t>
            </a:r>
            <a:endParaRPr lang="en-US"/>
          </a:p>
        </p:txBody>
      </p:sp>
      <p:sp>
        <p:nvSpPr>
          <p:cNvPr id="12" name="stance-detail-1"/>
          <p:cNvSpPr txBox="1"/>
          <p:nvPr/>
        </p:nvSpPr>
        <p:spPr>
          <a:xfrm xmlns:a="http://schemas.openxmlformats.org/drawingml/2006/main">
            <a:off x="2095500" y="5048250"/>
            <a:ext cx="7524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00">
                <a:solidFill>
                  <a:srgbClr val="8F8F8E"/>
                </a:solidFill>
                <a:latin typeface="Inter"/>
                <a:ea typeface="Inter"/>
              </a:rPr>
              <a:t>Output per site is up 18% quarter on quarter.</a:t>
            </a:r>
            <a:endParaRPr lang="en-US"/>
          </a:p>
        </p:txBody>
      </p:sp>
      <p:sp>
        <p:nvSpPr>
          <p:cNvPr id="13" name="stance-rule-1"/>
          <p:cNvSpPr/>
          <p:nvPr/>
        </p:nvSpPr>
        <p:spPr>
          <a:xfrm xmlns:a="http://schemas.openxmlformats.org/drawingml/2006/main">
            <a:off x="2095500" y="5467350"/>
            <a:ext cx="7810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8F8F8E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4" name="stance-number-2"/>
          <p:cNvSpPr txBox="1"/>
          <p:nvPr/>
        </p:nvSpPr>
        <p:spPr>
          <a:xfrm xmlns:a="http://schemas.openxmlformats.org/drawingml/2006/main">
            <a:off x="1066800" y="5753100"/>
            <a:ext cx="66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2400">
                <a:solidFill>
                  <a:srgbClr val="8F8F8E"/>
                </a:solidFill>
                <a:latin typeface="Inter"/>
                <a:ea typeface="Inter"/>
              </a:rPr>
              <a:t>03</a:t>
            </a:r>
            <a:endParaRPr lang="en-US"/>
          </a:p>
        </p:txBody>
      </p:sp>
      <p:sp>
        <p:nvSpPr>
          <p:cNvPr id="15" name="stance-2"/>
          <p:cNvSpPr txBox="1"/>
          <p:nvPr/>
        </p:nvSpPr>
        <p:spPr>
          <a:xfrm xmlns:a="http://schemas.openxmlformats.org/drawingml/2006/main">
            <a:off x="2095500" y="5753100"/>
            <a:ext cx="752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725" b="1">
                <a:solidFill>
                  <a:srgbClr val="FBFBF8"/>
                </a:solidFill>
                <a:latin typeface="Inter"/>
                <a:ea typeface="Inter"/>
              </a:rPr>
              <a:t>The next decision is concentration, not acceleration.</a:t>
            </a:r>
            <a:endParaRPr lang="en-US"/>
          </a:p>
        </p:txBody>
      </p:sp>
      <p:sp>
        <p:nvSpPr>
          <p:cNvPr id="16" name="stance-detail-2"/>
          <p:cNvSpPr txBox="1"/>
          <p:nvPr/>
        </p:nvSpPr>
        <p:spPr>
          <a:xfrm xmlns:a="http://schemas.openxmlformats.org/drawingml/2006/main">
            <a:off x="2095500" y="6172200"/>
            <a:ext cx="7524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00">
                <a:solidFill>
                  <a:srgbClr val="8F8F8E"/>
                </a:solidFill>
                <a:latin typeface="Inter"/>
                <a:ea typeface="Inter"/>
              </a:rPr>
              <a:t>Two regions now carry 61% of active volume.</a:t>
            </a:r>
            <a:endParaRPr lang="en-US"/>
          </a:p>
        </p:txBody>
      </p:sp>
      <p:sp>
        <p:nvSpPr>
          <p:cNvPr id="17" name="stance-rule-2"/>
          <p:cNvSpPr/>
          <p:nvPr/>
        </p:nvSpPr>
        <p:spPr>
          <a:xfrm xmlns:a="http://schemas.openxmlformats.org/drawingml/2006/main">
            <a:off x="2095500" y="6591300"/>
            <a:ext cx="7810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8F8F8E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8" name="stance-rail"/>
          <p:cNvSpPr/>
          <p:nvPr/>
        </p:nvSpPr>
        <p:spPr>
          <a:xfrm xmlns:a="http://schemas.openxmlformats.org/drawingml/2006/main">
            <a:off x="11163300" y="3276600"/>
            <a:ext cx="0" cy="3676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8F8F8E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9" name="stance-rail-label"/>
          <p:cNvSpPr txBox="1"/>
          <p:nvPr/>
        </p:nvSpPr>
        <p:spPr>
          <a:xfrm xmlns:a="http://schemas.openxmlformats.org/drawingml/2006/main">
            <a:off x="11525250" y="33528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125" b="1">
                <a:solidFill>
                  <a:srgbClr val="8F8F8E"/>
                </a:solidFill>
                <a:latin typeface="Inter"/>
                <a:ea typeface="Inter"/>
              </a:rPr>
              <a:t>READ-THROUGH</a:t>
            </a:r>
            <a:endParaRPr lang="en-US"/>
          </a:p>
        </p:txBody>
      </p:sp>
      <p:sp>
        <p:nvSpPr>
          <p:cNvPr id="20" name="stance-rail-value"/>
          <p:cNvSpPr txBox="1"/>
          <p:nvPr/>
        </p:nvSpPr>
        <p:spPr>
          <a:xfrm xmlns:a="http://schemas.openxmlformats.org/drawingml/2006/main">
            <a:off x="11525250" y="3981450"/>
            <a:ext cx="285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3150" b="1">
                <a:solidFill>
                  <a:srgbClr val="C79522"/>
                </a:solidFill>
                <a:latin typeface="Inter"/>
                <a:ea typeface="Inter"/>
              </a:rPr>
              <a:t>18%</a:t>
            </a:r>
            <a:endParaRPr lang="en-US"/>
          </a:p>
        </p:txBody>
      </p:sp>
      <p:sp>
        <p:nvSpPr>
          <p:cNvPr id="21" name="stance-rail-caption"/>
          <p:cNvSpPr txBox="1"/>
          <p:nvPr/>
        </p:nvSpPr>
        <p:spPr>
          <a:xfrm xmlns:a="http://schemas.openxmlformats.org/drawingml/2006/main">
            <a:off x="11525250" y="46101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00">
                <a:solidFill>
                  <a:srgbClr val="8F8F8E"/>
                </a:solidFill>
                <a:latin typeface="Inter"/>
                <a:ea typeface="Inter"/>
              </a:rPr>
              <a:t>output per site</a:t>
            </a:r>
            <a:endParaRPr lang="en-US"/>
          </a:p>
        </p:txBody>
      </p:sp>
      <p:sp>
        <p:nvSpPr>
          <p:cNvPr id="22" name="stance-rail-value-two"/>
          <p:cNvSpPr txBox="1"/>
          <p:nvPr/>
        </p:nvSpPr>
        <p:spPr>
          <a:xfrm xmlns:a="http://schemas.openxmlformats.org/drawingml/2006/main">
            <a:off x="11525250" y="5429250"/>
            <a:ext cx="285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3150" b="1">
                <a:solidFill>
                  <a:srgbClr val="FBFBF8"/>
                </a:solidFill>
                <a:latin typeface="Inter"/>
                <a:ea typeface="Inter"/>
              </a:rPr>
              <a:t>61%</a:t>
            </a:r>
            <a:endParaRPr lang="en-US"/>
          </a:p>
        </p:txBody>
      </p:sp>
      <p:sp>
        <p:nvSpPr>
          <p:cNvPr id="23" name="stance-rail-caption-two"/>
          <p:cNvSpPr txBox="1"/>
          <p:nvPr/>
        </p:nvSpPr>
        <p:spPr>
          <a:xfrm xmlns:a="http://schemas.openxmlformats.org/drawingml/2006/main">
            <a:off x="11525250" y="60579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00">
                <a:solidFill>
                  <a:srgbClr val="8F8F8E"/>
                </a:solidFill>
                <a:latin typeface="Inter"/>
                <a:ea typeface="Inter"/>
              </a:rPr>
              <a:t>volume in two regions</a:t>
            </a:r>
            <a:endParaRPr lang="en-US"/>
          </a:p>
        </p:txBody>
      </p:sp>
      <p:sp>
        <p:nvSpPr>
          <p:cNvPr id="24" name="source"/>
          <p:cNvSpPr txBox="1"/>
          <p:nvPr/>
        </p:nvSpPr>
        <p:spPr>
          <a:xfrm xmlns:a="http://schemas.openxmlformats.org/drawingml/2006/main">
            <a:off x="914400" y="7829550"/>
            <a:ext cx="1095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050">
                <a:solidFill>
                  <a:srgbClr val="8F8F8E"/>
                </a:solidFill>
                <a:latin typeface="Inter"/>
                <a:ea typeface="Inter"/>
              </a:rPr>
              <a:t>Source: illustrative calibration brief · values are fictional</a:t>
            </a:r>
            <a:endParaRPr lang="en-US"/>
          </a:p>
        </p:txBody>
      </p:sp>
      <p:sp>
        <p:nvSpPr>
          <p:cNvPr id="25" name="page-number"/>
          <p:cNvSpPr txBox="1"/>
          <p:nvPr/>
        </p:nvSpPr>
        <p:spPr>
          <a:xfrm xmlns:a="http://schemas.openxmlformats.org/drawingml/2006/main">
            <a:off x="13335000" y="78295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/>
            <a:r>
              <a:rPr lang="en-US" sz="1050">
                <a:solidFill>
                  <a:srgbClr val="8F8F8E"/>
                </a:solidFill>
                <a:latin typeface="Inter"/>
                <a:ea typeface="Inter"/>
              </a:rPr>
              <a:t>2 / 6</a:t>
            </a:r>
            <a:endParaRPr lang="en-US"/>
          </a:p>
        </p:txBody>
      </p:sp>
    </p:spTree>
  </p:cSld>
  <p:clrMapOvr>
    <a:masterClrMapping xmlns:a="http://schemas.openxmlformats.org/drawingml/2006/main"/>
  </p:clrMapOvr>
</p:sld>
</file>

<file path=ppt/slides/slide3.xml><?xml version="1.0" encoding="utf-8"?>
<p:sld xmlns:p="http://schemas.openxmlformats.org/presentationml/2006/main">
  <p:cSld name="Evidence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BF8"/>
          </a:solidFill>
          <a:ln xmlns:a="http://schemas.openxmlformats.org/drawingml/2006/main" w="0">
            <a:solidFill>
              <a:srgbClr val="FBFBF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3" name="evidence-top-rule"/>
          <p:cNvSpPr/>
          <p:nvPr/>
        </p:nvSpPr>
        <p:spPr>
          <a:xfrm xmlns:a="http://schemas.openxmlformats.org/drawingml/2006/main">
            <a:off x="838200" y="666750"/>
            <a:ext cx="13563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C79522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4" name="GILT MARKET LEDGER · EVIDENCE"/>
          <p:cNvSpPr txBox="1"/>
          <p:nvPr/>
        </p:nvSpPr>
        <p:spPr>
          <a:xfrm xmlns:a="http://schemas.openxmlformats.org/drawingml/2006/main">
            <a:off x="914400" y="8953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00" b="1">
                <a:solidFill>
                  <a:srgbClr val="C79522"/>
                </a:solidFill>
                <a:latin typeface="Inter"/>
                <a:ea typeface="Inter"/>
              </a:rPr>
              <a:t>GILT MARKET LEDGER · EVIDENCE</a:t>
            </a:r>
            <a:endParaRPr lang="en-US"/>
          </a:p>
        </p:txBody>
      </p:sp>
      <p:sp>
        <p:nvSpPr>
          <p:cNvPr id="5" name="evidence-title"/>
          <p:cNvSpPr txBox="1"/>
          <p:nvPr/>
        </p:nvSpPr>
        <p:spPr>
          <a:xfrm xmlns:a="http://schemas.openxmlformats.org/drawingml/2006/main">
            <a:off x="914400" y="1314450"/>
            <a:ext cx="11811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2850" b="1">
                <a:solidFill>
                  <a:srgbClr val="191A1B"/>
                </a:solidFill>
                <a:latin typeface="Inter"/>
                <a:ea typeface="Inter"/>
              </a:rPr>
              <a:t>The ledger moves, but the threshold still governs</a:t>
            </a:r>
            <a:endParaRPr lang="en-US"/>
          </a:p>
        </p:txBody>
      </p:sp>
      <p:sp>
        <p:nvSpPr>
          <p:cNvPr id="6" name="evidence-basis"/>
          <p:cNvSpPr txBox="1"/>
          <p:nvPr/>
        </p:nvSpPr>
        <p:spPr>
          <a:xfrm xmlns:a="http://schemas.openxmlformats.org/drawingml/2006/main">
            <a:off x="952500" y="198120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350">
                <a:solidFill>
                  <a:srgbClr val="8F8F8E"/>
                </a:solidFill>
                <a:latin typeface="Inter"/>
                <a:ea typeface="Inter"/>
              </a:rPr>
              <a:t>Illustrative ledger · values show period, unit, and decision threshold.</a:t>
            </a:r>
            <a:endParaRPr lang="en-US"/>
          </a:p>
        </p:txBody>
      </p:sp>
      <p:sp>
        <p:nvSpPr>
          <p:cNvPr id="7" name="evidence-rule"/>
          <p:cNvSpPr/>
          <p:nvPr/>
        </p:nvSpPr>
        <p:spPr>
          <a:xfrm xmlns:a="http://schemas.openxmlformats.org/drawingml/2006/main">
            <a:off x="914400" y="2457450"/>
            <a:ext cx="13411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8F8F8E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graphicFrame>
        <p:nvGraphicFramePr>
          <p:cNvPr id="8" name="finance-evidence-table"/>
          <p:cNvGraphicFramePr>
            <a:graphicFrameLocks xmlns:a="http://schemas.openxmlformats.org/drawingml/2006/main" noGrp="1"/>
          </p:cNvGraphicFramePr>
          <p:nvPr/>
        </p:nvGraphicFramePr>
        <p:xfrm>
          <a:off xmlns:a="http://schemas.openxmlformats.org/drawingml/2006/main" x="990600" y="3162300"/>
          <a:ext xmlns:a="http://schemas.openxmlformats.org/drawingml/2006/main" cx="8001000" cy="2895600"/>
        </p:xfrm>
        <a:graphic xmlns:a="http://schemas.openxmlformats.org/drawingml/2006/main">
          <a:graphicData uri="http://schemas.openxmlformats.org/drawingml/2006/table">
            <a:tbl>
              <a:tblPr firstRow="1"/>
              <a:tblGrid>
                <a:gridCol w="2000250"/>
                <a:gridCol w="2000250"/>
                <a:gridCol w="2000250"/>
                <a:gridCol w="2000250"/>
              </a:tblGrid>
              <a:tr h="579120">
                <a:tc>
                  <a:txBody>
                    <a:bodyPr/>
                    <a:lstStyle/>
                    <a:p>
                      <a:r>
                        <a:rPr lang="en-US" sz="1350" b="1">
                          <a:solidFill>
                            <a:srgbClr val="000000"/>
                          </a:solidFill>
                        </a:rPr>
                        <a:t>Metric</a:t>
                      </a:r>
                      <a:endParaRPr lang="en-US" sz="1350"/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50" b="1">
                          <a:solidFill>
                            <a:srgbClr val="000000"/>
                          </a:solidFill>
                        </a:rPr>
                        <a:t>Base</a:t>
                      </a:r>
                      <a:endParaRPr lang="en-US" sz="1350"/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50" b="1">
                          <a:solidFill>
                            <a:srgbClr val="000000"/>
                          </a:solidFill>
                        </a:rPr>
                        <a:t>Plan</a:t>
                      </a:r>
                      <a:endParaRPr lang="en-US" sz="1350"/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50" b="1">
                          <a:solidFill>
                            <a:srgbClr val="000000"/>
                          </a:solidFill>
                        </a:rPr>
                        <a:t>Delta</a:t>
                      </a:r>
                      <a:endParaRPr lang="en-US" sz="1350"/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r>
                        <a:rPr lang="en-US" sz="1350" b="0">
                          <a:solidFill>
                            <a:srgbClr val="0F172A"/>
                          </a:solidFill>
                        </a:rPr>
                        <a:t>Coverage</a:t>
                      </a:r>
                      <a:endParaRPr lang="en-US" sz="135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50" b="0">
                          <a:solidFill>
                            <a:srgbClr val="0F172A"/>
                          </a:solidFill>
                        </a:rPr>
                        <a:t>42</a:t>
                      </a:r>
                      <a:endParaRPr lang="en-US" sz="135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50" b="0">
                          <a:solidFill>
                            <a:srgbClr val="0F172A"/>
                          </a:solidFill>
                        </a:rPr>
                        <a:t>51</a:t>
                      </a:r>
                      <a:endParaRPr lang="en-US" sz="135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50" b="0">
                          <a:solidFill>
                            <a:srgbClr val="0F172A"/>
                          </a:solidFill>
                        </a:rPr>
                        <a:t>+9</a:t>
                      </a:r>
                      <a:endParaRPr lang="en-US" sz="1350"/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r>
                        <a:rPr lang="en-US" sz="1350" b="0">
                          <a:solidFill>
                            <a:srgbClr val="0F172A"/>
                          </a:solidFill>
                        </a:rPr>
                        <a:t>Cash conversion</a:t>
                      </a:r>
                      <a:endParaRPr lang="en-US" sz="135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50" b="0">
                          <a:solidFill>
                            <a:srgbClr val="0F172A"/>
                          </a:solidFill>
                        </a:rPr>
                        <a:t>1.6x</a:t>
                      </a:r>
                      <a:endParaRPr lang="en-US" sz="135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50" b="0">
                          <a:solidFill>
                            <a:srgbClr val="0F172A"/>
                          </a:solidFill>
                        </a:rPr>
                        <a:t>2.1x</a:t>
                      </a:r>
                      <a:endParaRPr lang="en-US" sz="135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50" b="0">
                          <a:solidFill>
                            <a:srgbClr val="0F172A"/>
                          </a:solidFill>
                        </a:rPr>
                        <a:t>+0.5x</a:t>
                      </a:r>
                      <a:endParaRPr lang="en-US" sz="1350"/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r>
                        <a:rPr lang="en-US" sz="1350" b="0">
                          <a:solidFill>
                            <a:srgbClr val="0F172A"/>
                          </a:solidFill>
                        </a:rPr>
                        <a:t>Risk buffer</a:t>
                      </a:r>
                      <a:endParaRPr lang="en-US" sz="135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50" b="0">
                          <a:solidFill>
                            <a:srgbClr val="0F172A"/>
                          </a:solidFill>
                        </a:rPr>
                        <a:t>8w</a:t>
                      </a:r>
                      <a:endParaRPr lang="en-US" sz="135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50" b="0">
                          <a:solidFill>
                            <a:srgbClr val="0F172A"/>
                          </a:solidFill>
                        </a:rPr>
                        <a:t>10w</a:t>
                      </a:r>
                      <a:endParaRPr lang="en-US" sz="135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50" b="0">
                          <a:solidFill>
                            <a:srgbClr val="0F172A"/>
                          </a:solidFill>
                        </a:rPr>
                        <a:t>+2w</a:t>
                      </a:r>
                      <a:endParaRPr lang="en-US" sz="1350"/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r>
                        <a:rPr lang="en-US" sz="1350" b="0">
                          <a:solidFill>
                            <a:srgbClr val="0F172A"/>
                          </a:solidFill>
                        </a:rPr>
                        <a:t>Release gate</a:t>
                      </a:r>
                      <a:endParaRPr lang="en-US" sz="135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50" b="0">
                          <a:solidFill>
                            <a:srgbClr val="0F172A"/>
                          </a:solidFill>
                        </a:rPr>
                        <a:t>Open</a:t>
                      </a:r>
                      <a:endParaRPr lang="en-US" sz="135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50" b="0">
                          <a:solidFill>
                            <a:srgbClr val="0F172A"/>
                          </a:solidFill>
                        </a:rPr>
                        <a:t>Clear</a:t>
                      </a:r>
                      <a:endParaRPr lang="en-US" sz="135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50" b="0">
                          <a:solidFill>
                            <a:srgbClr val="0F172A"/>
                          </a:solidFill>
                        </a:rPr>
                        <a:t>—</a:t>
                      </a:r>
                      <a:endParaRPr lang="en-US" sz="1350"/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able-note-label"/>
          <p:cNvSpPr txBox="1"/>
          <p:nvPr/>
        </p:nvSpPr>
        <p:spPr>
          <a:xfrm xmlns:a="http://schemas.openxmlformats.org/drawingml/2006/main">
            <a:off x="9810750" y="33147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125" b="1">
                <a:solidFill>
                  <a:srgbClr val="C79522"/>
                </a:solidFill>
                <a:latin typeface="Inter"/>
                <a:ea typeface="Inter"/>
              </a:rPr>
              <a:t>MODEL READ-THROUGH</a:t>
            </a:r>
            <a:endParaRPr lang="en-US"/>
          </a:p>
        </p:txBody>
      </p:sp>
      <p:sp>
        <p:nvSpPr>
          <p:cNvPr id="10" name="table-note-title"/>
          <p:cNvSpPr txBox="1"/>
          <p:nvPr/>
        </p:nvSpPr>
        <p:spPr>
          <a:xfrm xmlns:a="http://schemas.openxmlformats.org/drawingml/2006/main">
            <a:off x="9810750" y="3790950"/>
            <a:ext cx="3619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2100" b="1">
                <a:solidFill>
                  <a:srgbClr val="191A1B"/>
                </a:solidFill>
                <a:latin typeface="Inter"/>
                <a:ea typeface="Inter"/>
              </a:rPr>
              <a:t>The gate stays visible beside the number.</a:t>
            </a:r>
            <a:endParaRPr lang="en-US"/>
          </a:p>
        </p:txBody>
      </p:sp>
      <p:sp>
        <p:nvSpPr>
          <p:cNvPr id="11" name="table-note-rule"/>
          <p:cNvSpPr/>
          <p:nvPr/>
        </p:nvSpPr>
        <p:spPr>
          <a:xfrm xmlns:a="http://schemas.openxmlformats.org/drawingml/2006/main">
            <a:off x="9810750" y="5010150"/>
            <a:ext cx="3619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8F8F8E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2" name="table-note-body"/>
          <p:cNvSpPr txBox="1"/>
          <p:nvPr/>
        </p:nvSpPr>
        <p:spPr>
          <a:xfrm xmlns:a="http://schemas.openxmlformats.org/drawingml/2006/main">
            <a:off x="9810750" y="5276850"/>
            <a:ext cx="3524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75">
                <a:solidFill>
                  <a:srgbClr val="8F8F8E"/>
                </a:solidFill>
                <a:latin typeface="Inter"/>
                <a:ea typeface="Inter"/>
              </a:rPr>
              <a:t>Use a table when assumptions and units carry the decision. Charts support the ledger; they do not replace it.</a:t>
            </a:r>
            <a:endParaRPr lang="en-US"/>
          </a:p>
        </p:txBody>
      </p:sp>
      <p:sp>
        <p:nvSpPr>
          <p:cNvPr id="13" name="evidence-band"/>
          <p:cNvSpPr/>
          <p:nvPr/>
        </p:nvSpPr>
        <p:spPr>
          <a:xfrm xmlns:a="http://schemas.openxmlformats.org/drawingml/2006/main">
            <a:off x="914400" y="6877050"/>
            <a:ext cx="13411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8"/>
          </a:solidFill>
          <a:ln xmlns:a="http://schemas.openxmlformats.org/drawingml/2006/main" w="0">
            <a:solidFill>
              <a:srgbClr val="F3F5F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4" name="evidence-band-text"/>
          <p:cNvSpPr txBox="1"/>
          <p:nvPr/>
        </p:nvSpPr>
        <p:spPr>
          <a:xfrm xmlns:a="http://schemas.openxmlformats.org/drawingml/2006/main">
            <a:off x="1143000" y="7058025"/>
            <a:ext cx="1238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75" b="1">
                <a:solidFill>
                  <a:srgbClr val="191A1B"/>
                </a:solidFill>
                <a:latin typeface="Inter"/>
                <a:ea typeface="Inter"/>
              </a:rPr>
              <a:t>EVIDENCE  ·  Keep the unit, time window, and limitation adjacent to the number.</a:t>
            </a:r>
            <a:endParaRPr lang="en-US"/>
          </a:p>
        </p:txBody>
      </p:sp>
      <p:sp>
        <p:nvSpPr>
          <p:cNvPr id="15" name="source"/>
          <p:cNvSpPr txBox="1"/>
          <p:nvPr/>
        </p:nvSpPr>
        <p:spPr>
          <a:xfrm xmlns:a="http://schemas.openxmlformats.org/drawingml/2006/main">
            <a:off x="914400" y="7829550"/>
            <a:ext cx="1095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050">
                <a:solidFill>
                  <a:srgbClr val="8F8F8E"/>
                </a:solidFill>
                <a:latin typeface="Inter"/>
                <a:ea typeface="Inter"/>
              </a:rPr>
              <a:t>Source: illustrative calibration brief · values are fictional</a:t>
            </a:r>
            <a:endParaRPr lang="en-US"/>
          </a:p>
        </p:txBody>
      </p:sp>
      <p:sp>
        <p:nvSpPr>
          <p:cNvPr id="16" name="page-number"/>
          <p:cNvSpPr txBox="1"/>
          <p:nvPr/>
        </p:nvSpPr>
        <p:spPr>
          <a:xfrm xmlns:a="http://schemas.openxmlformats.org/drawingml/2006/main">
            <a:off x="13335000" y="78295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/>
            <a:r>
              <a:rPr lang="en-US" sz="1050">
                <a:solidFill>
                  <a:srgbClr val="8F8F8E"/>
                </a:solidFill>
                <a:latin typeface="Inter"/>
                <a:ea typeface="Inter"/>
              </a:rPr>
              <a:t>3 / 6</a:t>
            </a:r>
            <a:endParaRPr lang="en-US"/>
          </a:p>
        </p:txBody>
      </p:sp>
    </p:spTree>
  </p:cSld>
  <p:clrMapOvr>
    <a:masterClrMapping xmlns:a="http://schemas.openxmlformats.org/drawingml/2006/main"/>
  </p:clrMapOvr>
</p:sld>
</file>

<file path=ppt/slides/slide4.xml><?xml version="1.0" encoding="utf-8"?>
<p:sld xmlns:p="http://schemas.openxmlformats.org/presentationml/2006/main">
  <p:cSld name="Detail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BF8"/>
          </a:solidFill>
          <a:ln xmlns:a="http://schemas.openxmlformats.org/drawingml/2006/main" w="0">
            <a:solidFill>
              <a:srgbClr val="FBFBF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3" name="detail-top-rule"/>
          <p:cNvSpPr/>
          <p:nvPr/>
        </p:nvSpPr>
        <p:spPr>
          <a:xfrm xmlns:a="http://schemas.openxmlformats.org/drawingml/2006/main">
            <a:off x="838200" y="666750"/>
            <a:ext cx="13563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C79522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4" name="GILT MARKET LEDGER · DETAIL"/>
          <p:cNvSpPr txBox="1"/>
          <p:nvPr/>
        </p:nvSpPr>
        <p:spPr>
          <a:xfrm xmlns:a="http://schemas.openxmlformats.org/drawingml/2006/main">
            <a:off x="914400" y="8953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00" b="1">
                <a:solidFill>
                  <a:srgbClr val="C79522"/>
                </a:solidFill>
                <a:latin typeface="Inter"/>
                <a:ea typeface="Inter"/>
              </a:rPr>
              <a:t>GILT MARKET LEDGER · DETAIL</a:t>
            </a:r>
            <a:endParaRPr lang="en-US"/>
          </a:p>
        </p:txBody>
      </p:sp>
      <p:sp>
        <p:nvSpPr>
          <p:cNvPr id="5" name="detail-title"/>
          <p:cNvSpPr txBox="1"/>
          <p:nvPr/>
        </p:nvSpPr>
        <p:spPr>
          <a:xfrm xmlns:a="http://schemas.openxmlformats.org/drawingml/2006/main">
            <a:off x="914400" y="1314450"/>
            <a:ext cx="11811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2850" b="1">
                <a:solidFill>
                  <a:srgbClr val="191A1B"/>
                </a:solidFill>
                <a:latin typeface="Inter"/>
                <a:ea typeface="Inter"/>
              </a:rPr>
              <a:t>The ledger carries the assumptions</a:t>
            </a:r>
            <a:endParaRPr lang="en-US"/>
          </a:p>
        </p:txBody>
      </p:sp>
      <p:sp>
        <p:nvSpPr>
          <p:cNvPr id="6" name="detail-basis"/>
          <p:cNvSpPr txBox="1"/>
          <p:nvPr/>
        </p:nvSpPr>
        <p:spPr>
          <a:xfrm xmlns:a="http://schemas.openxmlformats.org/drawingml/2006/main">
            <a:off x="952500" y="198120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350">
                <a:solidFill>
                  <a:srgbClr val="8F8F8E"/>
                </a:solidFill>
                <a:latin typeface="Inter"/>
                <a:ea typeface="Inter"/>
              </a:rPr>
              <a:t>Assumption grid · values stay aligned to their basis and release gate.</a:t>
            </a:r>
            <a:endParaRPr lang="en-US"/>
          </a:p>
        </p:txBody>
      </p:sp>
      <p:sp>
        <p:nvSpPr>
          <p:cNvPr id="7" name="detail-rule"/>
          <p:cNvSpPr/>
          <p:nvPr/>
        </p:nvSpPr>
        <p:spPr>
          <a:xfrm xmlns:a="http://schemas.openxmlformats.org/drawingml/2006/main">
            <a:off x="914400" y="2457450"/>
            <a:ext cx="13411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8F8F8E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graphicFrame>
        <p:nvGraphicFramePr>
          <p:cNvPr id="8" name="finance-evidence-table"/>
          <p:cNvGraphicFramePr>
            <a:graphicFrameLocks xmlns:a="http://schemas.openxmlformats.org/drawingml/2006/main" noGrp="1"/>
          </p:cNvGraphicFramePr>
          <p:nvPr/>
        </p:nvGraphicFramePr>
        <p:xfrm>
          <a:off xmlns:a="http://schemas.openxmlformats.org/drawingml/2006/main" x="990600" y="3162300"/>
          <a:ext xmlns:a="http://schemas.openxmlformats.org/drawingml/2006/main" cx="8001000" cy="2895600"/>
        </p:xfrm>
        <a:graphic xmlns:a="http://schemas.openxmlformats.org/drawingml/2006/main">
          <a:graphicData uri="http://schemas.openxmlformats.org/drawingml/2006/table">
            <a:tbl>
              <a:tblPr firstRow="1"/>
              <a:tblGrid>
                <a:gridCol w="2000250"/>
                <a:gridCol w="2000250"/>
                <a:gridCol w="2000250"/>
                <a:gridCol w="2000250"/>
              </a:tblGrid>
              <a:tr h="579120">
                <a:tc>
                  <a:txBody>
                    <a:bodyPr/>
                    <a:lstStyle/>
                    <a:p>
                      <a:r>
                        <a:rPr lang="en-US" sz="1350" b="1">
                          <a:solidFill>
                            <a:srgbClr val="000000"/>
                          </a:solidFill>
                        </a:rPr>
                        <a:t>Metric</a:t>
                      </a:r>
                      <a:endParaRPr lang="en-US" sz="1350"/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50" b="1">
                          <a:solidFill>
                            <a:srgbClr val="000000"/>
                          </a:solidFill>
                        </a:rPr>
                        <a:t>Base</a:t>
                      </a:r>
                      <a:endParaRPr lang="en-US" sz="1350"/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50" b="1">
                          <a:solidFill>
                            <a:srgbClr val="000000"/>
                          </a:solidFill>
                        </a:rPr>
                        <a:t>Plan</a:t>
                      </a:r>
                      <a:endParaRPr lang="en-US" sz="1350"/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50" b="1">
                          <a:solidFill>
                            <a:srgbClr val="000000"/>
                          </a:solidFill>
                        </a:rPr>
                        <a:t>Delta</a:t>
                      </a:r>
                      <a:endParaRPr lang="en-US" sz="1350"/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r>
                        <a:rPr lang="en-US" sz="1350" b="0">
                          <a:solidFill>
                            <a:srgbClr val="0F172A"/>
                          </a:solidFill>
                        </a:rPr>
                        <a:t>Coverage</a:t>
                      </a:r>
                      <a:endParaRPr lang="en-US" sz="135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50" b="0">
                          <a:solidFill>
                            <a:srgbClr val="0F172A"/>
                          </a:solidFill>
                        </a:rPr>
                        <a:t>42</a:t>
                      </a:r>
                      <a:endParaRPr lang="en-US" sz="135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50" b="0">
                          <a:solidFill>
                            <a:srgbClr val="0F172A"/>
                          </a:solidFill>
                        </a:rPr>
                        <a:t>51</a:t>
                      </a:r>
                      <a:endParaRPr lang="en-US" sz="135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50" b="0">
                          <a:solidFill>
                            <a:srgbClr val="0F172A"/>
                          </a:solidFill>
                        </a:rPr>
                        <a:t>+9</a:t>
                      </a:r>
                      <a:endParaRPr lang="en-US" sz="1350"/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r>
                        <a:rPr lang="en-US" sz="1350" b="0">
                          <a:solidFill>
                            <a:srgbClr val="0F172A"/>
                          </a:solidFill>
                        </a:rPr>
                        <a:t>Cash conversion</a:t>
                      </a:r>
                      <a:endParaRPr lang="en-US" sz="135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50" b="0">
                          <a:solidFill>
                            <a:srgbClr val="0F172A"/>
                          </a:solidFill>
                        </a:rPr>
                        <a:t>1.6x</a:t>
                      </a:r>
                      <a:endParaRPr lang="en-US" sz="135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50" b="0">
                          <a:solidFill>
                            <a:srgbClr val="0F172A"/>
                          </a:solidFill>
                        </a:rPr>
                        <a:t>2.1x</a:t>
                      </a:r>
                      <a:endParaRPr lang="en-US" sz="135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50" b="0">
                          <a:solidFill>
                            <a:srgbClr val="0F172A"/>
                          </a:solidFill>
                        </a:rPr>
                        <a:t>+0.5x</a:t>
                      </a:r>
                      <a:endParaRPr lang="en-US" sz="1350"/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r>
                        <a:rPr lang="en-US" sz="1350" b="0">
                          <a:solidFill>
                            <a:srgbClr val="0F172A"/>
                          </a:solidFill>
                        </a:rPr>
                        <a:t>Risk buffer</a:t>
                      </a:r>
                      <a:endParaRPr lang="en-US" sz="135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50" b="0">
                          <a:solidFill>
                            <a:srgbClr val="0F172A"/>
                          </a:solidFill>
                        </a:rPr>
                        <a:t>8w</a:t>
                      </a:r>
                      <a:endParaRPr lang="en-US" sz="135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50" b="0">
                          <a:solidFill>
                            <a:srgbClr val="0F172A"/>
                          </a:solidFill>
                        </a:rPr>
                        <a:t>10w</a:t>
                      </a:r>
                      <a:endParaRPr lang="en-US" sz="135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50" b="0">
                          <a:solidFill>
                            <a:srgbClr val="0F172A"/>
                          </a:solidFill>
                        </a:rPr>
                        <a:t>+2w</a:t>
                      </a:r>
                      <a:endParaRPr lang="en-US" sz="1350"/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r>
                        <a:rPr lang="en-US" sz="1350" b="0">
                          <a:solidFill>
                            <a:srgbClr val="0F172A"/>
                          </a:solidFill>
                        </a:rPr>
                        <a:t>Release gate</a:t>
                      </a:r>
                      <a:endParaRPr lang="en-US" sz="135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50" b="0">
                          <a:solidFill>
                            <a:srgbClr val="0F172A"/>
                          </a:solidFill>
                        </a:rPr>
                        <a:t>Open</a:t>
                      </a:r>
                      <a:endParaRPr lang="en-US" sz="135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50" b="0">
                          <a:solidFill>
                            <a:srgbClr val="0F172A"/>
                          </a:solidFill>
                        </a:rPr>
                        <a:t>Clear</a:t>
                      </a:r>
                      <a:endParaRPr lang="en-US" sz="135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50" b="0">
                          <a:solidFill>
                            <a:srgbClr val="0F172A"/>
                          </a:solidFill>
                        </a:rPr>
                        <a:t>—</a:t>
                      </a:r>
                      <a:endParaRPr lang="en-US" sz="1350"/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able-note-label"/>
          <p:cNvSpPr txBox="1"/>
          <p:nvPr/>
        </p:nvSpPr>
        <p:spPr>
          <a:xfrm xmlns:a="http://schemas.openxmlformats.org/drawingml/2006/main">
            <a:off x="9810750" y="33147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125" b="1">
                <a:solidFill>
                  <a:srgbClr val="C79522"/>
                </a:solidFill>
                <a:latin typeface="Inter"/>
                <a:ea typeface="Inter"/>
              </a:rPr>
              <a:t>MODEL READ-THROUGH</a:t>
            </a:r>
            <a:endParaRPr lang="en-US"/>
          </a:p>
        </p:txBody>
      </p:sp>
      <p:sp>
        <p:nvSpPr>
          <p:cNvPr id="10" name="table-note-title"/>
          <p:cNvSpPr txBox="1"/>
          <p:nvPr/>
        </p:nvSpPr>
        <p:spPr>
          <a:xfrm xmlns:a="http://schemas.openxmlformats.org/drawingml/2006/main">
            <a:off x="9810750" y="3790950"/>
            <a:ext cx="3619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2100" b="1">
                <a:solidFill>
                  <a:srgbClr val="191A1B"/>
                </a:solidFill>
                <a:latin typeface="Inter"/>
                <a:ea typeface="Inter"/>
              </a:rPr>
              <a:t>The gate stays visible beside the number.</a:t>
            </a:r>
            <a:endParaRPr lang="en-US"/>
          </a:p>
        </p:txBody>
      </p:sp>
      <p:sp>
        <p:nvSpPr>
          <p:cNvPr id="11" name="table-note-rule"/>
          <p:cNvSpPr/>
          <p:nvPr/>
        </p:nvSpPr>
        <p:spPr>
          <a:xfrm xmlns:a="http://schemas.openxmlformats.org/drawingml/2006/main">
            <a:off x="9810750" y="5010150"/>
            <a:ext cx="3619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8F8F8E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2" name="table-note-body"/>
          <p:cNvSpPr txBox="1"/>
          <p:nvPr/>
        </p:nvSpPr>
        <p:spPr>
          <a:xfrm xmlns:a="http://schemas.openxmlformats.org/drawingml/2006/main">
            <a:off x="9810750" y="5276850"/>
            <a:ext cx="3524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75">
                <a:solidFill>
                  <a:srgbClr val="8F8F8E"/>
                </a:solidFill>
                <a:latin typeface="Inter"/>
                <a:ea typeface="Inter"/>
              </a:rPr>
              <a:t>Use a table when assumptions and units carry the decision. Charts support the ledger; they do not replace it.</a:t>
            </a:r>
            <a:endParaRPr lang="en-US"/>
          </a:p>
        </p:txBody>
      </p:sp>
      <p:sp>
        <p:nvSpPr>
          <p:cNvPr id="13" name="source"/>
          <p:cNvSpPr txBox="1"/>
          <p:nvPr/>
        </p:nvSpPr>
        <p:spPr>
          <a:xfrm xmlns:a="http://schemas.openxmlformats.org/drawingml/2006/main">
            <a:off x="914400" y="7829550"/>
            <a:ext cx="1095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050">
                <a:solidFill>
                  <a:srgbClr val="8F8F8E"/>
                </a:solidFill>
                <a:latin typeface="Inter"/>
                <a:ea typeface="Inter"/>
              </a:rPr>
              <a:t>Source: illustrative calibration brief · labels and values are fictional</a:t>
            </a:r>
            <a:endParaRPr lang="en-US"/>
          </a:p>
        </p:txBody>
      </p:sp>
      <p:sp>
        <p:nvSpPr>
          <p:cNvPr id="14" name="page-number"/>
          <p:cNvSpPr txBox="1"/>
          <p:nvPr/>
        </p:nvSpPr>
        <p:spPr>
          <a:xfrm xmlns:a="http://schemas.openxmlformats.org/drawingml/2006/main">
            <a:off x="13335000" y="78295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/>
            <a:r>
              <a:rPr lang="en-US" sz="1050">
                <a:solidFill>
                  <a:srgbClr val="8F8F8E"/>
                </a:solidFill>
                <a:latin typeface="Inter"/>
                <a:ea typeface="Inter"/>
              </a:rPr>
              <a:t>4 / 6</a:t>
            </a:r>
            <a:endParaRPr lang="en-US"/>
          </a:p>
        </p:txBody>
      </p:sp>
    </p:spTree>
  </p:cSld>
  <p:clrMapOvr>
    <a:masterClrMapping xmlns:a="http://schemas.openxmlformats.org/drawingml/2006/main"/>
  </p:clrMapOvr>
</p:sld>
</file>

<file path=ppt/slides/slide5.xml><?xml version="1.0" encoding="utf-8"?>
<p:sld xmlns:p="http://schemas.openxmlformats.org/presentationml/2006/main">
  <p:cSld name="Visual carrier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BF8"/>
          </a:solidFill>
          <a:ln xmlns:a="http://schemas.openxmlformats.org/drawingml/2006/main" w="0">
            <a:solidFill>
              <a:srgbClr val="FBFBF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3" name="visual-top-rule"/>
          <p:cNvSpPr/>
          <p:nvPr/>
        </p:nvSpPr>
        <p:spPr>
          <a:xfrm xmlns:a="http://schemas.openxmlformats.org/drawingml/2006/main">
            <a:off x="838200" y="666750"/>
            <a:ext cx="13563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C79522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4" name="GILT MARKET LEDGER · VISUAL CARRIER"/>
          <p:cNvSpPr txBox="1"/>
          <p:nvPr/>
        </p:nvSpPr>
        <p:spPr>
          <a:xfrm xmlns:a="http://schemas.openxmlformats.org/drawingml/2006/main">
            <a:off x="914400" y="8953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00" b="1">
                <a:solidFill>
                  <a:srgbClr val="C79522"/>
                </a:solidFill>
                <a:latin typeface="Inter"/>
                <a:ea typeface="Inter"/>
              </a:rPr>
              <a:t>GILT MARKET LEDGER · VISUAL CARRIER</a:t>
            </a:r>
            <a:endParaRPr lang="en-US"/>
          </a:p>
        </p:txBody>
      </p:sp>
      <p:sp>
        <p:nvSpPr>
          <p:cNvPr id="5" name="visual-title"/>
          <p:cNvSpPr txBox="1"/>
          <p:nvPr/>
        </p:nvSpPr>
        <p:spPr>
          <a:xfrm xmlns:a="http://schemas.openxmlformats.org/drawingml/2006/main">
            <a:off x="914400" y="1314450"/>
            <a:ext cx="11811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2850" b="1">
                <a:solidFill>
                  <a:srgbClr val="191A1B"/>
                </a:solidFill>
                <a:latin typeface="Inter"/>
                <a:ea typeface="Inter"/>
              </a:rPr>
              <a:t>A visual field can carry a signal</a:t>
            </a:r>
            <a:endParaRPr lang="en-US"/>
          </a:p>
        </p:txBody>
      </p:sp>
      <p:sp>
        <p:nvSpPr>
          <p:cNvPr id="6" name="visual-body"/>
          <p:cNvSpPr txBox="1"/>
          <p:nvPr/>
        </p:nvSpPr>
        <p:spPr>
          <a:xfrm xmlns:a="http://schemas.openxmlformats.org/drawingml/2006/main">
            <a:off x="952500" y="198120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350">
                <a:solidFill>
                  <a:srgbClr val="8F8F8E"/>
                </a:solidFill>
                <a:latin typeface="Inter"/>
                <a:ea typeface="Inter"/>
              </a:rPr>
              <a:t>The picture is not a mood board; it is the surface where the argument lands.</a:t>
            </a:r>
            <a:endParaRPr lang="en-US"/>
          </a:p>
        </p:txBody>
      </p:sp>
      <p:sp>
        <p:nvSpPr>
          <p:cNvPr id="7" name="visual-rule"/>
          <p:cNvSpPr/>
          <p:nvPr/>
        </p:nvSpPr>
        <p:spPr>
          <a:xfrm xmlns:a="http://schemas.openxmlformats.org/drawingml/2006/main">
            <a:off x="914400" y="2457450"/>
            <a:ext cx="13411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8F8F8E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graphicFrame>
        <p:nvGraphicFramePr>
          <p:cNvPr id="8" name="dense-visual-bars"/>
          <p:cNvGraphicFramePr>
            <a:graphicFrameLocks xmlns:a="http://schemas.openxmlformats.org/drawingml/2006/main" noGrp="1"/>
          </p:cNvGraphicFramePr>
          <p:nvPr/>
        </p:nvGraphicFramePr>
        <p:xfrm>
          <a:off xmlns:a="http://schemas.openxmlformats.org/drawingml/2006/main" x="914400" y="3028950"/>
          <a:ext xmlns:a="http://schemas.openxmlformats.org/drawingml/2006/main" cx="5334000" cy="3143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17b57e61d4242e9"/>
          </a:graphicData>
        </a:graphic>
      </p:graphicFrame>
      <p:graphicFrame>
        <p:nvGraphicFramePr>
          <p:cNvPr id="9" name="dense-visual-line"/>
          <p:cNvGraphicFramePr>
            <a:graphicFrameLocks xmlns:a="http://schemas.openxmlformats.org/drawingml/2006/main" noGrp="1"/>
          </p:cNvGraphicFramePr>
          <p:nvPr/>
        </p:nvGraphicFramePr>
        <p:xfrm>
          <a:off xmlns:a="http://schemas.openxmlformats.org/drawingml/2006/main" x="6667500" y="3028950"/>
          <a:ext xmlns:a="http://schemas.openxmlformats.org/drawingml/2006/main" cx="3810000" cy="3143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0bbce6793504feb"/>
          </a:graphicData>
        </a:graphic>
      </p:graphicFrame>
      <p:sp>
        <p:nvSpPr>
          <p:cNvPr id="10" name="visual-note"/>
          <p:cNvSpPr/>
          <p:nvPr/>
        </p:nvSpPr>
        <p:spPr>
          <a:xfrm xmlns:a="http://schemas.openxmlformats.org/drawingml/2006/main">
            <a:off x="11049000" y="3333750"/>
            <a:ext cx="30480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8"/>
          </a:solidFill>
          <a:ln xmlns:a="http://schemas.openxmlformats.org/drawingml/2006/main" w="12700">
            <a:solidFill>
              <a:srgbClr val="8F8F8E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1" name="visual-note-label"/>
          <p:cNvSpPr txBox="1"/>
          <p:nvPr/>
        </p:nvSpPr>
        <p:spPr>
          <a:xfrm xmlns:a="http://schemas.openxmlformats.org/drawingml/2006/main">
            <a:off x="11430000" y="36957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125" b="1">
                <a:solidFill>
                  <a:srgbClr val="C79522"/>
                </a:solidFill>
                <a:latin typeface="Inter"/>
                <a:ea typeface="Inter"/>
              </a:rPr>
              <a:t>CARRIER</a:t>
            </a:r>
            <a:endParaRPr lang="en-US"/>
          </a:p>
        </p:txBody>
      </p:sp>
      <p:sp>
        <p:nvSpPr>
          <p:cNvPr id="12" name="visual-note-text"/>
          <p:cNvSpPr txBox="1"/>
          <p:nvPr/>
        </p:nvSpPr>
        <p:spPr>
          <a:xfrm xmlns:a="http://schemas.openxmlformats.org/drawingml/2006/main">
            <a:off x="11430000" y="4171950"/>
            <a:ext cx="2286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2100" b="1">
                <a:solidFill>
                  <a:srgbClr val="191A1B"/>
                </a:solidFill>
                <a:latin typeface="Inter"/>
                <a:ea typeface="Inter"/>
              </a:rPr>
              <a:t>Signal before decoration</a:t>
            </a:r>
            <a:endParaRPr lang="en-US"/>
          </a:p>
        </p:txBody>
      </p:sp>
      <p:sp>
        <p:nvSpPr>
          <p:cNvPr id="13" name="visual-note-foot"/>
          <p:cNvSpPr txBox="1"/>
          <p:nvPr/>
        </p:nvSpPr>
        <p:spPr>
          <a:xfrm xmlns:a="http://schemas.openxmlformats.org/drawingml/2006/main">
            <a:off x="11430000" y="5219700"/>
            <a:ext cx="228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00">
                <a:solidFill>
                  <a:srgbClr val="8F8F8E"/>
                </a:solidFill>
                <a:latin typeface="Inter"/>
                <a:ea typeface="Inter"/>
              </a:rPr>
              <a:t>Read the mark, unit, and basis.</a:t>
            </a:r>
            <a:endParaRPr lang="en-US"/>
          </a:p>
        </p:txBody>
      </p:sp>
      <p:sp>
        <p:nvSpPr>
          <p:cNvPr id="14" name="source"/>
          <p:cNvSpPr txBox="1"/>
          <p:nvPr/>
        </p:nvSpPr>
        <p:spPr>
          <a:xfrm xmlns:a="http://schemas.openxmlformats.org/drawingml/2006/main">
            <a:off x="914400" y="7829550"/>
            <a:ext cx="1095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050">
                <a:solidFill>
                  <a:srgbClr val="8F8F8E"/>
                </a:solidFill>
                <a:latin typeface="Inter"/>
                <a:ea typeface="Inter"/>
              </a:rPr>
              <a:t>OfficeKit original clean-room visual field · fictional content</a:t>
            </a:r>
            <a:endParaRPr lang="en-US"/>
          </a:p>
        </p:txBody>
      </p:sp>
      <p:sp>
        <p:nvSpPr>
          <p:cNvPr id="15" name="page-number"/>
          <p:cNvSpPr txBox="1"/>
          <p:nvPr/>
        </p:nvSpPr>
        <p:spPr>
          <a:xfrm xmlns:a="http://schemas.openxmlformats.org/drawingml/2006/main">
            <a:off x="13335000" y="78295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/>
            <a:r>
              <a:rPr lang="en-US" sz="1050">
                <a:solidFill>
                  <a:srgbClr val="8F8F8E"/>
                </a:solidFill>
                <a:latin typeface="Inter"/>
                <a:ea typeface="Inter"/>
              </a:rPr>
              <a:t>5 / 6</a:t>
            </a:r>
            <a:endParaRPr lang="en-US"/>
          </a:p>
        </p:txBody>
      </p:sp>
    </p:spTree>
  </p:cSld>
  <p:clrMapOvr>
    <a:masterClrMapping xmlns:a="http://schemas.openxmlformats.org/drawingml/2006/main"/>
  </p:clrMapOvr>
</p:sld>
</file>

<file path=ppt/slides/slide6.xml><?xml version="1.0" encoding="utf-8"?>
<p:sld xmlns:p="http://schemas.openxmlformats.org/presentationml/2006/main">
  <p:cSld name="Decision close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dark-field"/>
          <p:cNvSpPr/>
          <p:nvPr/>
        </p:nvSpPr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A1B"/>
          </a:solidFill>
          <a:ln xmlns:a="http://schemas.openxmlformats.org/drawingml/2006/main" w="0">
            <a:solidFill>
              <a:srgbClr val="191A1B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3" name="eyebrow"/>
          <p:cNvSpPr txBox="1"/>
          <p:nvPr/>
        </p:nvSpPr>
        <p:spPr>
          <a:xfrm xmlns:a="http://schemas.openxmlformats.org/drawingml/2006/main">
            <a:off x="914400" y="819150"/>
            <a:ext cx="647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125" b="1">
                <a:solidFill>
                  <a:srgbClr val="C79522"/>
                </a:solidFill>
                <a:latin typeface="Inter"/>
                <a:ea typeface="Inter"/>
              </a:rPr>
              <a:t>FINANCE · DECISION</a:t>
            </a:r>
            <a:endParaRPr lang="en-US"/>
          </a:p>
        </p:txBody>
      </p:sp>
      <p:sp>
        <p:nvSpPr>
          <p:cNvPr id="4" name="close-title"/>
          <p:cNvSpPr txBox="1"/>
          <p:nvPr/>
        </p:nvSpPr>
        <p:spPr>
          <a:xfrm xmlns:a="http://schemas.openxmlformats.org/drawingml/2006/main">
            <a:off x="914400" y="1314450"/>
            <a:ext cx="8953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3150" b="1">
                <a:solidFill>
                  <a:srgbClr val="FBFBF8"/>
                </a:solidFill>
                <a:latin typeface="Inter"/>
                <a:ea typeface="Inter"/>
              </a:rPr>
              <a:t>Fund the proven constraint, then measure the next one</a:t>
            </a:r>
            <a:endParaRPr lang="en-US"/>
          </a:p>
        </p:txBody>
      </p:sp>
      <p:sp>
        <p:nvSpPr>
          <p:cNvPr id="5" name="close-basis"/>
          <p:cNvSpPr txBox="1"/>
          <p:nvPr/>
        </p:nvSpPr>
        <p:spPr>
          <a:xfrm xmlns:a="http://schemas.openxmlformats.org/drawingml/2006/main">
            <a:off x="952500" y="2419350"/>
            <a:ext cx="781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350">
                <a:solidFill>
                  <a:srgbClr val="8F8F8E"/>
                </a:solidFill>
                <a:latin typeface="Inter"/>
                <a:ea typeface="Inter"/>
              </a:rPr>
              <a:t>A decision is bounded by the evidence it is willing to revisit.</a:t>
            </a:r>
            <a:endParaRPr lang="en-US"/>
          </a:p>
        </p:txBody>
      </p:sp>
      <p:sp>
        <p:nvSpPr>
          <p:cNvPr id="6" name="close-number-0"/>
          <p:cNvSpPr txBox="1"/>
          <p:nvPr/>
        </p:nvSpPr>
        <p:spPr>
          <a:xfrm xmlns:a="http://schemas.openxmlformats.org/drawingml/2006/main">
            <a:off x="1104900" y="3486150"/>
            <a:ext cx="685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800" b="1">
                <a:solidFill>
                  <a:srgbClr val="8F8F8E"/>
                </a:solidFill>
                <a:latin typeface="Inter"/>
                <a:ea typeface="Inter"/>
              </a:rPr>
              <a:t>01</a:t>
            </a:r>
            <a:endParaRPr lang="en-US"/>
          </a:p>
        </p:txBody>
      </p:sp>
      <p:sp>
        <p:nvSpPr>
          <p:cNvPr id="7" name="close-row-rule-0"/>
          <p:cNvSpPr/>
          <p:nvPr/>
        </p:nvSpPr>
        <p:spPr>
          <a:xfrm xmlns:a="http://schemas.openxmlformats.org/drawingml/2006/main">
            <a:off x="2038350" y="3638550"/>
            <a:ext cx="7296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8F8F8E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8" name="close-label-0"/>
          <p:cNvSpPr txBox="1"/>
          <p:nvPr/>
        </p:nvSpPr>
        <p:spPr>
          <a:xfrm xmlns:a="http://schemas.openxmlformats.org/drawingml/2006/main">
            <a:off x="2190750" y="34480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650" b="1">
                <a:solidFill>
                  <a:srgbClr val="FBFBF8"/>
                </a:solidFill>
                <a:latin typeface="Inter"/>
                <a:ea typeface="Inter"/>
              </a:rPr>
              <a:t>Signal</a:t>
            </a:r>
            <a:endParaRPr lang="en-US"/>
          </a:p>
        </p:txBody>
      </p:sp>
      <p:sp>
        <p:nvSpPr>
          <p:cNvPr id="9" name="close-text-0"/>
          <p:cNvSpPr txBox="1"/>
          <p:nvPr/>
        </p:nvSpPr>
        <p:spPr>
          <a:xfrm xmlns:a="http://schemas.openxmlformats.org/drawingml/2006/main">
            <a:off x="4476750" y="3486150"/>
            <a:ext cx="4857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350">
                <a:solidFill>
                  <a:srgbClr val="8F8F8E"/>
                </a:solidFill>
                <a:latin typeface="Inter"/>
                <a:ea typeface="Inter"/>
              </a:rPr>
              <a:t>Cash conversion remains positive.</a:t>
            </a:r>
            <a:endParaRPr lang="en-US"/>
          </a:p>
        </p:txBody>
      </p:sp>
      <p:sp>
        <p:nvSpPr>
          <p:cNvPr id="10" name="close-number-1"/>
          <p:cNvSpPr txBox="1"/>
          <p:nvPr/>
        </p:nvSpPr>
        <p:spPr>
          <a:xfrm xmlns:a="http://schemas.openxmlformats.org/drawingml/2006/main">
            <a:off x="1104900" y="4552950"/>
            <a:ext cx="685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800" b="1">
                <a:solidFill>
                  <a:srgbClr val="8F8F8E"/>
                </a:solidFill>
                <a:latin typeface="Inter"/>
                <a:ea typeface="Inter"/>
              </a:rPr>
              <a:t>02</a:t>
            </a:r>
            <a:endParaRPr lang="en-US"/>
          </a:p>
        </p:txBody>
      </p:sp>
      <p:sp>
        <p:nvSpPr>
          <p:cNvPr id="11" name="close-row-rule-1"/>
          <p:cNvSpPr/>
          <p:nvPr/>
        </p:nvSpPr>
        <p:spPr>
          <a:xfrm xmlns:a="http://schemas.openxmlformats.org/drawingml/2006/main">
            <a:off x="2038350" y="4705350"/>
            <a:ext cx="7296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8F8F8E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2" name="close-label-1"/>
          <p:cNvSpPr txBox="1"/>
          <p:nvPr/>
        </p:nvSpPr>
        <p:spPr>
          <a:xfrm xmlns:a="http://schemas.openxmlformats.org/drawingml/2006/main">
            <a:off x="2190750" y="45148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650" b="1">
                <a:solidFill>
                  <a:srgbClr val="FBFBF8"/>
                </a:solidFill>
                <a:latin typeface="Inter"/>
                <a:ea typeface="Inter"/>
              </a:rPr>
              <a:t>Risk</a:t>
            </a:r>
            <a:endParaRPr lang="en-US"/>
          </a:p>
        </p:txBody>
      </p:sp>
      <p:sp>
        <p:nvSpPr>
          <p:cNvPr id="13" name="close-text-1"/>
          <p:cNvSpPr txBox="1"/>
          <p:nvPr/>
        </p:nvSpPr>
        <p:spPr>
          <a:xfrm xmlns:a="http://schemas.openxmlformats.org/drawingml/2006/main">
            <a:off x="4476750" y="4552950"/>
            <a:ext cx="4857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350">
                <a:solidFill>
                  <a:srgbClr val="8F8F8E"/>
                </a:solidFill>
                <a:latin typeface="Inter"/>
                <a:ea typeface="Inter"/>
              </a:rPr>
              <a:t>The buffer is below threshold.</a:t>
            </a:r>
            <a:endParaRPr lang="en-US"/>
          </a:p>
        </p:txBody>
      </p:sp>
      <p:sp>
        <p:nvSpPr>
          <p:cNvPr id="14" name="close-number-2"/>
          <p:cNvSpPr txBox="1"/>
          <p:nvPr/>
        </p:nvSpPr>
        <p:spPr>
          <a:xfrm xmlns:a="http://schemas.openxmlformats.org/drawingml/2006/main">
            <a:off x="1104900" y="5619750"/>
            <a:ext cx="685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800" b="1">
                <a:solidFill>
                  <a:srgbClr val="C79522"/>
                </a:solidFill>
                <a:latin typeface="Inter"/>
                <a:ea typeface="Inter"/>
              </a:rPr>
              <a:t>03</a:t>
            </a:r>
            <a:endParaRPr lang="en-US"/>
          </a:p>
        </p:txBody>
      </p:sp>
      <p:sp>
        <p:nvSpPr>
          <p:cNvPr id="15" name="close-row-rule-2"/>
          <p:cNvSpPr/>
          <p:nvPr/>
        </p:nvSpPr>
        <p:spPr>
          <a:xfrm xmlns:a="http://schemas.openxmlformats.org/drawingml/2006/main">
            <a:off x="2038350" y="5772150"/>
            <a:ext cx="7296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C79522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6" name="close-label-2"/>
          <p:cNvSpPr txBox="1"/>
          <p:nvPr/>
        </p:nvSpPr>
        <p:spPr>
          <a:xfrm xmlns:a="http://schemas.openxmlformats.org/drawingml/2006/main">
            <a:off x="2190750" y="55816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650" b="1">
                <a:solidFill>
                  <a:srgbClr val="FBFBF8"/>
                </a:solidFill>
                <a:latin typeface="Inter"/>
                <a:ea typeface="Inter"/>
              </a:rPr>
              <a:t>Decision</a:t>
            </a:r>
            <a:endParaRPr lang="en-US"/>
          </a:p>
        </p:txBody>
      </p:sp>
      <p:sp>
        <p:nvSpPr>
          <p:cNvPr id="17" name="close-text-2"/>
          <p:cNvSpPr txBox="1"/>
          <p:nvPr/>
        </p:nvSpPr>
        <p:spPr>
          <a:xfrm xmlns:a="http://schemas.openxmlformats.org/drawingml/2006/main">
            <a:off x="4476750" y="5619750"/>
            <a:ext cx="4857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350">
                <a:solidFill>
                  <a:srgbClr val="8F8F8E"/>
                </a:solidFill>
                <a:latin typeface="Inter"/>
                <a:ea typeface="Inter"/>
              </a:rPr>
              <a:t>Release one constrained tranche.</a:t>
            </a:r>
            <a:endParaRPr lang="en-US"/>
          </a:p>
        </p:txBody>
      </p:sp>
      <p:sp>
        <p:nvSpPr>
          <p:cNvPr id="18" name="close-rail"/>
          <p:cNvSpPr/>
          <p:nvPr/>
        </p:nvSpPr>
        <p:spPr>
          <a:xfrm xmlns:a="http://schemas.openxmlformats.org/drawingml/2006/main">
            <a:off x="11163300" y="3276600"/>
            <a:ext cx="0" cy="3429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8F8F8E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9" name="close-rail-label"/>
          <p:cNvSpPr txBox="1"/>
          <p:nvPr/>
        </p:nvSpPr>
        <p:spPr>
          <a:xfrm xmlns:a="http://schemas.openxmlformats.org/drawingml/2006/main">
            <a:off x="11525250" y="34290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125" b="1">
                <a:solidFill>
                  <a:srgbClr val="C79522"/>
                </a:solidFill>
                <a:latin typeface="Inter"/>
                <a:ea typeface="Inter"/>
              </a:rPr>
              <a:t>NEXT MOVE</a:t>
            </a:r>
            <a:endParaRPr lang="en-US"/>
          </a:p>
        </p:txBody>
      </p:sp>
      <p:sp>
        <p:nvSpPr>
          <p:cNvPr id="20" name="close-rail-value"/>
          <p:cNvSpPr txBox="1"/>
          <p:nvPr/>
        </p:nvSpPr>
        <p:spPr>
          <a:xfrm xmlns:a="http://schemas.openxmlformats.org/drawingml/2006/main">
            <a:off x="11525250" y="3943350"/>
            <a:ext cx="2857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2250" b="1">
                <a:solidFill>
                  <a:srgbClr val="FBFBF8"/>
                </a:solidFill>
                <a:latin typeface="Inter"/>
                <a:ea typeface="Inter"/>
              </a:rPr>
              <a:t>Clear the buffer gate</a:t>
            </a:r>
            <a:endParaRPr lang="en-US"/>
          </a:p>
        </p:txBody>
      </p:sp>
      <p:sp>
        <p:nvSpPr>
          <p:cNvPr id="21" name="close-rail-foot"/>
          <p:cNvSpPr txBox="1"/>
          <p:nvPr/>
        </p:nvSpPr>
        <p:spPr>
          <a:xfrm xmlns:a="http://schemas.openxmlformats.org/drawingml/2006/main">
            <a:off x="11525250" y="495300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00">
                <a:solidFill>
                  <a:srgbClr val="8F8F8E"/>
                </a:solidFill>
                <a:latin typeface="Inter"/>
                <a:ea typeface="Inter"/>
              </a:rPr>
              <a:t>Owner · reviewer · date</a:t>
            </a:r>
            <a:endParaRPr lang="en-US"/>
          </a:p>
        </p:txBody>
      </p:sp>
      <p:sp>
        <p:nvSpPr>
          <p:cNvPr id="22" name="close-band"/>
          <p:cNvSpPr/>
          <p:nvPr/>
        </p:nvSpPr>
        <p:spPr>
          <a:xfrm xmlns:a="http://schemas.openxmlformats.org/drawingml/2006/main">
            <a:off x="914400" y="7086600"/>
            <a:ext cx="134112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BF8">
              <a:alpha val="10000"/>
            </a:srgbClr>
          </a:solidFill>
          <a:ln xmlns:a="http://schemas.openxmlformats.org/drawingml/2006/main" w="0">
            <a:solidFill>
              <a:srgbClr val="FBFBF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23" name="close-band-text"/>
          <p:cNvSpPr txBox="1"/>
          <p:nvPr/>
        </p:nvSpPr>
        <p:spPr>
          <a:xfrm xmlns:a="http://schemas.openxmlformats.org/drawingml/2006/main">
            <a:off x="1143000" y="7239000"/>
            <a:ext cx="1190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125" b="1">
                <a:solidFill>
                  <a:srgbClr val="FBFBF8"/>
                </a:solidFill>
                <a:latin typeface="Inter"/>
                <a:ea typeface="Inter"/>
              </a:rPr>
              <a:t>STANCE  ·  Keep the gate visible when the allocation moves.</a:t>
            </a:r>
            <a:endParaRPr lang="en-US"/>
          </a:p>
        </p:txBody>
      </p:sp>
      <p:sp>
        <p:nvSpPr>
          <p:cNvPr id="24" name="source"/>
          <p:cNvSpPr txBox="1"/>
          <p:nvPr/>
        </p:nvSpPr>
        <p:spPr>
          <a:xfrm xmlns:a="http://schemas.openxmlformats.org/drawingml/2006/main">
            <a:off x="914400" y="7829550"/>
            <a:ext cx="1095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050">
                <a:solidFill>
                  <a:srgbClr val="8F8F8E"/>
                </a:solidFill>
                <a:latin typeface="Inter"/>
                <a:ea typeface="Inter"/>
              </a:rPr>
              <a:t>Source: illustrative calibration brief · values are fictional</a:t>
            </a:r>
            <a:endParaRPr lang="en-US"/>
          </a:p>
        </p:txBody>
      </p:sp>
      <p:sp>
        <p:nvSpPr>
          <p:cNvPr id="25" name="page-number"/>
          <p:cNvSpPr txBox="1"/>
          <p:nvPr/>
        </p:nvSpPr>
        <p:spPr>
          <a:xfrm xmlns:a="http://schemas.openxmlformats.org/drawingml/2006/main">
            <a:off x="13335000" y="78295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/>
            <a:r>
              <a:rPr lang="en-US" sz="1050">
                <a:solidFill>
                  <a:srgbClr val="8F8F8E"/>
                </a:solidFill>
                <a:latin typeface="Inter"/>
                <a:ea typeface="Inter"/>
              </a:rPr>
              <a:t>6 / 6</a:t>
            </a:r>
            <a:endParaRPr lang="en-US"/>
          </a:p>
        </p:txBody>
      </p:sp>
    </p:spTree>
  </p:cSld>
  <p:clrMapOvr>
    <a:masterClrMapping xmlns:a="http://schemas.openxmlformats.org/drawingml/2006/main"/>
  </p:clrMapOvr>
</p:sld>
</file>