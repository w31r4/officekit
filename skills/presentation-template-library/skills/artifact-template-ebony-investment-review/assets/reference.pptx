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04eb0c559e649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C1A19"/>
                </a:solidFill>
                <a:latin typeface="Arial"/>
                <a:ea typeface="Arial"/>
              </a:rPr>
              <a:t>Ebony Investment Review: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31836F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C1A19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C1A19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836F"/>
          </a:solidFill>
          <a:ln xmlns:a="http://schemas.openxmlformats.org/drawingml/2006/main" w="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Three signals support a narrow allocation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Units, periods, and thresholds stay next to the values they qualify.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ance-value-0"/>
          <p:cNvSpPr txBox="1"/>
          <p:nvPr/>
        </p:nvSpPr>
        <p:spPr>
          <a:xfrm xmlns:a="http://schemas.openxmlformats.org/drawingml/2006/main">
            <a:off x="11049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31836F"/>
                </a:solidFill>
                <a:latin typeface="Arial"/>
                <a:ea typeface="Arial"/>
              </a:rPr>
              <a:t>48.2</a:t>
            </a:r>
            <a:endParaRPr lang="en-US"/>
          </a:p>
        </p:txBody>
      </p:sp>
      <p:sp>
        <p:nvSpPr>
          <p:cNvPr id="9" name="finance-label-0"/>
          <p:cNvSpPr txBox="1"/>
          <p:nvPr/>
        </p:nvSpPr>
        <p:spPr>
          <a:xfrm xmlns:a="http://schemas.openxmlformats.org/drawingml/2006/main">
            <a:off x="11049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net inflow · week 6</a:t>
            </a:r>
            <a:endParaRPr lang="en-US"/>
          </a:p>
        </p:txBody>
      </p:sp>
      <p:sp>
        <p:nvSpPr>
          <p:cNvPr id="10" name="finance-rule-0"/>
          <p:cNvSpPr/>
          <p:nvPr/>
        </p:nvSpPr>
        <p:spPr>
          <a:xfrm xmlns:a="http://schemas.openxmlformats.org/drawingml/2006/main">
            <a:off x="11049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nance-value-1"/>
          <p:cNvSpPr txBox="1"/>
          <p:nvPr/>
        </p:nvSpPr>
        <p:spPr>
          <a:xfrm xmlns:a="http://schemas.openxmlformats.org/drawingml/2006/main">
            <a:off x="367665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C1A19"/>
                </a:solidFill>
                <a:latin typeface="Arial"/>
                <a:ea typeface="Arial"/>
              </a:rPr>
              <a:t>3.4×</a:t>
            </a:r>
            <a:endParaRPr lang="en-US"/>
          </a:p>
        </p:txBody>
      </p:sp>
      <p:sp>
        <p:nvSpPr>
          <p:cNvPr id="12" name="finance-label-1"/>
          <p:cNvSpPr txBox="1"/>
          <p:nvPr/>
        </p:nvSpPr>
        <p:spPr>
          <a:xfrm xmlns:a="http://schemas.openxmlformats.org/drawingml/2006/main">
            <a:off x="367665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13" name="finance-rule-1"/>
          <p:cNvSpPr/>
          <p:nvPr/>
        </p:nvSpPr>
        <p:spPr>
          <a:xfrm xmlns:a="http://schemas.openxmlformats.org/drawingml/2006/main">
            <a:off x="367665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nance-value-2"/>
          <p:cNvSpPr txBox="1"/>
          <p:nvPr/>
        </p:nvSpPr>
        <p:spPr>
          <a:xfrm xmlns:a="http://schemas.openxmlformats.org/drawingml/2006/main">
            <a:off x="62484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C1A19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15" name="finance-label-2"/>
          <p:cNvSpPr txBox="1"/>
          <p:nvPr/>
        </p:nvSpPr>
        <p:spPr>
          <a:xfrm xmlns:a="http://schemas.openxmlformats.org/drawingml/2006/main">
            <a:off x="62484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16" name="finance-rule-2"/>
          <p:cNvSpPr/>
          <p:nvPr/>
        </p:nvSpPr>
        <p:spPr>
          <a:xfrm xmlns:a="http://schemas.openxmlformats.org/drawingml/2006/main">
            <a:off x="62484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inance-read"/>
          <p:cNvSpPr txBox="1"/>
          <p:nvPr/>
        </p:nvSpPr>
        <p:spPr>
          <a:xfrm xmlns:a="http://schemas.openxmlformats.org/drawingml/2006/main">
            <a:off x="1104900" y="514350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C1A19"/>
                </a:solidFill>
                <a:latin typeface="Arial"/>
                <a:ea typeface="Arial"/>
              </a:rPr>
              <a:t>The ledger supports a narrow allocation, not a broad acceleration.</a:t>
            </a:r>
            <a:endParaRPr lang="en-US"/>
          </a:p>
        </p:txBody>
      </p:sp>
      <p:sp>
        <p:nvSpPr>
          <p:cNvPr id="18" name="finance-panel"/>
          <p:cNvSpPr/>
          <p:nvPr/>
        </p:nvSpPr>
        <p:spPr>
          <a:xfrm xmlns:a="http://schemas.openxmlformats.org/drawingml/2006/main">
            <a:off x="10096500" y="3238500"/>
            <a:ext cx="3810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finance-panel-label"/>
          <p:cNvSpPr txBox="1"/>
          <p:nvPr/>
        </p:nvSpPr>
        <p:spPr>
          <a:xfrm xmlns:a="http://schemas.openxmlformats.org/drawingml/2006/main">
            <a:off x="1047750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DECISION GATE</a:t>
            </a:r>
            <a:endParaRPr lang="en-US"/>
          </a:p>
        </p:txBody>
      </p:sp>
      <p:sp>
        <p:nvSpPr>
          <p:cNvPr id="20" name="finance-panel-value"/>
          <p:cNvSpPr txBox="1"/>
          <p:nvPr/>
        </p:nvSpPr>
        <p:spPr>
          <a:xfrm xmlns:a="http://schemas.openxmlformats.org/drawingml/2006/main">
            <a:off x="10477500" y="40576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1C1A19"/>
                </a:solidFill>
                <a:latin typeface="Arial"/>
                <a:ea typeface="Arial"/>
              </a:rPr>
              <a:t>Cash buffer</a:t>
            </a:r>
            <a:endParaRPr lang="en-US"/>
          </a:p>
        </p:txBody>
      </p:sp>
      <p:sp>
        <p:nvSpPr>
          <p:cNvPr id="21" name="finance-panel-foot"/>
          <p:cNvSpPr txBox="1"/>
          <p:nvPr/>
        </p:nvSpPr>
        <p:spPr>
          <a:xfrm xmlns:a="http://schemas.openxmlformats.org/drawingml/2006/main">
            <a:off x="1047750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Release only after ≥10 weeks</a:t>
            </a:r>
            <a:endParaRPr lang="en-US"/>
          </a:p>
        </p:txBody>
      </p:sp>
      <p:sp>
        <p:nvSpPr>
          <p:cNvPr id="2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C1A19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C1A19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1836F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C1A19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8F8D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1836F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C1A19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8F8D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1836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C1A19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8F8D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836F"/>
          </a:solidFill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1836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C1A19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8F8D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C1A19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1836F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1836F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1836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836F"/>
          </a:solidFill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C1A19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C1A19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1836F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C1A19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C1A19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C1A19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1836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C1A19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836F"/>
          </a:solidFill>
          <a:ln xmlns:a="http://schemas.openxmlformats.org/drawingml/2006/main" w="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