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993d35121bd0492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BF8"/>
          </a:solidFill>
          <a:ln xmlns:a="http://schemas.openxmlformats.org/drawingml/2006/main" w="0">
            <a:solidFill>
              <a:srgbClr val="FCFB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1836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31836F"/>
                </a:solidFill>
                <a:latin typeface="Arial"/>
                <a:ea typeface="Arial"/>
              </a:rPr>
              <a:t>FINANCE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C1A19"/>
                </a:solidFill>
                <a:latin typeface="Arial"/>
                <a:ea typeface="Arial"/>
              </a:rPr>
              <a:t>Ebony Investment Review: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31836F"/>
                </a:solidFill>
                <a:latin typeface="Arial"/>
                <a:ea typeface="Arial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7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C1A19"/>
                </a:solidFill>
                <a:latin typeface="Arial"/>
                <a:ea typeface="Arial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9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C1A19"/>
                </a:solidFill>
                <a:latin typeface="Arial"/>
                <a:ea typeface="Arial"/>
              </a:rPr>
              <a:t>A ledger turns evidence into a bounded stance.</a:t>
            </a:r>
            <a:endParaRPr lang="en-US"/>
          </a:p>
        </p:txBody>
      </p:sp>
      <p:sp>
        <p:nvSpPr>
          <p:cNvPr id="10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8F8D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8F8D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  <p:sp>
        <p:nvSpPr>
          <p:cNvPr id="12" name="anchor-field"/>
          <p:cNvSpPr/>
          <p:nvPr/>
        </p:nvSpPr>
        <p:spPr>
          <a:xfrm xmlns:a="http://schemas.openxmlformats.org/drawingml/2006/main">
            <a:off x="11239500" y="1714500"/>
            <a:ext cx="2476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anchor-line"/>
          <p:cNvSpPr/>
          <p:nvPr/>
        </p:nvSpPr>
        <p:spPr>
          <a:xfrm xmlns:a="http://schemas.openxmlformats.org/drawingml/2006/main">
            <a:off x="11544300" y="3505200"/>
            <a:ext cx="1866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31836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line-two"/>
          <p:cNvSpPr/>
          <p:nvPr/>
        </p:nvSpPr>
        <p:spPr>
          <a:xfrm xmlns:a="http://schemas.openxmlformats.org/drawingml/2006/main">
            <a:off x="11544300" y="3695700"/>
            <a:ext cx="1943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dot"/>
          <p:cNvSpPr/>
          <p:nvPr/>
        </p:nvSpPr>
        <p:spPr>
          <a:xfrm xmlns:a="http://schemas.openxmlformats.org/drawingml/2006/main">
            <a:off x="13030200" y="2228850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836F"/>
          </a:solidFill>
          <a:ln xmlns:a="http://schemas.openxmlformats.org/drawingml/2006/main" w="0">
            <a:solidFill>
              <a:srgbClr val="31836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BF8"/>
          </a:solidFill>
          <a:ln xmlns:a="http://schemas.openxmlformats.org/drawingml/2006/main" w="0">
            <a:solidFill>
              <a:srgbClr val="FCFB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1836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BONY INVESTMENT REVIEW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31836F"/>
                </a:solidFill>
                <a:latin typeface="Arial"/>
                <a:ea typeface="Arial"/>
              </a:rPr>
              <a:t>EBONY INVESTMENT REVIEW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C1A19"/>
                </a:solidFill>
                <a:latin typeface="Arial"/>
                <a:ea typeface="Arial"/>
              </a:rPr>
              <a:t>Three signals support a narrow allocation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08F8D"/>
                </a:solidFill>
                <a:latin typeface="Arial"/>
                <a:ea typeface="Arial"/>
              </a:rPr>
              <a:t>Units, periods, and thresholds stay next to the values they qualify.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nance-value-0"/>
          <p:cNvSpPr txBox="1"/>
          <p:nvPr/>
        </p:nvSpPr>
        <p:spPr>
          <a:xfrm xmlns:a="http://schemas.openxmlformats.org/drawingml/2006/main">
            <a:off x="1104900" y="33337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31836F"/>
                </a:solidFill>
                <a:latin typeface="Arial"/>
                <a:ea typeface="Arial"/>
              </a:rPr>
              <a:t>48.2</a:t>
            </a:r>
            <a:endParaRPr lang="en-US"/>
          </a:p>
        </p:txBody>
      </p:sp>
      <p:sp>
        <p:nvSpPr>
          <p:cNvPr id="9" name="finance-label-0"/>
          <p:cNvSpPr txBox="1"/>
          <p:nvPr/>
        </p:nvSpPr>
        <p:spPr>
          <a:xfrm xmlns:a="http://schemas.openxmlformats.org/drawingml/2006/main">
            <a:off x="1104900" y="39243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08F8D"/>
                </a:solidFill>
                <a:latin typeface="Arial"/>
                <a:ea typeface="Arial"/>
              </a:rPr>
              <a:t>net inflow · week 6</a:t>
            </a:r>
            <a:endParaRPr lang="en-US"/>
          </a:p>
        </p:txBody>
      </p:sp>
      <p:sp>
        <p:nvSpPr>
          <p:cNvPr id="10" name="finance-rule-0"/>
          <p:cNvSpPr/>
          <p:nvPr/>
        </p:nvSpPr>
        <p:spPr>
          <a:xfrm xmlns:a="http://schemas.openxmlformats.org/drawingml/2006/main">
            <a:off x="1104900" y="438150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nance-value-1"/>
          <p:cNvSpPr txBox="1"/>
          <p:nvPr/>
        </p:nvSpPr>
        <p:spPr>
          <a:xfrm xmlns:a="http://schemas.openxmlformats.org/drawingml/2006/main">
            <a:off x="3676650" y="33337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C1A19"/>
                </a:solidFill>
                <a:latin typeface="Arial"/>
                <a:ea typeface="Arial"/>
              </a:rPr>
              <a:t>3.4×</a:t>
            </a:r>
            <a:endParaRPr lang="en-US"/>
          </a:p>
        </p:txBody>
      </p:sp>
      <p:sp>
        <p:nvSpPr>
          <p:cNvPr id="12" name="finance-label-1"/>
          <p:cNvSpPr txBox="1"/>
          <p:nvPr/>
        </p:nvSpPr>
        <p:spPr>
          <a:xfrm xmlns:a="http://schemas.openxmlformats.org/drawingml/2006/main">
            <a:off x="3676650" y="39243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08F8D"/>
                </a:solidFill>
                <a:latin typeface="Arial"/>
                <a:ea typeface="Arial"/>
              </a:rPr>
              <a:t>coverage · month end</a:t>
            </a:r>
            <a:endParaRPr lang="en-US"/>
          </a:p>
        </p:txBody>
      </p:sp>
      <p:sp>
        <p:nvSpPr>
          <p:cNvPr id="13" name="finance-rule-1"/>
          <p:cNvSpPr/>
          <p:nvPr/>
        </p:nvSpPr>
        <p:spPr>
          <a:xfrm xmlns:a="http://schemas.openxmlformats.org/drawingml/2006/main">
            <a:off x="3676650" y="438150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finance-value-2"/>
          <p:cNvSpPr txBox="1"/>
          <p:nvPr/>
        </p:nvSpPr>
        <p:spPr>
          <a:xfrm xmlns:a="http://schemas.openxmlformats.org/drawingml/2006/main">
            <a:off x="6248400" y="33337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C1A19"/>
                </a:solidFill>
                <a:latin typeface="Arial"/>
                <a:ea typeface="Arial"/>
              </a:rPr>
              <a:t>61%</a:t>
            </a:r>
            <a:endParaRPr lang="en-US"/>
          </a:p>
        </p:txBody>
      </p:sp>
      <p:sp>
        <p:nvSpPr>
          <p:cNvPr id="15" name="finance-label-2"/>
          <p:cNvSpPr txBox="1"/>
          <p:nvPr/>
        </p:nvSpPr>
        <p:spPr>
          <a:xfrm xmlns:a="http://schemas.openxmlformats.org/drawingml/2006/main">
            <a:off x="6248400" y="39243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08F8D"/>
                </a:solidFill>
                <a:latin typeface="Arial"/>
                <a:ea typeface="Arial"/>
              </a:rPr>
              <a:t>top two regions</a:t>
            </a:r>
            <a:endParaRPr lang="en-US"/>
          </a:p>
        </p:txBody>
      </p:sp>
      <p:sp>
        <p:nvSpPr>
          <p:cNvPr id="16" name="finance-rule-2"/>
          <p:cNvSpPr/>
          <p:nvPr/>
        </p:nvSpPr>
        <p:spPr>
          <a:xfrm xmlns:a="http://schemas.openxmlformats.org/drawingml/2006/main">
            <a:off x="6248400" y="438150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finance-read"/>
          <p:cNvSpPr txBox="1"/>
          <p:nvPr/>
        </p:nvSpPr>
        <p:spPr>
          <a:xfrm xmlns:a="http://schemas.openxmlformats.org/drawingml/2006/main">
            <a:off x="1104900" y="5143500"/>
            <a:ext cx="685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C1A19"/>
                </a:solidFill>
                <a:latin typeface="Arial"/>
                <a:ea typeface="Arial"/>
              </a:rPr>
              <a:t>The ledger supports a narrow allocation, not a broad acceleration.</a:t>
            </a:r>
            <a:endParaRPr lang="en-US"/>
          </a:p>
        </p:txBody>
      </p:sp>
      <p:sp>
        <p:nvSpPr>
          <p:cNvPr id="18" name="finance-panel"/>
          <p:cNvSpPr/>
          <p:nvPr/>
        </p:nvSpPr>
        <p:spPr>
          <a:xfrm xmlns:a="http://schemas.openxmlformats.org/drawingml/2006/main">
            <a:off x="10096500" y="3238500"/>
            <a:ext cx="38100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finance-panel-label"/>
          <p:cNvSpPr txBox="1"/>
          <p:nvPr/>
        </p:nvSpPr>
        <p:spPr>
          <a:xfrm xmlns:a="http://schemas.openxmlformats.org/drawingml/2006/main">
            <a:off x="10477500" y="36004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31836F"/>
                </a:solidFill>
                <a:latin typeface="Arial"/>
                <a:ea typeface="Arial"/>
              </a:rPr>
              <a:t>DECISION GATE</a:t>
            </a:r>
            <a:endParaRPr lang="en-US"/>
          </a:p>
        </p:txBody>
      </p:sp>
      <p:sp>
        <p:nvSpPr>
          <p:cNvPr id="20" name="finance-panel-value"/>
          <p:cNvSpPr txBox="1"/>
          <p:nvPr/>
        </p:nvSpPr>
        <p:spPr>
          <a:xfrm xmlns:a="http://schemas.openxmlformats.org/drawingml/2006/main">
            <a:off x="10477500" y="40576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025" b="1">
                <a:solidFill>
                  <a:srgbClr val="1C1A19"/>
                </a:solidFill>
                <a:latin typeface="Arial"/>
                <a:ea typeface="Arial"/>
              </a:rPr>
              <a:t>Cash buffer</a:t>
            </a:r>
            <a:endParaRPr lang="en-US"/>
          </a:p>
        </p:txBody>
      </p:sp>
      <p:sp>
        <p:nvSpPr>
          <p:cNvPr id="21" name="finance-panel-foot"/>
          <p:cNvSpPr txBox="1"/>
          <p:nvPr/>
        </p:nvSpPr>
        <p:spPr>
          <a:xfrm xmlns:a="http://schemas.openxmlformats.org/drawingml/2006/main">
            <a:off x="10477500" y="46672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08F8D"/>
                </a:solidFill>
                <a:latin typeface="Arial"/>
                <a:ea typeface="Arial"/>
              </a:rPr>
              <a:t>Release only after ≥10 weeks</a:t>
            </a:r>
            <a:endParaRPr lang="en-US"/>
          </a:p>
        </p:txBody>
      </p:sp>
      <p:sp>
        <p:nvSpPr>
          <p:cNvPr id="22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8F8D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3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8F8D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BF8"/>
          </a:solidFill>
          <a:ln xmlns:a="http://schemas.openxmlformats.org/drawingml/2006/main" w="0">
            <a:solidFill>
              <a:srgbClr val="FCFB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1836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BONY INVESTMENT REVIEW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31836F"/>
                </a:solidFill>
                <a:latin typeface="Arial"/>
                <a:ea typeface="Arial"/>
              </a:rPr>
              <a:t>EBONY INVESTMENT REVIEW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C1A19"/>
                </a:solidFill>
                <a:latin typeface="Arial"/>
                <a:ea typeface="Arial"/>
              </a:rPr>
              <a:t>The ledger moves, but the threshold still governs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08F8D"/>
                </a:solidFill>
                <a:latin typeface="Arial"/>
                <a:ea typeface="Arial"/>
              </a:rPr>
              <a:t>Illustrative ledger · values show period, unit, and decision threshold.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finance-evidence-tabl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162300"/>
          <a:ext xmlns:a="http://schemas.openxmlformats.org/drawingml/2006/main" cx="8001000" cy="28956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2000250"/>
                <a:gridCol w="2000250"/>
                <a:gridCol w="2000250"/>
                <a:gridCol w="2000250"/>
              </a:tblGrid>
              <a:tr h="579120"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Metric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Base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Plan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Delta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Coverage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42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51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+9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Cash conversion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1.6x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2.1x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+0.5x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Risk buffer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8w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10w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+2w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Release gate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Open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Clear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—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able-note-label"/>
          <p:cNvSpPr txBox="1"/>
          <p:nvPr/>
        </p:nvSpPr>
        <p:spPr>
          <a:xfrm xmlns:a="http://schemas.openxmlformats.org/drawingml/2006/main">
            <a:off x="9810750" y="3314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31836F"/>
                </a:solidFill>
                <a:latin typeface="Arial"/>
                <a:ea typeface="Arial"/>
              </a:rPr>
              <a:t>MODEL READ-THROUGH</a:t>
            </a:r>
            <a:endParaRPr lang="en-US"/>
          </a:p>
        </p:txBody>
      </p:sp>
      <p:sp>
        <p:nvSpPr>
          <p:cNvPr id="10" name="table-note-title"/>
          <p:cNvSpPr txBox="1"/>
          <p:nvPr/>
        </p:nvSpPr>
        <p:spPr>
          <a:xfrm xmlns:a="http://schemas.openxmlformats.org/drawingml/2006/main">
            <a:off x="9810750" y="3790950"/>
            <a:ext cx="3619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C1A19"/>
                </a:solidFill>
                <a:latin typeface="Arial"/>
                <a:ea typeface="Arial"/>
              </a:rPr>
              <a:t>The gate stays visible beside the number.</a:t>
            </a:r>
            <a:endParaRPr lang="en-US"/>
          </a:p>
        </p:txBody>
      </p:sp>
      <p:sp>
        <p:nvSpPr>
          <p:cNvPr id="11" name="table-note-rule"/>
          <p:cNvSpPr/>
          <p:nvPr/>
        </p:nvSpPr>
        <p:spPr>
          <a:xfrm xmlns:a="http://schemas.openxmlformats.org/drawingml/2006/main">
            <a:off x="9810750" y="5010150"/>
            <a:ext cx="3619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table-note-body"/>
          <p:cNvSpPr txBox="1"/>
          <p:nvPr/>
        </p:nvSpPr>
        <p:spPr>
          <a:xfrm xmlns:a="http://schemas.openxmlformats.org/drawingml/2006/main">
            <a:off x="9810750" y="5276850"/>
            <a:ext cx="3524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08F8D"/>
                </a:solidFill>
                <a:latin typeface="Arial"/>
                <a:ea typeface="Arial"/>
              </a:rPr>
              <a:t>Use a table when assumptions and units carry the decision. Charts support the ledger; they do not replace it.</a:t>
            </a:r>
            <a:endParaRPr lang="en-US"/>
          </a:p>
        </p:txBody>
      </p:sp>
      <p:sp>
        <p:nvSpPr>
          <p:cNvPr id="13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C1A19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8F8D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8F8D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BF8"/>
          </a:solidFill>
          <a:ln xmlns:a="http://schemas.openxmlformats.org/drawingml/2006/main" w="0">
            <a:solidFill>
              <a:srgbClr val="FCFB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1836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BONY INVESTMENT REVIEW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31836F"/>
                </a:solidFill>
                <a:latin typeface="Arial"/>
                <a:ea typeface="Arial"/>
              </a:rPr>
              <a:t>EBONY INVESTMENT REVIEW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C1A19"/>
                </a:solidFill>
                <a:latin typeface="Arial"/>
                <a:ea typeface="Arial"/>
              </a:rPr>
              <a:t>The ledger carries the assumptions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08F8D"/>
                </a:solidFill>
                <a:latin typeface="Arial"/>
                <a:ea typeface="Arial"/>
              </a:rPr>
              <a:t>Assumption grid · values stay aligned to their basis and release gate.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cess-axis"/>
          <p:cNvSpPr/>
          <p:nvPr/>
        </p:nvSpPr>
        <p:spPr>
          <a:xfrm xmlns:a="http://schemas.openxmlformats.org/drawingml/2006/main">
            <a:off x="1390650" y="4114800"/>
            <a:ext cx="883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process-node-0"/>
          <p:cNvSpPr/>
          <p:nvPr/>
        </p:nvSpPr>
        <p:spPr>
          <a:xfrm xmlns:a="http://schemas.openxmlformats.org/drawingml/2006/main">
            <a:off x="12192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CFBF8"/>
          </a:solidFill>
          <a:ln xmlns:a="http://schemas.openxmlformats.org/drawingml/2006/main" w="38100">
            <a:solidFill>
              <a:srgbClr val="1C1A1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process-number-0"/>
          <p:cNvSpPr txBox="1"/>
          <p:nvPr/>
        </p:nvSpPr>
        <p:spPr>
          <a:xfrm xmlns:a="http://schemas.openxmlformats.org/drawingml/2006/main">
            <a:off x="12001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31836F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1" name="process-label-0"/>
          <p:cNvSpPr txBox="1"/>
          <p:nvPr/>
        </p:nvSpPr>
        <p:spPr>
          <a:xfrm xmlns:a="http://schemas.openxmlformats.org/drawingml/2006/main">
            <a:off x="17145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C1A19"/>
                </a:solidFill>
                <a:latin typeface="Arial"/>
                <a:ea typeface="Arial"/>
              </a:rPr>
              <a:t>Frame</a:t>
            </a:r>
            <a:endParaRPr lang="en-US"/>
          </a:p>
        </p:txBody>
      </p:sp>
      <p:sp>
        <p:nvSpPr>
          <p:cNvPr id="12" name="process-text-0"/>
          <p:cNvSpPr txBox="1"/>
          <p:nvPr/>
        </p:nvSpPr>
        <p:spPr>
          <a:xfrm xmlns:a="http://schemas.openxmlformats.org/drawingml/2006/main">
            <a:off x="17145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08F8D"/>
                </a:solidFill>
                <a:latin typeface="Arial"/>
                <a:ea typeface="Arial"/>
              </a:rPr>
              <a:t>Name the question</a:t>
            </a:r>
            <a:endParaRPr lang="en-US"/>
          </a:p>
        </p:txBody>
      </p:sp>
      <p:sp>
        <p:nvSpPr>
          <p:cNvPr id="13" name="process-separator-0"/>
          <p:cNvSpPr/>
          <p:nvPr/>
        </p:nvSpPr>
        <p:spPr>
          <a:xfrm xmlns:a="http://schemas.openxmlformats.org/drawingml/2006/main">
            <a:off x="16764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process-node-1"/>
          <p:cNvSpPr/>
          <p:nvPr/>
        </p:nvSpPr>
        <p:spPr>
          <a:xfrm xmlns:a="http://schemas.openxmlformats.org/drawingml/2006/main">
            <a:off x="35242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CFBF8"/>
          </a:solidFill>
          <a:ln xmlns:a="http://schemas.openxmlformats.org/drawingml/2006/main" w="38100">
            <a:solidFill>
              <a:srgbClr val="1C1A1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process-number-1"/>
          <p:cNvSpPr txBox="1"/>
          <p:nvPr/>
        </p:nvSpPr>
        <p:spPr>
          <a:xfrm xmlns:a="http://schemas.openxmlformats.org/drawingml/2006/main">
            <a:off x="35052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31836F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6" name="process-label-1"/>
          <p:cNvSpPr txBox="1"/>
          <p:nvPr/>
        </p:nvSpPr>
        <p:spPr>
          <a:xfrm xmlns:a="http://schemas.openxmlformats.org/drawingml/2006/main">
            <a:off x="40195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C1A19"/>
                </a:solidFill>
                <a:latin typeface="Arial"/>
                <a:ea typeface="Arial"/>
              </a:rPr>
              <a:t>Test</a:t>
            </a:r>
            <a:endParaRPr lang="en-US"/>
          </a:p>
        </p:txBody>
      </p:sp>
      <p:sp>
        <p:nvSpPr>
          <p:cNvPr id="17" name="process-text-1"/>
          <p:cNvSpPr txBox="1"/>
          <p:nvPr/>
        </p:nvSpPr>
        <p:spPr>
          <a:xfrm xmlns:a="http://schemas.openxmlformats.org/drawingml/2006/main">
            <a:off x="40195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08F8D"/>
                </a:solidFill>
                <a:latin typeface="Arial"/>
                <a:ea typeface="Arial"/>
              </a:rPr>
              <a:t>Hold the rule</a:t>
            </a:r>
            <a:endParaRPr lang="en-US"/>
          </a:p>
        </p:txBody>
      </p:sp>
      <p:sp>
        <p:nvSpPr>
          <p:cNvPr id="18" name="process-separator-1"/>
          <p:cNvSpPr/>
          <p:nvPr/>
        </p:nvSpPr>
        <p:spPr>
          <a:xfrm xmlns:a="http://schemas.openxmlformats.org/drawingml/2006/main">
            <a:off x="398145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process-node-2"/>
          <p:cNvSpPr/>
          <p:nvPr/>
        </p:nvSpPr>
        <p:spPr>
          <a:xfrm xmlns:a="http://schemas.openxmlformats.org/drawingml/2006/main">
            <a:off x="58293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CFBF8"/>
          </a:solidFill>
          <a:ln xmlns:a="http://schemas.openxmlformats.org/drawingml/2006/main" w="38100">
            <a:solidFill>
              <a:srgbClr val="1C1A1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ocess-number-2"/>
          <p:cNvSpPr txBox="1"/>
          <p:nvPr/>
        </p:nvSpPr>
        <p:spPr>
          <a:xfrm xmlns:a="http://schemas.openxmlformats.org/drawingml/2006/main">
            <a:off x="58102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31836F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21" name="process-label-2"/>
          <p:cNvSpPr txBox="1"/>
          <p:nvPr/>
        </p:nvSpPr>
        <p:spPr>
          <a:xfrm xmlns:a="http://schemas.openxmlformats.org/drawingml/2006/main">
            <a:off x="63246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C1A19"/>
                </a:solidFill>
                <a:latin typeface="Arial"/>
                <a:ea typeface="Arial"/>
              </a:rPr>
              <a:t>Read</a:t>
            </a:r>
            <a:endParaRPr lang="en-US"/>
          </a:p>
        </p:txBody>
      </p:sp>
      <p:sp>
        <p:nvSpPr>
          <p:cNvPr id="22" name="process-text-2"/>
          <p:cNvSpPr txBox="1"/>
          <p:nvPr/>
        </p:nvSpPr>
        <p:spPr>
          <a:xfrm xmlns:a="http://schemas.openxmlformats.org/drawingml/2006/main">
            <a:off x="63246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08F8D"/>
                </a:solidFill>
                <a:latin typeface="Arial"/>
                <a:ea typeface="Arial"/>
              </a:rPr>
              <a:t>Separate signal</a:t>
            </a:r>
            <a:endParaRPr lang="en-US"/>
          </a:p>
        </p:txBody>
      </p:sp>
      <p:sp>
        <p:nvSpPr>
          <p:cNvPr id="23" name="process-separator-2"/>
          <p:cNvSpPr/>
          <p:nvPr/>
        </p:nvSpPr>
        <p:spPr>
          <a:xfrm xmlns:a="http://schemas.openxmlformats.org/drawingml/2006/main">
            <a:off x="62865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process-node-3"/>
          <p:cNvSpPr/>
          <p:nvPr/>
        </p:nvSpPr>
        <p:spPr>
          <a:xfrm xmlns:a="http://schemas.openxmlformats.org/drawingml/2006/main">
            <a:off x="81343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836F"/>
          </a:solidFill>
          <a:ln xmlns:a="http://schemas.openxmlformats.org/drawingml/2006/main" w="38100">
            <a:solidFill>
              <a:srgbClr val="31836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ocess-number-3"/>
          <p:cNvSpPr txBox="1"/>
          <p:nvPr/>
        </p:nvSpPr>
        <p:spPr>
          <a:xfrm xmlns:a="http://schemas.openxmlformats.org/drawingml/2006/main">
            <a:off x="81153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31836F"/>
                </a:solidFill>
                <a:latin typeface="Arial"/>
                <a:ea typeface="Arial"/>
              </a:rPr>
              <a:t>04</a:t>
            </a:r>
            <a:endParaRPr lang="en-US"/>
          </a:p>
        </p:txBody>
      </p:sp>
      <p:sp>
        <p:nvSpPr>
          <p:cNvPr id="26" name="process-label-3"/>
          <p:cNvSpPr txBox="1"/>
          <p:nvPr/>
        </p:nvSpPr>
        <p:spPr>
          <a:xfrm xmlns:a="http://schemas.openxmlformats.org/drawingml/2006/main">
            <a:off x="86296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C1A19"/>
                </a:solidFill>
                <a:latin typeface="Arial"/>
                <a:ea typeface="Arial"/>
              </a:rPr>
              <a:t>Decide</a:t>
            </a:r>
            <a:endParaRPr lang="en-US"/>
          </a:p>
        </p:txBody>
      </p:sp>
      <p:sp>
        <p:nvSpPr>
          <p:cNvPr id="27" name="process-text-3"/>
          <p:cNvSpPr txBox="1"/>
          <p:nvPr/>
        </p:nvSpPr>
        <p:spPr>
          <a:xfrm xmlns:a="http://schemas.openxmlformats.org/drawingml/2006/main">
            <a:off x="86296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08F8D"/>
                </a:solidFill>
                <a:latin typeface="Arial"/>
                <a:ea typeface="Arial"/>
              </a:rPr>
              <a:t>Set the next gate</a:t>
            </a:r>
            <a:endParaRPr lang="en-US"/>
          </a:p>
        </p:txBody>
      </p:sp>
      <p:sp>
        <p:nvSpPr>
          <p:cNvPr id="28" name="process-read-label"/>
          <p:cNvSpPr txBox="1"/>
          <p:nvPr/>
        </p:nvSpPr>
        <p:spPr>
          <a:xfrm xmlns:a="http://schemas.openxmlformats.org/drawingml/2006/main">
            <a:off x="10668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31836F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29" name="process-read-title"/>
          <p:cNvSpPr txBox="1"/>
          <p:nvPr/>
        </p:nvSpPr>
        <p:spPr>
          <a:xfrm xmlns:a="http://schemas.openxmlformats.org/drawingml/2006/main">
            <a:off x="10668000" y="38100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C1A19"/>
                </a:solidFill>
                <a:latin typeface="Arial"/>
                <a:ea typeface="Arial"/>
              </a:rPr>
              <a:t>The sequence is the evidence.</a:t>
            </a:r>
            <a:endParaRPr lang="en-US"/>
          </a:p>
        </p:txBody>
      </p:sp>
      <p:sp>
        <p:nvSpPr>
          <p:cNvPr id="30" name="process-read-body"/>
          <p:cNvSpPr txBox="1"/>
          <p:nvPr/>
        </p:nvSpPr>
        <p:spPr>
          <a:xfrm xmlns:a="http://schemas.openxmlformats.org/drawingml/2006/main">
            <a:off x="10668000" y="476250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08F8D"/>
                </a:solidFill>
                <a:latin typeface="Arial"/>
                <a:ea typeface="Arial"/>
              </a:rPr>
              <a:t>Keep each handoff adjacent to the condition that unlocks it; do not turn a real dependency into a decorative arrow.</a:t>
            </a:r>
            <a:endParaRPr lang="en-US"/>
          </a:p>
        </p:txBody>
      </p:sp>
      <p:sp>
        <p:nvSpPr>
          <p:cNvPr id="31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8F8D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32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8F8D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BF8"/>
          </a:solidFill>
          <a:ln xmlns:a="http://schemas.openxmlformats.org/drawingml/2006/main" w="0">
            <a:solidFill>
              <a:srgbClr val="FCFB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1836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BONY INVESTMENT REVIEW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31836F"/>
                </a:solidFill>
                <a:latin typeface="Arial"/>
                <a:ea typeface="Arial"/>
              </a:rPr>
              <a:t>EBONY INVESTMENT REVIEW · VISUAL CARRIER</a:t>
            </a:r>
            <a:endParaRPr lang="en-US"/>
          </a:p>
        </p:txBody>
      </p:sp>
      <p:sp>
        <p:nvSpPr>
          <p:cNvPr id="5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C1A19"/>
                </a:solidFill>
                <a:latin typeface="Arial"/>
                <a:ea typeface="Arial"/>
              </a:rPr>
              <a:t>A visual field can carry a signal</a:t>
            </a:r>
            <a:endParaRPr lang="en-US"/>
          </a:p>
        </p:txBody>
      </p:sp>
      <p:sp>
        <p:nvSpPr>
          <p:cNvPr id="6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08F8D"/>
                </a:solidFill>
                <a:latin typeface="Arial"/>
                <a:ea typeface="Arial"/>
              </a:rPr>
              <a:t>The picture is not a mood board; it is the surface where the argument lands.</a:t>
            </a:r>
            <a:endParaRPr lang="en-US"/>
          </a:p>
        </p:txBody>
      </p:sp>
      <p:sp>
        <p:nvSpPr>
          <p:cNvPr id="7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visual-process-rail"/>
          <p:cNvSpPr/>
          <p:nvPr/>
        </p:nvSpPr>
        <p:spPr>
          <a:xfrm xmlns:a="http://schemas.openxmlformats.org/drawingml/2006/main">
            <a:off x="1447800" y="3524250"/>
            <a:ext cx="0" cy="2647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visual-process-node-0"/>
          <p:cNvSpPr/>
          <p:nvPr/>
        </p:nvSpPr>
        <p:spPr>
          <a:xfrm xmlns:a="http://schemas.openxmlformats.org/drawingml/2006/main">
            <a:off x="1257300" y="33528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CFBF8"/>
          </a:solidFill>
          <a:ln xmlns:a="http://schemas.openxmlformats.org/drawingml/2006/main" w="38100">
            <a:solidFill>
              <a:srgbClr val="1C1A1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visual-process-number-0"/>
          <p:cNvSpPr txBox="1"/>
          <p:nvPr/>
        </p:nvSpPr>
        <p:spPr>
          <a:xfrm xmlns:a="http://schemas.openxmlformats.org/drawingml/2006/main">
            <a:off x="1238250" y="34671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31836F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1" name="visual-process-label-0"/>
          <p:cNvSpPr txBox="1"/>
          <p:nvPr/>
        </p:nvSpPr>
        <p:spPr>
          <a:xfrm xmlns:a="http://schemas.openxmlformats.org/drawingml/2006/main">
            <a:off x="1943100" y="33718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C1A19"/>
                </a:solidFill>
                <a:latin typeface="Arial"/>
                <a:ea typeface="Arial"/>
              </a:rPr>
              <a:t>Observe</a:t>
            </a:r>
            <a:endParaRPr lang="en-US"/>
          </a:p>
        </p:txBody>
      </p:sp>
      <p:sp>
        <p:nvSpPr>
          <p:cNvPr id="12" name="visual-process-text-0"/>
          <p:cNvSpPr txBox="1"/>
          <p:nvPr/>
        </p:nvSpPr>
        <p:spPr>
          <a:xfrm xmlns:a="http://schemas.openxmlformats.org/drawingml/2006/main">
            <a:off x="3829050" y="34004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08F8D"/>
                </a:solidFill>
                <a:latin typeface="Arial"/>
                <a:ea typeface="Arial"/>
              </a:rPr>
              <a:t>Find the signal</a:t>
            </a:r>
            <a:endParaRPr lang="en-US"/>
          </a:p>
        </p:txBody>
      </p:sp>
      <p:sp>
        <p:nvSpPr>
          <p:cNvPr id="13" name="visual-process-node-1"/>
          <p:cNvSpPr/>
          <p:nvPr/>
        </p:nvSpPr>
        <p:spPr>
          <a:xfrm xmlns:a="http://schemas.openxmlformats.org/drawingml/2006/main">
            <a:off x="1257300" y="40957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CFBF8"/>
          </a:solidFill>
          <a:ln xmlns:a="http://schemas.openxmlformats.org/drawingml/2006/main" w="38100">
            <a:solidFill>
              <a:srgbClr val="1C1A1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visual-process-number-1"/>
          <p:cNvSpPr txBox="1"/>
          <p:nvPr/>
        </p:nvSpPr>
        <p:spPr>
          <a:xfrm xmlns:a="http://schemas.openxmlformats.org/drawingml/2006/main">
            <a:off x="1238250" y="42100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31836F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5" name="visual-process-label-1"/>
          <p:cNvSpPr txBox="1"/>
          <p:nvPr/>
        </p:nvSpPr>
        <p:spPr>
          <a:xfrm xmlns:a="http://schemas.openxmlformats.org/drawingml/2006/main">
            <a:off x="1943100" y="41148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C1A19"/>
                </a:solidFill>
                <a:latin typeface="Arial"/>
                <a:ea typeface="Arial"/>
              </a:rPr>
              <a:t>Explain</a:t>
            </a:r>
            <a:endParaRPr lang="en-US"/>
          </a:p>
        </p:txBody>
      </p:sp>
      <p:sp>
        <p:nvSpPr>
          <p:cNvPr id="16" name="visual-process-text-1"/>
          <p:cNvSpPr txBox="1"/>
          <p:nvPr/>
        </p:nvSpPr>
        <p:spPr>
          <a:xfrm xmlns:a="http://schemas.openxmlformats.org/drawingml/2006/main">
            <a:off x="3829050" y="41433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08F8D"/>
                </a:solidFill>
                <a:latin typeface="Arial"/>
                <a:ea typeface="Arial"/>
              </a:rPr>
              <a:t>Name the mechanism</a:t>
            </a:r>
            <a:endParaRPr lang="en-US"/>
          </a:p>
        </p:txBody>
      </p:sp>
      <p:sp>
        <p:nvSpPr>
          <p:cNvPr id="17" name="visual-process-node-2"/>
          <p:cNvSpPr/>
          <p:nvPr/>
        </p:nvSpPr>
        <p:spPr>
          <a:xfrm xmlns:a="http://schemas.openxmlformats.org/drawingml/2006/main">
            <a:off x="1257300" y="48387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CFBF8"/>
          </a:solidFill>
          <a:ln xmlns:a="http://schemas.openxmlformats.org/drawingml/2006/main" w="38100">
            <a:solidFill>
              <a:srgbClr val="1C1A1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visual-process-number-2"/>
          <p:cNvSpPr txBox="1"/>
          <p:nvPr/>
        </p:nvSpPr>
        <p:spPr>
          <a:xfrm xmlns:a="http://schemas.openxmlformats.org/drawingml/2006/main">
            <a:off x="1238250" y="49530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31836F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9" name="visual-process-label-2"/>
          <p:cNvSpPr txBox="1"/>
          <p:nvPr/>
        </p:nvSpPr>
        <p:spPr>
          <a:xfrm xmlns:a="http://schemas.openxmlformats.org/drawingml/2006/main">
            <a:off x="1943100" y="4857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C1A19"/>
                </a:solidFill>
                <a:latin typeface="Arial"/>
                <a:ea typeface="Arial"/>
              </a:rPr>
              <a:t>Choose</a:t>
            </a:r>
            <a:endParaRPr lang="en-US"/>
          </a:p>
        </p:txBody>
      </p:sp>
      <p:sp>
        <p:nvSpPr>
          <p:cNvPr id="20" name="visual-process-text-2"/>
          <p:cNvSpPr txBox="1"/>
          <p:nvPr/>
        </p:nvSpPr>
        <p:spPr>
          <a:xfrm xmlns:a="http://schemas.openxmlformats.org/drawingml/2006/main">
            <a:off x="3829050" y="48863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08F8D"/>
                </a:solidFill>
                <a:latin typeface="Arial"/>
                <a:ea typeface="Arial"/>
              </a:rPr>
              <a:t>Set the condition</a:t>
            </a:r>
            <a:endParaRPr lang="en-US"/>
          </a:p>
        </p:txBody>
      </p:sp>
      <p:sp>
        <p:nvSpPr>
          <p:cNvPr id="21" name="visual-process-node-3"/>
          <p:cNvSpPr/>
          <p:nvPr/>
        </p:nvSpPr>
        <p:spPr>
          <a:xfrm xmlns:a="http://schemas.openxmlformats.org/drawingml/2006/main">
            <a:off x="1257300" y="55816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836F"/>
          </a:solidFill>
          <a:ln xmlns:a="http://schemas.openxmlformats.org/drawingml/2006/main" w="38100">
            <a:solidFill>
              <a:srgbClr val="31836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visual-process-number-3"/>
          <p:cNvSpPr txBox="1"/>
          <p:nvPr/>
        </p:nvSpPr>
        <p:spPr>
          <a:xfrm xmlns:a="http://schemas.openxmlformats.org/drawingml/2006/main">
            <a:off x="1238250" y="56959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FFFFFF"/>
                </a:solidFill>
                <a:latin typeface="Arial"/>
                <a:ea typeface="Arial"/>
              </a:rPr>
              <a:t>04</a:t>
            </a:r>
            <a:endParaRPr lang="en-US"/>
          </a:p>
        </p:txBody>
      </p:sp>
      <p:sp>
        <p:nvSpPr>
          <p:cNvPr id="23" name="visual-process-label-3"/>
          <p:cNvSpPr txBox="1"/>
          <p:nvPr/>
        </p:nvSpPr>
        <p:spPr>
          <a:xfrm xmlns:a="http://schemas.openxmlformats.org/drawingml/2006/main">
            <a:off x="1943100" y="5600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C1A19"/>
                </a:solidFill>
                <a:latin typeface="Arial"/>
                <a:ea typeface="Arial"/>
              </a:rPr>
              <a:t>Act</a:t>
            </a:r>
            <a:endParaRPr lang="en-US"/>
          </a:p>
        </p:txBody>
      </p:sp>
      <p:sp>
        <p:nvSpPr>
          <p:cNvPr id="24" name="visual-process-text-3"/>
          <p:cNvSpPr txBox="1"/>
          <p:nvPr/>
        </p:nvSpPr>
        <p:spPr>
          <a:xfrm xmlns:a="http://schemas.openxmlformats.org/drawingml/2006/main">
            <a:off x="3829050" y="56292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08F8D"/>
                </a:solidFill>
                <a:latin typeface="Arial"/>
                <a:ea typeface="Arial"/>
              </a:rPr>
              <a:t>Return with proof</a:t>
            </a:r>
            <a:endParaRPr lang="en-US"/>
          </a:p>
        </p:txBody>
      </p:sp>
      <p:sp>
        <p:nvSpPr>
          <p:cNvPr id="25" name="visual-process-rule"/>
          <p:cNvSpPr/>
          <p:nvPr/>
        </p:nvSpPr>
        <p:spPr>
          <a:xfrm xmlns:a="http://schemas.openxmlformats.org/drawingml/2006/main">
            <a:off x="7239000" y="3486150"/>
            <a:ext cx="0" cy="2705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visual-process-note-label"/>
          <p:cNvSpPr txBox="1"/>
          <p:nvPr/>
        </p:nvSpPr>
        <p:spPr>
          <a:xfrm xmlns:a="http://schemas.openxmlformats.org/drawingml/2006/main">
            <a:off x="8001000" y="35623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31836F"/>
                </a:solidFill>
                <a:latin typeface="Arial"/>
                <a:ea typeface="Arial"/>
              </a:rPr>
              <a:t>PROCESS CARRIER</a:t>
            </a:r>
            <a:endParaRPr lang="en-US"/>
          </a:p>
        </p:txBody>
      </p:sp>
      <p:sp>
        <p:nvSpPr>
          <p:cNvPr id="27" name="visual-process-note-title"/>
          <p:cNvSpPr txBox="1"/>
          <p:nvPr/>
        </p:nvSpPr>
        <p:spPr>
          <a:xfrm xmlns:a="http://schemas.openxmlformats.org/drawingml/2006/main">
            <a:off x="8001000" y="4038600"/>
            <a:ext cx="438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C1A19"/>
                </a:solidFill>
                <a:latin typeface="Arial"/>
                <a:ea typeface="Arial"/>
              </a:rPr>
              <a:t>A relationship earns a line.</a:t>
            </a:r>
            <a:endParaRPr lang="en-US"/>
          </a:p>
        </p:txBody>
      </p:sp>
      <p:sp>
        <p:nvSpPr>
          <p:cNvPr id="28" name="visual-process-note-body"/>
          <p:cNvSpPr txBox="1"/>
          <p:nvPr/>
        </p:nvSpPr>
        <p:spPr>
          <a:xfrm xmlns:a="http://schemas.openxmlformats.org/drawingml/2006/main">
            <a:off x="8001000" y="5048250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08F8D"/>
                </a:solidFill>
                <a:latin typeface="Arial"/>
                <a:ea typeface="Arial"/>
              </a:rPr>
              <a:t>Use sequence, direction and conditions to make the mechanism visible. If the relationship is not real, remove the arrow.</a:t>
            </a:r>
            <a:endParaRPr lang="en-US"/>
          </a:p>
        </p:txBody>
      </p:sp>
      <p:sp>
        <p:nvSpPr>
          <p:cNvPr id="29" name="visual-note"/>
          <p:cNvSpPr/>
          <p:nvPr/>
        </p:nvSpPr>
        <p:spPr>
          <a:xfrm xmlns:a="http://schemas.openxmlformats.org/drawingml/2006/main">
            <a:off x="11049000" y="3333750"/>
            <a:ext cx="3048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visual-note-label"/>
          <p:cNvSpPr txBox="1"/>
          <p:nvPr/>
        </p:nvSpPr>
        <p:spPr>
          <a:xfrm xmlns:a="http://schemas.openxmlformats.org/drawingml/2006/main">
            <a:off x="11430000" y="3695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31836F"/>
                </a:solidFill>
                <a:latin typeface="Arial"/>
                <a:ea typeface="Arial"/>
              </a:rPr>
              <a:t>CARRIER</a:t>
            </a:r>
            <a:endParaRPr lang="en-US"/>
          </a:p>
        </p:txBody>
      </p:sp>
      <p:sp>
        <p:nvSpPr>
          <p:cNvPr id="31" name="visual-note-text"/>
          <p:cNvSpPr txBox="1"/>
          <p:nvPr/>
        </p:nvSpPr>
        <p:spPr>
          <a:xfrm xmlns:a="http://schemas.openxmlformats.org/drawingml/2006/main">
            <a:off x="11430000" y="4171950"/>
            <a:ext cx="228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C1A19"/>
                </a:solidFill>
                <a:latin typeface="Arial"/>
                <a:ea typeface="Arial"/>
              </a:rPr>
              <a:t>Signal before decoration</a:t>
            </a:r>
            <a:endParaRPr lang="en-US"/>
          </a:p>
        </p:txBody>
      </p:sp>
      <p:sp>
        <p:nvSpPr>
          <p:cNvPr id="32" name="visual-note-foot"/>
          <p:cNvSpPr txBox="1"/>
          <p:nvPr/>
        </p:nvSpPr>
        <p:spPr>
          <a:xfrm xmlns:a="http://schemas.openxmlformats.org/drawingml/2006/main">
            <a:off x="11430000" y="52197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08F8D"/>
                </a:solidFill>
                <a:latin typeface="Arial"/>
                <a:ea typeface="Arial"/>
              </a:rPr>
              <a:t>Read the mark, unit, and basis.</a:t>
            </a:r>
            <a:endParaRPr lang="en-US"/>
          </a:p>
        </p:txBody>
      </p:sp>
      <p:sp>
        <p:nvSpPr>
          <p:cNvPr id="33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8F8D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34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8F8D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BF8"/>
          </a:solidFill>
          <a:ln xmlns:a="http://schemas.openxmlformats.org/drawingml/2006/main" w="0">
            <a:solidFill>
              <a:srgbClr val="FCFB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1836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BONY INVESTMENT REVIEW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31836F"/>
                </a:solidFill>
                <a:latin typeface="Arial"/>
                <a:ea typeface="Arial"/>
              </a:rPr>
              <a:t>EBONY INVESTMENT REVIEW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C1A19"/>
                </a:solidFill>
                <a:latin typeface="Arial"/>
                <a:ea typeface="Arial"/>
              </a:rPr>
              <a:t>Fund the proven constraint, then measure the next one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08F8D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31836F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C1A19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C1A19"/>
                </a:solidFill>
                <a:latin typeface="Arial"/>
                <a:ea typeface="Arial"/>
              </a:rPr>
              <a:t>Cash conversion remains positive.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C1A19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C1A19"/>
                </a:solidFill>
                <a:latin typeface="Arial"/>
                <a:ea typeface="Arial"/>
              </a:rPr>
              <a:t>Risk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C1A19"/>
                </a:solidFill>
                <a:latin typeface="Arial"/>
                <a:ea typeface="Arial"/>
              </a:rPr>
              <a:t>The buffer is below threshold.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31836F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31836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C1A19"/>
                </a:solidFill>
                <a:latin typeface="Arial"/>
                <a:ea typeface="Arial"/>
              </a:rPr>
              <a:t>Decision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C1A19"/>
                </a:solidFill>
                <a:latin typeface="Arial"/>
                <a:ea typeface="Arial"/>
              </a:rPr>
              <a:t>Release one constrained tranche.</a:t>
            </a:r>
            <a:endParaRPr lang="en-US"/>
          </a:p>
        </p:txBody>
      </p:sp>
      <p:sp>
        <p:nvSpPr>
          <p:cNvPr id="20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836F"/>
          </a:solidFill>
          <a:ln xmlns:a="http://schemas.openxmlformats.org/drawingml/2006/main" w="0">
            <a:solidFill>
              <a:srgbClr val="31836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Arial"/>
                <a:ea typeface="Arial"/>
              </a:rPr>
              <a:t>Clear the buffer gate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8F8D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8F8D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