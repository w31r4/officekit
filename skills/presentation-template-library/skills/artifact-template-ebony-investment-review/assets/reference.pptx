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d34df5351794e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solidFill>
              <a:srgbClr val="FC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836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1836F"/>
                </a:solidFill>
                <a:latin typeface="Arial"/>
                <a:ea typeface="Arial"/>
              </a:rPr>
              <a:t>FINANCE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C1A19"/>
                </a:solidFill>
                <a:latin typeface="Arial"/>
                <a:ea typeface="Arial"/>
              </a:rPr>
              <a:t>Ebony Investment Review: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31836F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C1A19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C1A19"/>
                </a:solidFill>
                <a:latin typeface="Arial"/>
                <a:ea typeface="Arial"/>
              </a:rPr>
              <a:t>A ledger turns evidence into a bounded stance.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8F8D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8F8D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239500" y="1714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line"/>
          <p:cNvSpPr/>
          <p:nvPr/>
        </p:nvSpPr>
        <p:spPr>
          <a:xfrm xmlns:a="http://schemas.openxmlformats.org/drawingml/2006/main">
            <a:off x="11544300" y="35052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1836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line-two"/>
          <p:cNvSpPr/>
          <p:nvPr/>
        </p:nvSpPr>
        <p:spPr>
          <a:xfrm xmlns:a="http://schemas.openxmlformats.org/drawingml/2006/main">
            <a:off x="11544300" y="36957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dot"/>
          <p:cNvSpPr/>
          <p:nvPr/>
        </p:nvSpPr>
        <p:spPr>
          <a:xfrm xmlns:a="http://schemas.openxmlformats.org/drawingml/2006/main">
            <a:off x="130302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36F"/>
          </a:solidFill>
          <a:ln xmlns:a="http://schemas.openxmlformats.org/drawingml/2006/main" w="0">
            <a:solidFill>
              <a:srgbClr val="31836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solidFill>
              <a:srgbClr val="FC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836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BONY INVESTMENT REVIEW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1836F"/>
                </a:solidFill>
                <a:latin typeface="Arial"/>
                <a:ea typeface="Arial"/>
              </a:rPr>
              <a:t>EBONY INVESTMENT REVIEW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C1A19"/>
                </a:solidFill>
                <a:latin typeface="Arial"/>
                <a:ea typeface="Arial"/>
              </a:rPr>
              <a:t>Three signals support a narrow allocation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8F8D"/>
                </a:solidFill>
                <a:latin typeface="Arial"/>
                <a:ea typeface="Arial"/>
              </a:rPr>
              <a:t>Units, periods, and thresholds stay next to the values they qualify.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nance-value-0"/>
          <p:cNvSpPr txBox="1"/>
          <p:nvPr/>
        </p:nvSpPr>
        <p:spPr>
          <a:xfrm xmlns:a="http://schemas.openxmlformats.org/drawingml/2006/main">
            <a:off x="110490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31836F"/>
                </a:solidFill>
                <a:latin typeface="Arial"/>
                <a:ea typeface="Arial"/>
              </a:rPr>
              <a:t>48.2</a:t>
            </a:r>
            <a:endParaRPr lang="en-US"/>
          </a:p>
        </p:txBody>
      </p:sp>
      <p:sp>
        <p:nvSpPr>
          <p:cNvPr id="9" name="finance-label-0"/>
          <p:cNvSpPr txBox="1"/>
          <p:nvPr/>
        </p:nvSpPr>
        <p:spPr>
          <a:xfrm xmlns:a="http://schemas.openxmlformats.org/drawingml/2006/main">
            <a:off x="110490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08F8D"/>
                </a:solidFill>
                <a:latin typeface="Arial"/>
                <a:ea typeface="Arial"/>
              </a:rPr>
              <a:t>net inflow · week 6</a:t>
            </a:r>
            <a:endParaRPr lang="en-US"/>
          </a:p>
        </p:txBody>
      </p:sp>
      <p:sp>
        <p:nvSpPr>
          <p:cNvPr id="10" name="finance-rule-0"/>
          <p:cNvSpPr/>
          <p:nvPr/>
        </p:nvSpPr>
        <p:spPr>
          <a:xfrm xmlns:a="http://schemas.openxmlformats.org/drawingml/2006/main">
            <a:off x="110490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nance-value-1"/>
          <p:cNvSpPr txBox="1"/>
          <p:nvPr/>
        </p:nvSpPr>
        <p:spPr>
          <a:xfrm xmlns:a="http://schemas.openxmlformats.org/drawingml/2006/main">
            <a:off x="367665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C1A19"/>
                </a:solidFill>
                <a:latin typeface="Arial"/>
                <a:ea typeface="Arial"/>
              </a:rPr>
              <a:t>3.4×</a:t>
            </a:r>
            <a:endParaRPr lang="en-US"/>
          </a:p>
        </p:txBody>
      </p:sp>
      <p:sp>
        <p:nvSpPr>
          <p:cNvPr id="12" name="finance-label-1"/>
          <p:cNvSpPr txBox="1"/>
          <p:nvPr/>
        </p:nvSpPr>
        <p:spPr>
          <a:xfrm xmlns:a="http://schemas.openxmlformats.org/drawingml/2006/main">
            <a:off x="367665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08F8D"/>
                </a:solidFill>
                <a:latin typeface="Arial"/>
                <a:ea typeface="Arial"/>
              </a:rPr>
              <a:t>coverage · month end</a:t>
            </a:r>
            <a:endParaRPr lang="en-US"/>
          </a:p>
        </p:txBody>
      </p:sp>
      <p:sp>
        <p:nvSpPr>
          <p:cNvPr id="13" name="finance-rule-1"/>
          <p:cNvSpPr/>
          <p:nvPr/>
        </p:nvSpPr>
        <p:spPr>
          <a:xfrm xmlns:a="http://schemas.openxmlformats.org/drawingml/2006/main">
            <a:off x="367665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finance-value-2"/>
          <p:cNvSpPr txBox="1"/>
          <p:nvPr/>
        </p:nvSpPr>
        <p:spPr>
          <a:xfrm xmlns:a="http://schemas.openxmlformats.org/drawingml/2006/main">
            <a:off x="624840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C1A19"/>
                </a:solidFill>
                <a:latin typeface="Arial"/>
                <a:ea typeface="Arial"/>
              </a:rPr>
              <a:t>61%</a:t>
            </a:r>
            <a:endParaRPr lang="en-US"/>
          </a:p>
        </p:txBody>
      </p:sp>
      <p:sp>
        <p:nvSpPr>
          <p:cNvPr id="15" name="finance-label-2"/>
          <p:cNvSpPr txBox="1"/>
          <p:nvPr/>
        </p:nvSpPr>
        <p:spPr>
          <a:xfrm xmlns:a="http://schemas.openxmlformats.org/drawingml/2006/main">
            <a:off x="624840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08F8D"/>
                </a:solidFill>
                <a:latin typeface="Arial"/>
                <a:ea typeface="Arial"/>
              </a:rPr>
              <a:t>top two regions</a:t>
            </a:r>
            <a:endParaRPr lang="en-US"/>
          </a:p>
        </p:txBody>
      </p:sp>
      <p:sp>
        <p:nvSpPr>
          <p:cNvPr id="16" name="finance-rule-2"/>
          <p:cNvSpPr/>
          <p:nvPr/>
        </p:nvSpPr>
        <p:spPr>
          <a:xfrm xmlns:a="http://schemas.openxmlformats.org/drawingml/2006/main">
            <a:off x="624840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finance-read"/>
          <p:cNvSpPr txBox="1"/>
          <p:nvPr/>
        </p:nvSpPr>
        <p:spPr>
          <a:xfrm xmlns:a="http://schemas.openxmlformats.org/drawingml/2006/main">
            <a:off x="1104900" y="5143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C1A19"/>
                </a:solidFill>
                <a:latin typeface="Arial"/>
                <a:ea typeface="Arial"/>
              </a:rPr>
              <a:t>The ledger supports a narrow allocation, not a broad acceleration.</a:t>
            </a:r>
            <a:endParaRPr lang="en-US"/>
          </a:p>
        </p:txBody>
      </p:sp>
      <p:sp>
        <p:nvSpPr>
          <p:cNvPr id="18" name="finance-panel"/>
          <p:cNvSpPr/>
          <p:nvPr/>
        </p:nvSpPr>
        <p:spPr>
          <a:xfrm xmlns:a="http://schemas.openxmlformats.org/drawingml/2006/main">
            <a:off x="10096500" y="3238500"/>
            <a:ext cx="3810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finance-panel-label"/>
          <p:cNvSpPr txBox="1"/>
          <p:nvPr/>
        </p:nvSpPr>
        <p:spPr>
          <a:xfrm xmlns:a="http://schemas.openxmlformats.org/drawingml/2006/main">
            <a:off x="10477500" y="3600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1836F"/>
                </a:solidFill>
                <a:latin typeface="Arial"/>
                <a:ea typeface="Arial"/>
              </a:rPr>
              <a:t>DECISION GATE</a:t>
            </a:r>
            <a:endParaRPr lang="en-US"/>
          </a:p>
        </p:txBody>
      </p:sp>
      <p:sp>
        <p:nvSpPr>
          <p:cNvPr id="20" name="finance-panel-value"/>
          <p:cNvSpPr txBox="1"/>
          <p:nvPr/>
        </p:nvSpPr>
        <p:spPr>
          <a:xfrm xmlns:a="http://schemas.openxmlformats.org/drawingml/2006/main">
            <a:off x="10477500" y="4057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025" b="1">
                <a:solidFill>
                  <a:srgbClr val="1C1A19"/>
                </a:solidFill>
                <a:latin typeface="Arial"/>
                <a:ea typeface="Arial"/>
              </a:rPr>
              <a:t>Cash buffer</a:t>
            </a:r>
            <a:endParaRPr lang="en-US"/>
          </a:p>
        </p:txBody>
      </p:sp>
      <p:sp>
        <p:nvSpPr>
          <p:cNvPr id="21" name="finance-panel-foot"/>
          <p:cNvSpPr txBox="1"/>
          <p:nvPr/>
        </p:nvSpPr>
        <p:spPr>
          <a:xfrm xmlns:a="http://schemas.openxmlformats.org/drawingml/2006/main">
            <a:off x="10477500" y="466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08F8D"/>
                </a:solidFill>
                <a:latin typeface="Arial"/>
                <a:ea typeface="Arial"/>
              </a:rPr>
              <a:t>Release only after ≥10 weeks</a:t>
            </a:r>
            <a:endParaRPr lang="en-US"/>
          </a:p>
        </p:txBody>
      </p:sp>
      <p:sp>
        <p:nvSpPr>
          <p:cNvPr id="22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8F8D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3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8F8D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solidFill>
              <a:srgbClr val="FC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836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BONY INVESTMENT REVIEW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1836F"/>
                </a:solidFill>
                <a:latin typeface="Arial"/>
                <a:ea typeface="Arial"/>
              </a:rPr>
              <a:t>EBONY INVESTMENT REVIEW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C1A19"/>
                </a:solidFill>
                <a:latin typeface="Arial"/>
                <a:ea typeface="Arial"/>
              </a:rPr>
              <a:t>The ledger moves, but the threshold still governs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8F8D"/>
                </a:solidFill>
                <a:latin typeface="Arial"/>
                <a:ea typeface="Arial"/>
              </a:rPr>
              <a:t>Illustrative ledger · values show period, unit, and decision threshold.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1836F"/>
                </a:solidFill>
                <a:latin typeface="Arial"/>
                <a:ea typeface="Arial"/>
              </a:rPr>
              <a:t>MODEL READ-THROUGH</a:t>
            </a:r>
            <a:endParaRPr lang="en-US"/>
          </a:p>
        </p:txBody>
      </p:sp>
      <p:sp>
        <p:nvSpPr>
          <p:cNvPr id="10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C1A19"/>
                </a:solidFill>
                <a:latin typeface="Arial"/>
                <a:ea typeface="Arial"/>
              </a:rPr>
              <a:t>The gate stays visible beside the number.</a:t>
            </a:r>
            <a:endParaRPr lang="en-US"/>
          </a:p>
        </p:txBody>
      </p:sp>
      <p:sp>
        <p:nvSpPr>
          <p:cNvPr id="11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8F8D"/>
                </a:solidFill>
                <a:latin typeface="Arial"/>
                <a:ea typeface="Arial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C1A19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8F8D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8F8D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solidFill>
              <a:srgbClr val="FC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836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BONY INVESTMENT REVIEW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1836F"/>
                </a:solidFill>
                <a:latin typeface="Arial"/>
                <a:ea typeface="Arial"/>
              </a:rPr>
              <a:t>EBONY INVESTMENT REVIEW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C1A19"/>
                </a:solidFill>
                <a:latin typeface="Arial"/>
                <a:ea typeface="Arial"/>
              </a:rPr>
              <a:t>The ledger carries the assumptions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8F8D"/>
                </a:solidFill>
                <a:latin typeface="Arial"/>
                <a:ea typeface="Arial"/>
              </a:rPr>
              <a:t>Assumption grid · values stay aligned to their basis and release gate.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8100">
            <a:solidFill>
              <a:srgbClr val="1C1A1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31836F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C1A19"/>
                </a:solidFill>
                <a:latin typeface="Arial"/>
                <a:ea typeface="Arial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8F8D"/>
                </a:solidFill>
                <a:latin typeface="Arial"/>
                <a:ea typeface="Arial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8100">
            <a:solidFill>
              <a:srgbClr val="1C1A1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31836F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C1A19"/>
                </a:solidFill>
                <a:latin typeface="Arial"/>
                <a:ea typeface="Arial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8F8D"/>
                </a:solidFill>
                <a:latin typeface="Arial"/>
                <a:ea typeface="Arial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8100">
            <a:solidFill>
              <a:srgbClr val="1C1A1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31836F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C1A19"/>
                </a:solidFill>
                <a:latin typeface="Arial"/>
                <a:ea typeface="Arial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8F8D"/>
                </a:solidFill>
                <a:latin typeface="Arial"/>
                <a:ea typeface="Arial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36F"/>
          </a:solidFill>
          <a:ln xmlns:a="http://schemas.openxmlformats.org/drawingml/2006/main" w="38100">
            <a:solidFill>
              <a:srgbClr val="31836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31836F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C1A19"/>
                </a:solidFill>
                <a:latin typeface="Arial"/>
                <a:ea typeface="Arial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8F8D"/>
                </a:solidFill>
                <a:latin typeface="Arial"/>
                <a:ea typeface="Arial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1836F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C1A19"/>
                </a:solidFill>
                <a:latin typeface="Arial"/>
                <a:ea typeface="Arial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8F8D"/>
                </a:solidFill>
                <a:latin typeface="Arial"/>
                <a:ea typeface="Arial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8F8D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8F8D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solidFill>
              <a:srgbClr val="FC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836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BONY INVESTMENT REVIEW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1836F"/>
                </a:solidFill>
                <a:latin typeface="Arial"/>
                <a:ea typeface="Arial"/>
              </a:rPr>
              <a:t>EBONY INVESTMENT REVIEW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C1A19"/>
                </a:solidFill>
                <a:latin typeface="Arial"/>
                <a:ea typeface="Arial"/>
              </a:rPr>
              <a:t>A visual field can carry a signal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8F8D"/>
                </a:solidFill>
                <a:latin typeface="Arial"/>
                <a:ea typeface="Arial"/>
              </a:rPr>
              <a:t>The picture is not a mood board; it is the surface where the argument lands.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8100">
            <a:solidFill>
              <a:srgbClr val="1C1A1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31836F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C1A19"/>
                </a:solidFill>
                <a:latin typeface="Arial"/>
                <a:ea typeface="Arial"/>
              </a:rPr>
              <a:t>Observe</a:t>
            </a:r>
            <a:endParaRPr lang="en-US"/>
          </a:p>
        </p:txBody>
      </p:sp>
      <p:sp>
        <p:nvSpPr>
          <p:cNvPr id="12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8F8D"/>
                </a:solidFill>
                <a:latin typeface="Arial"/>
                <a:ea typeface="Arial"/>
              </a:rPr>
              <a:t>Find the signal</a:t>
            </a:r>
            <a:endParaRPr lang="en-US"/>
          </a:p>
        </p:txBody>
      </p:sp>
      <p:sp>
        <p:nvSpPr>
          <p:cNvPr id="13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8100">
            <a:solidFill>
              <a:srgbClr val="1C1A1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31836F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5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C1A19"/>
                </a:solidFill>
                <a:latin typeface="Arial"/>
                <a:ea typeface="Arial"/>
              </a:rPr>
              <a:t>Explain</a:t>
            </a:r>
            <a:endParaRPr lang="en-US"/>
          </a:p>
        </p:txBody>
      </p:sp>
      <p:sp>
        <p:nvSpPr>
          <p:cNvPr id="16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8F8D"/>
                </a:solidFill>
                <a:latin typeface="Arial"/>
                <a:ea typeface="Arial"/>
              </a:rPr>
              <a:t>Name the mechanism</a:t>
            </a:r>
            <a:endParaRPr lang="en-US"/>
          </a:p>
        </p:txBody>
      </p:sp>
      <p:sp>
        <p:nvSpPr>
          <p:cNvPr id="17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8100">
            <a:solidFill>
              <a:srgbClr val="1C1A1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31836F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9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C1A19"/>
                </a:solidFill>
                <a:latin typeface="Arial"/>
                <a:ea typeface="Arial"/>
              </a:rPr>
              <a:t>Choose</a:t>
            </a:r>
            <a:endParaRPr lang="en-US"/>
          </a:p>
        </p:txBody>
      </p:sp>
      <p:sp>
        <p:nvSpPr>
          <p:cNvPr id="20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8F8D"/>
                </a:solidFill>
                <a:latin typeface="Arial"/>
                <a:ea typeface="Arial"/>
              </a:rPr>
              <a:t>Set the condition</a:t>
            </a:r>
            <a:endParaRPr lang="en-US"/>
          </a:p>
        </p:txBody>
      </p:sp>
      <p:sp>
        <p:nvSpPr>
          <p:cNvPr id="21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36F"/>
          </a:solidFill>
          <a:ln xmlns:a="http://schemas.openxmlformats.org/drawingml/2006/main" w="38100">
            <a:solidFill>
              <a:srgbClr val="31836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3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C1A19"/>
                </a:solidFill>
                <a:latin typeface="Arial"/>
                <a:ea typeface="Arial"/>
              </a:rPr>
              <a:t>Act</a:t>
            </a:r>
            <a:endParaRPr lang="en-US"/>
          </a:p>
        </p:txBody>
      </p:sp>
      <p:sp>
        <p:nvSpPr>
          <p:cNvPr id="24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8F8D"/>
                </a:solidFill>
                <a:latin typeface="Arial"/>
                <a:ea typeface="Arial"/>
              </a:rPr>
              <a:t>Return with proof</a:t>
            </a:r>
            <a:endParaRPr lang="en-US"/>
          </a:p>
        </p:txBody>
      </p:sp>
      <p:sp>
        <p:nvSpPr>
          <p:cNvPr id="25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1836F"/>
                </a:solidFill>
                <a:latin typeface="Arial"/>
                <a:ea typeface="Arial"/>
              </a:rPr>
              <a:t>PROCESS CARRIER</a:t>
            </a:r>
            <a:endParaRPr lang="en-US"/>
          </a:p>
        </p:txBody>
      </p:sp>
      <p:sp>
        <p:nvSpPr>
          <p:cNvPr id="27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C1A19"/>
                </a:solidFill>
                <a:latin typeface="Arial"/>
                <a:ea typeface="Arial"/>
              </a:rPr>
              <a:t>A relationship earns a line.</a:t>
            </a:r>
            <a:endParaRPr lang="en-US"/>
          </a:p>
        </p:txBody>
      </p:sp>
      <p:sp>
        <p:nvSpPr>
          <p:cNvPr id="28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8F8D"/>
                </a:solidFill>
                <a:latin typeface="Arial"/>
                <a:ea typeface="Arial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29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1836F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31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C1A19"/>
                </a:solidFill>
                <a:latin typeface="Arial"/>
                <a:ea typeface="Arial"/>
              </a:rPr>
              <a:t>Signal before decoration</a:t>
            </a:r>
            <a:endParaRPr lang="en-US"/>
          </a:p>
        </p:txBody>
      </p:sp>
      <p:sp>
        <p:nvSpPr>
          <p:cNvPr id="32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08F8D"/>
                </a:solidFill>
                <a:latin typeface="Arial"/>
                <a:ea typeface="Arial"/>
              </a:rPr>
              <a:t>Read the mark, unit, and basis.</a:t>
            </a:r>
            <a:endParaRPr lang="en-US"/>
          </a:p>
        </p:txBody>
      </p:sp>
      <p:sp>
        <p:nvSpPr>
          <p:cNvPr id="3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8F8D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3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8F8D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solidFill>
              <a:srgbClr val="FC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836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BONY INVESTMENT REVIEW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1836F"/>
                </a:solidFill>
                <a:latin typeface="Arial"/>
                <a:ea typeface="Arial"/>
              </a:rPr>
              <a:t>EBONY INVESTMENT REVIEW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C1A19"/>
                </a:solidFill>
                <a:latin typeface="Arial"/>
                <a:ea typeface="Arial"/>
              </a:rPr>
              <a:t>Fund the proven constraint, then measure the next one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8F8D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31836F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C1A19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C1A19"/>
                </a:solidFill>
                <a:latin typeface="Arial"/>
                <a:ea typeface="Arial"/>
              </a:rPr>
              <a:t>Cash conversion remains positive.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C1A19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8F8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C1A19"/>
                </a:solidFill>
                <a:latin typeface="Arial"/>
                <a:ea typeface="Arial"/>
              </a:rPr>
              <a:t>Risk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C1A19"/>
                </a:solidFill>
                <a:latin typeface="Arial"/>
                <a:ea typeface="Arial"/>
              </a:rPr>
              <a:t>The buffer is below threshold.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31836F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1836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C1A19"/>
                </a:solidFill>
                <a:latin typeface="Arial"/>
                <a:ea typeface="Arial"/>
              </a:rPr>
              <a:t>Decision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C1A19"/>
                </a:solidFill>
                <a:latin typeface="Arial"/>
                <a:ea typeface="Arial"/>
              </a:rPr>
              <a:t>Release one constrained tranche.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36F"/>
          </a:solidFill>
          <a:ln xmlns:a="http://schemas.openxmlformats.org/drawingml/2006/main" w="0">
            <a:solidFill>
              <a:srgbClr val="31836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Clear the buffer gate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8F8D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8F8D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