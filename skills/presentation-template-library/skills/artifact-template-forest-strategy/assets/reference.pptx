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1481014cabb14c7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7650495d0c3b8602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e4bd683f73b7a543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c7b73f8fac405495_1" /><Relationship Type="http://schemas.openxmlformats.org/officeDocument/2006/relationships/chart" Target="/ppt/slides/charts/chart1.xml" Id="R34ca992d71e6496f" /><Relationship Type="http://schemas.openxmlformats.org/officeDocument/2006/relationships/chart" Target="/ppt/slides/charts/chart2.xml" Id="Rb603b19377fb44a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2930549abca3ae00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ff1582c14d42a1a7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6.jpg" Id="rIdOfficeKitImaged71bfa074cda59bb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2E8C5C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B9D94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8CDC76"/>
            </a:solidFill>
            <a:ln w="38100">
              <a:solidFill>
                <a:srgbClr val="8CDC76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tifact-template-forest-strategy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650495d0c3b8602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>
              <a:alpha val="100000"/>
            </a:srgbClr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0"/>
          <p:cNvSpPr/>
          <p:nvPr/>
        </p:nvSpPr>
        <p:spPr>
          <a:xfrm xmlns:a="http://schemas.openxmlformats.org/drawingml/2006/main">
            <a:off x="91440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0"/>
          <p:cNvSpPr txBox="1"/>
          <p:nvPr/>
        </p:nvSpPr>
        <p:spPr>
          <a:xfrm xmlns:a="http://schemas.openxmlformats.org/drawingml/2006/main">
            <a:off x="99060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7" name="fixed-nav-1"/>
          <p:cNvSpPr/>
          <p:nvPr/>
        </p:nvSpPr>
        <p:spPr>
          <a:xfrm xmlns:a="http://schemas.openxmlformats.org/drawingml/2006/main">
            <a:off x="248793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1"/>
          <p:cNvSpPr txBox="1"/>
          <p:nvPr/>
        </p:nvSpPr>
        <p:spPr>
          <a:xfrm xmlns:a="http://schemas.openxmlformats.org/drawingml/2006/main">
            <a:off x="256413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9" name="fixed-nav-2"/>
          <p:cNvSpPr/>
          <p:nvPr/>
        </p:nvSpPr>
        <p:spPr>
          <a:xfrm xmlns:a="http://schemas.openxmlformats.org/drawingml/2006/main">
            <a:off x="406146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2"/>
          <p:cNvSpPr txBox="1"/>
          <p:nvPr/>
        </p:nvSpPr>
        <p:spPr>
          <a:xfrm xmlns:a="http://schemas.openxmlformats.org/drawingml/2006/main">
            <a:off x="413766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1" name="fixed-nav-3"/>
          <p:cNvSpPr/>
          <p:nvPr/>
        </p:nvSpPr>
        <p:spPr>
          <a:xfrm xmlns:a="http://schemas.openxmlformats.org/drawingml/2006/main">
            <a:off x="563499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3"/>
          <p:cNvSpPr txBox="1"/>
          <p:nvPr/>
        </p:nvSpPr>
        <p:spPr>
          <a:xfrm xmlns:a="http://schemas.openxmlformats.org/drawingml/2006/main">
            <a:off x="571119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3" name="fixed-nav-4"/>
          <p:cNvSpPr/>
          <p:nvPr/>
        </p:nvSpPr>
        <p:spPr>
          <a:xfrm xmlns:a="http://schemas.openxmlformats.org/drawingml/2006/main">
            <a:off x="720852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fixed-nav-label-4"/>
          <p:cNvSpPr txBox="1"/>
          <p:nvPr/>
        </p:nvSpPr>
        <p:spPr>
          <a:xfrm xmlns:a="http://schemas.openxmlformats.org/drawingml/2006/main">
            <a:off x="728472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5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E8C5C"/>
                </a:solidFill>
                <a:latin typeface="Arial"/>
                <a:ea typeface="Arial"/>
              </a:rPr>
              <a:t>CONSULTING · OFFICEKIT CALIBRATION</a:t>
            </a:r>
            <a:endParaRPr lang="en-US"/>
          </a:p>
        </p:txBody>
      </p:sp>
      <p:sp>
        <p:nvSpPr>
          <p:cNvPr id="17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83A2A"/>
                </a:solidFill>
                <a:latin typeface="Arial"/>
                <a:ea typeface="Arial"/>
              </a:rPr>
              <a:t>Forest Strategy: a claim worth testing</a:t>
            </a:r>
            <a:endParaRPr lang="en-US"/>
          </a:p>
        </p:txBody>
      </p:sp>
      <p:sp>
        <p:nvSpPr>
          <p:cNvPr id="18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2E8C5C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19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A2A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21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A2A"/>
                </a:solidFill>
                <a:latin typeface="Arial"/>
                <a:ea typeface="Arial"/>
              </a:rPr>
              <a:t>The synthesis matters more than the inventory.</a:t>
            </a:r>
            <a:endParaRPr lang="en-US"/>
          </a:p>
        </p:txBody>
      </p:sp>
      <p:sp>
        <p:nvSpPr>
          <p:cNvPr id="22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24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pic>
        <p:nvPicPr>
          <p:cNvPr id="14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4bd683f73b7a543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>
              <a:alpha val="62000"/>
            </a:srgbClr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OREST STRATEGY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FOREST STRATEGY · ARGUMENT</a:t>
            </a:r>
            <a:endParaRPr lang="en-US"/>
          </a:p>
        </p:txBody>
      </p:sp>
      <p:sp>
        <p:nvSpPr>
          <p:cNvPr id="18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One finding should reorganize the decision</a:t>
            </a:r>
            <a:endParaRPr lang="en-US"/>
          </a:p>
        </p:txBody>
      </p:sp>
      <p:sp>
        <p:nvSpPr>
          <p:cNvPr id="19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Finding, implication, recommendation: evidence stays adjacent to the synthesis.</a:t>
            </a:r>
            <a:endParaRPr lang="en-US"/>
          </a:p>
        </p:txBody>
      </p:sp>
      <p:sp>
        <p:nvSpPr>
          <p:cNvPr id="20" name="finding"/>
          <p:cNvSpPr txBox="1"/>
          <p:nvPr/>
        </p:nvSpPr>
        <p:spPr>
          <a:xfrm xmlns:a="http://schemas.openxmlformats.org/drawingml/2006/main">
            <a:off x="1104900" y="3314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E8C5C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21" name="finding-text"/>
          <p:cNvSpPr txBox="1"/>
          <p:nvPr/>
        </p:nvSpPr>
        <p:spPr>
          <a:xfrm xmlns:a="http://schemas.openxmlformats.org/drawingml/2006/main">
            <a:off x="1104900" y="369570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83A2A"/>
                </a:solidFill>
                <a:latin typeface="Arial"/>
                <a:ea typeface="Arial"/>
              </a:rPr>
              <a:t>The constraint is concentration, not demand.</a:t>
            </a:r>
            <a:endParaRPr lang="en-US"/>
          </a:p>
        </p:txBody>
      </p:sp>
      <p:sp>
        <p:nvSpPr>
          <p:cNvPr id="22" name="finding-rule"/>
          <p:cNvSpPr/>
          <p:nvPr/>
        </p:nvSpPr>
        <p:spPr>
          <a:xfrm xmlns:a="http://schemas.openxmlformats.org/drawingml/2006/main">
            <a:off x="1104900" y="4552950"/>
            <a:ext cx="670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implication"/>
          <p:cNvSpPr txBox="1"/>
          <p:nvPr/>
        </p:nvSpPr>
        <p:spPr>
          <a:xfrm xmlns:a="http://schemas.openxmlformats.org/drawingml/2006/main">
            <a:off x="11049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E8C5C"/>
                </a:solidFill>
                <a:latin typeface="Arial"/>
                <a:ea typeface="Arial"/>
              </a:rPr>
              <a:t>IMPLICATION</a:t>
            </a:r>
            <a:endParaRPr lang="en-US"/>
          </a:p>
        </p:txBody>
      </p:sp>
      <p:sp>
        <p:nvSpPr>
          <p:cNvPr id="24" name="implication-text"/>
          <p:cNvSpPr txBox="1"/>
          <p:nvPr/>
        </p:nvSpPr>
        <p:spPr>
          <a:xfrm xmlns:a="http://schemas.openxmlformats.org/drawingml/2006/main">
            <a:off x="1104900" y="533400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183A2A"/>
                </a:solidFill>
                <a:latin typeface="Arial"/>
                <a:ea typeface="Arial"/>
              </a:rPr>
              <a:t>Protect the strongest channel before adding volume.</a:t>
            </a:r>
            <a:endParaRPr lang="en-US"/>
          </a:p>
        </p:txBody>
      </p:sp>
      <p:sp>
        <p:nvSpPr>
          <p:cNvPr id="25" name="pressure-label"/>
          <p:cNvSpPr txBox="1"/>
          <p:nvPr/>
        </p:nvSpPr>
        <p:spPr>
          <a:xfrm xmlns:a="http://schemas.openxmlformats.org/drawingml/2006/main">
            <a:off x="1104900" y="6153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PRESSURE PROFILE · CURRENT CASE</a:t>
            </a:r>
            <a:endParaRPr lang="en-US"/>
          </a:p>
        </p:txBody>
      </p:sp>
      <p:sp>
        <p:nvSpPr>
          <p:cNvPr id="26" name="pressure-name-0"/>
          <p:cNvSpPr txBox="1"/>
          <p:nvPr/>
        </p:nvSpPr>
        <p:spPr>
          <a:xfrm xmlns:a="http://schemas.openxmlformats.org/drawingml/2006/main">
            <a:off x="1104900" y="65151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Concentration</a:t>
            </a:r>
            <a:endParaRPr lang="en-US"/>
          </a:p>
        </p:txBody>
      </p:sp>
      <p:sp>
        <p:nvSpPr>
          <p:cNvPr id="27" name="pressure-track-0"/>
          <p:cNvSpPr/>
          <p:nvPr/>
        </p:nvSpPr>
        <p:spPr>
          <a:xfrm xmlns:a="http://schemas.openxmlformats.org/drawingml/2006/main">
            <a:off x="3028950" y="65341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pressure-fill-0"/>
          <p:cNvSpPr/>
          <p:nvPr/>
        </p:nvSpPr>
        <p:spPr>
          <a:xfrm xmlns:a="http://schemas.openxmlformats.org/drawingml/2006/main">
            <a:off x="3028950" y="6534150"/>
            <a:ext cx="35909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pressure-value-0"/>
          <p:cNvSpPr txBox="1"/>
          <p:nvPr/>
        </p:nvSpPr>
        <p:spPr>
          <a:xfrm xmlns:a="http://schemas.openxmlformats.org/drawingml/2006/main">
            <a:off x="7600950" y="64865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83A2A"/>
                </a:solidFill>
                <a:latin typeface="Arial"/>
                <a:ea typeface="Arial"/>
              </a:rPr>
              <a:t>82%</a:t>
            </a:r>
            <a:endParaRPr lang="en-US"/>
          </a:p>
        </p:txBody>
      </p:sp>
      <p:sp>
        <p:nvSpPr>
          <p:cNvPr id="30" name="pressure-name-1"/>
          <p:cNvSpPr txBox="1"/>
          <p:nvPr/>
        </p:nvSpPr>
        <p:spPr>
          <a:xfrm xmlns:a="http://schemas.openxmlformats.org/drawingml/2006/main">
            <a:off x="1104900" y="68389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Price power</a:t>
            </a:r>
            <a:endParaRPr lang="en-US"/>
          </a:p>
        </p:txBody>
      </p:sp>
      <p:sp>
        <p:nvSpPr>
          <p:cNvPr id="31" name="pressure-track-1"/>
          <p:cNvSpPr/>
          <p:nvPr/>
        </p:nvSpPr>
        <p:spPr>
          <a:xfrm xmlns:a="http://schemas.openxmlformats.org/drawingml/2006/main">
            <a:off x="3028950" y="685800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pressure-fill-1"/>
          <p:cNvSpPr/>
          <p:nvPr/>
        </p:nvSpPr>
        <p:spPr>
          <a:xfrm xmlns:a="http://schemas.openxmlformats.org/drawingml/2006/main">
            <a:off x="3028950" y="6858000"/>
            <a:ext cx="2457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9D94"/>
          </a:solidFill>
          <a:ln xmlns:a="http://schemas.openxmlformats.org/drawingml/2006/main" w="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pressure-value-1"/>
          <p:cNvSpPr txBox="1"/>
          <p:nvPr/>
        </p:nvSpPr>
        <p:spPr>
          <a:xfrm xmlns:a="http://schemas.openxmlformats.org/drawingml/2006/main">
            <a:off x="7600950" y="68103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83A2A"/>
                </a:solidFill>
                <a:latin typeface="Arial"/>
                <a:ea typeface="Arial"/>
              </a:rPr>
              <a:t>56%</a:t>
            </a:r>
            <a:endParaRPr lang="en-US"/>
          </a:p>
        </p:txBody>
      </p:sp>
      <p:sp>
        <p:nvSpPr>
          <p:cNvPr id="34" name="pressure-name-2"/>
          <p:cNvSpPr txBox="1"/>
          <p:nvPr/>
        </p:nvSpPr>
        <p:spPr>
          <a:xfrm xmlns:a="http://schemas.openxmlformats.org/drawingml/2006/main">
            <a:off x="1104900" y="71628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Operating friction</a:t>
            </a:r>
            <a:endParaRPr lang="en-US"/>
          </a:p>
        </p:txBody>
      </p:sp>
      <p:sp>
        <p:nvSpPr>
          <p:cNvPr id="35" name="pressure-track-2"/>
          <p:cNvSpPr/>
          <p:nvPr/>
        </p:nvSpPr>
        <p:spPr>
          <a:xfrm xmlns:a="http://schemas.openxmlformats.org/drawingml/2006/main">
            <a:off x="3028950" y="71818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6" name="pressure-fill-2"/>
          <p:cNvSpPr/>
          <p:nvPr/>
        </p:nvSpPr>
        <p:spPr>
          <a:xfrm xmlns:a="http://schemas.openxmlformats.org/drawingml/2006/main">
            <a:off x="3028950" y="7181850"/>
            <a:ext cx="1485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9D94"/>
          </a:solidFill>
          <a:ln xmlns:a="http://schemas.openxmlformats.org/drawingml/2006/main" w="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7" name="pressure-value-2"/>
          <p:cNvSpPr txBox="1"/>
          <p:nvPr/>
        </p:nvSpPr>
        <p:spPr>
          <a:xfrm xmlns:a="http://schemas.openxmlformats.org/drawingml/2006/main">
            <a:off x="7600950" y="71342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83A2A"/>
                </a:solidFill>
                <a:latin typeface="Arial"/>
                <a:ea typeface="Arial"/>
              </a:rPr>
              <a:t>34%</a:t>
            </a:r>
            <a:endParaRPr lang="en-US"/>
          </a:p>
        </p:txBody>
      </p:sp>
      <p:sp>
        <p:nvSpPr>
          <p:cNvPr id="38" name="recommendation"/>
          <p:cNvSpPr/>
          <p:nvPr/>
        </p:nvSpPr>
        <p:spPr>
          <a:xfrm xmlns:a="http://schemas.openxmlformats.org/drawingml/2006/main">
            <a:off x="9906000" y="3238500"/>
            <a:ext cx="4000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9" name="recommendation-label"/>
          <p:cNvSpPr txBox="1"/>
          <p:nvPr/>
        </p:nvSpPr>
        <p:spPr>
          <a:xfrm xmlns:a="http://schemas.openxmlformats.org/drawingml/2006/main">
            <a:off x="10287000" y="36004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RECOMMENDATION</a:t>
            </a:r>
            <a:endParaRPr lang="en-US"/>
          </a:p>
        </p:txBody>
      </p:sp>
      <p:sp>
        <p:nvSpPr>
          <p:cNvPr id="40" name="recommendation-text"/>
          <p:cNvSpPr txBox="1"/>
          <p:nvPr/>
        </p:nvSpPr>
        <p:spPr>
          <a:xfrm xmlns:a="http://schemas.openxmlformats.org/drawingml/2006/main">
            <a:off x="10287000" y="4095750"/>
            <a:ext cx="304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325" b="1">
                <a:solidFill>
                  <a:srgbClr val="FFFFFF"/>
                </a:solidFill>
                <a:latin typeface="Arial"/>
                <a:ea typeface="Arial"/>
              </a:rPr>
              <a:t>One constrained move</a:t>
            </a:r>
            <a:endParaRPr lang="en-US"/>
          </a:p>
        </p:txBody>
      </p:sp>
      <p:sp>
        <p:nvSpPr>
          <p:cNvPr id="41" name="recommendation-foot"/>
          <p:cNvSpPr txBox="1"/>
          <p:nvPr/>
        </p:nvSpPr>
        <p:spPr>
          <a:xfrm xmlns:a="http://schemas.openxmlformats.org/drawingml/2006/main">
            <a:off x="10287000" y="5067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FFFFF"/>
                </a:solidFill>
                <a:latin typeface="Arial"/>
                <a:ea typeface="Arial"/>
              </a:rPr>
              <a:t>subject to the next evidence gate</a:t>
            </a:r>
            <a:endParaRPr lang="en-US"/>
          </a:p>
        </p:txBody>
      </p:sp>
      <p:sp>
        <p:nvSpPr>
          <p:cNvPr id="42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4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pic>
        <p:nvPicPr>
          <p:cNvPr id="14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7b73f8fac405495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>
              <a:alpha val="62000"/>
            </a:srgbClr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OREST STRATEGY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FOREST STRATEGY · EVIDENCE</a:t>
            </a:r>
            <a:endParaRPr lang="en-US"/>
          </a:p>
        </p:txBody>
      </p:sp>
      <p:sp>
        <p:nvSpPr>
          <p:cNvPr id="18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evidence narrows the decision to one lever</a:t>
            </a:r>
            <a:endParaRPr lang="en-US"/>
          </a:p>
        </p:txBody>
      </p:sp>
      <p:sp>
        <p:nvSpPr>
          <p:cNvPr id="19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Comparable cases · same basis · direct labels instead of a legend-only chart.</a:t>
            </a:r>
            <a:endParaRPr lang="en-US"/>
          </a:p>
        </p:txBody>
      </p:sp>
      <p:graphicFrame>
        <p:nvGraphicFramePr>
          <p:cNvPr id="20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4ca992d71e6496f"/>
          </a:graphicData>
        </a:graphic>
      </p:graphicFrame>
      <p:graphicFrame>
        <p:nvGraphicFramePr>
          <p:cNvPr id="21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603b19377fb44a1"/>
          </a:graphicData>
        </a:graphic>
      </p:graphicFrame>
      <p:sp>
        <p:nvSpPr>
          <p:cNvPr id="22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4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83A2A"/>
                </a:solidFill>
                <a:latin typeface="Arial"/>
                <a:ea typeface="Arial"/>
              </a:rPr>
              <a:t>The comparison narrows the move.</a:t>
            </a:r>
            <a:endParaRPr lang="en-US"/>
          </a:p>
        </p:txBody>
      </p:sp>
      <p:sp>
        <p:nvSpPr>
          <p:cNvPr id="25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B9D94"/>
                </a:solidFill>
                <a:latin typeface="Arial"/>
                <a:ea typeface="Arial"/>
              </a:rPr>
              <a:t>Locate the constraint; choose the lever.</a:t>
            </a:r>
            <a:endParaRPr lang="en-US"/>
          </a:p>
        </p:txBody>
      </p:sp>
      <p:sp>
        <p:nvSpPr>
          <p:cNvPr id="26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83A2A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2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pic>
        <p:nvPicPr>
          <p:cNvPr id="14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2930549abca3ae00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>
              <a:alpha val="62000"/>
            </a:srgbClr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OREST STRATEGY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FOREST STRATEGY · DETAIL</a:t>
            </a:r>
            <a:endParaRPr lang="en-US"/>
          </a:p>
        </p:txBody>
      </p:sp>
      <p:sp>
        <p:nvSpPr>
          <p:cNvPr id="18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A decision page needs a visible sequence</a:t>
            </a:r>
            <a:endParaRPr lang="en-US"/>
          </a:p>
        </p:txBody>
      </p:sp>
      <p:sp>
        <p:nvSpPr>
          <p:cNvPr id="19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Finding → constraint → move · each line changes the choice.</a:t>
            </a:r>
            <a:endParaRPr lang="en-US"/>
          </a:p>
        </p:txBody>
      </p:sp>
      <p:sp>
        <p:nvSpPr>
          <p:cNvPr id="20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381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E8C5C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3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3A2A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24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B9D94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25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381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E8C5C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8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3A2A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29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B9D94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30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381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E8C5C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33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3A2A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34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B9D94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35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6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7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E8C5C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38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3A2A"/>
                </a:solidFill>
                <a:latin typeface="Arial"/>
                <a:ea typeface="Arial"/>
              </a:rPr>
              <a:t>Decide</a:t>
            </a:r>
            <a:endParaRPr lang="en-US"/>
          </a:p>
        </p:txBody>
      </p:sp>
      <p:sp>
        <p:nvSpPr>
          <p:cNvPr id="39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B9D94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40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E8C5C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41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83A2A"/>
                </a:solidFill>
                <a:latin typeface="Arial"/>
                <a:ea typeface="Arial"/>
              </a:rPr>
              <a:t>The sequence is the evidence.</a:t>
            </a:r>
            <a:endParaRPr lang="en-US"/>
          </a:p>
        </p:txBody>
      </p:sp>
      <p:sp>
        <p:nvSpPr>
          <p:cNvPr id="42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B9D94"/>
                </a:solidFill>
                <a:latin typeface="Arial"/>
                <a:ea typeface="Arial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4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4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3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14" name="visua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f1582c14d42a1a7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visua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>
              <a:alpha val="62000"/>
            </a:srgbClr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visua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OREST STRATEGY · VISUAL CARRIER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FOREST STRATEGY · VISUAL CARRIER</a:t>
            </a:r>
            <a:endParaRPr lang="en-US"/>
          </a:p>
        </p:txBody>
      </p:sp>
      <p:sp>
        <p:nvSpPr>
          <p:cNvPr id="18" name="visua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Make the choice legible</a:t>
            </a:r>
            <a:endParaRPr lang="en-US"/>
          </a:p>
        </p:txBody>
      </p:sp>
      <p:sp>
        <p:nvSpPr>
          <p:cNvPr id="19" name="visual-body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single visual cue can make the recommendation easier to remember.</a:t>
            </a:r>
            <a:endParaRPr lang="en-US"/>
          </a:p>
        </p:txBody>
      </p:sp>
      <p:sp>
        <p:nvSpPr>
          <p:cNvPr id="20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381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E8C5C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3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Observe</a:t>
            </a:r>
            <a:endParaRPr lang="en-US"/>
          </a:p>
        </p:txBody>
      </p:sp>
      <p:sp>
        <p:nvSpPr>
          <p:cNvPr id="24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B9D94"/>
                </a:solidFill>
                <a:latin typeface="Arial"/>
                <a:ea typeface="Arial"/>
              </a:rPr>
              <a:t>Find the signal</a:t>
            </a:r>
            <a:endParaRPr lang="en-US"/>
          </a:p>
        </p:txBody>
      </p:sp>
      <p:sp>
        <p:nvSpPr>
          <p:cNvPr id="25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381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E8C5C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7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Explain</a:t>
            </a:r>
            <a:endParaRPr lang="en-US"/>
          </a:p>
        </p:txBody>
      </p:sp>
      <p:sp>
        <p:nvSpPr>
          <p:cNvPr id="28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B9D94"/>
                </a:solidFill>
                <a:latin typeface="Arial"/>
                <a:ea typeface="Arial"/>
              </a:rPr>
              <a:t>Name the mechanism</a:t>
            </a:r>
            <a:endParaRPr lang="en-US"/>
          </a:p>
        </p:txBody>
      </p:sp>
      <p:sp>
        <p:nvSpPr>
          <p:cNvPr id="29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381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E8C5C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31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Choose</a:t>
            </a:r>
            <a:endParaRPr lang="en-US"/>
          </a:p>
        </p:txBody>
      </p:sp>
      <p:sp>
        <p:nvSpPr>
          <p:cNvPr id="32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B9D94"/>
                </a:solidFill>
                <a:latin typeface="Arial"/>
                <a:ea typeface="Arial"/>
              </a:rPr>
              <a:t>Set the condition</a:t>
            </a:r>
            <a:endParaRPr lang="en-US"/>
          </a:p>
        </p:txBody>
      </p:sp>
      <p:sp>
        <p:nvSpPr>
          <p:cNvPr id="33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4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35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Act</a:t>
            </a:r>
            <a:endParaRPr lang="en-US"/>
          </a:p>
        </p:txBody>
      </p:sp>
      <p:sp>
        <p:nvSpPr>
          <p:cNvPr id="36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B9D94"/>
                </a:solidFill>
                <a:latin typeface="Arial"/>
                <a:ea typeface="Arial"/>
              </a:rPr>
              <a:t>Return with proof</a:t>
            </a:r>
            <a:endParaRPr lang="en-US"/>
          </a:p>
        </p:txBody>
      </p:sp>
      <p:sp>
        <p:nvSpPr>
          <p:cNvPr id="37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8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E8C5C"/>
                </a:solidFill>
                <a:latin typeface="Arial"/>
                <a:ea typeface="Arial"/>
              </a:rPr>
              <a:t>PROCESS CARRIER</a:t>
            </a:r>
            <a:endParaRPr lang="en-US"/>
          </a:p>
        </p:txBody>
      </p:sp>
      <p:sp>
        <p:nvSpPr>
          <p:cNvPr id="39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83A2A"/>
                </a:solidFill>
                <a:latin typeface="Arial"/>
                <a:ea typeface="Arial"/>
              </a:rPr>
              <a:t>A relationship earns a line.</a:t>
            </a:r>
            <a:endParaRPr lang="en-US"/>
          </a:p>
        </p:txBody>
      </p:sp>
      <p:sp>
        <p:nvSpPr>
          <p:cNvPr id="40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B9D94"/>
                </a:solidFill>
                <a:latin typeface="Arial"/>
                <a:ea typeface="Arial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41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2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E8C5C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43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A2A"/>
                </a:solidFill>
                <a:latin typeface="Arial"/>
                <a:ea typeface="Arial"/>
              </a:rPr>
              <a:t>Choice before inventory</a:t>
            </a:r>
            <a:endParaRPr lang="en-US"/>
          </a:p>
        </p:txBody>
      </p:sp>
      <p:sp>
        <p:nvSpPr>
          <p:cNvPr id="44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B9D94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4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4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pic>
        <p:nvPicPr>
          <p:cNvPr id="14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71bfa074cda59bb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>
              <a:alpha val="62000"/>
            </a:srgbClr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OREST STRATEGY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FOREST STRATEGY · CLOSE</a:t>
            </a:r>
            <a:endParaRPr lang="en-US"/>
          </a:p>
        </p:txBody>
      </p:sp>
      <p:sp>
        <p:nvSpPr>
          <p:cNvPr id="18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recommendation is narrow by design</a:t>
            </a:r>
            <a:endParaRPr lang="en-US"/>
          </a:p>
        </p:txBody>
      </p:sp>
      <p:sp>
        <p:nvSpPr>
          <p:cNvPr id="19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20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E8C5C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1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23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A2A"/>
                </a:solidFill>
                <a:latin typeface="Arial"/>
                <a:ea typeface="Arial"/>
              </a:rPr>
              <a:t>Concentration drives the variance.</a:t>
            </a:r>
            <a:endParaRPr lang="en-US"/>
          </a:p>
        </p:txBody>
      </p:sp>
      <p:sp>
        <p:nvSpPr>
          <p:cNvPr id="24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A2A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5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27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A2A"/>
                </a:solidFill>
                <a:latin typeface="Arial"/>
                <a:ea typeface="Arial"/>
              </a:rPr>
              <a:t>Protect the strongest channel first.</a:t>
            </a:r>
            <a:endParaRPr lang="en-US"/>
          </a:p>
        </p:txBody>
      </p:sp>
      <p:sp>
        <p:nvSpPr>
          <p:cNvPr id="28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E8C5C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9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31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A2A"/>
                </a:solidFill>
                <a:latin typeface="Arial"/>
                <a:ea typeface="Arial"/>
              </a:rPr>
              <a:t>Return with a gated decision.</a:t>
            </a:r>
            <a:endParaRPr lang="en-US"/>
          </a:p>
        </p:txBody>
      </p:sp>
      <p:sp>
        <p:nvSpPr>
          <p:cNvPr id="32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34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35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3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