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196ae241e1849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0d3bd4b5ccdd7cbb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99c9affacaac8e72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10e4539a68783891_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6a3db1fe43260f32_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5.jpg" Id="rIdOfficeKitImagea5c00489db854fa2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6.jpg" Id="rIdOfficeKitImage89634c5b24a89a02_1" /></Relationships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0d3bd4b5ccdd7cbb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5">
              <a:alpha val="100000"/>
            </a:srgbClr>
          </a:solidFill>
          <a:ln xmlns:a="http://schemas.openxmlformats.org/drawingml/2006/main" w="0">
            <a:solidFill>
              <a:srgbClr val="F6F8F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C5C"/>
          </a:solidFill>
          <a:ln xmlns:a="http://schemas.openxmlformats.org/drawingml/2006/main" w="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2A"/>
          </a:solidFill>
          <a:ln xmlns:a="http://schemas.openxmlformats.org/drawingml/2006/main" w="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E8C5C"/>
                </a:solidFill>
                <a:latin typeface="Arial"/>
                <a:ea typeface="Arial"/>
              </a:rPr>
              <a:t>CONSULTING · OFFICEKIT CALIBRATION</a:t>
            </a:r>
            <a:endParaRPr lang="en-US"/>
          </a:p>
        </p:txBody>
      </p:sp>
      <p:sp>
        <p:nvSpPr>
          <p:cNvPr id="16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83A2A"/>
                </a:solidFill>
                <a:latin typeface="Arial"/>
                <a:ea typeface="Arial"/>
              </a:rPr>
              <a:t>Forest Strategy: a claim worth testing</a:t>
            </a:r>
            <a:endParaRPr lang="en-US"/>
          </a:p>
        </p:txBody>
      </p:sp>
      <p:sp>
        <p:nvSpPr>
          <p:cNvPr id="17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2E8C5C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18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A2A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20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83A2A"/>
                </a:solidFill>
                <a:latin typeface="Arial"/>
                <a:ea typeface="Arial"/>
              </a:rPr>
              <a:t>The synthesis matters more than the inventory.</a:t>
            </a:r>
            <a:endParaRPr lang="en-US"/>
          </a:p>
        </p:txBody>
      </p:sp>
      <p:sp>
        <p:nvSpPr>
          <p:cNvPr id="21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2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23" name="anchor-field"/>
          <p:cNvSpPr/>
          <p:nvPr/>
        </p:nvSpPr>
        <p:spPr>
          <a:xfrm xmlns:a="http://schemas.openxmlformats.org/drawingml/2006/main">
            <a:off x="11239500" y="1714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anchor-line"/>
          <p:cNvSpPr/>
          <p:nvPr/>
        </p:nvSpPr>
        <p:spPr>
          <a:xfrm xmlns:a="http://schemas.openxmlformats.org/drawingml/2006/main">
            <a:off x="11544300" y="35052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anchor-line-two"/>
          <p:cNvSpPr/>
          <p:nvPr/>
        </p:nvSpPr>
        <p:spPr>
          <a:xfrm xmlns:a="http://schemas.openxmlformats.org/drawingml/2006/main">
            <a:off x="11544300" y="36957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anchor-dot"/>
          <p:cNvSpPr/>
          <p:nvPr/>
        </p:nvSpPr>
        <p:spPr>
          <a:xfrm xmlns:a="http://schemas.openxmlformats.org/drawingml/2006/main">
            <a:off x="130302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C5C"/>
          </a:solidFill>
          <a:ln xmlns:a="http://schemas.openxmlformats.org/drawingml/2006/main" w="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5"/>
          </a:solidFill>
          <a:ln xmlns:a="http://schemas.openxmlformats.org/drawingml/2006/main" w="0">
            <a:solidFill>
              <a:srgbClr val="F6F8F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C5C"/>
          </a:solidFill>
          <a:ln xmlns:a="http://schemas.openxmlformats.org/drawingml/2006/main" w="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2A"/>
          </a:solidFill>
          <a:ln xmlns:a="http://schemas.openxmlformats.org/drawingml/2006/main" w="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pic>
        <p:nvPicPr>
          <p:cNvPr id="14" name="argument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99c9affacaac8e72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15" name="argument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2A">
              <a:alpha val="62000"/>
            </a:srgbClr>
          </a:solidFill>
          <a:ln xmlns:a="http://schemas.openxmlformats.org/drawingml/2006/main" w="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rgument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FOREST STRATEGY · ARGUMENT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E8C5C"/>
                </a:solidFill>
                <a:latin typeface="Arial"/>
                <a:ea typeface="Arial"/>
              </a:rPr>
              <a:t>FOREST STRATEGY · ARGUMENT</a:t>
            </a:r>
            <a:endParaRPr lang="en-US"/>
          </a:p>
        </p:txBody>
      </p:sp>
      <p:sp>
        <p:nvSpPr>
          <p:cNvPr id="18" name="argument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One finding should reorganize the decision</a:t>
            </a:r>
            <a:endParaRPr lang="en-US"/>
          </a:p>
        </p:txBody>
      </p:sp>
      <p:sp>
        <p:nvSpPr>
          <p:cNvPr id="19" name="argument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Finding, implication, recommendation: evidence stays adjacent to the synthesis.</a:t>
            </a:r>
            <a:endParaRPr lang="en-US"/>
          </a:p>
        </p:txBody>
      </p:sp>
      <p:sp>
        <p:nvSpPr>
          <p:cNvPr id="20" name="finding"/>
          <p:cNvSpPr txBox="1"/>
          <p:nvPr/>
        </p:nvSpPr>
        <p:spPr>
          <a:xfrm xmlns:a="http://schemas.openxmlformats.org/drawingml/2006/main">
            <a:off x="1104900" y="3314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E8C5C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21" name="finding-text"/>
          <p:cNvSpPr txBox="1"/>
          <p:nvPr/>
        </p:nvSpPr>
        <p:spPr>
          <a:xfrm xmlns:a="http://schemas.openxmlformats.org/drawingml/2006/main">
            <a:off x="1104900" y="36957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83A2A"/>
                </a:solidFill>
                <a:latin typeface="Arial"/>
                <a:ea typeface="Arial"/>
              </a:rPr>
              <a:t>The constraint is concentration, not demand.</a:t>
            </a:r>
            <a:endParaRPr lang="en-US"/>
          </a:p>
        </p:txBody>
      </p:sp>
      <p:sp>
        <p:nvSpPr>
          <p:cNvPr id="22" name="finding-rule"/>
          <p:cNvSpPr/>
          <p:nvPr/>
        </p:nvSpPr>
        <p:spPr>
          <a:xfrm xmlns:a="http://schemas.openxmlformats.org/drawingml/2006/main">
            <a:off x="1104900" y="4552950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implication"/>
          <p:cNvSpPr txBox="1"/>
          <p:nvPr/>
        </p:nvSpPr>
        <p:spPr>
          <a:xfrm xmlns:a="http://schemas.openxmlformats.org/drawingml/2006/main">
            <a:off x="1104900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E8C5C"/>
                </a:solidFill>
                <a:latin typeface="Arial"/>
                <a:ea typeface="Arial"/>
              </a:rPr>
              <a:t>IMPLICATION</a:t>
            </a:r>
            <a:endParaRPr lang="en-US"/>
          </a:p>
        </p:txBody>
      </p:sp>
      <p:sp>
        <p:nvSpPr>
          <p:cNvPr id="24" name="implication-text"/>
          <p:cNvSpPr txBox="1"/>
          <p:nvPr/>
        </p:nvSpPr>
        <p:spPr>
          <a:xfrm xmlns:a="http://schemas.openxmlformats.org/drawingml/2006/main">
            <a:off x="1104900" y="53340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183A2A"/>
                </a:solidFill>
                <a:latin typeface="Arial"/>
                <a:ea typeface="Arial"/>
              </a:rPr>
              <a:t>Protect the strongest channel before adding volume.</a:t>
            </a:r>
            <a:endParaRPr lang="en-US"/>
          </a:p>
        </p:txBody>
      </p:sp>
      <p:sp>
        <p:nvSpPr>
          <p:cNvPr id="25" name="pressure-label"/>
          <p:cNvSpPr txBox="1"/>
          <p:nvPr/>
        </p:nvSpPr>
        <p:spPr>
          <a:xfrm xmlns:a="http://schemas.openxmlformats.org/drawingml/2006/main">
            <a:off x="1104900" y="6153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E8C5C"/>
                </a:solidFill>
                <a:latin typeface="Arial"/>
                <a:ea typeface="Arial"/>
              </a:rPr>
              <a:t>PRESSURE PROFILE · CURRENT CASE</a:t>
            </a:r>
            <a:endParaRPr lang="en-US"/>
          </a:p>
        </p:txBody>
      </p:sp>
      <p:sp>
        <p:nvSpPr>
          <p:cNvPr id="26" name="pressure-name-0"/>
          <p:cNvSpPr txBox="1"/>
          <p:nvPr/>
        </p:nvSpPr>
        <p:spPr>
          <a:xfrm xmlns:a="http://schemas.openxmlformats.org/drawingml/2006/main">
            <a:off x="1104900" y="651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Concentration</a:t>
            </a:r>
            <a:endParaRPr lang="en-US"/>
          </a:p>
        </p:txBody>
      </p:sp>
      <p:sp>
        <p:nvSpPr>
          <p:cNvPr id="27" name="pressure-track-0"/>
          <p:cNvSpPr/>
          <p:nvPr/>
        </p:nvSpPr>
        <p:spPr>
          <a:xfrm xmlns:a="http://schemas.openxmlformats.org/drawingml/2006/main">
            <a:off x="3028950" y="65341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8" name="pressure-fill-0"/>
          <p:cNvSpPr/>
          <p:nvPr/>
        </p:nvSpPr>
        <p:spPr>
          <a:xfrm xmlns:a="http://schemas.openxmlformats.org/drawingml/2006/main">
            <a:off x="3028950" y="6534150"/>
            <a:ext cx="3590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C5C"/>
          </a:solidFill>
          <a:ln xmlns:a="http://schemas.openxmlformats.org/drawingml/2006/main" w="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pressure-value-0"/>
          <p:cNvSpPr txBox="1"/>
          <p:nvPr/>
        </p:nvSpPr>
        <p:spPr>
          <a:xfrm xmlns:a="http://schemas.openxmlformats.org/drawingml/2006/main">
            <a:off x="7600950" y="64865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83A2A"/>
                </a:solidFill>
                <a:latin typeface="Arial"/>
                <a:ea typeface="Arial"/>
              </a:rPr>
              <a:t>82%</a:t>
            </a:r>
            <a:endParaRPr lang="en-US"/>
          </a:p>
        </p:txBody>
      </p:sp>
      <p:sp>
        <p:nvSpPr>
          <p:cNvPr id="30" name="pressure-name-1"/>
          <p:cNvSpPr txBox="1"/>
          <p:nvPr/>
        </p:nvSpPr>
        <p:spPr>
          <a:xfrm xmlns:a="http://schemas.openxmlformats.org/drawingml/2006/main">
            <a:off x="1104900" y="6838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Price power</a:t>
            </a:r>
            <a:endParaRPr lang="en-US"/>
          </a:p>
        </p:txBody>
      </p:sp>
      <p:sp>
        <p:nvSpPr>
          <p:cNvPr id="31" name="pressure-track-1"/>
          <p:cNvSpPr/>
          <p:nvPr/>
        </p:nvSpPr>
        <p:spPr>
          <a:xfrm xmlns:a="http://schemas.openxmlformats.org/drawingml/2006/main">
            <a:off x="3028950" y="685800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pressure-fill-1"/>
          <p:cNvSpPr/>
          <p:nvPr/>
        </p:nvSpPr>
        <p:spPr>
          <a:xfrm xmlns:a="http://schemas.openxmlformats.org/drawingml/2006/main">
            <a:off x="3028950" y="6858000"/>
            <a:ext cx="2457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D94"/>
          </a:solidFill>
          <a:ln xmlns:a="http://schemas.openxmlformats.org/drawingml/2006/main" w="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3" name="pressure-value-1"/>
          <p:cNvSpPr txBox="1"/>
          <p:nvPr/>
        </p:nvSpPr>
        <p:spPr>
          <a:xfrm xmlns:a="http://schemas.openxmlformats.org/drawingml/2006/main">
            <a:off x="7600950" y="6810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83A2A"/>
                </a:solidFill>
                <a:latin typeface="Arial"/>
                <a:ea typeface="Arial"/>
              </a:rPr>
              <a:t>56%</a:t>
            </a:r>
            <a:endParaRPr lang="en-US"/>
          </a:p>
        </p:txBody>
      </p:sp>
      <p:sp>
        <p:nvSpPr>
          <p:cNvPr id="34" name="pressure-name-2"/>
          <p:cNvSpPr txBox="1"/>
          <p:nvPr/>
        </p:nvSpPr>
        <p:spPr>
          <a:xfrm xmlns:a="http://schemas.openxmlformats.org/drawingml/2006/main">
            <a:off x="1104900" y="7162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Operating friction</a:t>
            </a:r>
            <a:endParaRPr lang="en-US"/>
          </a:p>
        </p:txBody>
      </p:sp>
      <p:sp>
        <p:nvSpPr>
          <p:cNvPr id="35" name="pressure-track-2"/>
          <p:cNvSpPr/>
          <p:nvPr/>
        </p:nvSpPr>
        <p:spPr>
          <a:xfrm xmlns:a="http://schemas.openxmlformats.org/drawingml/2006/main">
            <a:off x="3028950" y="71818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6" name="pressure-fill-2"/>
          <p:cNvSpPr/>
          <p:nvPr/>
        </p:nvSpPr>
        <p:spPr>
          <a:xfrm xmlns:a="http://schemas.openxmlformats.org/drawingml/2006/main">
            <a:off x="3028950" y="7181850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D94"/>
          </a:solidFill>
          <a:ln xmlns:a="http://schemas.openxmlformats.org/drawingml/2006/main" w="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7" name="pressure-value-2"/>
          <p:cNvSpPr txBox="1"/>
          <p:nvPr/>
        </p:nvSpPr>
        <p:spPr>
          <a:xfrm xmlns:a="http://schemas.openxmlformats.org/drawingml/2006/main">
            <a:off x="7600950" y="7134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83A2A"/>
                </a:solidFill>
                <a:latin typeface="Arial"/>
                <a:ea typeface="Arial"/>
              </a:rPr>
              <a:t>34%</a:t>
            </a:r>
            <a:endParaRPr lang="en-US"/>
          </a:p>
        </p:txBody>
      </p:sp>
      <p:sp>
        <p:nvSpPr>
          <p:cNvPr id="38" name="recommendation"/>
          <p:cNvSpPr/>
          <p:nvPr/>
        </p:nvSpPr>
        <p:spPr>
          <a:xfrm xmlns:a="http://schemas.openxmlformats.org/drawingml/2006/main">
            <a:off x="9906000" y="323850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C5C"/>
          </a:solidFill>
          <a:ln xmlns:a="http://schemas.openxmlformats.org/drawingml/2006/main" w="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9" name="recommendation-label"/>
          <p:cNvSpPr txBox="1"/>
          <p:nvPr/>
        </p:nvSpPr>
        <p:spPr>
          <a:xfrm xmlns:a="http://schemas.openxmlformats.org/drawingml/2006/main">
            <a:off x="10287000" y="3600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RECOMMENDATION</a:t>
            </a:r>
            <a:endParaRPr lang="en-US"/>
          </a:p>
        </p:txBody>
      </p:sp>
      <p:sp>
        <p:nvSpPr>
          <p:cNvPr id="40" name="recommendation-text"/>
          <p:cNvSpPr txBox="1"/>
          <p:nvPr/>
        </p:nvSpPr>
        <p:spPr>
          <a:xfrm xmlns:a="http://schemas.openxmlformats.org/drawingml/2006/main">
            <a:off x="10287000" y="4095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325" b="1">
                <a:solidFill>
                  <a:srgbClr val="FFFFFF"/>
                </a:solidFill>
                <a:latin typeface="Arial"/>
                <a:ea typeface="Arial"/>
              </a:rPr>
              <a:t>One constrained move</a:t>
            </a:r>
            <a:endParaRPr lang="en-US"/>
          </a:p>
        </p:txBody>
      </p:sp>
      <p:sp>
        <p:nvSpPr>
          <p:cNvPr id="41" name="recommendation-foot"/>
          <p:cNvSpPr txBox="1"/>
          <p:nvPr/>
        </p:nvSpPr>
        <p:spPr>
          <a:xfrm xmlns:a="http://schemas.openxmlformats.org/drawingml/2006/main">
            <a:off x="10287000" y="5067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Arial"/>
                <a:ea typeface="Arial"/>
              </a:rPr>
              <a:t>subject to the next evidence gate</a:t>
            </a:r>
            <a:endParaRPr lang="en-US"/>
          </a:p>
        </p:txBody>
      </p:sp>
      <p:sp>
        <p:nvSpPr>
          <p:cNvPr id="42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43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5"/>
          </a:solidFill>
          <a:ln xmlns:a="http://schemas.openxmlformats.org/drawingml/2006/main" w="0">
            <a:solidFill>
              <a:srgbClr val="F6F8F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C5C"/>
          </a:solidFill>
          <a:ln xmlns:a="http://schemas.openxmlformats.org/drawingml/2006/main" w="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2A"/>
          </a:solidFill>
          <a:ln xmlns:a="http://schemas.openxmlformats.org/drawingml/2006/main" w="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pic>
        <p:nvPicPr>
          <p:cNvPr id="14" name="evidenc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10e4539a68783891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15" name="evidenc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2A">
              <a:alpha val="62000"/>
            </a:srgbClr>
          </a:solidFill>
          <a:ln xmlns:a="http://schemas.openxmlformats.org/drawingml/2006/main" w="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evidenc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FOREST STRATEGY · EVIDENC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E8C5C"/>
                </a:solidFill>
                <a:latin typeface="Arial"/>
                <a:ea typeface="Arial"/>
              </a:rPr>
              <a:t>FOREST STRATEGY · EVIDENCE</a:t>
            </a:r>
            <a:endParaRPr lang="en-US"/>
          </a:p>
        </p:txBody>
      </p:sp>
      <p:sp>
        <p:nvSpPr>
          <p:cNvPr id="18" name="evidenc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The evidence narrows the decision to one lever</a:t>
            </a:r>
            <a:endParaRPr lang="en-US"/>
          </a:p>
        </p:txBody>
      </p:sp>
      <p:sp>
        <p:nvSpPr>
          <p:cNvPr id="19" name="evidenc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Comparable cases · same basis · direct labels instead of a legend-only chart.</a:t>
            </a:r>
            <a:endParaRPr lang="en-US"/>
          </a:p>
        </p:txBody>
      </p:sp>
      <p:sp>
        <p:nvSpPr>
          <p:cNvPr id="20" name="timeline-label"/>
          <p:cNvSpPr txBox="1"/>
          <p:nvPr/>
        </p:nvSpPr>
        <p:spPr>
          <a:xfrm xmlns:a="http://schemas.openxmlformats.org/drawingml/2006/main">
            <a:off x="1066800" y="3238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E8C5C"/>
                </a:solidFill>
                <a:latin typeface="Arial"/>
                <a:ea typeface="Arial"/>
              </a:rPr>
              <a:t>EVOLUTION / TRANSITION</a:t>
            </a:r>
            <a:endParaRPr lang="en-US"/>
          </a:p>
        </p:txBody>
      </p:sp>
      <p:sp>
        <p:nvSpPr>
          <p:cNvPr id="21" name="timeline-axis"/>
          <p:cNvSpPr/>
          <p:nvPr/>
        </p:nvSpPr>
        <p:spPr>
          <a:xfrm xmlns:a="http://schemas.openxmlformats.org/drawingml/2006/main">
            <a:off x="1219200" y="4762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timeline-node-0"/>
          <p:cNvSpPr/>
          <p:nvPr/>
        </p:nvSpPr>
        <p:spPr>
          <a:xfrm xmlns:a="http://schemas.openxmlformats.org/drawingml/2006/main">
            <a:off x="1066800" y="4610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5"/>
          </a:solidFill>
          <a:ln xmlns:a="http://schemas.openxmlformats.org/drawingml/2006/main" w="2540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timeline-number-0"/>
          <p:cNvSpPr txBox="1"/>
          <p:nvPr/>
        </p:nvSpPr>
        <p:spPr>
          <a:xfrm xmlns:a="http://schemas.openxmlformats.org/drawingml/2006/main">
            <a:off x="952500" y="407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E8C5C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24" name="timeline-label-0"/>
          <p:cNvSpPr txBox="1"/>
          <p:nvPr/>
        </p:nvSpPr>
        <p:spPr>
          <a:xfrm xmlns:a="http://schemas.openxmlformats.org/drawingml/2006/main">
            <a:off x="533400" y="5086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350" b="1">
                <a:solidFill>
                  <a:srgbClr val="183A2A"/>
                </a:solidFill>
                <a:latin typeface="Arial"/>
                <a:ea typeface="Arial"/>
              </a:rPr>
              <a:t>Frame</a:t>
            </a:r>
            <a:endParaRPr lang="en-US"/>
          </a:p>
        </p:txBody>
      </p:sp>
      <p:sp>
        <p:nvSpPr>
          <p:cNvPr id="25" name="timeline-text-0"/>
          <p:cNvSpPr txBox="1"/>
          <p:nvPr/>
        </p:nvSpPr>
        <p:spPr>
          <a:xfrm xmlns:a="http://schemas.openxmlformats.org/drawingml/2006/main">
            <a:off x="323850" y="53911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Name the question</a:t>
            </a:r>
            <a:endParaRPr lang="en-US"/>
          </a:p>
        </p:txBody>
      </p:sp>
      <p:sp>
        <p:nvSpPr>
          <p:cNvPr id="26" name="timeline-node-1"/>
          <p:cNvSpPr/>
          <p:nvPr/>
        </p:nvSpPr>
        <p:spPr>
          <a:xfrm xmlns:a="http://schemas.openxmlformats.org/drawingml/2006/main">
            <a:off x="3638550" y="4610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5"/>
          </a:solidFill>
          <a:ln xmlns:a="http://schemas.openxmlformats.org/drawingml/2006/main" w="2540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timeline-number-1"/>
          <p:cNvSpPr txBox="1"/>
          <p:nvPr/>
        </p:nvSpPr>
        <p:spPr>
          <a:xfrm xmlns:a="http://schemas.openxmlformats.org/drawingml/2006/main">
            <a:off x="3524250" y="407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E8C5C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28" name="timeline-label-1"/>
          <p:cNvSpPr txBox="1"/>
          <p:nvPr/>
        </p:nvSpPr>
        <p:spPr>
          <a:xfrm xmlns:a="http://schemas.openxmlformats.org/drawingml/2006/main">
            <a:off x="3105150" y="5086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350" b="1">
                <a:solidFill>
                  <a:srgbClr val="183A2A"/>
                </a:solidFill>
                <a:latin typeface="Arial"/>
                <a:ea typeface="Arial"/>
              </a:rPr>
              <a:t>Test</a:t>
            </a:r>
            <a:endParaRPr lang="en-US"/>
          </a:p>
        </p:txBody>
      </p:sp>
      <p:sp>
        <p:nvSpPr>
          <p:cNvPr id="29" name="timeline-text-1"/>
          <p:cNvSpPr txBox="1"/>
          <p:nvPr/>
        </p:nvSpPr>
        <p:spPr>
          <a:xfrm xmlns:a="http://schemas.openxmlformats.org/drawingml/2006/main">
            <a:off x="2895600" y="53911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Hold the rule</a:t>
            </a:r>
            <a:endParaRPr lang="en-US"/>
          </a:p>
        </p:txBody>
      </p:sp>
      <p:sp>
        <p:nvSpPr>
          <p:cNvPr id="30" name="timeline-node-2"/>
          <p:cNvSpPr/>
          <p:nvPr/>
        </p:nvSpPr>
        <p:spPr>
          <a:xfrm xmlns:a="http://schemas.openxmlformats.org/drawingml/2006/main">
            <a:off x="6210300" y="4610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5"/>
          </a:solidFill>
          <a:ln xmlns:a="http://schemas.openxmlformats.org/drawingml/2006/main" w="2540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1" name="timeline-number-2"/>
          <p:cNvSpPr txBox="1"/>
          <p:nvPr/>
        </p:nvSpPr>
        <p:spPr>
          <a:xfrm xmlns:a="http://schemas.openxmlformats.org/drawingml/2006/main">
            <a:off x="6096000" y="407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E8C5C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32" name="timeline-label-2"/>
          <p:cNvSpPr txBox="1"/>
          <p:nvPr/>
        </p:nvSpPr>
        <p:spPr>
          <a:xfrm xmlns:a="http://schemas.openxmlformats.org/drawingml/2006/main">
            <a:off x="5676900" y="5086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350" b="1">
                <a:solidFill>
                  <a:srgbClr val="183A2A"/>
                </a:solidFill>
                <a:latin typeface="Arial"/>
                <a:ea typeface="Arial"/>
              </a:rPr>
              <a:t>Read</a:t>
            </a:r>
            <a:endParaRPr lang="en-US"/>
          </a:p>
        </p:txBody>
      </p:sp>
      <p:sp>
        <p:nvSpPr>
          <p:cNvPr id="33" name="timeline-text-2"/>
          <p:cNvSpPr txBox="1"/>
          <p:nvPr/>
        </p:nvSpPr>
        <p:spPr>
          <a:xfrm xmlns:a="http://schemas.openxmlformats.org/drawingml/2006/main">
            <a:off x="5467350" y="53911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Separate signal</a:t>
            </a:r>
            <a:endParaRPr lang="en-US"/>
          </a:p>
        </p:txBody>
      </p:sp>
      <p:sp>
        <p:nvSpPr>
          <p:cNvPr id="34" name="timeline-node-3"/>
          <p:cNvSpPr/>
          <p:nvPr/>
        </p:nvSpPr>
        <p:spPr>
          <a:xfrm xmlns:a="http://schemas.openxmlformats.org/drawingml/2006/main">
            <a:off x="8782050" y="4610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5"/>
          </a:solidFill>
          <a:ln xmlns:a="http://schemas.openxmlformats.org/drawingml/2006/main" w="2540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5" name="timeline-number-3"/>
          <p:cNvSpPr txBox="1"/>
          <p:nvPr/>
        </p:nvSpPr>
        <p:spPr>
          <a:xfrm xmlns:a="http://schemas.openxmlformats.org/drawingml/2006/main">
            <a:off x="8667750" y="407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E8C5C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36" name="timeline-label-3"/>
          <p:cNvSpPr txBox="1"/>
          <p:nvPr/>
        </p:nvSpPr>
        <p:spPr>
          <a:xfrm xmlns:a="http://schemas.openxmlformats.org/drawingml/2006/main">
            <a:off x="8248650" y="5086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350" b="1">
                <a:solidFill>
                  <a:srgbClr val="183A2A"/>
                </a:solidFill>
                <a:latin typeface="Arial"/>
                <a:ea typeface="Arial"/>
              </a:rPr>
              <a:t>Move</a:t>
            </a:r>
            <a:endParaRPr lang="en-US"/>
          </a:p>
        </p:txBody>
      </p:sp>
      <p:sp>
        <p:nvSpPr>
          <p:cNvPr id="37" name="timeline-text-3"/>
          <p:cNvSpPr txBox="1"/>
          <p:nvPr/>
        </p:nvSpPr>
        <p:spPr>
          <a:xfrm xmlns:a="http://schemas.openxmlformats.org/drawingml/2006/main">
            <a:off x="8039100" y="53911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Set the next gate</a:t>
            </a:r>
            <a:endParaRPr lang="en-US"/>
          </a:p>
        </p:txBody>
      </p:sp>
      <p:sp>
        <p:nvSpPr>
          <p:cNvPr id="38" name="timeline-node-4"/>
          <p:cNvSpPr/>
          <p:nvPr/>
        </p:nvSpPr>
        <p:spPr>
          <a:xfrm xmlns:a="http://schemas.openxmlformats.org/drawingml/2006/main">
            <a:off x="11353800" y="4610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C5C"/>
          </a:solidFill>
          <a:ln xmlns:a="http://schemas.openxmlformats.org/drawingml/2006/main" w="2540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9" name="timeline-number-4"/>
          <p:cNvSpPr txBox="1"/>
          <p:nvPr/>
        </p:nvSpPr>
        <p:spPr>
          <a:xfrm xmlns:a="http://schemas.openxmlformats.org/drawingml/2006/main">
            <a:off x="11239500" y="4076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E8C5C"/>
                </a:solidFill>
                <a:latin typeface="Arial"/>
                <a:ea typeface="Arial"/>
              </a:rPr>
              <a:t>05</a:t>
            </a:r>
            <a:endParaRPr lang="en-US"/>
          </a:p>
        </p:txBody>
      </p:sp>
      <p:sp>
        <p:nvSpPr>
          <p:cNvPr id="40" name="timeline-label-4"/>
          <p:cNvSpPr txBox="1"/>
          <p:nvPr/>
        </p:nvSpPr>
        <p:spPr>
          <a:xfrm xmlns:a="http://schemas.openxmlformats.org/drawingml/2006/main">
            <a:off x="10820400" y="5086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350" b="1">
                <a:solidFill>
                  <a:srgbClr val="183A2A"/>
                </a:solidFill>
                <a:latin typeface="Arial"/>
                <a:ea typeface="Arial"/>
              </a:rPr>
              <a:t>Scale</a:t>
            </a:r>
            <a:endParaRPr lang="en-US"/>
          </a:p>
        </p:txBody>
      </p:sp>
      <p:sp>
        <p:nvSpPr>
          <p:cNvPr id="41" name="timeline-text-4"/>
          <p:cNvSpPr txBox="1"/>
          <p:nvPr/>
        </p:nvSpPr>
        <p:spPr>
          <a:xfrm xmlns:a="http://schemas.openxmlformats.org/drawingml/2006/main">
            <a:off x="10610850" y="53911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Repeat what held</a:t>
            </a:r>
            <a:endParaRPr lang="en-US"/>
          </a:p>
        </p:txBody>
      </p:sp>
      <p:sp>
        <p:nvSpPr>
          <p:cNvPr id="42" name="timeline-read-label"/>
          <p:cNvSpPr txBox="1"/>
          <p:nvPr/>
        </p:nvSpPr>
        <p:spPr>
          <a:xfrm xmlns:a="http://schemas.openxmlformats.org/drawingml/2006/main">
            <a:off x="1066800" y="6667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E8C5C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43" name="timeline-read"/>
          <p:cNvSpPr txBox="1"/>
          <p:nvPr/>
        </p:nvSpPr>
        <p:spPr>
          <a:xfrm xmlns:a="http://schemas.openxmlformats.org/drawingml/2006/main">
            <a:off x="3333750" y="66294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425" b="1">
                <a:solidFill>
                  <a:srgbClr val="183A2A"/>
                </a:solidFill>
                <a:latin typeface="Arial"/>
                <a:ea typeface="Arial"/>
              </a:rPr>
              <a:t>A sequence is useful when each handoff changes what can happen next.</a:t>
            </a:r>
            <a:endParaRPr lang="en-US"/>
          </a:p>
        </p:txBody>
      </p:sp>
      <p:sp>
        <p:nvSpPr>
          <p:cNvPr id="44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5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83A2A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4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4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5"/>
          </a:solidFill>
          <a:ln xmlns:a="http://schemas.openxmlformats.org/drawingml/2006/main" w="0">
            <a:solidFill>
              <a:srgbClr val="F6F8F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C5C"/>
          </a:solidFill>
          <a:ln xmlns:a="http://schemas.openxmlformats.org/drawingml/2006/main" w="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2A"/>
          </a:solidFill>
          <a:ln xmlns:a="http://schemas.openxmlformats.org/drawingml/2006/main" w="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pic>
        <p:nvPicPr>
          <p:cNvPr id="14" name="detai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6a3db1fe43260f32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15" name="detai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2A">
              <a:alpha val="62000"/>
            </a:srgbClr>
          </a:solidFill>
          <a:ln xmlns:a="http://schemas.openxmlformats.org/drawingml/2006/main" w="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detai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FOREST STRATEGY · DETAIL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E8C5C"/>
                </a:solidFill>
                <a:latin typeface="Arial"/>
                <a:ea typeface="Arial"/>
              </a:rPr>
              <a:t>FOREST STRATEGY · DETAIL</a:t>
            </a:r>
            <a:endParaRPr lang="en-US"/>
          </a:p>
        </p:txBody>
      </p:sp>
      <p:sp>
        <p:nvSpPr>
          <p:cNvPr id="18" name="detai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A decision page needs a visible sequence</a:t>
            </a:r>
            <a:endParaRPr lang="en-US"/>
          </a:p>
        </p:txBody>
      </p:sp>
      <p:sp>
        <p:nvSpPr>
          <p:cNvPr id="19" name="detail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Finding → constraint → move · each line changes the choice.</a:t>
            </a:r>
            <a:endParaRPr lang="en-US"/>
          </a:p>
        </p:txBody>
      </p:sp>
      <p:sp>
        <p:nvSpPr>
          <p:cNvPr id="20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5"/>
          </a:solidFill>
          <a:ln xmlns:a="http://schemas.openxmlformats.org/drawingml/2006/main" w="3810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E8C5C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23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83A2A"/>
                </a:solidFill>
                <a:latin typeface="Arial"/>
                <a:ea typeface="Arial"/>
              </a:rPr>
              <a:t>Frame</a:t>
            </a:r>
            <a:endParaRPr lang="en-US"/>
          </a:p>
        </p:txBody>
      </p:sp>
      <p:sp>
        <p:nvSpPr>
          <p:cNvPr id="24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B9D94"/>
                </a:solidFill>
                <a:latin typeface="Arial"/>
                <a:ea typeface="Arial"/>
              </a:rPr>
              <a:t>Name the question</a:t>
            </a:r>
            <a:endParaRPr lang="en-US"/>
          </a:p>
        </p:txBody>
      </p:sp>
      <p:sp>
        <p:nvSpPr>
          <p:cNvPr id="25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5"/>
          </a:solidFill>
          <a:ln xmlns:a="http://schemas.openxmlformats.org/drawingml/2006/main" w="3810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E8C5C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28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83A2A"/>
                </a:solidFill>
                <a:latin typeface="Arial"/>
                <a:ea typeface="Arial"/>
              </a:rPr>
              <a:t>Test</a:t>
            </a:r>
            <a:endParaRPr lang="en-US"/>
          </a:p>
        </p:txBody>
      </p:sp>
      <p:sp>
        <p:nvSpPr>
          <p:cNvPr id="29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B9D94"/>
                </a:solidFill>
                <a:latin typeface="Arial"/>
                <a:ea typeface="Arial"/>
              </a:rPr>
              <a:t>Hold the rule</a:t>
            </a:r>
            <a:endParaRPr lang="en-US"/>
          </a:p>
        </p:txBody>
      </p:sp>
      <p:sp>
        <p:nvSpPr>
          <p:cNvPr id="30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1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5"/>
          </a:solidFill>
          <a:ln xmlns:a="http://schemas.openxmlformats.org/drawingml/2006/main" w="3810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E8C5C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33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83A2A"/>
                </a:solidFill>
                <a:latin typeface="Arial"/>
                <a:ea typeface="Arial"/>
              </a:rPr>
              <a:t>Read</a:t>
            </a:r>
            <a:endParaRPr lang="en-US"/>
          </a:p>
        </p:txBody>
      </p:sp>
      <p:sp>
        <p:nvSpPr>
          <p:cNvPr id="34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B9D94"/>
                </a:solidFill>
                <a:latin typeface="Arial"/>
                <a:ea typeface="Arial"/>
              </a:rPr>
              <a:t>Separate signal</a:t>
            </a:r>
            <a:endParaRPr lang="en-US"/>
          </a:p>
        </p:txBody>
      </p:sp>
      <p:sp>
        <p:nvSpPr>
          <p:cNvPr id="35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6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C5C"/>
          </a:solidFill>
          <a:ln xmlns:a="http://schemas.openxmlformats.org/drawingml/2006/main" w="3810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7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E8C5C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38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83A2A"/>
                </a:solidFill>
                <a:latin typeface="Arial"/>
                <a:ea typeface="Arial"/>
              </a:rPr>
              <a:t>Decide</a:t>
            </a:r>
            <a:endParaRPr lang="en-US"/>
          </a:p>
        </p:txBody>
      </p:sp>
      <p:sp>
        <p:nvSpPr>
          <p:cNvPr id="39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B9D94"/>
                </a:solidFill>
                <a:latin typeface="Arial"/>
                <a:ea typeface="Arial"/>
              </a:rPr>
              <a:t>Set the next gate</a:t>
            </a:r>
            <a:endParaRPr lang="en-US"/>
          </a:p>
        </p:txBody>
      </p:sp>
      <p:sp>
        <p:nvSpPr>
          <p:cNvPr id="40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E8C5C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41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83A2A"/>
                </a:solidFill>
                <a:latin typeface="Arial"/>
                <a:ea typeface="Arial"/>
              </a:rPr>
              <a:t>The sequence is the evidence.</a:t>
            </a:r>
            <a:endParaRPr lang="en-US"/>
          </a:p>
        </p:txBody>
      </p:sp>
      <p:sp>
        <p:nvSpPr>
          <p:cNvPr id="42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B9D94"/>
                </a:solidFill>
                <a:latin typeface="Arial"/>
                <a:ea typeface="Arial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4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4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bg>
      <p:bgPr>
        <a:blipFill xmlns:a="http://schemas.openxmlformats.org/drawingml/2006/main">
          <a:blip xmlns:r="http://schemas.openxmlformats.org/officeDocument/2006/relationships" r:embed="rIdOfficeKitImagea5c00489db854fa2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C5C"/>
          </a:solidFill>
          <a:ln xmlns:a="http://schemas.openxmlformats.org/drawingml/2006/main" w="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5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7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2A"/>
          </a:solidFill>
          <a:ln xmlns:a="http://schemas.openxmlformats.org/drawingml/2006/main" w="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9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1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3" name="section-reading-plane"/>
          <p:cNvSpPr/>
          <p:nvPr/>
        </p:nvSpPr>
        <p:spPr>
          <a:xfrm xmlns:a="http://schemas.openxmlformats.org/drawingml/2006/main">
            <a:off x="0" y="0"/>
            <a:ext cx="7810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5">
              <a:alpha val="94000"/>
            </a:srgbClr>
          </a:solidFill>
          <a:ln xmlns:a="http://schemas.openxmlformats.org/drawingml/2006/main" w="0">
            <a:solidFill>
              <a:srgbClr val="F6F8F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section-eyebrow"/>
          <p:cNvSpPr txBox="1"/>
          <p:nvPr/>
        </p:nvSpPr>
        <p:spPr>
          <a:xfrm xmlns:a="http://schemas.openxmlformats.org/drawingml/2006/main">
            <a:off x="914400" y="9144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E8C5C"/>
                </a:solidFill>
                <a:latin typeface="Arial"/>
                <a:ea typeface="Arial"/>
              </a:rPr>
              <a:t>FOREST STRATEGY · SECTION</a:t>
            </a:r>
            <a:endParaRPr lang="en-US"/>
          </a:p>
        </p:txBody>
      </p:sp>
      <p:sp>
        <p:nvSpPr>
          <p:cNvPr id="15" name="section-title"/>
          <p:cNvSpPr txBox="1"/>
          <p:nvPr/>
        </p:nvSpPr>
        <p:spPr>
          <a:xfrm xmlns:a="http://schemas.openxmlformats.org/drawingml/2006/main">
            <a:off x="914400" y="1657350"/>
            <a:ext cx="590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450" b="1">
                <a:solidFill>
                  <a:srgbClr val="183A2A"/>
                </a:solidFill>
                <a:latin typeface="Arial"/>
                <a:ea typeface="Arial"/>
              </a:rPr>
              <a:t>Make the choice legible</a:t>
            </a:r>
            <a:endParaRPr lang="en-US"/>
          </a:p>
        </p:txBody>
      </p:sp>
      <p:sp>
        <p:nvSpPr>
          <p:cNvPr id="16" name="section-rule"/>
          <p:cNvSpPr/>
          <p:nvPr/>
        </p:nvSpPr>
        <p:spPr>
          <a:xfrm xmlns:a="http://schemas.openxmlformats.org/drawingml/2006/main">
            <a:off x="914400" y="3181350"/>
            <a:ext cx="499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section-body"/>
          <p:cNvSpPr txBox="1"/>
          <p:nvPr/>
        </p:nvSpPr>
        <p:spPr>
          <a:xfrm xmlns:a="http://schemas.openxmlformats.org/drawingml/2006/main">
            <a:off x="914400" y="360045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83A2A"/>
                </a:solidFill>
                <a:latin typeface="Arial"/>
                <a:ea typeface="Arial"/>
              </a:rPr>
              <a:t>A single visual cue can make the recommendation easier to remember.</a:t>
            </a:r>
            <a:endParaRPr lang="en-US"/>
          </a:p>
        </p:txBody>
      </p:sp>
      <p:sp>
        <p:nvSpPr>
          <p:cNvPr id="18" name="section-note"/>
          <p:cNvSpPr txBox="1"/>
          <p:nvPr/>
        </p:nvSpPr>
        <p:spPr>
          <a:xfrm xmlns:a="http://schemas.openxmlformats.org/drawingml/2006/main">
            <a:off x="914400" y="523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E8C5C"/>
                </a:solidFill>
                <a:latin typeface="Arial"/>
                <a:ea typeface="Arial"/>
              </a:rPr>
              <a:t>ONE IMAGE · ONE THESIS · ONE TURN</a:t>
            </a:r>
            <a:endParaRPr lang="en-US"/>
          </a:p>
        </p:txBody>
      </p:sp>
      <p:sp>
        <p:nvSpPr>
          <p:cNvPr id="19" name="section-next"/>
          <p:cNvSpPr txBox="1"/>
          <p:nvPr/>
        </p:nvSpPr>
        <p:spPr>
          <a:xfrm xmlns:a="http://schemas.openxmlformats.org/drawingml/2006/main">
            <a:off x="914400" y="57721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83A2A"/>
                </a:solidFill>
                <a:latin typeface="Arial"/>
                <a:ea typeface="Arial"/>
              </a:rPr>
              <a:t>Approve one lever</a:t>
            </a:r>
            <a:endParaRPr lang="en-US"/>
          </a:p>
        </p:txBody>
      </p:sp>
      <p:sp>
        <p:nvSpPr>
          <p:cNvPr id="20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21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5"/>
          </a:solidFill>
          <a:ln xmlns:a="http://schemas.openxmlformats.org/drawingml/2006/main" w="0">
            <a:solidFill>
              <a:srgbClr val="F6F8F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C5C"/>
          </a:solidFill>
          <a:ln xmlns:a="http://schemas.openxmlformats.org/drawingml/2006/main" w="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B9D94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2A"/>
          </a:solidFill>
          <a:ln xmlns:a="http://schemas.openxmlformats.org/drawingml/2006/main" w="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pic>
        <p:nvPicPr>
          <p:cNvPr id="14" name="clos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89634c5b24a89a02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15" name="clos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2A">
              <a:alpha val="62000"/>
            </a:srgbClr>
          </a:solidFill>
          <a:ln xmlns:a="http://schemas.openxmlformats.org/drawingml/2006/main" w="0">
            <a:solidFill>
              <a:srgbClr val="183A2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clos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FOREST STRATEGY · CLOS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E8C5C"/>
                </a:solidFill>
                <a:latin typeface="Arial"/>
                <a:ea typeface="Arial"/>
              </a:rPr>
              <a:t>FOREST STRATEGY · CLOSE</a:t>
            </a:r>
            <a:endParaRPr lang="en-US"/>
          </a:p>
        </p:txBody>
      </p:sp>
      <p:sp>
        <p:nvSpPr>
          <p:cNvPr id="18" name="clos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The recommendation is narrow by design</a:t>
            </a:r>
            <a:endParaRPr lang="en-US"/>
          </a:p>
        </p:txBody>
      </p:sp>
      <p:sp>
        <p:nvSpPr>
          <p:cNvPr id="19" name="clos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20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E8C5C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21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3A2A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23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A2A"/>
                </a:solidFill>
                <a:latin typeface="Arial"/>
                <a:ea typeface="Arial"/>
              </a:rPr>
              <a:t>Concentration drives the variance.</a:t>
            </a:r>
            <a:endParaRPr lang="en-US"/>
          </a:p>
        </p:txBody>
      </p:sp>
      <p:sp>
        <p:nvSpPr>
          <p:cNvPr id="24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83A2A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25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B9D9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3A2A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27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A2A"/>
                </a:solidFill>
                <a:latin typeface="Arial"/>
                <a:ea typeface="Arial"/>
              </a:rPr>
              <a:t>Protect the strongest channel first.</a:t>
            </a:r>
            <a:endParaRPr lang="en-US"/>
          </a:p>
        </p:txBody>
      </p:sp>
      <p:sp>
        <p:nvSpPr>
          <p:cNvPr id="28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E8C5C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29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3A2A"/>
                </a:solidFill>
                <a:latin typeface="Arial"/>
                <a:ea typeface="Arial"/>
              </a:rPr>
              <a:t>Owner</a:t>
            </a:r>
            <a:endParaRPr lang="en-US"/>
          </a:p>
        </p:txBody>
      </p:sp>
      <p:sp>
        <p:nvSpPr>
          <p:cNvPr id="31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A2A"/>
                </a:solidFill>
                <a:latin typeface="Arial"/>
                <a:ea typeface="Arial"/>
              </a:rPr>
              <a:t>Return with a gated decision.</a:t>
            </a:r>
            <a:endParaRPr lang="en-US"/>
          </a:p>
        </p:txBody>
      </p:sp>
      <p:sp>
        <p:nvSpPr>
          <p:cNvPr id="32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C5C"/>
          </a:solidFill>
          <a:ln xmlns:a="http://schemas.openxmlformats.org/drawingml/2006/main" w="0">
            <a:solidFill>
              <a:srgbClr val="2E8C5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3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34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Approve one lever</a:t>
            </a:r>
            <a:endParaRPr lang="en-US"/>
          </a:p>
        </p:txBody>
      </p:sp>
      <p:sp>
        <p:nvSpPr>
          <p:cNvPr id="35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3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3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B9D94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