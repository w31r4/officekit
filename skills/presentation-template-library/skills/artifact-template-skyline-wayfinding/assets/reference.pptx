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ee7e84e82f6431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d71bfa074cda59bb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bf733aa70cd14dee" /><Relationship Type="http://schemas.openxmlformats.org/officeDocument/2006/relationships/chart" Target="/ppt/slides/charts/chart2.xml" Id="R38436ff0be83469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33b8c33a8fc3d613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4C9DD8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C96A7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EE9A3D"/>
            </a:solidFill>
            <a:ln w="38100">
              <a:solidFill>
                <a:srgbClr val="EE9A3D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d71bfa074cda59bb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100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WORK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62A4A"/>
                </a:solidFill>
                <a:latin typeface="Arial"/>
                <a:ea typeface="Arial"/>
              </a:rPr>
              <a:t>Skyline Wayfinding: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4C9DD8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62A4A"/>
                </a:solidFill>
                <a:latin typeface="Arial"/>
                <a:ea typeface="Arial"/>
              </a:rPr>
              <a:t>A visible operating signal creates a shared next action.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62A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One operating constraint should own the page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Status, cause, owner, and date make the next operational move visible.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4C9DD8"/>
                </a:solidFill>
                <a:latin typeface="Arial"/>
                <a:ea typeface="Arial"/>
              </a:rPr>
              <a:t>OPERATING SIGNAL</a:t>
            </a:r>
            <a:endParaRPr lang="en-US"/>
          </a:p>
        </p:txBody>
      </p:sp>
      <p:sp>
        <p:nvSpPr>
          <p:cNvPr id="9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62A4A"/>
                </a:solidFill>
                <a:latin typeface="Arial"/>
                <a:ea typeface="Arial"/>
              </a:rPr>
              <a:t>The queue is healthy; the handoff is not.</a:t>
            </a:r>
            <a:endParaRPr lang="en-US"/>
          </a:p>
        </p:txBody>
      </p:sp>
      <p:sp>
        <p:nvSpPr>
          <p:cNvPr id="10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62A4A"/>
                </a:solidFill>
                <a:latin typeface="Arial"/>
                <a:ea typeface="Arial"/>
              </a:rPr>
              <a:t>Three visible signals point to one owner and one date.</a:t>
            </a:r>
            <a:endParaRPr lang="en-US"/>
          </a:p>
        </p:txBody>
      </p:sp>
      <p:sp>
        <p:nvSpPr>
          <p:cNvPr id="11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4C9DD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3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62A4A"/>
                </a:solidFill>
                <a:latin typeface="Arial"/>
                <a:ea typeface="Arial"/>
              </a:rPr>
              <a:t>Queue</a:t>
            </a:r>
            <a:endParaRPr lang="en-US"/>
          </a:p>
        </p:txBody>
      </p:sp>
      <p:sp>
        <p:nvSpPr>
          <p:cNvPr id="14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6A7"/>
                </a:solidFill>
                <a:latin typeface="Arial"/>
                <a:ea typeface="Arial"/>
              </a:rPr>
              <a:t>On target</a:t>
            </a:r>
            <a:endParaRPr lang="en-US"/>
          </a:p>
        </p:txBody>
      </p:sp>
      <p:sp>
        <p:nvSpPr>
          <p:cNvPr id="15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4C9DD8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62A4A"/>
                </a:solidFill>
                <a:latin typeface="Arial"/>
                <a:ea typeface="Arial"/>
              </a:rPr>
              <a:t>Handoff</a:t>
            </a:r>
            <a:endParaRPr lang="en-US"/>
          </a:p>
        </p:txBody>
      </p:sp>
      <p:sp>
        <p:nvSpPr>
          <p:cNvPr id="17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4C9DD8"/>
                </a:solidFill>
                <a:latin typeface="Arial"/>
                <a:ea typeface="Arial"/>
              </a:rPr>
              <a:t>At risk</a:t>
            </a:r>
            <a:endParaRPr lang="en-US"/>
          </a:p>
        </p:txBody>
      </p:sp>
      <p:sp>
        <p:nvSpPr>
          <p:cNvPr id="18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4C9DD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62A4A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20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6A7"/>
                </a:solidFill>
                <a:latin typeface="Arial"/>
                <a:ea typeface="Arial"/>
              </a:rPr>
              <a:t>Named</a:t>
            </a:r>
            <a:endParaRPr lang="en-US"/>
          </a:p>
        </p:txBody>
      </p:sp>
      <p:sp>
        <p:nvSpPr>
          <p:cNvPr id="2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The operating signal improves while the exception stays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Illustrative operations ledger · current state, target, and exception share one frame.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f733aa70cd14dee"/>
          </a:graphicData>
        </a:graphic>
      </p:graphicFrame>
      <p:graphicFrame>
        <p:nvGraphicFramePr>
          <p:cNvPr id="9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8436ff0be83469c"/>
          </a:graphicData>
        </a:graphic>
      </p:graphicFrame>
      <p:sp>
        <p:nvSpPr>
          <p:cNvPr id="10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4C9DD8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2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62A4A"/>
                </a:solidFill>
                <a:latin typeface="Arial"/>
                <a:ea typeface="Arial"/>
              </a:rPr>
              <a:t>The signal earns its space.</a:t>
            </a:r>
            <a:endParaRPr lang="en-US"/>
          </a:p>
        </p:txBody>
      </p:sp>
      <p:sp>
        <p:nvSpPr>
          <p:cNvPr id="13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6A7"/>
                </a:solidFill>
                <a:latin typeface="Arial"/>
                <a:ea typeface="Arial"/>
              </a:rPr>
              <a:t>Every mark answers the page's question; remove anything that does not.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62A4A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The gap becomes useful when it has an owner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C96A7"/>
                </a:solidFill>
                <a:latin typeface="Arial"/>
                <a:ea typeface="Arial"/>
              </a:rPr>
              <a:t>NOW</a:t>
            </a:r>
            <a:endParaRPr lang="en-US"/>
          </a:p>
        </p:txBody>
      </p:sp>
      <p:sp>
        <p:nvSpPr>
          <p:cNvPr id="9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62A4A"/>
                </a:solidFill>
                <a:latin typeface="Arial"/>
                <a:ea typeface="Arial"/>
              </a:rPr>
              <a:t>54%</a:t>
            </a:r>
            <a:endParaRPr lang="en-US"/>
          </a:p>
        </p:txBody>
      </p:sp>
      <p:sp>
        <p:nvSpPr>
          <p:cNvPr id="12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C96A7"/>
                </a:solidFill>
                <a:latin typeface="Arial"/>
                <a:ea typeface="Arial"/>
              </a:rPr>
              <a:t>TARGET</a:t>
            </a:r>
            <a:endParaRPr lang="en-US"/>
          </a:p>
        </p:txBody>
      </p:sp>
      <p:sp>
        <p:nvSpPr>
          <p:cNvPr id="13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9A3D"/>
          </a:solidFill>
          <a:ln xmlns:a="http://schemas.openxmlformats.org/drawingml/2006/main" w="0">
            <a:solidFill>
              <a:srgbClr val="EE9A3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62A4A"/>
                </a:solidFill>
                <a:latin typeface="Arial"/>
                <a:ea typeface="Arial"/>
              </a:rPr>
              <a:t>76%</a:t>
            </a:r>
            <a:endParaRPr lang="en-US"/>
          </a:p>
        </p:txBody>
      </p:sp>
      <p:sp>
        <p:nvSpPr>
          <p:cNvPr id="16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C96A7"/>
                </a:solidFill>
                <a:latin typeface="Arial"/>
                <a:ea typeface="Arial"/>
              </a:rPr>
              <a:t>GAP</a:t>
            </a:r>
            <a:endParaRPr lang="en-US"/>
          </a:p>
        </p:txBody>
      </p:sp>
      <p:sp>
        <p:nvSpPr>
          <p:cNvPr id="17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A4A"/>
          </a:solidFill>
          <a:ln xmlns:a="http://schemas.openxmlformats.org/drawingml/2006/main" w="0">
            <a:solidFill>
              <a:srgbClr val="162A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62A4A"/>
                </a:solidFill>
                <a:latin typeface="Arial"/>
                <a:ea typeface="Arial"/>
              </a:rPr>
              <a:t>22%</a:t>
            </a:r>
            <a:endParaRPr lang="en-US"/>
          </a:p>
        </p:txBody>
      </p:sp>
      <p:sp>
        <p:nvSpPr>
          <p:cNvPr id="20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62A4A"/>
                </a:solidFill>
                <a:latin typeface="Arial"/>
                <a:ea typeface="Arial"/>
              </a:rPr>
              <a:t>Status is useful only when the next handoff is visible.</a:t>
            </a:r>
            <a:endParaRPr lang="en-US"/>
          </a:p>
        </p:txBody>
      </p:sp>
      <p:sp>
        <p:nvSpPr>
          <p:cNvPr id="22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4C9DD8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23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62A4A"/>
                </a:solidFill>
                <a:latin typeface="Arial"/>
                <a:ea typeface="Arial"/>
              </a:rPr>
              <a:t>The gap is not a decoration; it is the work.</a:t>
            </a:r>
            <a:endParaRPr lang="en-US"/>
          </a:p>
        </p:txBody>
      </p:sp>
      <p:sp>
        <p:nvSpPr>
          <p:cNvPr id="24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6A7"/>
                </a:solidFill>
                <a:latin typeface="Arial"/>
                <a:ea typeface="Arial"/>
              </a:rPr>
              <a:t>A healthy page names the owner and the next date.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33b8c33a8fc3d61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ection-reading-plane"/>
          <p:cNvSpPr/>
          <p:nvPr/>
        </p:nvSpPr>
        <p:spPr>
          <a:xfrm xmlns:a="http://schemas.openxmlformats.org/drawingml/2006/main">
            <a:off x="0" y="0"/>
            <a:ext cx="7810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4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section-eyebrow"/>
          <p:cNvSpPr txBox="1"/>
          <p:nvPr/>
        </p:nvSpPr>
        <p:spPr>
          <a:xfrm xmlns:a="http://schemas.openxmlformats.org/drawingml/2006/main">
            <a:off x="914400" y="91440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SECTION</a:t>
            </a:r>
            <a:endParaRPr lang="en-US"/>
          </a:p>
        </p:txBody>
      </p:sp>
      <p:sp>
        <p:nvSpPr>
          <p:cNvPr id="4" name="section-title"/>
          <p:cNvSpPr txBox="1"/>
          <p:nvPr/>
        </p:nvSpPr>
        <p:spPr>
          <a:xfrm xmlns:a="http://schemas.openxmlformats.org/drawingml/2006/main">
            <a:off x="914400" y="1657350"/>
            <a:ext cx="5905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162A4A"/>
                </a:solidFill>
                <a:latin typeface="Arial"/>
                <a:ea typeface="Arial"/>
              </a:rPr>
              <a:t>Show the operating shape</a:t>
            </a:r>
            <a:endParaRPr lang="en-US"/>
          </a:p>
        </p:txBody>
      </p:sp>
      <p:sp>
        <p:nvSpPr>
          <p:cNvPr id="5" name="section-rule"/>
          <p:cNvSpPr/>
          <p:nvPr/>
        </p:nvSpPr>
        <p:spPr>
          <a:xfrm xmlns:a="http://schemas.openxmlformats.org/drawingml/2006/main">
            <a:off x="914400" y="3181350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section-body"/>
          <p:cNvSpPr txBox="1"/>
          <p:nvPr/>
        </p:nvSpPr>
        <p:spPr>
          <a:xfrm xmlns:a="http://schemas.openxmlformats.org/drawingml/2006/main">
            <a:off x="914400" y="360045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62A4A"/>
                </a:solidFill>
                <a:latin typeface="Arial"/>
                <a:ea typeface="Arial"/>
              </a:rPr>
              <a:t>An operating page should reveal the shape of the work, not decorate the status.</a:t>
            </a:r>
            <a:endParaRPr lang="en-US"/>
          </a:p>
        </p:txBody>
      </p:sp>
      <p:sp>
        <p:nvSpPr>
          <p:cNvPr id="7" name="section-note"/>
          <p:cNvSpPr txBox="1"/>
          <p:nvPr/>
        </p:nvSpPr>
        <p:spPr>
          <a:xfrm xmlns:a="http://schemas.openxmlformats.org/drawingml/2006/main">
            <a:off x="914400" y="5238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4C9DD8"/>
                </a:solidFill>
                <a:latin typeface="Arial"/>
                <a:ea typeface="Arial"/>
              </a:rPr>
              <a:t>ONE IMAGE · ONE THESIS · ONE TURN</a:t>
            </a:r>
            <a:endParaRPr lang="en-US"/>
          </a:p>
        </p:txBody>
      </p:sp>
      <p:sp>
        <p:nvSpPr>
          <p:cNvPr id="8" name="section-next"/>
          <p:cNvSpPr txBox="1"/>
          <p:nvPr/>
        </p:nvSpPr>
        <p:spPr>
          <a:xfrm xmlns:a="http://schemas.openxmlformats.org/drawingml/2006/main">
            <a:off x="914400" y="57721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62A4A"/>
                </a:solidFill>
                <a:latin typeface="Arial"/>
                <a:ea typeface="Arial"/>
              </a:rPr>
              <a:t>Assign the handoff</a:t>
            </a:r>
            <a:endParaRPr lang="en-US"/>
          </a:p>
        </p:txBody>
      </p:sp>
      <p:sp>
        <p:nvSpPr>
          <p:cNvPr id="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Make the owner and the next date impossible to miss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4C9DD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62A4A"/>
                </a:solidFill>
                <a:latin typeface="Arial"/>
                <a:ea typeface="Arial"/>
              </a:rPr>
              <a:t>Status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The queue is on target.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62A4A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62A4A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The handoff is the constraint.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4C9DD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62A4A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Name the owner today.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Assign the handoff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