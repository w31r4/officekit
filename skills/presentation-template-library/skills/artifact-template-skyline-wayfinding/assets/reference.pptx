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138cdf3f902448e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c7b73f8fac405495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b7ae9ef80f4844e8" /><Relationship Type="http://schemas.openxmlformats.org/officeDocument/2006/relationships/chart" Target="/ppt/slides/charts/chart2.xml" Id="Rad2536057be0424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3.xml" Id="R8d368eceb8f94da1" /><Relationship Type="http://schemas.openxmlformats.org/officeDocument/2006/relationships/chart" Target="/ppt/slides/charts/chart4.xml" Id="R3938096fc3d241d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4C9DD8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C96A7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EE9A3D"/>
            </a:solidFill>
            <a:ln w="38100">
              <a:solidFill>
                <a:srgbClr val="EE9A3D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3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4C9DD8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4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EE9A3D"/>
            </a:solidFill>
            <a:ln w="38100">
              <a:solidFill>
                <a:srgbClr val="EE9A3D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c7b73f8fac405495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100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WORK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62A4A"/>
                </a:solidFill>
                <a:latin typeface="Arial"/>
                <a:ea typeface="Arial"/>
              </a:rPr>
              <a:t>Skyline Wayfinding: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4C9DD8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62A4A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62A4A"/>
                </a:solidFill>
                <a:latin typeface="Arial"/>
                <a:ea typeface="Arial"/>
              </a:rPr>
              <a:t>A visible operating signal creates a shared next action.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62A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One operating constraint should own the page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Status, cause, owner, and date make the next operational move visible.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4C9DD8"/>
                </a:solidFill>
                <a:latin typeface="Arial"/>
                <a:ea typeface="Arial"/>
              </a:rPr>
              <a:t>OPERATING SIGNAL</a:t>
            </a:r>
            <a:endParaRPr lang="en-US"/>
          </a:p>
        </p:txBody>
      </p:sp>
      <p:sp>
        <p:nvSpPr>
          <p:cNvPr id="9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62A4A"/>
                </a:solidFill>
                <a:latin typeface="Arial"/>
                <a:ea typeface="Arial"/>
              </a:rPr>
              <a:t>The queue is healthy; the handoff is not.</a:t>
            </a:r>
            <a:endParaRPr lang="en-US"/>
          </a:p>
        </p:txBody>
      </p:sp>
      <p:sp>
        <p:nvSpPr>
          <p:cNvPr id="10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62A4A"/>
                </a:solidFill>
                <a:latin typeface="Arial"/>
                <a:ea typeface="Arial"/>
              </a:rPr>
              <a:t>Three visible signals point to one owner and one date.</a:t>
            </a:r>
            <a:endParaRPr lang="en-US"/>
          </a:p>
        </p:txBody>
      </p:sp>
      <p:sp>
        <p:nvSpPr>
          <p:cNvPr id="11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4C9DD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3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62A4A"/>
                </a:solidFill>
                <a:latin typeface="Arial"/>
                <a:ea typeface="Arial"/>
              </a:rPr>
              <a:t>Queue</a:t>
            </a:r>
            <a:endParaRPr lang="en-US"/>
          </a:p>
        </p:txBody>
      </p:sp>
      <p:sp>
        <p:nvSpPr>
          <p:cNvPr id="14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6A7"/>
                </a:solidFill>
                <a:latin typeface="Arial"/>
                <a:ea typeface="Arial"/>
              </a:rPr>
              <a:t>On target</a:t>
            </a:r>
            <a:endParaRPr lang="en-US"/>
          </a:p>
        </p:txBody>
      </p:sp>
      <p:sp>
        <p:nvSpPr>
          <p:cNvPr id="15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4C9DD8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62A4A"/>
                </a:solidFill>
                <a:latin typeface="Arial"/>
                <a:ea typeface="Arial"/>
              </a:rPr>
              <a:t>Handoff</a:t>
            </a:r>
            <a:endParaRPr lang="en-US"/>
          </a:p>
        </p:txBody>
      </p:sp>
      <p:sp>
        <p:nvSpPr>
          <p:cNvPr id="17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4C9DD8"/>
                </a:solidFill>
                <a:latin typeface="Arial"/>
                <a:ea typeface="Arial"/>
              </a:rPr>
              <a:t>At risk</a:t>
            </a:r>
            <a:endParaRPr lang="en-US"/>
          </a:p>
        </p:txBody>
      </p:sp>
      <p:sp>
        <p:nvSpPr>
          <p:cNvPr id="18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4C9DD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62A4A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20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6A7"/>
                </a:solidFill>
                <a:latin typeface="Arial"/>
                <a:ea typeface="Arial"/>
              </a:rPr>
              <a:t>Named</a:t>
            </a:r>
            <a:endParaRPr lang="en-US"/>
          </a:p>
        </p:txBody>
      </p:sp>
      <p:sp>
        <p:nvSpPr>
          <p:cNvPr id="21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The operating signal improves while the exception stays visible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Illustrative operations ledger · current state, target, and exception share one frame.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7ae9ef80f4844e8"/>
          </a:graphicData>
        </a:graphic>
      </p:graphicFrame>
      <p:graphicFrame>
        <p:nvGraphicFramePr>
          <p:cNvPr id="9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d2536057be04246"/>
          </a:graphicData>
        </a:graphic>
      </p:graphicFrame>
      <p:sp>
        <p:nvSpPr>
          <p:cNvPr id="10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4C9DD8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12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62A4A"/>
                </a:solidFill>
                <a:latin typeface="Arial"/>
                <a:ea typeface="Arial"/>
              </a:rPr>
              <a:t>The signal earns its space.</a:t>
            </a:r>
            <a:endParaRPr lang="en-US"/>
          </a:p>
        </p:txBody>
      </p:sp>
      <p:sp>
        <p:nvSpPr>
          <p:cNvPr id="13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6A7"/>
                </a:solidFill>
                <a:latin typeface="Arial"/>
                <a:ea typeface="Arial"/>
              </a:rPr>
              <a:t>Every mark answers the page's question; remove anything that does not.</a:t>
            </a:r>
            <a:endParaRPr lang="en-US"/>
          </a:p>
        </p:txBody>
      </p:sp>
      <p:sp>
        <p:nvSpPr>
          <p:cNvPr id="1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62A4A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The gap becomes useful when it has an owner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operating-label-0"/>
          <p:cNvSpPr txBox="1"/>
          <p:nvPr/>
        </p:nvSpPr>
        <p:spPr>
          <a:xfrm xmlns:a="http://schemas.openxmlformats.org/drawingml/2006/main">
            <a:off x="11049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C96A7"/>
                </a:solidFill>
                <a:latin typeface="Arial"/>
                <a:ea typeface="Arial"/>
              </a:rPr>
              <a:t>NOW</a:t>
            </a:r>
            <a:endParaRPr lang="en-US"/>
          </a:p>
        </p:txBody>
      </p:sp>
      <p:sp>
        <p:nvSpPr>
          <p:cNvPr id="9" name="operating-bar-0"/>
          <p:cNvSpPr/>
          <p:nvPr/>
        </p:nvSpPr>
        <p:spPr>
          <a:xfrm xmlns:a="http://schemas.openxmlformats.org/drawingml/2006/main">
            <a:off x="11049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operating-fill-0"/>
          <p:cNvSpPr/>
          <p:nvPr/>
        </p:nvSpPr>
        <p:spPr>
          <a:xfrm xmlns:a="http://schemas.openxmlformats.org/drawingml/2006/main">
            <a:off x="1104900" y="3848100"/>
            <a:ext cx="1133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operating-value-0"/>
          <p:cNvSpPr txBox="1"/>
          <p:nvPr/>
        </p:nvSpPr>
        <p:spPr>
          <a:xfrm xmlns:a="http://schemas.openxmlformats.org/drawingml/2006/main">
            <a:off x="11049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62A4A"/>
                </a:solidFill>
                <a:latin typeface="Arial"/>
                <a:ea typeface="Arial"/>
              </a:rPr>
              <a:t>54%</a:t>
            </a:r>
            <a:endParaRPr lang="en-US"/>
          </a:p>
        </p:txBody>
      </p:sp>
      <p:sp>
        <p:nvSpPr>
          <p:cNvPr id="12" name="operating-label-1"/>
          <p:cNvSpPr txBox="1"/>
          <p:nvPr/>
        </p:nvSpPr>
        <p:spPr>
          <a:xfrm xmlns:a="http://schemas.openxmlformats.org/drawingml/2006/main">
            <a:off x="379095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C96A7"/>
                </a:solidFill>
                <a:latin typeface="Arial"/>
                <a:ea typeface="Arial"/>
              </a:rPr>
              <a:t>TARGET</a:t>
            </a:r>
            <a:endParaRPr lang="en-US"/>
          </a:p>
        </p:txBody>
      </p:sp>
      <p:sp>
        <p:nvSpPr>
          <p:cNvPr id="13" name="operating-bar-1"/>
          <p:cNvSpPr/>
          <p:nvPr/>
        </p:nvSpPr>
        <p:spPr>
          <a:xfrm xmlns:a="http://schemas.openxmlformats.org/drawingml/2006/main">
            <a:off x="379095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operating-fill-1"/>
          <p:cNvSpPr/>
          <p:nvPr/>
        </p:nvSpPr>
        <p:spPr>
          <a:xfrm xmlns:a="http://schemas.openxmlformats.org/drawingml/2006/main">
            <a:off x="3790950" y="3848100"/>
            <a:ext cx="1590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9A3D"/>
          </a:solidFill>
          <a:ln xmlns:a="http://schemas.openxmlformats.org/drawingml/2006/main" w="0">
            <a:solidFill>
              <a:srgbClr val="EE9A3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operating-value-1"/>
          <p:cNvSpPr txBox="1"/>
          <p:nvPr/>
        </p:nvSpPr>
        <p:spPr>
          <a:xfrm xmlns:a="http://schemas.openxmlformats.org/drawingml/2006/main">
            <a:off x="379095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62A4A"/>
                </a:solidFill>
                <a:latin typeface="Arial"/>
                <a:ea typeface="Arial"/>
              </a:rPr>
              <a:t>76%</a:t>
            </a:r>
            <a:endParaRPr lang="en-US"/>
          </a:p>
        </p:txBody>
      </p:sp>
      <p:sp>
        <p:nvSpPr>
          <p:cNvPr id="16" name="operating-label-2"/>
          <p:cNvSpPr txBox="1"/>
          <p:nvPr/>
        </p:nvSpPr>
        <p:spPr>
          <a:xfrm xmlns:a="http://schemas.openxmlformats.org/drawingml/2006/main">
            <a:off x="64770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C96A7"/>
                </a:solidFill>
                <a:latin typeface="Arial"/>
                <a:ea typeface="Arial"/>
              </a:rPr>
              <a:t>GAP</a:t>
            </a:r>
            <a:endParaRPr lang="en-US"/>
          </a:p>
        </p:txBody>
      </p:sp>
      <p:sp>
        <p:nvSpPr>
          <p:cNvPr id="17" name="operating-bar-2"/>
          <p:cNvSpPr/>
          <p:nvPr/>
        </p:nvSpPr>
        <p:spPr>
          <a:xfrm xmlns:a="http://schemas.openxmlformats.org/drawingml/2006/main">
            <a:off x="64770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operating-fill-2"/>
          <p:cNvSpPr/>
          <p:nvPr/>
        </p:nvSpPr>
        <p:spPr>
          <a:xfrm xmlns:a="http://schemas.openxmlformats.org/drawingml/2006/main">
            <a:off x="6477000" y="384810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A4A"/>
          </a:solidFill>
          <a:ln xmlns:a="http://schemas.openxmlformats.org/drawingml/2006/main" w="0">
            <a:solidFill>
              <a:srgbClr val="162A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operating-value-2"/>
          <p:cNvSpPr txBox="1"/>
          <p:nvPr/>
        </p:nvSpPr>
        <p:spPr>
          <a:xfrm xmlns:a="http://schemas.openxmlformats.org/drawingml/2006/main">
            <a:off x="64770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62A4A"/>
                </a:solidFill>
                <a:latin typeface="Arial"/>
                <a:ea typeface="Arial"/>
              </a:rPr>
              <a:t>22%</a:t>
            </a:r>
            <a:endParaRPr lang="en-US"/>
          </a:p>
        </p:txBody>
      </p:sp>
      <p:sp>
        <p:nvSpPr>
          <p:cNvPr id="20" name="operating-axis"/>
          <p:cNvSpPr/>
          <p:nvPr/>
        </p:nvSpPr>
        <p:spPr>
          <a:xfrm xmlns:a="http://schemas.openxmlformats.org/drawingml/2006/main">
            <a:off x="1104900" y="5334000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operating-read"/>
          <p:cNvSpPr txBox="1"/>
          <p:nvPr/>
        </p:nvSpPr>
        <p:spPr>
          <a:xfrm xmlns:a="http://schemas.openxmlformats.org/drawingml/2006/main">
            <a:off x="1104900" y="565785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62A4A"/>
                </a:solidFill>
                <a:latin typeface="Arial"/>
                <a:ea typeface="Arial"/>
              </a:rPr>
              <a:t>Status is useful only when the next handoff is visible.</a:t>
            </a:r>
            <a:endParaRPr lang="en-US"/>
          </a:p>
        </p:txBody>
      </p:sp>
      <p:sp>
        <p:nvSpPr>
          <p:cNvPr id="22" name="operating-note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4C9DD8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23" name="operating-note"/>
          <p:cNvSpPr txBox="1"/>
          <p:nvPr/>
        </p:nvSpPr>
        <p:spPr>
          <a:xfrm xmlns:a="http://schemas.openxmlformats.org/drawingml/2006/main">
            <a:off x="10287000" y="3829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62A4A"/>
                </a:solidFill>
                <a:latin typeface="Arial"/>
                <a:ea typeface="Arial"/>
              </a:rPr>
              <a:t>The gap is not a decoration; it is the work.</a:t>
            </a:r>
            <a:endParaRPr lang="en-US"/>
          </a:p>
        </p:txBody>
      </p:sp>
      <p:sp>
        <p:nvSpPr>
          <p:cNvPr id="24" name="operating-note-foot"/>
          <p:cNvSpPr txBox="1"/>
          <p:nvPr/>
        </p:nvSpPr>
        <p:spPr>
          <a:xfrm xmlns:a="http://schemas.openxmlformats.org/drawingml/2006/main">
            <a:off x="10287000" y="5010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6A7"/>
                </a:solidFill>
                <a:latin typeface="Arial"/>
                <a:ea typeface="Arial"/>
              </a:rPr>
              <a:t>A healthy page names the owner and the next date.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Show the operating shape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An operating page should reveal the shape of the work, not decorate the status.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d368eceb8f94da1"/>
          </a:graphicData>
        </a:graphic>
      </p:graphicFrame>
      <p:graphicFrame>
        <p:nvGraphicFramePr>
          <p:cNvPr id="9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938096fc3d241da"/>
          </a:graphicData>
        </a:graphic>
      </p:graphicFrame>
      <p:sp>
        <p:nvSpPr>
          <p:cNvPr id="10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4C9DD8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12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62A4A"/>
                </a:solidFill>
                <a:latin typeface="Arial"/>
                <a:ea typeface="Arial"/>
              </a:rPr>
              <a:t>Exception before polish</a:t>
            </a:r>
            <a:endParaRPr lang="en-US"/>
          </a:p>
        </p:txBody>
      </p:sp>
      <p:sp>
        <p:nvSpPr>
          <p:cNvPr id="13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6A7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Make the owner and the next date impossible to miss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4C9DD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62A4A"/>
                </a:solidFill>
                <a:latin typeface="Arial"/>
                <a:ea typeface="Arial"/>
              </a:rPr>
              <a:t>Status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62A4A"/>
                </a:solidFill>
                <a:latin typeface="Arial"/>
                <a:ea typeface="Arial"/>
              </a:rPr>
              <a:t>The queue is on target.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62A4A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62A4A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62A4A"/>
                </a:solidFill>
                <a:latin typeface="Arial"/>
                <a:ea typeface="Arial"/>
              </a:rPr>
              <a:t>The handoff is the constraint.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4C9DD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62A4A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62A4A"/>
                </a:solidFill>
                <a:latin typeface="Arial"/>
                <a:ea typeface="Arial"/>
              </a:rPr>
              <a:t>Name the owner today.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Assign the handoff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