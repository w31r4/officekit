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094d202acb0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c7b73f8fac405495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40e365e563a542d5" /><Relationship Type="http://schemas.openxmlformats.org/officeDocument/2006/relationships/chart" Target="/ppt/slides/charts/chart2.xml" Id="R79f5911cd4d54e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7be2789bccc64f21" /><Relationship Type="http://schemas.openxmlformats.org/officeDocument/2006/relationships/chart" Target="/ppt/slides/charts/chart4.xml" Id="Rf5203aa7aa8848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4C9DD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C96A7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EE9A3D"/>
            </a:solidFill>
            <a:ln w="38100">
              <a:solidFill>
                <a:srgbClr val="EE9A3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4C9DD8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EE9A3D"/>
            </a:solidFill>
            <a:ln w="38100">
              <a:solidFill>
                <a:srgbClr val="EE9A3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skyline-wayfinding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WORK · OFFICEKIT CALIBRATION</a:t>
            </a:r>
            <a:endParaRPr lang="en-US"/>
          </a:p>
        </p:txBody>
      </p:sp>
      <p:sp>
        <p:nvSpPr>
          <p:cNvPr id="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62A4A"/>
                </a:solidFill>
                <a:latin typeface="Arial"/>
                <a:ea typeface="Arial"/>
              </a:rPr>
              <a:t>Skyline Wayfinding: a claim worth testing</a:t>
            </a:r>
            <a:endParaRPr lang="en-US"/>
          </a:p>
        </p:txBody>
      </p:sp>
      <p:sp>
        <p:nvSpPr>
          <p:cNvPr id="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4C9DD8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62A4A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62A4A"/>
                </a:solidFill>
                <a:latin typeface="Arial"/>
                <a:ea typeface="Arial"/>
              </a:rPr>
              <a:t>A visible operating signal creates a shared next action.</a:t>
            </a:r>
            <a:endParaRPr lang="en-US"/>
          </a:p>
        </p:txBody>
      </p:sp>
      <p:sp>
        <p:nvSpPr>
          <p:cNvPr id="1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62A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KYLINE WAYFINDING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SKYLINE WAYFINDING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62A4A"/>
                </a:solidFill>
                <a:latin typeface="Arial"/>
                <a:ea typeface="Arial"/>
              </a:rPr>
              <a:t>One operating constraint should own the page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6A7"/>
                </a:solidFill>
                <a:latin typeface="Arial"/>
                <a:ea typeface="Arial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4C9DD8"/>
                </a:solidFill>
                <a:latin typeface="Arial"/>
                <a:ea typeface="Arial"/>
              </a:rPr>
              <a:t>OPERATING SIGNAL</a:t>
            </a:r>
            <a:endParaRPr lang="en-US"/>
          </a:p>
        </p:txBody>
      </p:sp>
      <p:sp>
        <p:nvSpPr>
          <p:cNvPr id="9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62A4A"/>
                </a:solidFill>
                <a:latin typeface="Arial"/>
                <a:ea typeface="Arial"/>
              </a:rPr>
              <a:t>The queue is healthy; the handoff is not.</a:t>
            </a:r>
            <a:endParaRPr lang="en-US"/>
          </a:p>
        </p:txBody>
      </p:sp>
      <p:sp>
        <p:nvSpPr>
          <p:cNvPr id="10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62A4A"/>
                </a:solidFill>
                <a:latin typeface="Arial"/>
                <a:ea typeface="Arial"/>
              </a:rPr>
              <a:t>Three visible signals point to one owner and one date.</a:t>
            </a:r>
            <a:endParaRPr lang="en-US"/>
          </a:p>
        </p:txBody>
      </p:sp>
      <p:sp>
        <p:nvSpPr>
          <p:cNvPr id="11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4C9DD8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3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62A4A"/>
                </a:solidFill>
                <a:latin typeface="Arial"/>
                <a:ea typeface="Arial"/>
              </a:rPr>
              <a:t>Queue</a:t>
            </a:r>
            <a:endParaRPr lang="en-US"/>
          </a:p>
        </p:txBody>
      </p:sp>
      <p:sp>
        <p:nvSpPr>
          <p:cNvPr id="14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6A7"/>
                </a:solidFill>
                <a:latin typeface="Arial"/>
                <a:ea typeface="Arial"/>
              </a:rPr>
              <a:t>On target</a:t>
            </a:r>
            <a:endParaRPr lang="en-US"/>
          </a:p>
        </p:txBody>
      </p:sp>
      <p:sp>
        <p:nvSpPr>
          <p:cNvPr id="15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4C9DD8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62A4A"/>
                </a:solidFill>
                <a:latin typeface="Arial"/>
                <a:ea typeface="Arial"/>
              </a:rPr>
              <a:t>Handoff</a:t>
            </a:r>
            <a:endParaRPr lang="en-US"/>
          </a:p>
        </p:txBody>
      </p:sp>
      <p:sp>
        <p:nvSpPr>
          <p:cNvPr id="17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4C9DD8"/>
                </a:solidFill>
                <a:latin typeface="Arial"/>
                <a:ea typeface="Arial"/>
              </a:rPr>
              <a:t>At risk</a:t>
            </a:r>
            <a:endParaRPr lang="en-US"/>
          </a:p>
        </p:txBody>
      </p:sp>
      <p:sp>
        <p:nvSpPr>
          <p:cNvPr id="18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4C9DD8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62A4A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0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6A7"/>
                </a:solidFill>
                <a:latin typeface="Arial"/>
                <a:ea typeface="Arial"/>
              </a:rPr>
              <a:t>Named</a:t>
            </a:r>
            <a:endParaRPr lang="en-US"/>
          </a:p>
        </p:txBody>
      </p:sp>
      <p:sp>
        <p:nvSpPr>
          <p:cNvPr id="2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KYLINE WAYFINDING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SKYLINE WAYFINDING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62A4A"/>
                </a:solidFill>
                <a:latin typeface="Arial"/>
                <a:ea typeface="Arial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6A7"/>
                </a:solidFill>
                <a:latin typeface="Arial"/>
                <a:ea typeface="Arial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e365e563a542d5"/>
          </a:graphicData>
        </a:graphic>
      </p:graphicFrame>
      <p:graphicFrame>
        <p:nvGraphicFramePr>
          <p:cNvPr id="9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f5911cd4d54e3b"/>
          </a:graphicData>
        </a:graphic>
      </p:graphicFrame>
      <p:sp>
        <p:nvSpPr>
          <p:cNvPr id="10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4C9DD8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2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62A4A"/>
                </a:solidFill>
                <a:latin typeface="Arial"/>
                <a:ea typeface="Arial"/>
              </a:rPr>
              <a:t>The signal earns its space.</a:t>
            </a:r>
            <a:endParaRPr lang="en-US"/>
          </a:p>
        </p:txBody>
      </p:sp>
      <p:sp>
        <p:nvSpPr>
          <p:cNvPr id="13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6A7"/>
                </a:solidFill>
                <a:latin typeface="Arial"/>
                <a:ea typeface="Arial"/>
              </a:rPr>
              <a:t>Every mark answers the page's question; remove anything that does not.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62A4A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KYLINE WAYFINDING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SKYLINE WAYFINDING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62A4A"/>
                </a:solidFill>
                <a:latin typeface="Arial"/>
                <a:ea typeface="Arial"/>
              </a:rPr>
              <a:t>The gap becomes useful when it has an owner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6A7"/>
                </a:solidFill>
                <a:latin typeface="Arial"/>
                <a:ea typeface="Arial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C96A7"/>
                </a:solidFill>
                <a:latin typeface="Arial"/>
                <a:ea typeface="Arial"/>
              </a:rPr>
              <a:t>NOW</a:t>
            </a:r>
            <a:endParaRPr lang="en-US"/>
          </a:p>
        </p:txBody>
      </p:sp>
      <p:sp>
        <p:nvSpPr>
          <p:cNvPr id="9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62A4A"/>
                </a:solidFill>
                <a:latin typeface="Arial"/>
                <a:ea typeface="Arial"/>
              </a:rPr>
              <a:t>54%</a:t>
            </a:r>
            <a:endParaRPr lang="en-US"/>
          </a:p>
        </p:txBody>
      </p:sp>
      <p:sp>
        <p:nvSpPr>
          <p:cNvPr id="12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C96A7"/>
                </a:solidFill>
                <a:latin typeface="Arial"/>
                <a:ea typeface="Arial"/>
              </a:rPr>
              <a:t>TARGET</a:t>
            </a:r>
            <a:endParaRPr lang="en-US"/>
          </a:p>
        </p:txBody>
      </p:sp>
      <p:sp>
        <p:nvSpPr>
          <p:cNvPr id="13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A3D"/>
          </a:solidFill>
          <a:ln xmlns:a="http://schemas.openxmlformats.org/drawingml/2006/main" w="0">
            <a:solidFill>
              <a:srgbClr val="EE9A3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62A4A"/>
                </a:solidFill>
                <a:latin typeface="Arial"/>
                <a:ea typeface="Arial"/>
              </a:rPr>
              <a:t>76%</a:t>
            </a:r>
            <a:endParaRPr lang="en-US"/>
          </a:p>
        </p:txBody>
      </p:sp>
      <p:sp>
        <p:nvSpPr>
          <p:cNvPr id="16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C96A7"/>
                </a:solidFill>
                <a:latin typeface="Arial"/>
                <a:ea typeface="Arial"/>
              </a:rPr>
              <a:t>GAP</a:t>
            </a:r>
            <a:endParaRPr lang="en-US"/>
          </a:p>
        </p:txBody>
      </p:sp>
      <p:sp>
        <p:nvSpPr>
          <p:cNvPr id="17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A4A"/>
          </a:solidFill>
          <a:ln xmlns:a="http://schemas.openxmlformats.org/drawingml/2006/main" w="0">
            <a:solidFill>
              <a:srgbClr val="162A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62A4A"/>
                </a:solidFill>
                <a:latin typeface="Arial"/>
                <a:ea typeface="Arial"/>
              </a:rPr>
              <a:t>22%</a:t>
            </a:r>
            <a:endParaRPr lang="en-US"/>
          </a:p>
        </p:txBody>
      </p:sp>
      <p:sp>
        <p:nvSpPr>
          <p:cNvPr id="20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62A4A"/>
                </a:solidFill>
                <a:latin typeface="Arial"/>
                <a:ea typeface="Arial"/>
              </a:rPr>
              <a:t>Status is useful only when the next handoff is visible.</a:t>
            </a:r>
            <a:endParaRPr lang="en-US"/>
          </a:p>
        </p:txBody>
      </p:sp>
      <p:sp>
        <p:nvSpPr>
          <p:cNvPr id="22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4C9DD8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23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62A4A"/>
                </a:solidFill>
                <a:latin typeface="Arial"/>
                <a:ea typeface="Arial"/>
              </a:rPr>
              <a:t>The gap is not a decoration; it is the work.</a:t>
            </a:r>
            <a:endParaRPr lang="en-US"/>
          </a:p>
        </p:txBody>
      </p:sp>
      <p:sp>
        <p:nvSpPr>
          <p:cNvPr id="24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6A7"/>
                </a:solidFill>
                <a:latin typeface="Arial"/>
                <a:ea typeface="Arial"/>
              </a:rPr>
              <a:t>A healthy page names the owner and the next date.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KYLINE WAYFINDING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SKYLINE WAYFINDING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62A4A"/>
                </a:solidFill>
                <a:latin typeface="Arial"/>
                <a:ea typeface="Arial"/>
              </a:rPr>
              <a:t>Show the operating shape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6A7"/>
                </a:solidFill>
                <a:latin typeface="Arial"/>
                <a:ea typeface="Arial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e2789bccc64f21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203aa7aa884886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4C9DD8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62A4A"/>
                </a:solidFill>
                <a:latin typeface="Arial"/>
                <a:ea typeface="Arial"/>
              </a:rPr>
              <a:t>Exception before polish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6A7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KYLINE WAYFINDING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4C9DD8"/>
                </a:solidFill>
                <a:latin typeface="Arial"/>
                <a:ea typeface="Arial"/>
              </a:rPr>
              <a:t>SKYLINE WAYFINDING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62A4A"/>
                </a:solidFill>
                <a:latin typeface="Arial"/>
                <a:ea typeface="Arial"/>
              </a:rPr>
              <a:t>Make the owner and the next date impossible to miss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6A7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4C9DD8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62A4A"/>
                </a:solidFill>
                <a:latin typeface="Arial"/>
                <a:ea typeface="Arial"/>
              </a:rPr>
              <a:t>Status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62A4A"/>
                </a:solidFill>
                <a:latin typeface="Arial"/>
                <a:ea typeface="Arial"/>
              </a:rPr>
              <a:t>The queue is on target.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62A4A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6A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62A4A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62A4A"/>
                </a:solidFill>
                <a:latin typeface="Arial"/>
                <a:ea typeface="Arial"/>
              </a:rPr>
              <a:t>The handoff is the constraint.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4C9DD8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62A4A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62A4A"/>
                </a:solidFill>
                <a:latin typeface="Arial"/>
                <a:ea typeface="Arial"/>
              </a:rPr>
              <a:t>Name the owner today.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D8"/>
          </a:solidFill>
          <a:ln xmlns:a="http://schemas.openxmlformats.org/drawingml/2006/main" w="0">
            <a:solidFill>
              <a:srgbClr val="4C9D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Assign the handoff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6A7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