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dd0ed7051f7f47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c237998db8bee20d_1" /><Relationship Type="http://schemas.openxmlformats.org/officeDocument/2006/relationships/image" Target="/ppt/media/image3.jpg" Id="rIdOfficeKitImage31956823b229fb66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026be3a43029630d_1" /><Relationship Type="http://schemas.openxmlformats.org/officeDocument/2006/relationships/chart" Target="/ppt/slides/charts/chart1.xml" Id="R8a11cfebf25a4b8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f72f8e2736f81baf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c7b73f8fac405495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Observed signal by cohort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9A6B45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42</c:v>
              </c:pt>
              <c:pt idx="1">
                <c:v>51</c:v>
              </c:pt>
              <c:pt idx="2">
                <c:v>58</c:v>
              </c:pt>
              <c:pt idx="3">
                <c:v>64</c:v>
              </c:pt>
              <c:pt idx="4">
                <c:v>68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98989"/>
            </a:solidFill>
          </c:spPr>
          <c:cat>
            <c:strLit>
              <c:ptCount val="5"/>
              <c:pt idx="0">
                <c:v>Baseline</c:v>
              </c:pt>
              <c:pt idx="1">
                <c:v>Phase 1</c:v>
              </c:pt>
              <c:pt idx="2">
                <c:v>Phase 2</c:v>
              </c:pt>
              <c:pt idx="3">
                <c:v>Phase 3</c:v>
              </c:pt>
              <c:pt idx="4">
                <c:v>Close</c:v>
              </c:pt>
            </c:strLit>
          </c:cat>
          <c:val>
            <c:numLit>
              <c:formatCode>General</c:formatCode>
              <c:ptCount val="5"/>
              <c:pt idx="0">
                <c:v>40</c:v>
              </c:pt>
              <c:pt idx="1">
                <c:v>43</c:v>
              </c:pt>
              <c:pt idx="2">
                <c:v>45</c:v>
              </c:pt>
              <c:pt idx="3">
                <c:v>47</c:v>
              </c:pt>
              <c:pt idx="4">
                <c:v>48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c7b73f8fac40549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717">
              <a:alpha val="84000"/>
            </a:srgbClr>
          </a:solidFill>
          <a:ln xmlns:a="http://schemas.openxmlformats.org/drawingml/2006/main" w="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FFFFF"/>
                </a:solidFill>
                <a:latin typeface="Tahoma"/>
                <a:ea typeface="Tahoma"/>
              </a:rPr>
              <a:t>Silver Atelier: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0F2F2"/>
                </a:solidFill>
                <a:latin typeface="Tahoma"/>
                <a:ea typeface="Tahoma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FFFFF"/>
                </a:solidFill>
                <a:latin typeface="Tahoma"/>
                <a:ea typeface="Tahoma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0F2F2"/>
                </a:solidFill>
                <a:latin typeface="Tahoma"/>
                <a:ea typeface="Tahoma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c237998db8bee2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ARGUMENT</a:t>
            </a:r>
            <a:endParaRPr lang="en-US"/>
          </a:p>
        </p:txBody>
      </p:sp>
      <p:sp>
        <p:nvSpPr>
          <p:cNvPr id="5" name="argument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proposition is the page's visual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center</a:t>
            </a:r>
            <a:endParaRPr lang="en-US"/>
          </a:p>
        </p:txBody>
      </p:sp>
      <p:sp>
        <p:nvSpPr>
          <p:cNvPr id="6" name="argument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7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ONE PROPOSITION</a:t>
            </a:r>
            <a:endParaRPr lang="en-US"/>
          </a:p>
        </p:txBody>
      </p:sp>
      <p:sp>
        <p:nvSpPr>
          <p:cNvPr id="9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171717"/>
                </a:solidFill>
                <a:latin typeface="Tahoma"/>
                <a:ea typeface="Tahoma"/>
              </a:rPr>
              <a:t>Make the next action visible.</a:t>
            </a:r>
            <a:endParaRPr lang="en-US"/>
          </a:p>
        </p:txBody>
      </p:sp>
      <p:sp>
        <p:nvSpPr>
          <p:cNvPr id="10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71717"/>
                </a:solidFill>
                <a:latin typeface="Tahoma"/>
                <a:ea typeface="Tahoma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11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1956823b229fb66_1"/>
          <a:srcRect xmlns:a="http://schemas.openxmlformats.org/drawingml/2006/main" l="0" t="31910" r="0" b="3191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2571750"/>
          </a:xfrm>
          <a:prstGeom xmlns:a="http://schemas.openxmlformats.org/drawingml/2006/main" prst="rect">
            <a:avLst/>
          </a:prstGeom>
        </p:spPr>
      </p:pic>
      <p:sp>
        <p:nvSpPr>
          <p:cNvPr id="12" name="promotion-image-rule"/>
          <p:cNvSpPr/>
          <p:nvPr/>
        </p:nvSpPr>
        <p:spPr>
          <a:xfrm xmlns:a="http://schemas.openxmlformats.org/drawingml/2006/main">
            <a:off x="9525000" y="59055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promotion-image-label"/>
          <p:cNvSpPr txBox="1"/>
          <p:nvPr/>
        </p:nvSpPr>
        <p:spPr>
          <a:xfrm xmlns:a="http://schemas.openxmlformats.org/drawingml/2006/main">
            <a:off x="9525000" y="615315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9A6B45"/>
                </a:solidFill>
                <a:latin typeface="Tahoma"/>
                <a:ea typeface="Tahoma"/>
              </a:rPr>
              <a:t>INVITE · PROVE · MOVE</a:t>
            </a:r>
            <a:endParaRPr lang="en-US"/>
          </a:p>
        </p:txBody>
      </p:sp>
      <p:sp>
        <p:nvSpPr>
          <p:cNvPr id="14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15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026be3a43029630d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EVIDENCE</a:t>
            </a:r>
            <a:endParaRPr lang="en-US"/>
          </a:p>
        </p:txBody>
      </p:sp>
      <p:sp>
        <p:nvSpPr>
          <p:cNvPr id="5" name="evidenc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signal grows when the invitation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stays measurable</a:t>
            </a:r>
            <a:endParaRPr lang="en-US"/>
          </a:p>
        </p:txBody>
      </p:sp>
      <p:sp>
        <p:nvSpPr>
          <p:cNvPr id="6" name="evidenc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Illustrative reach and response · source and measurement convention remain attached.</a:t>
            </a:r>
            <a:endParaRPr lang="en-US"/>
          </a:p>
        </p:txBody>
      </p:sp>
      <p:sp>
        <p:nvSpPr>
          <p:cNvPr id="7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8" name="evidence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1047750" y="3048000"/>
          <a:ext xmlns:a="http://schemas.openxmlformats.org/drawingml/2006/main" cx="790575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a11cfebf25a4b8c"/>
          </a:graphicData>
        </a:graphic>
      </p:graphicFrame>
      <p:sp>
        <p:nvSpPr>
          <p:cNvPr id="9" name="metric"/>
          <p:cNvSpPr txBox="1"/>
          <p:nvPr/>
        </p:nvSpPr>
        <p:spPr>
          <a:xfrm xmlns:a="http://schemas.openxmlformats.org/drawingml/2006/main">
            <a:off x="9906000" y="3333750"/>
            <a:ext cx="266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4800" b="1">
                <a:solidFill>
                  <a:srgbClr val="9A6B45"/>
                </a:solidFill>
                <a:latin typeface="Tahoma"/>
                <a:ea typeface="Tahoma"/>
              </a:rPr>
              <a:t>68</a:t>
            </a:r>
            <a:endParaRPr lang="en-US"/>
          </a:p>
        </p:txBody>
      </p:sp>
      <p:sp>
        <p:nvSpPr>
          <p:cNvPr id="10" name="metric-label"/>
          <p:cNvSpPr txBox="1"/>
          <p:nvPr/>
        </p:nvSpPr>
        <p:spPr>
          <a:xfrm xmlns:a="http://schemas.openxmlformats.org/drawingml/2006/main">
            <a:off x="9906000" y="4143375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qualified response · campaign close</a:t>
            </a:r>
            <a:endParaRPr lang="en-US"/>
          </a:p>
        </p:txBody>
      </p:sp>
      <p:sp>
        <p:nvSpPr>
          <p:cNvPr id="11" name="rail-rule"/>
          <p:cNvSpPr/>
          <p:nvPr/>
        </p:nvSpPr>
        <p:spPr>
          <a:xfrm xmlns:a="http://schemas.openxmlformats.org/drawingml/2006/main">
            <a:off x="9906000" y="4810125"/>
            <a:ext cx="3762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read-through"/>
          <p:cNvSpPr txBox="1"/>
          <p:nvPr/>
        </p:nvSpPr>
        <p:spPr>
          <a:xfrm xmlns:a="http://schemas.openxmlformats.org/drawingml/2006/main">
            <a:off x="9906000" y="5143500"/>
            <a:ext cx="342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Reach is useful only when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audience can see and take the</a:t>
            </a:r>
            <a:endParaRPr lang="en-US"/>
          </a:p>
          <a:p xmlns:a="http://schemas.openxmlformats.org/drawingml/2006/main">
            <a:r>
              <a:rPr lang="en-US" sz="1350" b="1">
                <a:solidFill>
                  <a:srgbClr val="171717"/>
                </a:solidFill>
                <a:latin typeface="Tahoma"/>
                <a:ea typeface="Tahoma"/>
              </a:rPr>
              <a:t>next step.</a:t>
            </a:r>
            <a:endParaRPr lang="en-US"/>
          </a:p>
        </p:txBody>
      </p:sp>
      <p:sp>
        <p:nvSpPr>
          <p:cNvPr id="13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71717"/>
                </a:solidFill>
                <a:latin typeface="Tahoma"/>
                <a:ea typeface="Tahoma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1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DETAIL</a:t>
            </a:r>
            <a:endParaRPr lang="en-US"/>
          </a:p>
        </p:txBody>
      </p:sp>
      <p:sp>
        <p:nvSpPr>
          <p:cNvPr id="5" name="detail-title"/>
          <p:cNvSpPr txBox="1"/>
          <p:nvPr/>
        </p:nvSpPr>
        <p:spPr>
          <a:xfrm xmlns:a="http://schemas.openxmlformats.org/drawingml/2006/main">
            <a:off x="914400" y="1314450"/>
            <a:ext cx="6286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The same idea can hold several views</a:t>
            </a:r>
            <a:endParaRPr lang="en-US"/>
          </a:p>
        </p:txBody>
      </p:sp>
      <p:sp>
        <p:nvSpPr>
          <p:cNvPr id="6" name="detail-basis"/>
          <p:cNvSpPr txBox="1"/>
          <p:nvPr/>
        </p:nvSpPr>
        <p:spPr>
          <a:xfrm xmlns:a="http://schemas.openxmlformats.org/drawingml/2006/main">
            <a:off x="952500" y="198120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Unequal image frames · visual variety without decorative filler.</a:t>
            </a:r>
            <a:endParaRPr lang="en-US"/>
          </a:p>
        </p:txBody>
      </p:sp>
      <p:sp>
        <p:nvSpPr>
          <p:cNvPr id="7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11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Frame</a:t>
            </a:r>
            <a:endParaRPr lang="en-US"/>
          </a:p>
        </p:txBody>
      </p:sp>
      <p:sp>
        <p:nvSpPr>
          <p:cNvPr id="12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Name the question</a:t>
            </a:r>
            <a:endParaRPr lang="en-US"/>
          </a:p>
        </p:txBody>
      </p:sp>
      <p:sp>
        <p:nvSpPr>
          <p:cNvPr id="13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6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Test</a:t>
            </a:r>
            <a:endParaRPr lang="en-US"/>
          </a:p>
        </p:txBody>
      </p:sp>
      <p:sp>
        <p:nvSpPr>
          <p:cNvPr id="17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Hold the rule</a:t>
            </a:r>
            <a:endParaRPr lang="en-US"/>
          </a:p>
        </p:txBody>
      </p:sp>
      <p:sp>
        <p:nvSpPr>
          <p:cNvPr id="18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F3F3"/>
          </a:solidFill>
          <a:ln xmlns:a="http://schemas.openxmlformats.org/drawingml/2006/main" w="38100">
            <a:solidFill>
              <a:srgbClr val="171717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21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Read</a:t>
            </a:r>
            <a:endParaRPr lang="en-US"/>
          </a:p>
        </p:txBody>
      </p:sp>
      <p:sp>
        <p:nvSpPr>
          <p:cNvPr id="22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Separate signal</a:t>
            </a:r>
            <a:endParaRPr lang="en-US"/>
          </a:p>
        </p:txBody>
      </p:sp>
      <p:sp>
        <p:nvSpPr>
          <p:cNvPr id="23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A6B45"/>
          </a:solidFill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9A6B45"/>
                </a:solidFill>
                <a:latin typeface="Tahoma"/>
                <a:ea typeface="Tahoma"/>
              </a:rPr>
              <a:t>04</a:t>
            </a:r>
            <a:endParaRPr lang="en-US"/>
          </a:p>
        </p:txBody>
      </p:sp>
      <p:sp>
        <p:nvSpPr>
          <p:cNvPr id="26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71717"/>
                </a:solidFill>
                <a:latin typeface="Tahoma"/>
                <a:ea typeface="Tahoma"/>
              </a:rPr>
              <a:t>Decide</a:t>
            </a:r>
            <a:endParaRPr lang="en-US"/>
          </a:p>
        </p:txBody>
      </p:sp>
      <p:sp>
        <p:nvSpPr>
          <p:cNvPr id="27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Set the next gate</a:t>
            </a:r>
            <a:endParaRPr lang="en-US"/>
          </a:p>
        </p:txBody>
      </p:sp>
      <p:sp>
        <p:nvSpPr>
          <p:cNvPr id="28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READ-THROUGH</a:t>
            </a:r>
            <a:endParaRPr lang="en-US"/>
          </a:p>
        </p:txBody>
      </p:sp>
      <p:sp>
        <p:nvSpPr>
          <p:cNvPr id="29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The sequence is the evidence.</a:t>
            </a:r>
            <a:endParaRPr lang="en-US"/>
          </a:p>
        </p:txBody>
      </p:sp>
      <p:sp>
        <p:nvSpPr>
          <p:cNvPr id="30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98989"/>
                </a:solidFill>
                <a:latin typeface="Tahoma"/>
                <a:ea typeface="Tahoma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31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32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f72f8e2736f81ba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4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VISUAL CARRIER</a:t>
            </a:r>
            <a:endParaRPr lang="en-US"/>
          </a:p>
        </p:txBody>
      </p:sp>
      <p:sp>
        <p:nvSpPr>
          <p:cNvPr id="4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71717"/>
                </a:solidFill>
                <a:latin typeface="Tahoma"/>
                <a:ea typeface="Tahoma"/>
              </a:rPr>
              <a:t>Let the subject do the work</a:t>
            </a:r>
            <a:endParaRPr lang="en-US"/>
          </a:p>
        </p:txBody>
      </p:sp>
      <p:sp>
        <p:nvSpPr>
          <p:cNvPr id="5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71717"/>
                </a:solidFill>
                <a:latin typeface="Tahoma"/>
                <a:ea typeface="Tahoma"/>
              </a:rPr>
              <a:t>A strong crop gives the proposition a place to live.</a:t>
            </a:r>
            <a:endParaRPr lang="en-US"/>
          </a:p>
        </p:txBody>
      </p:sp>
      <p:sp>
        <p:nvSpPr>
          <p:cNvPr id="6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THE IMAGE IS EVIDENCE, NOT FILL</a:t>
            </a:r>
            <a:endParaRPr lang="en-US"/>
          </a:p>
        </p:txBody>
      </p:sp>
      <p:sp>
        <p:nvSpPr>
          <p:cNvPr id="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c7b73f8fac405495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3F3">
              <a:alpha val="96000"/>
            </a:srgbClr>
          </a:solidFill>
          <a:ln xmlns:a="http://schemas.openxmlformats.org/drawingml/2006/main" w="0">
            <a:solidFill>
              <a:srgbClr val="F2F3F3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SILVER ATELIER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9A6B45"/>
                </a:solidFill>
                <a:latin typeface="Tahoma"/>
                <a:ea typeface="Tahoma"/>
              </a:rPr>
              <a:t>SILVER ATELIER · CLOSE</a:t>
            </a:r>
            <a:endParaRPr lang="en-US"/>
          </a:p>
        </p:txBody>
      </p:sp>
      <p:sp>
        <p:nvSpPr>
          <p:cNvPr id="5" name="close-title"/>
          <p:cNvSpPr txBox="1"/>
          <p:nvPr/>
        </p:nvSpPr>
        <p:spPr>
          <a:xfrm xmlns:a="http://schemas.openxmlformats.org/drawingml/2006/main">
            <a:off x="914400" y="1314450"/>
            <a:ext cx="628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Turn the shared invitation into an</a:t>
            </a:r>
            <a:endParaRPr lang="en-US"/>
          </a:p>
          <a:p xmlns:a="http://schemas.openxmlformats.org/drawingml/2006/main">
            <a:r>
              <a:rPr lang="en-US" sz="2550" b="1">
                <a:solidFill>
                  <a:srgbClr val="171717"/>
                </a:solidFill>
                <a:latin typeface="Tahoma"/>
                <a:ea typeface="Tahoma"/>
              </a:rPr>
              <a:t>action plan</a:t>
            </a:r>
            <a:endParaRPr lang="en-US"/>
          </a:p>
        </p:txBody>
      </p:sp>
      <p:sp>
        <p:nvSpPr>
          <p:cNvPr id="6" name="close-basis"/>
          <p:cNvSpPr txBox="1"/>
          <p:nvPr/>
        </p:nvSpPr>
        <p:spPr>
          <a:xfrm xmlns:a="http://schemas.openxmlformats.org/drawingml/2006/main">
            <a:off x="952500" y="2190750"/>
            <a:ext cx="609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98989"/>
                </a:solidFill>
                <a:latin typeface="Tahoma"/>
                <a:ea typeface="Tahoma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7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01</a:t>
            </a:r>
            <a:endParaRPr lang="en-US"/>
          </a:p>
        </p:txBody>
      </p:sp>
      <p:sp>
        <p:nvSpPr>
          <p:cNvPr id="9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Promise</a:t>
            </a:r>
            <a:endParaRPr lang="en-US"/>
          </a:p>
        </p:txBody>
      </p:sp>
      <p:sp>
        <p:nvSpPr>
          <p:cNvPr id="11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proposition is legible.</a:t>
            </a:r>
            <a:endParaRPr lang="en-US"/>
          </a:p>
        </p:txBody>
      </p:sp>
      <p:sp>
        <p:nvSpPr>
          <p:cNvPr id="12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71717"/>
                </a:solidFill>
                <a:latin typeface="Tahoma"/>
                <a:ea typeface="Tahoma"/>
              </a:rPr>
              <a:t>02</a:t>
            </a:r>
            <a:endParaRPr lang="en-US"/>
          </a:p>
        </p:txBody>
      </p:sp>
      <p:sp>
        <p:nvSpPr>
          <p:cNvPr id="13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98989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Proof</a:t>
            </a:r>
            <a:endParaRPr lang="en-US"/>
          </a:p>
        </p:txBody>
      </p:sp>
      <p:sp>
        <p:nvSpPr>
          <p:cNvPr id="15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The response is measurable.</a:t>
            </a:r>
            <a:endParaRPr lang="en-US"/>
          </a:p>
        </p:txBody>
      </p:sp>
      <p:sp>
        <p:nvSpPr>
          <p:cNvPr id="16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9A6B45"/>
                </a:solidFill>
                <a:latin typeface="Tahoma"/>
                <a:ea typeface="Tahoma"/>
              </a:rPr>
              <a:t>03</a:t>
            </a:r>
            <a:endParaRPr lang="en-US"/>
          </a:p>
        </p:txBody>
      </p:sp>
      <p:sp>
        <p:nvSpPr>
          <p:cNvPr id="17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71717"/>
                </a:solidFill>
                <a:latin typeface="Tahoma"/>
                <a:ea typeface="Tahoma"/>
              </a:rPr>
              <a:t>Move</a:t>
            </a:r>
            <a:endParaRPr lang="en-US"/>
          </a:p>
        </p:txBody>
      </p:sp>
      <p:sp>
        <p:nvSpPr>
          <p:cNvPr id="19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71717"/>
                </a:solidFill>
                <a:latin typeface="Tahoma"/>
                <a:ea typeface="Tahoma"/>
              </a:rPr>
              <a:t>Give the audience one action.</a:t>
            </a:r>
            <a:endParaRPr lang="en-US"/>
          </a:p>
        </p:txBody>
      </p:sp>
      <p:sp>
        <p:nvSpPr>
          <p:cNvPr id="20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9A6B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A6B45"/>
                </a:solidFill>
                <a:latin typeface="Tahoma"/>
                <a:ea typeface="Tahoma"/>
              </a:rPr>
              <a:t>NEXT MOVE</a:t>
            </a:r>
            <a:endParaRPr lang="en-US"/>
          </a:p>
        </p:txBody>
      </p:sp>
      <p:sp>
        <p:nvSpPr>
          <p:cNvPr id="22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71717"/>
                </a:solidFill>
                <a:latin typeface="Tahoma"/>
                <a:ea typeface="Tahoma"/>
              </a:rPr>
              <a:t>Publish the invitation</a:t>
            </a:r>
            <a:endParaRPr lang="en-US"/>
          </a:p>
        </p:txBody>
      </p:sp>
      <p:sp>
        <p:nvSpPr>
          <p:cNvPr id="23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98989"/>
                </a:solidFill>
                <a:latin typeface="Tahoma"/>
                <a:ea typeface="Tahoma"/>
              </a:rPr>
              <a:t>Owner · reviewer · date</a:t>
            </a:r>
            <a:endParaRPr lang="en-US"/>
          </a:p>
        </p:txBody>
      </p:sp>
      <p:sp>
        <p:nvSpPr>
          <p:cNvPr id="2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98989"/>
                </a:solidFill>
                <a:latin typeface="Tahoma"/>
                <a:ea typeface="Tahoma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