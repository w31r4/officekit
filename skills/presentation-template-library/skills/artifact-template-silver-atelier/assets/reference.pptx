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9e6e303cb3f46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.jpg" Id="rIdOfficeKitImage31956823b229fb66_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c7b73f8fac405495_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59ee3aa5202fd02f_1" /><Relationship Type="http://schemas.openxmlformats.org/officeDocument/2006/relationships/chart" Target="/ppt/slides/charts/chart1.xml" Id="R9a3fd21d210b4e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2.jpg" Id="rIdOfficeKitImagec7b73f8fac405495_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image" Target="/ppt/media/image3.jpg" Id="rIdOfficeKitImage59ee3aa5202fd02f_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 by cohort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9A6B45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42</c:v>
              </c:pt>
              <c:pt idx="1">
                <c:v>51</c:v>
              </c:pt>
              <c:pt idx="2">
                <c:v>58</c:v>
              </c:pt>
              <c:pt idx="3">
                <c:v>64</c:v>
              </c:pt>
              <c:pt idx="4">
                <c:v>68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98989"/>
            </a:solidFill>
          </c:spPr>
          <c:cat>
            <c:strLit>
              <c:ptCount val="5"/>
              <c:pt idx="0">
                <c:v>Baseline</c:v>
              </c:pt>
              <c:pt idx="1">
                <c:v>Phase 1</c:v>
              </c:pt>
              <c:pt idx="2">
                <c:v>Phase 2</c:v>
              </c:pt>
              <c:pt idx="3">
                <c:v>Phase 3</c:v>
              </c:pt>
              <c:pt idx="4">
                <c:v>Close</c:v>
              </c:pt>
            </c:strLit>
          </c:cat>
          <c:val>
            <c:numLit>
              <c:formatCode>General</c:formatCode>
              <c:ptCount val="5"/>
              <c:pt idx="0">
                <c:v>40</c:v>
              </c:pt>
              <c:pt idx="1">
                <c:v>43</c:v>
              </c:pt>
              <c:pt idx="2">
                <c:v>45</c:v>
              </c:pt>
              <c:pt idx="3">
                <c:v>47</c:v>
              </c:pt>
              <c:pt idx="4">
                <c:v>48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editorial-cover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31956823b229fb66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editorial-cover-scrim"/>
          <p:cNvSpPr/>
          <p:nvPr/>
        </p:nvSpPr>
        <p:spPr>
          <a:xfrm xmlns:a="http://schemas.openxmlformats.org/drawingml/2006/main">
            <a:off x="0" y="0"/>
            <a:ext cx="7239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>
              <a:alpha val="84000"/>
            </a:srgbClr>
          </a:solidFill>
          <a:ln xmlns:a="http://schemas.openxmlformats.org/drawingml/2006/main" w="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00100"/>
            <a:ext cx="704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A6B45"/>
                </a:solidFill>
                <a:latin typeface="Tahoma"/>
                <a:ea typeface="Tahoma"/>
              </a:rPr>
              <a:t>PROMOTION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962150"/>
            <a:ext cx="5810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900" b="1">
                <a:solidFill>
                  <a:srgbClr val="FFFFFF"/>
                </a:solidFill>
                <a:latin typeface="Tahoma"/>
                <a:ea typeface="Tahoma"/>
              </a:rPr>
              <a:t>Silver Atelier: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36385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>
                <a:solidFill>
                  <a:srgbClr val="F0F2F2"/>
                </a:solidFill>
                <a:latin typeface="Tahoma"/>
                <a:ea typeface="Tahoma"/>
              </a:rPr>
              <a:t>A clean-room reference for a visual proposition.</a:t>
            </a:r>
            <a:endParaRPr lang="en-US"/>
          </a:p>
        </p:txBody>
      </p:sp>
      <p:sp>
        <p:nvSpPr>
          <p:cNvPr id="7" name="cover-photo-rule"/>
          <p:cNvSpPr/>
          <p:nvPr/>
        </p:nvSpPr>
        <p:spPr>
          <a:xfrm xmlns:a="http://schemas.openxmlformats.org/drawingml/2006/main">
            <a:off x="914400" y="4533900"/>
            <a:ext cx="4895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thesis"/>
          <p:cNvSpPr txBox="1"/>
          <p:nvPr/>
        </p:nvSpPr>
        <p:spPr>
          <a:xfrm xmlns:a="http://schemas.openxmlformats.org/drawingml/2006/main">
            <a:off x="952500" y="4895850"/>
            <a:ext cx="571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950" b="1">
                <a:solidFill>
                  <a:srgbClr val="FFFFFF"/>
                </a:solidFill>
                <a:latin typeface="Tahoma"/>
                <a:ea typeface="Tahoma"/>
              </a:rPr>
              <a:t>A proposition earns attention when it gives a next move.</a:t>
            </a:r>
            <a:endParaRPr lang="en-US"/>
          </a:p>
        </p:txBody>
      </p:sp>
      <p:sp>
        <p:nvSpPr>
          <p:cNvPr id="9" name="cover-source"/>
          <p:cNvSpPr txBox="1"/>
          <p:nvPr/>
        </p:nvSpPr>
        <p:spPr>
          <a:xfrm xmlns:a="http://schemas.openxmlformats.org/drawingml/2006/main">
            <a:off x="952500" y="7334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F0F2F2"/>
                </a:solidFill>
                <a:latin typeface="Tahoma"/>
                <a:ea typeface="Tahoma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0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F0F2F2"/>
                </a:solidFill>
                <a:latin typeface="Tahoma"/>
                <a:ea typeface="Tahoma"/>
              </a:rPr>
              <a:t>1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argument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argument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>
              <a:alpha val="96000"/>
            </a:srgbClr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SILVER ATELIER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ARGUMENT</a:t>
            </a:r>
            <a:endParaRPr lang="en-US"/>
          </a:p>
        </p:txBody>
      </p:sp>
      <p:sp>
        <p:nvSpPr>
          <p:cNvPr id="6" name="argument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Tahoma"/>
                <a:ea typeface="Tahoma"/>
              </a:rPr>
              <a:t>The proposition is the page's visual center</a:t>
            </a:r>
            <a:endParaRPr lang="en-US"/>
          </a:p>
        </p:txBody>
      </p:sp>
      <p:sp>
        <p:nvSpPr>
          <p:cNvPr id="7" name="argument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Scale, crop, and color invite attention without hiding the evidence.</a:t>
            </a:r>
            <a:endParaRPr lang="en-US"/>
          </a:p>
        </p:txBody>
      </p:sp>
      <p:sp>
        <p:nvSpPr>
          <p:cNvPr id="8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motion-kicker"/>
          <p:cNvSpPr txBox="1"/>
          <p:nvPr/>
        </p:nvSpPr>
        <p:spPr>
          <a:xfrm xmlns:a="http://schemas.openxmlformats.org/drawingml/2006/main">
            <a:off x="1104900" y="3352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A6B45"/>
                </a:solidFill>
                <a:latin typeface="Tahoma"/>
                <a:ea typeface="Tahoma"/>
              </a:rPr>
              <a:t>ONE PROPOSITION</a:t>
            </a:r>
            <a:endParaRPr lang="en-US"/>
          </a:p>
        </p:txBody>
      </p:sp>
      <p:sp>
        <p:nvSpPr>
          <p:cNvPr id="10" name="promotion-headline"/>
          <p:cNvSpPr txBox="1"/>
          <p:nvPr/>
        </p:nvSpPr>
        <p:spPr>
          <a:xfrm xmlns:a="http://schemas.openxmlformats.org/drawingml/2006/main">
            <a:off x="1104900" y="379095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625" b="1">
                <a:solidFill>
                  <a:srgbClr val="171717"/>
                </a:solidFill>
                <a:latin typeface="Tahoma"/>
                <a:ea typeface="Tahoma"/>
              </a:rPr>
              <a:t>Make the next action visible.</a:t>
            </a:r>
            <a:endParaRPr lang="en-US"/>
          </a:p>
        </p:txBody>
      </p:sp>
      <p:sp>
        <p:nvSpPr>
          <p:cNvPr id="11" name="promotion-body"/>
          <p:cNvSpPr txBox="1"/>
          <p:nvPr/>
        </p:nvSpPr>
        <p:spPr>
          <a:xfrm xmlns:a="http://schemas.openxmlformats.org/drawingml/2006/main">
            <a:off x="1104900" y="47625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75">
                <a:solidFill>
                  <a:srgbClr val="171717"/>
                </a:solidFill>
                <a:latin typeface="Tahoma"/>
                <a:ea typeface="Tahoma"/>
              </a:rPr>
              <a:t>A clear invitation earns attention when evidence and access arrive together.</a:t>
            </a:r>
            <a:endParaRPr lang="en-US"/>
          </a:p>
        </p:txBody>
      </p:sp>
      <p:pic>
        <p:nvPicPr>
          <p:cNvPr id="12" name="promotion-hero-frame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31910" r="0" b="3191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9525000" y="3143250"/>
            <a:ext cx="4000500" cy="2571750"/>
          </a:xfrm>
          <a:prstGeom xmlns:a="http://schemas.openxmlformats.org/drawingml/2006/main" prst="rect">
            <a:avLst/>
          </a:prstGeom>
        </p:spPr>
      </p:pic>
      <p:sp>
        <p:nvSpPr>
          <p:cNvPr id="13" name="promotion-image-rule"/>
          <p:cNvSpPr/>
          <p:nvPr/>
        </p:nvSpPr>
        <p:spPr>
          <a:xfrm xmlns:a="http://schemas.openxmlformats.org/drawingml/2006/main">
            <a:off x="9525000" y="59055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motion-image-label"/>
          <p:cNvSpPr txBox="1"/>
          <p:nvPr/>
        </p:nvSpPr>
        <p:spPr>
          <a:xfrm xmlns:a="http://schemas.openxmlformats.org/drawingml/2006/main">
            <a:off x="9525000" y="61531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9A6B45"/>
                </a:solidFill>
                <a:latin typeface="Tahoma"/>
                <a:ea typeface="Tahoma"/>
              </a:rPr>
              <a:t>INVITE · PROVE · MOVE</a:t>
            </a:r>
            <a:endParaRPr lang="en-US"/>
          </a:p>
        </p:txBody>
      </p:sp>
      <p:sp>
        <p:nvSpPr>
          <p:cNvPr id="15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16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evidence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59ee3aa5202fd02f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evidenc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>
              <a:alpha val="96000"/>
            </a:srgbClr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SILVER ATELIER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EVIDENCE</a:t>
            </a:r>
            <a:endParaRPr lang="en-US"/>
          </a:p>
        </p:txBody>
      </p:sp>
      <p:sp>
        <p:nvSpPr>
          <p:cNvPr id="6" name="evidence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Tahoma"/>
                <a:ea typeface="Tahoma"/>
              </a:rPr>
              <a:t>The signal grows when the invitation stays measurable</a:t>
            </a:r>
            <a:endParaRPr lang="en-US"/>
          </a:p>
        </p:txBody>
      </p:sp>
      <p:sp>
        <p:nvSpPr>
          <p:cNvPr id="7" name="evidence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Illustrative reach and response · source and measurement convention remain attached.</a:t>
            </a:r>
            <a:endParaRPr lang="en-US"/>
          </a:p>
        </p:txBody>
      </p:sp>
      <p:sp>
        <p:nvSpPr>
          <p:cNvPr id="8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9" name="evidence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1047750" y="3048000"/>
          <a:ext xmlns:a="http://schemas.openxmlformats.org/drawingml/2006/main" cx="7905750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3fd21d210b4ebb"/>
          </a:graphicData>
        </a:graphic>
      </p:graphicFrame>
      <p:sp>
        <p:nvSpPr>
          <p:cNvPr id="10" name="metric"/>
          <p:cNvSpPr txBox="1"/>
          <p:nvPr/>
        </p:nvSpPr>
        <p:spPr>
          <a:xfrm xmlns:a="http://schemas.openxmlformats.org/drawingml/2006/main">
            <a:off x="9906000" y="333375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9A6B45"/>
                </a:solidFill>
                <a:latin typeface="Tahoma"/>
                <a:ea typeface="Tahoma"/>
              </a:rPr>
              <a:t>68</a:t>
            </a:r>
            <a:endParaRPr lang="en-US"/>
          </a:p>
        </p:txBody>
      </p:sp>
      <p:sp>
        <p:nvSpPr>
          <p:cNvPr id="11" name="metric-label"/>
          <p:cNvSpPr txBox="1"/>
          <p:nvPr/>
        </p:nvSpPr>
        <p:spPr>
          <a:xfrm xmlns:a="http://schemas.openxmlformats.org/drawingml/2006/main">
            <a:off x="9906000" y="4143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qualified response · campaign close</a:t>
            </a:r>
            <a:endParaRPr lang="en-US"/>
          </a:p>
        </p:txBody>
      </p:sp>
      <p:sp>
        <p:nvSpPr>
          <p:cNvPr id="12" name="rail-rule"/>
          <p:cNvSpPr/>
          <p:nvPr/>
        </p:nvSpPr>
        <p:spPr>
          <a:xfrm xmlns:a="http://schemas.openxmlformats.org/drawingml/2006/main">
            <a:off x="9906000" y="4810125"/>
            <a:ext cx="3762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read-through"/>
          <p:cNvSpPr txBox="1"/>
          <p:nvPr/>
        </p:nvSpPr>
        <p:spPr>
          <a:xfrm xmlns:a="http://schemas.openxmlformats.org/drawingml/2006/main">
            <a:off x="9906000" y="51435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Tahoma"/>
                <a:ea typeface="Tahoma"/>
              </a:rPr>
              <a:t>Reach is useful only when the audience can see and take the next step.</a:t>
            </a:r>
            <a:endParaRPr lang="en-US"/>
          </a:p>
        </p:txBody>
      </p:sp>
      <p:sp>
        <p:nvSpPr>
          <p:cNvPr id="1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71717"/>
                </a:solidFill>
                <a:latin typeface="Tahoma"/>
                <a:ea typeface="Tahoma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ILVER ATELIER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Tahoma"/>
                <a:ea typeface="Tahoma"/>
              </a:rPr>
              <a:t>The same idea can hold several views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Unequal image frames · visual variety without decorative filler.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process-axis"/>
          <p:cNvSpPr/>
          <p:nvPr/>
        </p:nvSpPr>
        <p:spPr>
          <a:xfrm xmlns:a="http://schemas.openxmlformats.org/drawingml/2006/main">
            <a:off x="1390650" y="411480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process-node-0"/>
          <p:cNvSpPr/>
          <p:nvPr/>
        </p:nvSpPr>
        <p:spPr>
          <a:xfrm xmlns:a="http://schemas.openxmlformats.org/drawingml/2006/main">
            <a:off x="12192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process-number-0"/>
          <p:cNvSpPr txBox="1"/>
          <p:nvPr/>
        </p:nvSpPr>
        <p:spPr>
          <a:xfrm xmlns:a="http://schemas.openxmlformats.org/drawingml/2006/main">
            <a:off x="12001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9A6B45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11" name="process-label-0"/>
          <p:cNvSpPr txBox="1"/>
          <p:nvPr/>
        </p:nvSpPr>
        <p:spPr>
          <a:xfrm xmlns:a="http://schemas.openxmlformats.org/drawingml/2006/main">
            <a:off x="17145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Tahoma"/>
                <a:ea typeface="Tahoma"/>
              </a:rPr>
              <a:t>Frame</a:t>
            </a:r>
            <a:endParaRPr lang="en-US"/>
          </a:p>
        </p:txBody>
      </p:sp>
      <p:sp>
        <p:nvSpPr>
          <p:cNvPr id="12" name="process-text-0"/>
          <p:cNvSpPr txBox="1"/>
          <p:nvPr/>
        </p:nvSpPr>
        <p:spPr>
          <a:xfrm xmlns:a="http://schemas.openxmlformats.org/drawingml/2006/main">
            <a:off x="17145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Name the question</a:t>
            </a:r>
            <a:endParaRPr lang="en-US"/>
          </a:p>
        </p:txBody>
      </p:sp>
      <p:sp>
        <p:nvSpPr>
          <p:cNvPr id="13" name="process-separator-0"/>
          <p:cNvSpPr/>
          <p:nvPr/>
        </p:nvSpPr>
        <p:spPr>
          <a:xfrm xmlns:a="http://schemas.openxmlformats.org/drawingml/2006/main">
            <a:off x="16764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process-node-1"/>
          <p:cNvSpPr/>
          <p:nvPr/>
        </p:nvSpPr>
        <p:spPr>
          <a:xfrm xmlns:a="http://schemas.openxmlformats.org/drawingml/2006/main">
            <a:off x="35242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process-number-1"/>
          <p:cNvSpPr txBox="1"/>
          <p:nvPr/>
        </p:nvSpPr>
        <p:spPr>
          <a:xfrm xmlns:a="http://schemas.openxmlformats.org/drawingml/2006/main">
            <a:off x="35052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9A6B45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16" name="process-label-1"/>
          <p:cNvSpPr txBox="1"/>
          <p:nvPr/>
        </p:nvSpPr>
        <p:spPr>
          <a:xfrm xmlns:a="http://schemas.openxmlformats.org/drawingml/2006/main">
            <a:off x="40195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Tahoma"/>
                <a:ea typeface="Tahoma"/>
              </a:rPr>
              <a:t>Test</a:t>
            </a:r>
            <a:endParaRPr lang="en-US"/>
          </a:p>
        </p:txBody>
      </p:sp>
      <p:sp>
        <p:nvSpPr>
          <p:cNvPr id="17" name="process-text-1"/>
          <p:cNvSpPr txBox="1"/>
          <p:nvPr/>
        </p:nvSpPr>
        <p:spPr>
          <a:xfrm xmlns:a="http://schemas.openxmlformats.org/drawingml/2006/main">
            <a:off x="40195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Hold the rule</a:t>
            </a:r>
            <a:endParaRPr lang="en-US"/>
          </a:p>
        </p:txBody>
      </p:sp>
      <p:sp>
        <p:nvSpPr>
          <p:cNvPr id="18" name="process-separator-1"/>
          <p:cNvSpPr/>
          <p:nvPr/>
        </p:nvSpPr>
        <p:spPr>
          <a:xfrm xmlns:a="http://schemas.openxmlformats.org/drawingml/2006/main">
            <a:off x="398145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process-node-2"/>
          <p:cNvSpPr/>
          <p:nvPr/>
        </p:nvSpPr>
        <p:spPr>
          <a:xfrm xmlns:a="http://schemas.openxmlformats.org/drawingml/2006/main">
            <a:off x="582930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F3F3"/>
          </a:solidFill>
          <a:ln xmlns:a="http://schemas.openxmlformats.org/drawingml/2006/main" w="38100">
            <a:solidFill>
              <a:srgbClr val="171717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process-number-2"/>
          <p:cNvSpPr txBox="1"/>
          <p:nvPr/>
        </p:nvSpPr>
        <p:spPr>
          <a:xfrm xmlns:a="http://schemas.openxmlformats.org/drawingml/2006/main">
            <a:off x="581025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9A6B45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21" name="process-label-2"/>
          <p:cNvSpPr txBox="1"/>
          <p:nvPr/>
        </p:nvSpPr>
        <p:spPr>
          <a:xfrm xmlns:a="http://schemas.openxmlformats.org/drawingml/2006/main">
            <a:off x="632460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Tahoma"/>
                <a:ea typeface="Tahoma"/>
              </a:rPr>
              <a:t>Read</a:t>
            </a:r>
            <a:endParaRPr lang="en-US"/>
          </a:p>
        </p:txBody>
      </p:sp>
      <p:sp>
        <p:nvSpPr>
          <p:cNvPr id="22" name="process-text-2"/>
          <p:cNvSpPr txBox="1"/>
          <p:nvPr/>
        </p:nvSpPr>
        <p:spPr>
          <a:xfrm xmlns:a="http://schemas.openxmlformats.org/drawingml/2006/main">
            <a:off x="632460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Separate signal</a:t>
            </a:r>
            <a:endParaRPr lang="en-US"/>
          </a:p>
        </p:txBody>
      </p:sp>
      <p:sp>
        <p:nvSpPr>
          <p:cNvPr id="23" name="process-separator-2"/>
          <p:cNvSpPr/>
          <p:nvPr/>
        </p:nvSpPr>
        <p:spPr>
          <a:xfrm xmlns:a="http://schemas.openxmlformats.org/drawingml/2006/main">
            <a:off x="6286500" y="4724400"/>
            <a:ext cx="167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4" name="process-node-3"/>
          <p:cNvSpPr/>
          <p:nvPr/>
        </p:nvSpPr>
        <p:spPr>
          <a:xfrm xmlns:a="http://schemas.openxmlformats.org/drawingml/2006/main">
            <a:off x="8134350" y="3943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A6B45"/>
          </a:solidFill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5" name="process-number-3"/>
          <p:cNvSpPr txBox="1"/>
          <p:nvPr/>
        </p:nvSpPr>
        <p:spPr>
          <a:xfrm xmlns:a="http://schemas.openxmlformats.org/drawingml/2006/main">
            <a:off x="8115300" y="34861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/>
            <a:r>
              <a:rPr lang="en-US" sz="975" b="1">
                <a:solidFill>
                  <a:srgbClr val="9A6B45"/>
                </a:solidFill>
                <a:latin typeface="Tahoma"/>
                <a:ea typeface="Tahoma"/>
              </a:rPr>
              <a:t>04</a:t>
            </a:r>
            <a:endParaRPr lang="en-US"/>
          </a:p>
        </p:txBody>
      </p:sp>
      <p:sp>
        <p:nvSpPr>
          <p:cNvPr id="26" name="process-label-3"/>
          <p:cNvSpPr txBox="1"/>
          <p:nvPr/>
        </p:nvSpPr>
        <p:spPr>
          <a:xfrm xmlns:a="http://schemas.openxmlformats.org/drawingml/2006/main">
            <a:off x="8629650" y="4000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71717"/>
                </a:solidFill>
                <a:latin typeface="Tahoma"/>
                <a:ea typeface="Tahoma"/>
              </a:rPr>
              <a:t>Decide</a:t>
            </a:r>
            <a:endParaRPr lang="en-US"/>
          </a:p>
        </p:txBody>
      </p:sp>
      <p:sp>
        <p:nvSpPr>
          <p:cNvPr id="27" name="process-text-3"/>
          <p:cNvSpPr txBox="1"/>
          <p:nvPr/>
        </p:nvSpPr>
        <p:spPr>
          <a:xfrm xmlns:a="http://schemas.openxmlformats.org/drawingml/2006/main">
            <a:off x="8629650" y="43243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Set the next gate</a:t>
            </a:r>
            <a:endParaRPr lang="en-US"/>
          </a:p>
        </p:txBody>
      </p:sp>
      <p:sp>
        <p:nvSpPr>
          <p:cNvPr id="28" name="process-read-label"/>
          <p:cNvSpPr txBox="1"/>
          <p:nvPr/>
        </p:nvSpPr>
        <p:spPr>
          <a:xfrm xmlns:a="http://schemas.openxmlformats.org/drawingml/2006/main">
            <a:off x="10668000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A6B45"/>
                </a:solidFill>
                <a:latin typeface="Tahoma"/>
                <a:ea typeface="Tahoma"/>
              </a:rPr>
              <a:t>READ-THROUGH</a:t>
            </a:r>
            <a:endParaRPr lang="en-US"/>
          </a:p>
        </p:txBody>
      </p:sp>
      <p:sp>
        <p:nvSpPr>
          <p:cNvPr id="29" name="process-read-title"/>
          <p:cNvSpPr txBox="1"/>
          <p:nvPr/>
        </p:nvSpPr>
        <p:spPr>
          <a:xfrm xmlns:a="http://schemas.openxmlformats.org/drawingml/2006/main">
            <a:off x="10668000" y="3810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1717"/>
                </a:solidFill>
                <a:latin typeface="Tahoma"/>
                <a:ea typeface="Tahoma"/>
              </a:rPr>
              <a:t>The sequence is the evidence.</a:t>
            </a:r>
            <a:endParaRPr lang="en-US"/>
          </a:p>
        </p:txBody>
      </p:sp>
      <p:sp>
        <p:nvSpPr>
          <p:cNvPr id="30" name="process-read-body"/>
          <p:cNvSpPr txBox="1"/>
          <p:nvPr/>
        </p:nvSpPr>
        <p:spPr>
          <a:xfrm xmlns:a="http://schemas.openxmlformats.org/drawingml/2006/main">
            <a:off x="10668000" y="47625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98989"/>
                </a:solidFill>
                <a:latin typeface="Tahoma"/>
                <a:ea typeface="Tahoma"/>
              </a:rPr>
              <a:t>Keep each handoff adjacent to the condition that unlocks it; do not turn a real dependency into a decorative arrow.</a:t>
            </a:r>
            <a:endParaRPr lang="en-US"/>
          </a:p>
        </p:txBody>
      </p:sp>
      <p:sp>
        <p:nvSpPr>
          <p:cNvPr id="31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32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c7b73f8fac405495_1"/>
          <a:srcRect xmlns:a="http://schemas.openxmlformats.org/drawingml/2006/main" l="0" t="34171" r="0" b="341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visual-scrim"/>
          <p:cNvSpPr/>
          <p:nvPr/>
        </p:nvSpPr>
        <p:spPr>
          <a:xfrm xmlns:a="http://schemas.openxmlformats.org/drawingml/2006/main">
            <a:off x="0" y="0"/>
            <a:ext cx="6858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>
              <a:alpha val="94000"/>
            </a:srgbClr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visual-eyebrow"/>
          <p:cNvSpPr txBox="1"/>
          <p:nvPr/>
        </p:nvSpPr>
        <p:spPr>
          <a:xfrm xmlns:a="http://schemas.openxmlformats.org/drawingml/2006/main">
            <a:off x="914400" y="8953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6383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300" b="1">
                <a:solidFill>
                  <a:srgbClr val="171717"/>
                </a:solidFill>
                <a:latin typeface="Tahoma"/>
                <a:ea typeface="Tahoma"/>
              </a:rPr>
              <a:t>Let the subject do the work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14400" y="32194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171717"/>
                </a:solidFill>
                <a:latin typeface="Tahoma"/>
                <a:ea typeface="Tahoma"/>
              </a:rPr>
              <a:t>A strong crop gives the proposition a place to live.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4476750"/>
            <a:ext cx="4419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visual-label"/>
          <p:cNvSpPr txBox="1"/>
          <p:nvPr/>
        </p:nvSpPr>
        <p:spPr>
          <a:xfrm xmlns:a="http://schemas.openxmlformats.org/drawingml/2006/main">
            <a:off x="914400" y="4819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THE IMAGE IS EVIDENCE, NOT FILL</a:t>
            </a:r>
            <a:endParaRPr lang="en-US"/>
          </a:p>
        </p:txBody>
      </p:sp>
      <p:sp>
        <p:nvSpPr>
          <p:cNvPr id="9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0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pic>
        <p:nvPicPr>
          <p:cNvPr id="2" name="close-visual-field">
            <a:extLst xmlns:a="http://schemas.openxmlformats.org/drawingml/2006/main"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xmlns:r="http://schemas.openxmlformats.org/officeDocument/2006/relationships" xmlns:a="http://schemas.openxmlformats.org/drawingml/2006/main" r:embed="rIdOfficeKitImage59ee3aa5202fd02f_1"/>
          <a:srcRect xmlns:a="http://schemas.openxmlformats.org/drawingml/2006/main" l="0" t="34180" r="0" b="3418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3" name="close-paper-scrim"/>
          <p:cNvSpPr/>
          <p:nvPr/>
        </p:nvSpPr>
        <p:spPr>
          <a:xfrm xmlns:a="http://schemas.openxmlformats.org/drawingml/2006/main">
            <a:off x="0" y="0"/>
            <a:ext cx="74295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3">
              <a:alpha val="96000"/>
            </a:srgbClr>
          </a:solidFill>
          <a:ln xmlns:a="http://schemas.openxmlformats.org/drawingml/2006/main" w="0">
            <a:solidFill>
              <a:srgbClr val="F2F3F3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5" name="SILVER ATELIER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9A6B45"/>
                </a:solidFill>
                <a:latin typeface="Tahoma"/>
                <a:ea typeface="Tahoma"/>
              </a:rPr>
              <a:t>SILVER ATELIER · CLOSE</a:t>
            </a:r>
            <a:endParaRPr lang="en-US"/>
          </a:p>
        </p:txBody>
      </p:sp>
      <p:sp>
        <p:nvSpPr>
          <p:cNvPr id="6" name="close-title"/>
          <p:cNvSpPr txBox="1"/>
          <p:nvPr/>
        </p:nvSpPr>
        <p:spPr>
          <a:xfrm xmlns:a="http://schemas.openxmlformats.org/drawingml/2006/main">
            <a:off x="914400" y="1314450"/>
            <a:ext cx="628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71717"/>
                </a:solidFill>
                <a:latin typeface="Tahoma"/>
                <a:ea typeface="Tahoma"/>
              </a:rPr>
              <a:t>Turn the shared invitation into an action plan</a:t>
            </a:r>
            <a:endParaRPr lang="en-US"/>
          </a:p>
        </p:txBody>
      </p:sp>
      <p:sp>
        <p:nvSpPr>
          <p:cNvPr id="7" name="close-basis"/>
          <p:cNvSpPr txBox="1"/>
          <p:nvPr/>
        </p:nvSpPr>
        <p:spPr>
          <a:xfrm xmlns:a="http://schemas.openxmlformats.org/drawingml/2006/main">
            <a:off x="952500" y="1981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98989"/>
                </a:solidFill>
                <a:latin typeface="Tahoma"/>
                <a:ea typeface="Tahoma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8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9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9A6B45"/>
                </a:solidFill>
                <a:latin typeface="Tahoma"/>
                <a:ea typeface="Tahoma"/>
              </a:rPr>
              <a:t>01</a:t>
            </a:r>
            <a:endParaRPr lang="en-US"/>
          </a:p>
        </p:txBody>
      </p:sp>
      <p:sp>
        <p:nvSpPr>
          <p:cNvPr id="10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Tahoma"/>
                <a:ea typeface="Tahoma"/>
              </a:rPr>
              <a:t>Promise</a:t>
            </a:r>
            <a:endParaRPr lang="en-US"/>
          </a:p>
        </p:txBody>
      </p:sp>
      <p:sp>
        <p:nvSpPr>
          <p:cNvPr id="12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Tahoma"/>
                <a:ea typeface="Tahoma"/>
              </a:rPr>
              <a:t>The proposition is legible.</a:t>
            </a:r>
            <a:endParaRPr lang="en-US"/>
          </a:p>
        </p:txBody>
      </p:sp>
      <p:sp>
        <p:nvSpPr>
          <p:cNvPr id="13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71717"/>
                </a:solidFill>
                <a:latin typeface="Tahoma"/>
                <a:ea typeface="Tahoma"/>
              </a:rPr>
              <a:t>02</a:t>
            </a:r>
            <a:endParaRPr lang="en-US"/>
          </a:p>
        </p:txBody>
      </p:sp>
      <p:sp>
        <p:nvSpPr>
          <p:cNvPr id="14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98989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Tahoma"/>
                <a:ea typeface="Tahoma"/>
              </a:rPr>
              <a:t>Proof</a:t>
            </a:r>
            <a:endParaRPr lang="en-US"/>
          </a:p>
        </p:txBody>
      </p:sp>
      <p:sp>
        <p:nvSpPr>
          <p:cNvPr id="16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Tahoma"/>
                <a:ea typeface="Tahoma"/>
              </a:rPr>
              <a:t>The response is measurable.</a:t>
            </a:r>
            <a:endParaRPr lang="en-US"/>
          </a:p>
        </p:txBody>
      </p:sp>
      <p:sp>
        <p:nvSpPr>
          <p:cNvPr id="17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9A6B45"/>
                </a:solidFill>
                <a:latin typeface="Tahoma"/>
                <a:ea typeface="Tahoma"/>
              </a:rPr>
              <a:t>03</a:t>
            </a:r>
            <a:endParaRPr lang="en-US"/>
          </a:p>
        </p:txBody>
      </p:sp>
      <p:sp>
        <p:nvSpPr>
          <p:cNvPr id="18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71717"/>
                </a:solidFill>
                <a:latin typeface="Tahoma"/>
                <a:ea typeface="Tahoma"/>
              </a:rPr>
              <a:t>Move</a:t>
            </a:r>
            <a:endParaRPr lang="en-US"/>
          </a:p>
        </p:txBody>
      </p:sp>
      <p:sp>
        <p:nvSpPr>
          <p:cNvPr id="20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71717"/>
                </a:solidFill>
                <a:latin typeface="Tahoma"/>
                <a:ea typeface="Tahoma"/>
              </a:rPr>
              <a:t>Give the audience one action.</a:t>
            </a:r>
            <a:endParaRPr lang="en-US"/>
          </a:p>
        </p:txBody>
      </p:sp>
      <p:sp>
        <p:nvSpPr>
          <p:cNvPr id="21" name="next-rule"/>
          <p:cNvSpPr/>
          <p:nvPr/>
        </p:nvSpPr>
        <p:spPr>
          <a:xfrm xmlns:a="http://schemas.openxmlformats.org/drawingml/2006/main">
            <a:off x="10668000" y="37147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9A6B45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next-label"/>
          <p:cNvSpPr txBox="1"/>
          <p:nvPr/>
        </p:nvSpPr>
        <p:spPr>
          <a:xfrm xmlns:a="http://schemas.openxmlformats.org/drawingml/2006/main">
            <a:off x="10668000" y="4038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9A6B45"/>
                </a:solidFill>
                <a:latin typeface="Tahoma"/>
                <a:ea typeface="Tahoma"/>
              </a:rPr>
              <a:t>NEXT MOVE</a:t>
            </a:r>
            <a:endParaRPr lang="en-US"/>
          </a:p>
        </p:txBody>
      </p:sp>
      <p:sp>
        <p:nvSpPr>
          <p:cNvPr id="23" name="next-text"/>
          <p:cNvSpPr txBox="1"/>
          <p:nvPr/>
        </p:nvSpPr>
        <p:spPr>
          <a:xfrm xmlns:a="http://schemas.openxmlformats.org/drawingml/2006/main">
            <a:off x="10668000" y="45148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75" b="1">
                <a:solidFill>
                  <a:srgbClr val="171717"/>
                </a:solidFill>
                <a:latin typeface="Tahoma"/>
                <a:ea typeface="Tahoma"/>
              </a:rPr>
              <a:t>Publish the invitation</a:t>
            </a:r>
            <a:endParaRPr lang="en-US"/>
          </a:p>
        </p:txBody>
      </p:sp>
      <p:sp>
        <p:nvSpPr>
          <p:cNvPr id="24" name="next-foot"/>
          <p:cNvSpPr txBox="1"/>
          <p:nvPr/>
        </p:nvSpPr>
        <p:spPr>
          <a:xfrm xmlns:a="http://schemas.openxmlformats.org/drawingml/2006/main">
            <a:off x="10668000" y="5600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898989"/>
                </a:solidFill>
                <a:latin typeface="Tahoma"/>
                <a:ea typeface="Tahoma"/>
              </a:rPr>
              <a:t>Owner · reviewer · date</a:t>
            </a:r>
            <a:endParaRPr lang="en-US"/>
          </a:p>
        </p:txBody>
      </p:sp>
      <p:sp>
        <p:nvSpPr>
          <p:cNvPr id="25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6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98989"/>
                </a:solidFill>
                <a:latin typeface="Tahoma"/>
                <a:ea typeface="Tahoma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