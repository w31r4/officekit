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bb15db13b0d484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c49ddd99c59beda0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6785cc6781fd2511_1" /><Relationship Type="http://schemas.openxmlformats.org/officeDocument/2006/relationships/image" Target="/ppt/media/image3.jpg" Id="rIdOfficeKitImagecb4e39f1eccfa545_1" /><Relationship Type="http://schemas.openxmlformats.org/officeDocument/2006/relationships/image" Target="/ppt/media/image4.jpg" Id="rIdOfficeKitImagee977612ad933c986_1" /><Relationship Type="http://schemas.openxmlformats.org/officeDocument/2006/relationships/image" Target="/ppt/media/image5.jpg" Id="rIdOfficeKitImagefb0d559f34167a51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e930dcb9c6b95953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7.jpg" Id="rIdOfficeKitImage3635f59fd49ef0e6_1" /><Relationship Type="http://schemas.openxmlformats.org/officeDocument/2006/relationships/image" Target="/ppt/media/image8.jpg" Id="rIdOfficeKitImaged96cedd8678b85ac_1" /><Relationship Type="http://schemas.openxmlformats.org/officeDocument/2006/relationships/image" Target="/ppt/media/image9.jpg" Id="rIdOfficeKitImage35d943dc999c7d05_1" /><Relationship Type="http://schemas.openxmlformats.org/officeDocument/2006/relationships/image" Target="/ppt/media/image10.jpg" Id="rIdOfficeKitImagedf986129197cef3b_1" /><Relationship Type="http://schemas.openxmlformats.org/officeDocument/2006/relationships/image" Target="/ppt/media/image11.jpg" Id="rIdOfficeKitImage84ff976f39aab728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2.jpg" Id="rIdOfficeKitImage06e55191024fa458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3.jpg" Id="rIdOfficeKitImagee231e9493e535fbe_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c49ddd99c59beda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>
              <a:alpha val="84000"/>
            </a:srgbClr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Tahoma"/>
                <a:ea typeface="Tahoma"/>
              </a:rPr>
              <a:t>Silver Atelier: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Tahoma"/>
                <a:ea typeface="Tahoma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Tahoma"/>
                <a:ea typeface="Tahoma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6785cc6781fd2511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The proposition is the page's visual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71717"/>
                </a:solidFill>
                <a:latin typeface="Tahoma"/>
                <a:ea typeface="Tahoma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71717"/>
                </a:solidFill>
                <a:latin typeface="Tahoma"/>
                <a:ea typeface="Tahoma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b4e39f1eccfa545_1"/>
          <a:srcRect xmlns:a="http://schemas.openxmlformats.org/drawingml/2006/main" l="0" t="37401" r="0" b="3740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1790700"/>
          </a:xfrm>
          <a:prstGeom xmlns:a="http://schemas.openxmlformats.org/drawingml/2006/main" prst="rect">
            <a:avLst/>
          </a:prstGeom>
        </p:spPr>
      </p:pic>
      <p:pic>
        <p:nvPicPr>
          <p:cNvPr id="12" name="promotion-detail-frame-on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977612ad933c986_1"/>
          <a:srcRect xmlns:a="http://schemas.openxmlformats.org/drawingml/2006/main" l="0" t="34394" r="0" b="3439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5162550"/>
            <a:ext cx="1924050" cy="1066800"/>
          </a:xfrm>
          <a:prstGeom xmlns:a="http://schemas.openxmlformats.org/drawingml/2006/main" prst="rect">
            <a:avLst/>
          </a:prstGeom>
        </p:spPr>
      </p:pic>
      <p:pic>
        <p:nvPicPr>
          <p:cNvPr id="13" name="promotion-detail-frame-two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b0d559f34167a51_1"/>
          <a:srcRect xmlns:a="http://schemas.openxmlformats.org/drawingml/2006/main" l="0" t="34406" r="0" b="3440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1601450" y="5162550"/>
            <a:ext cx="1924050" cy="1066800"/>
          </a:xfrm>
          <a:prstGeom xmlns:a="http://schemas.openxmlformats.org/drawingml/2006/main" prst="rect">
            <a:avLst/>
          </a:prstGeom>
        </p:spPr>
      </p:pic>
      <p:sp>
        <p:nvSpPr>
          <p:cNvPr id="14" name="promotion-image-rule"/>
          <p:cNvSpPr/>
          <p:nvPr/>
        </p:nvSpPr>
        <p:spPr>
          <a:xfrm xmlns:a="http://schemas.openxmlformats.org/drawingml/2006/main">
            <a:off x="9525000" y="64389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motion-image-label"/>
          <p:cNvSpPr txBox="1"/>
          <p:nvPr/>
        </p:nvSpPr>
        <p:spPr>
          <a:xfrm xmlns:a="http://schemas.openxmlformats.org/drawingml/2006/main">
            <a:off x="9525000" y="66675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9A6B45"/>
                </a:solidFill>
                <a:latin typeface="Tahoma"/>
                <a:ea typeface="Tahoma"/>
              </a:rPr>
              <a:t>INVITE · PROVE · MOVE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e930dcb9c6b9595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The signal grows when the invitation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timeline-label"/>
          <p:cNvSpPr txBox="1"/>
          <p:nvPr/>
        </p:nvSpPr>
        <p:spPr>
          <a:xfrm xmlns:a="http://schemas.openxmlformats.org/drawingml/2006/main">
            <a:off x="1066800" y="3238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EVOLUTION / TRANSITION</a:t>
            </a:r>
            <a:endParaRPr lang="en-US"/>
          </a:p>
        </p:txBody>
      </p:sp>
      <p:sp>
        <p:nvSpPr>
          <p:cNvPr id="9" name="timeline-axis"/>
          <p:cNvSpPr/>
          <p:nvPr/>
        </p:nvSpPr>
        <p:spPr>
          <a:xfrm xmlns:a="http://schemas.openxmlformats.org/drawingml/2006/main">
            <a:off x="1219200" y="47625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timeline-node-0"/>
          <p:cNvSpPr/>
          <p:nvPr/>
        </p:nvSpPr>
        <p:spPr>
          <a:xfrm xmlns:a="http://schemas.openxmlformats.org/drawingml/2006/main">
            <a:off x="1066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254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timeline-number-0"/>
          <p:cNvSpPr txBox="1"/>
          <p:nvPr/>
        </p:nvSpPr>
        <p:spPr>
          <a:xfrm xmlns:a="http://schemas.openxmlformats.org/drawingml/2006/main">
            <a:off x="952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2" name="timeline-label-0"/>
          <p:cNvSpPr txBox="1"/>
          <p:nvPr/>
        </p:nvSpPr>
        <p:spPr>
          <a:xfrm xmlns:a="http://schemas.openxmlformats.org/drawingml/2006/main">
            <a:off x="533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Frame</a:t>
            </a:r>
            <a:endParaRPr lang="en-US"/>
          </a:p>
        </p:txBody>
      </p:sp>
      <p:sp>
        <p:nvSpPr>
          <p:cNvPr id="13" name="timeline-text-0"/>
          <p:cNvSpPr txBox="1"/>
          <p:nvPr/>
        </p:nvSpPr>
        <p:spPr>
          <a:xfrm xmlns:a="http://schemas.openxmlformats.org/drawingml/2006/main">
            <a:off x="323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Name the question</a:t>
            </a:r>
            <a:endParaRPr lang="en-US"/>
          </a:p>
        </p:txBody>
      </p:sp>
      <p:sp>
        <p:nvSpPr>
          <p:cNvPr id="14" name="timeline-node-1"/>
          <p:cNvSpPr/>
          <p:nvPr/>
        </p:nvSpPr>
        <p:spPr>
          <a:xfrm xmlns:a="http://schemas.openxmlformats.org/drawingml/2006/main">
            <a:off x="36385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254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timeline-number-1"/>
          <p:cNvSpPr txBox="1"/>
          <p:nvPr/>
        </p:nvSpPr>
        <p:spPr>
          <a:xfrm xmlns:a="http://schemas.openxmlformats.org/drawingml/2006/main">
            <a:off x="35242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6" name="timeline-label-1"/>
          <p:cNvSpPr txBox="1"/>
          <p:nvPr/>
        </p:nvSpPr>
        <p:spPr>
          <a:xfrm xmlns:a="http://schemas.openxmlformats.org/drawingml/2006/main">
            <a:off x="31051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Test</a:t>
            </a:r>
            <a:endParaRPr lang="en-US"/>
          </a:p>
        </p:txBody>
      </p:sp>
      <p:sp>
        <p:nvSpPr>
          <p:cNvPr id="17" name="timeline-text-1"/>
          <p:cNvSpPr txBox="1"/>
          <p:nvPr/>
        </p:nvSpPr>
        <p:spPr>
          <a:xfrm xmlns:a="http://schemas.openxmlformats.org/drawingml/2006/main">
            <a:off x="28956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Hold the rule</a:t>
            </a:r>
            <a:endParaRPr lang="en-US"/>
          </a:p>
        </p:txBody>
      </p:sp>
      <p:sp>
        <p:nvSpPr>
          <p:cNvPr id="18" name="timeline-node-2"/>
          <p:cNvSpPr/>
          <p:nvPr/>
        </p:nvSpPr>
        <p:spPr>
          <a:xfrm xmlns:a="http://schemas.openxmlformats.org/drawingml/2006/main">
            <a:off x="62103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254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timeline-number-2"/>
          <p:cNvSpPr txBox="1"/>
          <p:nvPr/>
        </p:nvSpPr>
        <p:spPr>
          <a:xfrm xmlns:a="http://schemas.openxmlformats.org/drawingml/2006/main">
            <a:off x="60960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20" name="timeline-label-2"/>
          <p:cNvSpPr txBox="1"/>
          <p:nvPr/>
        </p:nvSpPr>
        <p:spPr>
          <a:xfrm xmlns:a="http://schemas.openxmlformats.org/drawingml/2006/main">
            <a:off x="56769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Read</a:t>
            </a:r>
            <a:endParaRPr lang="en-US"/>
          </a:p>
        </p:txBody>
      </p:sp>
      <p:sp>
        <p:nvSpPr>
          <p:cNvPr id="21" name="timeline-text-2"/>
          <p:cNvSpPr txBox="1"/>
          <p:nvPr/>
        </p:nvSpPr>
        <p:spPr>
          <a:xfrm xmlns:a="http://schemas.openxmlformats.org/drawingml/2006/main">
            <a:off x="54673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Separate signal</a:t>
            </a:r>
            <a:endParaRPr lang="en-US"/>
          </a:p>
        </p:txBody>
      </p:sp>
      <p:sp>
        <p:nvSpPr>
          <p:cNvPr id="22" name="timeline-node-3"/>
          <p:cNvSpPr/>
          <p:nvPr/>
        </p:nvSpPr>
        <p:spPr>
          <a:xfrm xmlns:a="http://schemas.openxmlformats.org/drawingml/2006/main">
            <a:off x="87820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254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imeline-number-3"/>
          <p:cNvSpPr txBox="1"/>
          <p:nvPr/>
        </p:nvSpPr>
        <p:spPr>
          <a:xfrm xmlns:a="http://schemas.openxmlformats.org/drawingml/2006/main">
            <a:off x="86677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04</a:t>
            </a:r>
            <a:endParaRPr lang="en-US"/>
          </a:p>
        </p:txBody>
      </p:sp>
      <p:sp>
        <p:nvSpPr>
          <p:cNvPr id="24" name="timeline-label-3"/>
          <p:cNvSpPr txBox="1"/>
          <p:nvPr/>
        </p:nvSpPr>
        <p:spPr>
          <a:xfrm xmlns:a="http://schemas.openxmlformats.org/drawingml/2006/main">
            <a:off x="82486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Move</a:t>
            </a:r>
            <a:endParaRPr lang="en-US"/>
          </a:p>
        </p:txBody>
      </p:sp>
      <p:sp>
        <p:nvSpPr>
          <p:cNvPr id="25" name="timeline-text-3"/>
          <p:cNvSpPr txBox="1"/>
          <p:nvPr/>
        </p:nvSpPr>
        <p:spPr>
          <a:xfrm xmlns:a="http://schemas.openxmlformats.org/drawingml/2006/main">
            <a:off x="80391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Set the next gate</a:t>
            </a:r>
            <a:endParaRPr lang="en-US"/>
          </a:p>
        </p:txBody>
      </p:sp>
      <p:sp>
        <p:nvSpPr>
          <p:cNvPr id="26" name="timeline-node-4"/>
          <p:cNvSpPr/>
          <p:nvPr/>
        </p:nvSpPr>
        <p:spPr>
          <a:xfrm xmlns:a="http://schemas.openxmlformats.org/drawingml/2006/main">
            <a:off x="11353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6B45"/>
          </a:solidFill>
          <a:ln xmlns:a="http://schemas.openxmlformats.org/drawingml/2006/main" w="254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timeline-number-4"/>
          <p:cNvSpPr txBox="1"/>
          <p:nvPr/>
        </p:nvSpPr>
        <p:spPr>
          <a:xfrm xmlns:a="http://schemas.openxmlformats.org/drawingml/2006/main">
            <a:off x="11239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05</a:t>
            </a:r>
            <a:endParaRPr lang="en-US"/>
          </a:p>
        </p:txBody>
      </p:sp>
      <p:sp>
        <p:nvSpPr>
          <p:cNvPr id="28" name="timeline-label-4"/>
          <p:cNvSpPr txBox="1"/>
          <p:nvPr/>
        </p:nvSpPr>
        <p:spPr>
          <a:xfrm xmlns:a="http://schemas.openxmlformats.org/drawingml/2006/main">
            <a:off x="10820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Scale</a:t>
            </a:r>
            <a:endParaRPr lang="en-US"/>
          </a:p>
        </p:txBody>
      </p:sp>
      <p:sp>
        <p:nvSpPr>
          <p:cNvPr id="29" name="timeline-text-4"/>
          <p:cNvSpPr txBox="1"/>
          <p:nvPr/>
        </p:nvSpPr>
        <p:spPr>
          <a:xfrm xmlns:a="http://schemas.openxmlformats.org/drawingml/2006/main">
            <a:off x="10610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Repeat what held</a:t>
            </a:r>
            <a:endParaRPr lang="en-US"/>
          </a:p>
        </p:txBody>
      </p:sp>
      <p:sp>
        <p:nvSpPr>
          <p:cNvPr id="30" name="timeline-read-label"/>
          <p:cNvSpPr txBox="1"/>
          <p:nvPr/>
        </p:nvSpPr>
        <p:spPr>
          <a:xfrm xmlns:a="http://schemas.openxmlformats.org/drawingml/2006/main">
            <a:off x="1066800" y="6667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9A6B45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31" name="timeline-read"/>
          <p:cNvSpPr txBox="1"/>
          <p:nvPr/>
        </p:nvSpPr>
        <p:spPr>
          <a:xfrm xmlns:a="http://schemas.openxmlformats.org/drawingml/2006/main">
            <a:off x="3333750" y="66294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425" b="1">
                <a:solidFill>
                  <a:srgbClr val="171717"/>
                </a:solidFill>
                <a:latin typeface="Tahoma"/>
                <a:ea typeface="Tahoma"/>
              </a:rPr>
              <a:t>A sequence is useful when each handoff changes what can happen next.</a:t>
            </a:r>
            <a:endParaRPr lang="en-US"/>
          </a:p>
        </p:txBody>
      </p:sp>
      <p:sp>
        <p:nvSpPr>
          <p:cNvPr id="32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1717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3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635f59fd49ef0e6_1"/>
          <a:srcRect xmlns:a="http://schemas.openxmlformats.org/drawingml/2006/main" l="0" t="31957" r="0" b="3195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96cedd8678b85ac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5d943dc999c7d05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f986129197cef3b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2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4ff976f39aab728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13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IMAGE MATRIX</a:t>
            </a:r>
            <a:endParaRPr lang="en-US"/>
          </a:p>
        </p:txBody>
      </p:sp>
      <p:sp>
        <p:nvSpPr>
          <p:cNvPr id="14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1717"/>
                </a:solidFill>
                <a:latin typeface="Tahoma"/>
                <a:ea typeface="Tahoma"/>
              </a:rPr>
              <a:t>One subject, five ways to notice it.</a:t>
            </a:r>
            <a:endParaRPr lang="en-US"/>
          </a:p>
        </p:txBody>
      </p:sp>
      <p:sp>
        <p:nvSpPr>
          <p:cNvPr id="15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8989"/>
                </a:solidFill>
                <a:latin typeface="Tahoma"/>
                <a:ea typeface="Tahoma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98989"/>
                </a:solidFill>
                <a:latin typeface="Tahoma"/>
                <a:ea typeface="Tahoma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98989"/>
                </a:solidFill>
                <a:latin typeface="Tahoma"/>
                <a:ea typeface="Tahoma"/>
              </a:rPr>
              <a:t>mood; labels carry the claim.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06e55191024fa458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4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71717"/>
                </a:solidFill>
                <a:latin typeface="Tahoma"/>
                <a:ea typeface="Tahoma"/>
              </a:rPr>
              <a:t>Let the subject do the work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71717"/>
                </a:solidFill>
                <a:latin typeface="Tahoma"/>
                <a:ea typeface="Tahoma"/>
              </a:rPr>
              <a:t>A strong crop gives the proposition a place to live.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e231e9493e535fbe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Turn the shared invitation into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9A6B45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1717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9A6B45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717"/>
                </a:solidFill>
                <a:latin typeface="Tahoma"/>
                <a:ea typeface="Tahoma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