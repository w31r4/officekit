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93b5993ea6c3497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13db13f70d7843cc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7790b68b5d8fcd92_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3.jpg" Id="rIdOfficeKitImage31956823b229fb66_1" /><Relationship Type="http://schemas.openxmlformats.org/officeDocument/2006/relationships/chart" Target="/ppt/slides/charts/chart1.xml" Id="Rb0878afce481427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4.jpg" Id="rIdOfficeKitImagec7b73f8fac405495_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5.jpg" Id="rIdOfficeKitImageaeb6f74d36d260d0_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Observed signal by cohort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v>Observed</c:v>
          </c:tx>
          <c:spPr>
            <a:solidFill>
              <a:srgbClr val="9A6B45"/>
            </a:solidFill>
          </c:spPr>
          <c:cat>
            <c:strLit>
              <c:ptCount val="5"/>
              <c:pt idx="0">
                <c:v>Baseline</c:v>
              </c:pt>
              <c:pt idx="1">
                <c:v>Phase 1</c:v>
              </c:pt>
              <c:pt idx="2">
                <c:v>Phase 2</c:v>
              </c:pt>
              <c:pt idx="3">
                <c:v>Phase 3</c:v>
              </c:pt>
              <c:pt idx="4">
                <c:v>Close</c:v>
              </c:pt>
            </c:strLit>
          </c:cat>
          <c:val>
            <c:numLit>
              <c:formatCode>General</c:formatCode>
              <c:ptCount val="5"/>
              <c:pt idx="0">
                <c:v>42</c:v>
              </c:pt>
              <c:pt idx="1">
                <c:v>51</c:v>
              </c:pt>
              <c:pt idx="2">
                <c:v>58</c:v>
              </c:pt>
              <c:pt idx="3">
                <c:v>64</c:v>
              </c:pt>
              <c:pt idx="4">
                <c:v>68</c:v>
              </c:pt>
            </c:numLit>
          </c:val>
        </c:ser>
        <c:ser>
          <c:idx val="1"/>
          <c:order val="1"/>
          <c:tx>
            <c:v>Reference</c:v>
          </c:tx>
          <c:spPr>
            <a:solidFill>
              <a:srgbClr val="898989"/>
            </a:solidFill>
          </c:spPr>
          <c:cat>
            <c:strLit>
              <c:ptCount val="5"/>
              <c:pt idx="0">
                <c:v>Baseline</c:v>
              </c:pt>
              <c:pt idx="1">
                <c:v>Phase 1</c:v>
              </c:pt>
              <c:pt idx="2">
                <c:v>Phase 2</c:v>
              </c:pt>
              <c:pt idx="3">
                <c:v>Phase 3</c:v>
              </c:pt>
              <c:pt idx="4">
                <c:v>Close</c:v>
              </c:pt>
            </c:strLit>
          </c:cat>
          <c:val>
            <c:numLit>
              <c:formatCode>General</c:formatCode>
              <c:ptCount val="5"/>
              <c:pt idx="0">
                <c:v>40</c:v>
              </c:pt>
              <c:pt idx="1">
                <c:v>43</c:v>
              </c:pt>
              <c:pt idx="2">
                <c:v>45</c:v>
              </c:pt>
              <c:pt idx="3">
                <c:v>47</c:v>
              </c:pt>
              <c:pt idx="4">
                <c:v>48</c:v>
              </c:pt>
            </c:numLit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legend>
      <c:legendPos val="r"/>
      <c:layout/>
    </c:legend>
    <c:plotVisOnly val="1"/>
  </c:chart>
</c:chartSpace>
</file>

<file path=ppt/slides/slide1.xml><?xml version="1.0" encoding="utf-8"?>
<p:sld xmlns:p="http://schemas.openxmlformats.org/presentationml/2006/main">
  <p:cSld name="Opening claim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pic>
        <p:nvPicPr>
          <p:cNvPr id="2" name="editorial-cover-fiel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13db13f70d7843cc_1"/>
          <a:srcRect xmlns:a="http://schemas.openxmlformats.org/drawingml/2006/main" l="0" t="34180" r="0" b="34180"/>
          <a:stretch xmlns:a="http://schemas.openxmlformats.org/drawingml/2006/main">
            <a:fillRect/>
          </a:stretch>
        </p:blipFill>
        <p:spPr>
          <a:xfrm xmlns:a="http://schemas.openxmlformats.org/drawingml/2006/main" flipH="1">
            <a:off x="0" y="0"/>
            <a:ext cx="15240000" cy="8572500"/>
          </a:xfrm>
          <a:prstGeom xmlns:a="http://schemas.openxmlformats.org/drawingml/2006/main" prst="rect">
            <a:avLst/>
          </a:prstGeom>
        </p:spPr>
      </p:pic>
      <p:sp>
        <p:nvSpPr>
          <p:cNvPr id="3" name="editorial-cover-scrim"/>
          <p:cNvSpPr/>
          <p:nvPr/>
        </p:nvSpPr>
        <p:spPr>
          <a:xfrm xmlns:a="http://schemas.openxmlformats.org/drawingml/2006/main">
            <a:off x="0" y="0"/>
            <a:ext cx="7239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>
              <a:alpha val="84000"/>
            </a:srgbClr>
          </a:solidFill>
          <a:ln xmlns:a="http://schemas.openxmlformats.org/drawingml/2006/main" w="0">
            <a:solidFill>
              <a:srgbClr val="17171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eyebrow"/>
          <p:cNvSpPr txBox="1"/>
          <p:nvPr/>
        </p:nvSpPr>
        <p:spPr>
          <a:xfrm xmlns:a="http://schemas.openxmlformats.org/drawingml/2006/main">
            <a:off x="914400" y="800100"/>
            <a:ext cx="704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9A6B45"/>
                </a:solidFill>
                <a:latin typeface="Tahoma"/>
                <a:ea typeface="Tahoma"/>
              </a:rPr>
              <a:t>PROMOTION · OFFICEKIT CALIBRATION</a:t>
            </a:r>
            <a:endParaRPr lang="en-US"/>
          </a:p>
        </p:txBody>
      </p:sp>
      <p:sp>
        <p:nvSpPr>
          <p:cNvPr id="5" name="cover-title"/>
          <p:cNvSpPr txBox="1"/>
          <p:nvPr/>
        </p:nvSpPr>
        <p:spPr>
          <a:xfrm xmlns:a="http://schemas.openxmlformats.org/drawingml/2006/main">
            <a:off x="914400" y="1962150"/>
            <a:ext cx="58102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900" b="1">
                <a:solidFill>
                  <a:srgbClr val="FFFFFF"/>
                </a:solidFill>
                <a:latin typeface="Tahoma"/>
                <a:ea typeface="Tahoma"/>
              </a:rPr>
              <a:t>Silver Atelier: a claim worth testing</a:t>
            </a:r>
            <a:endParaRPr lang="en-US"/>
          </a:p>
        </p:txBody>
      </p:sp>
      <p:sp>
        <p:nvSpPr>
          <p:cNvPr id="6" name="cover-subtitle"/>
          <p:cNvSpPr txBox="1"/>
          <p:nvPr/>
        </p:nvSpPr>
        <p:spPr>
          <a:xfrm xmlns:a="http://schemas.openxmlformats.org/drawingml/2006/main">
            <a:off x="952500" y="3638550"/>
            <a:ext cx="533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>
                <a:solidFill>
                  <a:srgbClr val="F0F2F2"/>
                </a:solidFill>
                <a:latin typeface="Tahoma"/>
                <a:ea typeface="Tahoma"/>
              </a:rPr>
              <a:t>A clean-room reference for a visual proposition.</a:t>
            </a:r>
            <a:endParaRPr lang="en-US"/>
          </a:p>
        </p:txBody>
      </p:sp>
      <p:sp>
        <p:nvSpPr>
          <p:cNvPr id="7" name="cover-photo-rule"/>
          <p:cNvSpPr/>
          <p:nvPr/>
        </p:nvSpPr>
        <p:spPr>
          <a:xfrm xmlns:a="http://schemas.openxmlformats.org/drawingml/2006/main">
            <a:off x="914400" y="4533900"/>
            <a:ext cx="4895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A6B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over-thesis"/>
          <p:cNvSpPr txBox="1"/>
          <p:nvPr/>
        </p:nvSpPr>
        <p:spPr>
          <a:xfrm xmlns:a="http://schemas.openxmlformats.org/drawingml/2006/main">
            <a:off x="952500" y="4895850"/>
            <a:ext cx="5715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950" b="1">
                <a:solidFill>
                  <a:srgbClr val="FFFFFF"/>
                </a:solidFill>
                <a:latin typeface="Tahoma"/>
                <a:ea typeface="Tahoma"/>
              </a:rPr>
              <a:t>A proposition earns attention when it gives a next move.</a:t>
            </a:r>
            <a:endParaRPr lang="en-US"/>
          </a:p>
        </p:txBody>
      </p:sp>
      <p:sp>
        <p:nvSpPr>
          <p:cNvPr id="9" name="cover-source"/>
          <p:cNvSpPr txBox="1"/>
          <p:nvPr/>
        </p:nvSpPr>
        <p:spPr>
          <a:xfrm xmlns:a="http://schemas.openxmlformats.org/drawingml/2006/main">
            <a:off x="952500" y="733425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F0F2F2"/>
                </a:solidFill>
                <a:latin typeface="Tahoma"/>
                <a:ea typeface="Tahoma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10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F0F2F2"/>
                </a:solidFill>
                <a:latin typeface="Tahoma"/>
                <a:ea typeface="Tahoma"/>
              </a:rPr>
              <a:t>1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pic>
        <p:nvPicPr>
          <p:cNvPr id="2" name="argument-visual-fiel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7790b68b5d8fcd92_1"/>
          <a:srcRect xmlns:a="http://schemas.openxmlformats.org/drawingml/2006/main" l="0" t="34180" r="0" b="34180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</p:spPr>
      </p:pic>
      <p:sp>
        <p:nvSpPr>
          <p:cNvPr id="3" name="argument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3F3">
              <a:alpha val="96000"/>
            </a:srgbClr>
          </a:solidFill>
          <a:ln xmlns:a="http://schemas.openxmlformats.org/drawingml/2006/main" w="0">
            <a:solidFill>
              <a:srgbClr val="F2F3F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argument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A6B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SILVER ATELIER · ARGUMENT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9A6B45"/>
                </a:solidFill>
                <a:latin typeface="Tahoma"/>
                <a:ea typeface="Tahoma"/>
              </a:rPr>
              <a:t>SILVER ATELIER · ARGUMENT</a:t>
            </a:r>
            <a:endParaRPr lang="en-US"/>
          </a:p>
        </p:txBody>
      </p:sp>
      <p:sp>
        <p:nvSpPr>
          <p:cNvPr id="6" name="argument-title"/>
          <p:cNvSpPr txBox="1"/>
          <p:nvPr/>
        </p:nvSpPr>
        <p:spPr>
          <a:xfrm xmlns:a="http://schemas.openxmlformats.org/drawingml/2006/main">
            <a:off x="914400" y="1314450"/>
            <a:ext cx="628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71717"/>
                </a:solidFill>
                <a:latin typeface="Tahoma"/>
                <a:ea typeface="Tahoma"/>
              </a:rPr>
              <a:t>The proposition is the page's visual center</a:t>
            </a:r>
            <a:endParaRPr lang="en-US"/>
          </a:p>
        </p:txBody>
      </p:sp>
      <p:sp>
        <p:nvSpPr>
          <p:cNvPr id="7" name="argument-basis"/>
          <p:cNvSpPr txBox="1"/>
          <p:nvPr/>
        </p:nvSpPr>
        <p:spPr>
          <a:xfrm xmlns:a="http://schemas.openxmlformats.org/drawingml/2006/main">
            <a:off x="952500" y="198120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98989"/>
                </a:solidFill>
                <a:latin typeface="Tahoma"/>
                <a:ea typeface="Tahoma"/>
              </a:rPr>
              <a:t>Scale, crop, and color invite attention without hiding the evidence.</a:t>
            </a:r>
            <a:endParaRPr lang="en-US"/>
          </a:p>
        </p:txBody>
      </p:sp>
      <p:sp>
        <p:nvSpPr>
          <p:cNvPr id="8" name="argument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898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promotion-kicker"/>
          <p:cNvSpPr txBox="1"/>
          <p:nvPr/>
        </p:nvSpPr>
        <p:spPr>
          <a:xfrm xmlns:a="http://schemas.openxmlformats.org/drawingml/2006/main">
            <a:off x="1104900" y="3352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9A6B45"/>
                </a:solidFill>
                <a:latin typeface="Tahoma"/>
                <a:ea typeface="Tahoma"/>
              </a:rPr>
              <a:t>ONE PROPOSITION</a:t>
            </a:r>
            <a:endParaRPr lang="en-US"/>
          </a:p>
        </p:txBody>
      </p:sp>
      <p:sp>
        <p:nvSpPr>
          <p:cNvPr id="10" name="promotion-headline"/>
          <p:cNvSpPr txBox="1"/>
          <p:nvPr/>
        </p:nvSpPr>
        <p:spPr>
          <a:xfrm xmlns:a="http://schemas.openxmlformats.org/drawingml/2006/main">
            <a:off x="1104900" y="379095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625" b="1">
                <a:solidFill>
                  <a:srgbClr val="171717"/>
                </a:solidFill>
                <a:latin typeface="Tahoma"/>
                <a:ea typeface="Tahoma"/>
              </a:rPr>
              <a:t>Make the next action visible.</a:t>
            </a:r>
            <a:endParaRPr lang="en-US"/>
          </a:p>
        </p:txBody>
      </p:sp>
      <p:sp>
        <p:nvSpPr>
          <p:cNvPr id="11" name="promotion-body"/>
          <p:cNvSpPr txBox="1"/>
          <p:nvPr/>
        </p:nvSpPr>
        <p:spPr>
          <a:xfrm xmlns:a="http://schemas.openxmlformats.org/drawingml/2006/main">
            <a:off x="1104900" y="4762500"/>
            <a:ext cx="619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>
                <a:solidFill>
                  <a:srgbClr val="171717"/>
                </a:solidFill>
                <a:latin typeface="Tahoma"/>
                <a:ea typeface="Tahoma"/>
              </a:rPr>
              <a:t>A clear invitation earns attention when evidence and access arrive together.</a:t>
            </a:r>
            <a:endParaRPr lang="en-US"/>
          </a:p>
        </p:txBody>
      </p:sp>
      <p:pic>
        <p:nvPicPr>
          <p:cNvPr id="12" name="promotion-hero-frame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7790b68b5d8fcd92_1"/>
          <a:srcRect xmlns:a="http://schemas.openxmlformats.org/drawingml/2006/main" l="0" t="31920" r="0" b="31920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525000" y="3143250"/>
            <a:ext cx="4000500" cy="2571750"/>
          </a:xfrm>
          <a:prstGeom xmlns:a="http://schemas.openxmlformats.org/drawingml/2006/main" prst="rect">
            <a:avLst/>
          </a:prstGeom>
        </p:spPr>
      </p:pic>
      <p:sp>
        <p:nvSpPr>
          <p:cNvPr id="13" name="promotion-image-rule"/>
          <p:cNvSpPr/>
          <p:nvPr/>
        </p:nvSpPr>
        <p:spPr>
          <a:xfrm xmlns:a="http://schemas.openxmlformats.org/drawingml/2006/main">
            <a:off x="9525000" y="5905500"/>
            <a:ext cx="400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A6B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promotion-image-label"/>
          <p:cNvSpPr txBox="1"/>
          <p:nvPr/>
        </p:nvSpPr>
        <p:spPr>
          <a:xfrm xmlns:a="http://schemas.openxmlformats.org/drawingml/2006/main">
            <a:off x="9525000" y="61531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9A6B45"/>
                </a:solidFill>
                <a:latin typeface="Tahoma"/>
                <a:ea typeface="Tahoma"/>
              </a:rPr>
              <a:t>INVITE · PROVE · MOVE</a:t>
            </a:r>
            <a:endParaRPr lang="en-US"/>
          </a:p>
        </p:txBody>
      </p:sp>
      <p:sp>
        <p:nvSpPr>
          <p:cNvPr id="15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98989"/>
                </a:solidFill>
                <a:latin typeface="Tahoma"/>
                <a:ea typeface="Tahoma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16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98989"/>
                </a:solidFill>
                <a:latin typeface="Tahoma"/>
                <a:ea typeface="Tahoma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pic>
        <p:nvPicPr>
          <p:cNvPr id="2" name="evidence-visual-fiel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31956823b229fb66_1"/>
          <a:srcRect xmlns:a="http://schemas.openxmlformats.org/drawingml/2006/main" l="0" t="34171" r="0" b="34171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</p:spPr>
      </p:pic>
      <p:sp>
        <p:nvSpPr>
          <p:cNvPr id="3" name="evidence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3F3">
              <a:alpha val="96000"/>
            </a:srgbClr>
          </a:solidFill>
          <a:ln xmlns:a="http://schemas.openxmlformats.org/drawingml/2006/main" w="0">
            <a:solidFill>
              <a:srgbClr val="F2F3F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A6B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SILVER ATELIER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9A6B45"/>
                </a:solidFill>
                <a:latin typeface="Tahoma"/>
                <a:ea typeface="Tahoma"/>
              </a:rPr>
              <a:t>SILVER ATELIER · EVIDENCE</a:t>
            </a:r>
            <a:endParaRPr lang="en-US"/>
          </a:p>
        </p:txBody>
      </p:sp>
      <p:sp>
        <p:nvSpPr>
          <p:cNvPr id="6" name="evidence-title"/>
          <p:cNvSpPr txBox="1"/>
          <p:nvPr/>
        </p:nvSpPr>
        <p:spPr>
          <a:xfrm xmlns:a="http://schemas.openxmlformats.org/drawingml/2006/main">
            <a:off x="914400" y="1314450"/>
            <a:ext cx="628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71717"/>
                </a:solidFill>
                <a:latin typeface="Tahoma"/>
                <a:ea typeface="Tahoma"/>
              </a:rPr>
              <a:t>The signal grows when the invitation stays measurable</a:t>
            </a:r>
            <a:endParaRPr lang="en-US"/>
          </a:p>
        </p:txBody>
      </p:sp>
      <p:sp>
        <p:nvSpPr>
          <p:cNvPr id="7" name="evidence-basis"/>
          <p:cNvSpPr txBox="1"/>
          <p:nvPr/>
        </p:nvSpPr>
        <p:spPr>
          <a:xfrm xmlns:a="http://schemas.openxmlformats.org/drawingml/2006/main">
            <a:off x="952500" y="198120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98989"/>
                </a:solidFill>
                <a:latin typeface="Tahoma"/>
                <a:ea typeface="Tahoma"/>
              </a:rPr>
              <a:t>Illustrative reach and response · source and measurement convention remain attached.</a:t>
            </a:r>
            <a:endParaRPr lang="en-US"/>
          </a:p>
        </p:txBody>
      </p:sp>
      <p:sp>
        <p:nvSpPr>
          <p:cNvPr id="8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898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9" name="evidence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1047750" y="3048000"/>
          <a:ext xmlns:a="http://schemas.openxmlformats.org/drawingml/2006/main" cx="790575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0878afce4814278"/>
          </a:graphicData>
        </a:graphic>
      </p:graphicFrame>
      <p:sp>
        <p:nvSpPr>
          <p:cNvPr id="10" name="metric"/>
          <p:cNvSpPr txBox="1"/>
          <p:nvPr/>
        </p:nvSpPr>
        <p:spPr>
          <a:xfrm xmlns:a="http://schemas.openxmlformats.org/drawingml/2006/main">
            <a:off x="9906000" y="3333750"/>
            <a:ext cx="2667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4800" b="1">
                <a:solidFill>
                  <a:srgbClr val="9A6B45"/>
                </a:solidFill>
                <a:latin typeface="Tahoma"/>
                <a:ea typeface="Tahoma"/>
              </a:rPr>
              <a:t>68</a:t>
            </a:r>
            <a:endParaRPr lang="en-US"/>
          </a:p>
        </p:txBody>
      </p:sp>
      <p:sp>
        <p:nvSpPr>
          <p:cNvPr id="11" name="metric-label"/>
          <p:cNvSpPr txBox="1"/>
          <p:nvPr/>
        </p:nvSpPr>
        <p:spPr>
          <a:xfrm xmlns:a="http://schemas.openxmlformats.org/drawingml/2006/main">
            <a:off x="9906000" y="4143375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98989"/>
                </a:solidFill>
                <a:latin typeface="Tahoma"/>
                <a:ea typeface="Tahoma"/>
              </a:rPr>
              <a:t>qualified response · campaign close</a:t>
            </a:r>
            <a:endParaRPr lang="en-US"/>
          </a:p>
        </p:txBody>
      </p:sp>
      <p:sp>
        <p:nvSpPr>
          <p:cNvPr id="12" name="rail-rule"/>
          <p:cNvSpPr/>
          <p:nvPr/>
        </p:nvSpPr>
        <p:spPr>
          <a:xfrm xmlns:a="http://schemas.openxmlformats.org/drawingml/2006/main">
            <a:off x="9906000" y="4810125"/>
            <a:ext cx="3762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898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read-through"/>
          <p:cNvSpPr txBox="1"/>
          <p:nvPr/>
        </p:nvSpPr>
        <p:spPr>
          <a:xfrm xmlns:a="http://schemas.openxmlformats.org/drawingml/2006/main">
            <a:off x="9906000" y="5143500"/>
            <a:ext cx="342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1717"/>
                </a:solidFill>
                <a:latin typeface="Tahoma"/>
                <a:ea typeface="Tahoma"/>
              </a:rPr>
              <a:t>Reach is useful only when the audience can see and take the next step.</a:t>
            </a:r>
            <a:endParaRPr lang="en-US"/>
          </a:p>
        </p:txBody>
      </p:sp>
      <p:sp>
        <p:nvSpPr>
          <p:cNvPr id="14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171717"/>
                </a:solidFill>
                <a:latin typeface="Tahoma"/>
                <a:ea typeface="Tahoma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16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98989"/>
                </a:solidFill>
                <a:latin typeface="Tahoma"/>
                <a:ea typeface="Tahoma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17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98989"/>
                </a:solidFill>
                <a:latin typeface="Tahoma"/>
                <a:ea typeface="Tahoma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3F3"/>
          </a:solidFill>
          <a:ln xmlns:a="http://schemas.openxmlformats.org/drawingml/2006/main" w="0">
            <a:solidFill>
              <a:srgbClr val="F2F3F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A6B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ILVER ATELIER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9A6B45"/>
                </a:solidFill>
                <a:latin typeface="Tahoma"/>
                <a:ea typeface="Tahoma"/>
              </a:rPr>
              <a:t>SILVER ATELIER · DETAIL</a:t>
            </a:r>
            <a:endParaRPr lang="en-US"/>
          </a:p>
        </p:txBody>
      </p:sp>
      <p:sp>
        <p:nvSpPr>
          <p:cNvPr id="5" name="detail-title"/>
          <p:cNvSpPr txBox="1"/>
          <p:nvPr/>
        </p:nvSpPr>
        <p:spPr>
          <a:xfrm xmlns:a="http://schemas.openxmlformats.org/drawingml/2006/main">
            <a:off x="914400" y="1314450"/>
            <a:ext cx="628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71717"/>
                </a:solidFill>
                <a:latin typeface="Tahoma"/>
                <a:ea typeface="Tahoma"/>
              </a:rPr>
              <a:t>The same idea can hold several views</a:t>
            </a:r>
            <a:endParaRPr lang="en-US"/>
          </a:p>
        </p:txBody>
      </p:sp>
      <p:sp>
        <p:nvSpPr>
          <p:cNvPr id="6" name="detail-basis"/>
          <p:cNvSpPr txBox="1"/>
          <p:nvPr/>
        </p:nvSpPr>
        <p:spPr>
          <a:xfrm xmlns:a="http://schemas.openxmlformats.org/drawingml/2006/main">
            <a:off x="952500" y="198120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98989"/>
                </a:solidFill>
                <a:latin typeface="Tahoma"/>
                <a:ea typeface="Tahoma"/>
              </a:rPr>
              <a:t>Unequal image frames · visual variety without decorative filler.</a:t>
            </a:r>
            <a:endParaRPr lang="en-US"/>
          </a:p>
        </p:txBody>
      </p:sp>
      <p:sp>
        <p:nvSpPr>
          <p:cNvPr id="7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898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process-axis"/>
          <p:cNvSpPr/>
          <p:nvPr/>
        </p:nvSpPr>
        <p:spPr>
          <a:xfrm xmlns:a="http://schemas.openxmlformats.org/drawingml/2006/main">
            <a:off x="1390650" y="4114800"/>
            <a:ext cx="8839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898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process-node-0"/>
          <p:cNvSpPr/>
          <p:nvPr/>
        </p:nvSpPr>
        <p:spPr>
          <a:xfrm xmlns:a="http://schemas.openxmlformats.org/drawingml/2006/main">
            <a:off x="12192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F3F3"/>
          </a:solidFill>
          <a:ln xmlns:a="http://schemas.openxmlformats.org/drawingml/2006/main" w="38100">
            <a:solidFill>
              <a:srgbClr val="17171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process-number-0"/>
          <p:cNvSpPr txBox="1"/>
          <p:nvPr/>
        </p:nvSpPr>
        <p:spPr>
          <a:xfrm xmlns:a="http://schemas.openxmlformats.org/drawingml/2006/main">
            <a:off x="12001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9A6B45"/>
                </a:solidFill>
                <a:latin typeface="Tahoma"/>
                <a:ea typeface="Tahoma"/>
              </a:rPr>
              <a:t>01</a:t>
            </a:r>
            <a:endParaRPr lang="en-US"/>
          </a:p>
        </p:txBody>
      </p:sp>
      <p:sp>
        <p:nvSpPr>
          <p:cNvPr id="11" name="process-label-0"/>
          <p:cNvSpPr txBox="1"/>
          <p:nvPr/>
        </p:nvSpPr>
        <p:spPr>
          <a:xfrm xmlns:a="http://schemas.openxmlformats.org/drawingml/2006/main">
            <a:off x="17145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71717"/>
                </a:solidFill>
                <a:latin typeface="Tahoma"/>
                <a:ea typeface="Tahoma"/>
              </a:rPr>
              <a:t>Frame</a:t>
            </a:r>
            <a:endParaRPr lang="en-US"/>
          </a:p>
        </p:txBody>
      </p:sp>
      <p:sp>
        <p:nvSpPr>
          <p:cNvPr id="12" name="process-text-0"/>
          <p:cNvSpPr txBox="1"/>
          <p:nvPr/>
        </p:nvSpPr>
        <p:spPr>
          <a:xfrm xmlns:a="http://schemas.openxmlformats.org/drawingml/2006/main">
            <a:off x="17145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98989"/>
                </a:solidFill>
                <a:latin typeface="Tahoma"/>
                <a:ea typeface="Tahoma"/>
              </a:rPr>
              <a:t>Name the question</a:t>
            </a:r>
            <a:endParaRPr lang="en-US"/>
          </a:p>
        </p:txBody>
      </p:sp>
      <p:sp>
        <p:nvSpPr>
          <p:cNvPr id="13" name="process-separator-0"/>
          <p:cNvSpPr/>
          <p:nvPr/>
        </p:nvSpPr>
        <p:spPr>
          <a:xfrm xmlns:a="http://schemas.openxmlformats.org/drawingml/2006/main">
            <a:off x="16764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9898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process-node-1"/>
          <p:cNvSpPr/>
          <p:nvPr/>
        </p:nvSpPr>
        <p:spPr>
          <a:xfrm xmlns:a="http://schemas.openxmlformats.org/drawingml/2006/main">
            <a:off x="35242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F3F3"/>
          </a:solidFill>
          <a:ln xmlns:a="http://schemas.openxmlformats.org/drawingml/2006/main" w="38100">
            <a:solidFill>
              <a:srgbClr val="17171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process-number-1"/>
          <p:cNvSpPr txBox="1"/>
          <p:nvPr/>
        </p:nvSpPr>
        <p:spPr>
          <a:xfrm xmlns:a="http://schemas.openxmlformats.org/drawingml/2006/main">
            <a:off x="35052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9A6B45"/>
                </a:solidFill>
                <a:latin typeface="Tahoma"/>
                <a:ea typeface="Tahoma"/>
              </a:rPr>
              <a:t>02</a:t>
            </a:r>
            <a:endParaRPr lang="en-US"/>
          </a:p>
        </p:txBody>
      </p:sp>
      <p:sp>
        <p:nvSpPr>
          <p:cNvPr id="16" name="process-label-1"/>
          <p:cNvSpPr txBox="1"/>
          <p:nvPr/>
        </p:nvSpPr>
        <p:spPr>
          <a:xfrm xmlns:a="http://schemas.openxmlformats.org/drawingml/2006/main">
            <a:off x="40195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71717"/>
                </a:solidFill>
                <a:latin typeface="Tahoma"/>
                <a:ea typeface="Tahoma"/>
              </a:rPr>
              <a:t>Test</a:t>
            </a:r>
            <a:endParaRPr lang="en-US"/>
          </a:p>
        </p:txBody>
      </p:sp>
      <p:sp>
        <p:nvSpPr>
          <p:cNvPr id="17" name="process-text-1"/>
          <p:cNvSpPr txBox="1"/>
          <p:nvPr/>
        </p:nvSpPr>
        <p:spPr>
          <a:xfrm xmlns:a="http://schemas.openxmlformats.org/drawingml/2006/main">
            <a:off x="40195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98989"/>
                </a:solidFill>
                <a:latin typeface="Tahoma"/>
                <a:ea typeface="Tahoma"/>
              </a:rPr>
              <a:t>Hold the rule</a:t>
            </a:r>
            <a:endParaRPr lang="en-US"/>
          </a:p>
        </p:txBody>
      </p:sp>
      <p:sp>
        <p:nvSpPr>
          <p:cNvPr id="18" name="process-separator-1"/>
          <p:cNvSpPr/>
          <p:nvPr/>
        </p:nvSpPr>
        <p:spPr>
          <a:xfrm xmlns:a="http://schemas.openxmlformats.org/drawingml/2006/main">
            <a:off x="398145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9898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process-node-2"/>
          <p:cNvSpPr/>
          <p:nvPr/>
        </p:nvSpPr>
        <p:spPr>
          <a:xfrm xmlns:a="http://schemas.openxmlformats.org/drawingml/2006/main">
            <a:off x="58293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F3F3"/>
          </a:solidFill>
          <a:ln xmlns:a="http://schemas.openxmlformats.org/drawingml/2006/main" w="38100">
            <a:solidFill>
              <a:srgbClr val="17171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process-number-2"/>
          <p:cNvSpPr txBox="1"/>
          <p:nvPr/>
        </p:nvSpPr>
        <p:spPr>
          <a:xfrm xmlns:a="http://schemas.openxmlformats.org/drawingml/2006/main">
            <a:off x="58102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9A6B45"/>
                </a:solidFill>
                <a:latin typeface="Tahoma"/>
                <a:ea typeface="Tahoma"/>
              </a:rPr>
              <a:t>03</a:t>
            </a:r>
            <a:endParaRPr lang="en-US"/>
          </a:p>
        </p:txBody>
      </p:sp>
      <p:sp>
        <p:nvSpPr>
          <p:cNvPr id="21" name="process-label-2"/>
          <p:cNvSpPr txBox="1"/>
          <p:nvPr/>
        </p:nvSpPr>
        <p:spPr>
          <a:xfrm xmlns:a="http://schemas.openxmlformats.org/drawingml/2006/main">
            <a:off x="63246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71717"/>
                </a:solidFill>
                <a:latin typeface="Tahoma"/>
                <a:ea typeface="Tahoma"/>
              </a:rPr>
              <a:t>Read</a:t>
            </a:r>
            <a:endParaRPr lang="en-US"/>
          </a:p>
        </p:txBody>
      </p:sp>
      <p:sp>
        <p:nvSpPr>
          <p:cNvPr id="22" name="process-text-2"/>
          <p:cNvSpPr txBox="1"/>
          <p:nvPr/>
        </p:nvSpPr>
        <p:spPr>
          <a:xfrm xmlns:a="http://schemas.openxmlformats.org/drawingml/2006/main">
            <a:off x="63246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98989"/>
                </a:solidFill>
                <a:latin typeface="Tahoma"/>
                <a:ea typeface="Tahoma"/>
              </a:rPr>
              <a:t>Separate signal</a:t>
            </a:r>
            <a:endParaRPr lang="en-US"/>
          </a:p>
        </p:txBody>
      </p:sp>
      <p:sp>
        <p:nvSpPr>
          <p:cNvPr id="23" name="process-separator-2"/>
          <p:cNvSpPr/>
          <p:nvPr/>
        </p:nvSpPr>
        <p:spPr>
          <a:xfrm xmlns:a="http://schemas.openxmlformats.org/drawingml/2006/main">
            <a:off x="62865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9898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4" name="process-node-3"/>
          <p:cNvSpPr/>
          <p:nvPr/>
        </p:nvSpPr>
        <p:spPr>
          <a:xfrm xmlns:a="http://schemas.openxmlformats.org/drawingml/2006/main">
            <a:off x="81343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A6B45"/>
          </a:solidFill>
          <a:ln xmlns:a="http://schemas.openxmlformats.org/drawingml/2006/main" w="38100">
            <a:solidFill>
              <a:srgbClr val="9A6B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process-number-3"/>
          <p:cNvSpPr txBox="1"/>
          <p:nvPr/>
        </p:nvSpPr>
        <p:spPr>
          <a:xfrm xmlns:a="http://schemas.openxmlformats.org/drawingml/2006/main">
            <a:off x="81153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9A6B45"/>
                </a:solidFill>
                <a:latin typeface="Tahoma"/>
                <a:ea typeface="Tahoma"/>
              </a:rPr>
              <a:t>04</a:t>
            </a:r>
            <a:endParaRPr lang="en-US"/>
          </a:p>
        </p:txBody>
      </p:sp>
      <p:sp>
        <p:nvSpPr>
          <p:cNvPr id="26" name="process-label-3"/>
          <p:cNvSpPr txBox="1"/>
          <p:nvPr/>
        </p:nvSpPr>
        <p:spPr>
          <a:xfrm xmlns:a="http://schemas.openxmlformats.org/drawingml/2006/main">
            <a:off x="86296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71717"/>
                </a:solidFill>
                <a:latin typeface="Tahoma"/>
                <a:ea typeface="Tahoma"/>
              </a:rPr>
              <a:t>Decide</a:t>
            </a:r>
            <a:endParaRPr lang="en-US"/>
          </a:p>
        </p:txBody>
      </p:sp>
      <p:sp>
        <p:nvSpPr>
          <p:cNvPr id="27" name="process-text-3"/>
          <p:cNvSpPr txBox="1"/>
          <p:nvPr/>
        </p:nvSpPr>
        <p:spPr>
          <a:xfrm xmlns:a="http://schemas.openxmlformats.org/drawingml/2006/main">
            <a:off x="86296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98989"/>
                </a:solidFill>
                <a:latin typeface="Tahoma"/>
                <a:ea typeface="Tahoma"/>
              </a:rPr>
              <a:t>Set the next gate</a:t>
            </a:r>
            <a:endParaRPr lang="en-US"/>
          </a:p>
        </p:txBody>
      </p:sp>
      <p:sp>
        <p:nvSpPr>
          <p:cNvPr id="28" name="process-read-label"/>
          <p:cNvSpPr txBox="1"/>
          <p:nvPr/>
        </p:nvSpPr>
        <p:spPr>
          <a:xfrm xmlns:a="http://schemas.openxmlformats.org/drawingml/2006/main">
            <a:off x="10668000" y="3333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9A6B45"/>
                </a:solidFill>
                <a:latin typeface="Tahoma"/>
                <a:ea typeface="Tahoma"/>
              </a:rPr>
              <a:t>READ-THROUGH</a:t>
            </a:r>
            <a:endParaRPr lang="en-US"/>
          </a:p>
        </p:txBody>
      </p:sp>
      <p:sp>
        <p:nvSpPr>
          <p:cNvPr id="29" name="process-read-title"/>
          <p:cNvSpPr txBox="1"/>
          <p:nvPr/>
        </p:nvSpPr>
        <p:spPr>
          <a:xfrm xmlns:a="http://schemas.openxmlformats.org/drawingml/2006/main">
            <a:off x="10668000" y="3810000"/>
            <a:ext cx="304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75" b="1">
                <a:solidFill>
                  <a:srgbClr val="171717"/>
                </a:solidFill>
                <a:latin typeface="Tahoma"/>
                <a:ea typeface="Tahoma"/>
              </a:rPr>
              <a:t>The sequence is the evidence.</a:t>
            </a:r>
            <a:endParaRPr lang="en-US"/>
          </a:p>
        </p:txBody>
      </p:sp>
      <p:sp>
        <p:nvSpPr>
          <p:cNvPr id="30" name="process-read-body"/>
          <p:cNvSpPr txBox="1"/>
          <p:nvPr/>
        </p:nvSpPr>
        <p:spPr>
          <a:xfrm xmlns:a="http://schemas.openxmlformats.org/drawingml/2006/main">
            <a:off x="10668000" y="476250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98989"/>
                </a:solidFill>
                <a:latin typeface="Tahoma"/>
                <a:ea typeface="Tahoma"/>
              </a:rPr>
              <a:t>Keep each handoff adjacent to the condition that unlocks it; do not turn a real dependency into a decorative arrow.</a:t>
            </a:r>
            <a:endParaRPr lang="en-US"/>
          </a:p>
        </p:txBody>
      </p:sp>
      <p:sp>
        <p:nvSpPr>
          <p:cNvPr id="31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98989"/>
                </a:solidFill>
                <a:latin typeface="Tahoma"/>
                <a:ea typeface="Tahoma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32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98989"/>
                </a:solidFill>
                <a:latin typeface="Tahoma"/>
                <a:ea typeface="Tahoma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pic>
        <p:nvPicPr>
          <p:cNvPr id="2" name="visual-fiel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c7b73f8fac405495_1"/>
          <a:srcRect xmlns:a="http://schemas.openxmlformats.org/drawingml/2006/main" l="0" t="34171" r="0" b="34171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</p:spPr>
      </p:pic>
      <p:sp>
        <p:nvSpPr>
          <p:cNvPr id="3" name="visual-scrim"/>
          <p:cNvSpPr/>
          <p:nvPr/>
        </p:nvSpPr>
        <p:spPr>
          <a:xfrm xmlns:a="http://schemas.openxmlformats.org/drawingml/2006/main">
            <a:off x="0" y="0"/>
            <a:ext cx="6858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3F3">
              <a:alpha val="94000"/>
            </a:srgbClr>
          </a:solidFill>
          <a:ln xmlns:a="http://schemas.openxmlformats.org/drawingml/2006/main" w="0">
            <a:solidFill>
              <a:srgbClr val="F2F3F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visual-eyebrow"/>
          <p:cNvSpPr txBox="1"/>
          <p:nvPr/>
        </p:nvSpPr>
        <p:spPr>
          <a:xfrm xmlns:a="http://schemas.openxmlformats.org/drawingml/2006/main">
            <a:off x="914400" y="8953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9A6B45"/>
                </a:solidFill>
                <a:latin typeface="Tahoma"/>
                <a:ea typeface="Tahoma"/>
              </a:rPr>
              <a:t>SILVER ATELIER · VISUAL CARRIER</a:t>
            </a:r>
            <a:endParaRPr lang="en-US"/>
          </a:p>
        </p:txBody>
      </p:sp>
      <p:sp>
        <p:nvSpPr>
          <p:cNvPr id="5" name="visual-title"/>
          <p:cNvSpPr txBox="1"/>
          <p:nvPr/>
        </p:nvSpPr>
        <p:spPr>
          <a:xfrm xmlns:a="http://schemas.openxmlformats.org/drawingml/2006/main">
            <a:off x="914400" y="1638300"/>
            <a:ext cx="5334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300" b="1">
                <a:solidFill>
                  <a:srgbClr val="171717"/>
                </a:solidFill>
                <a:latin typeface="Tahoma"/>
                <a:ea typeface="Tahoma"/>
              </a:rPr>
              <a:t>Let the subject do the work</a:t>
            </a:r>
            <a:endParaRPr lang="en-US"/>
          </a:p>
        </p:txBody>
      </p:sp>
      <p:sp>
        <p:nvSpPr>
          <p:cNvPr id="6" name="visual-body"/>
          <p:cNvSpPr txBox="1"/>
          <p:nvPr/>
        </p:nvSpPr>
        <p:spPr>
          <a:xfrm xmlns:a="http://schemas.openxmlformats.org/drawingml/2006/main">
            <a:off x="914400" y="3219450"/>
            <a:ext cx="476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171717"/>
                </a:solidFill>
                <a:latin typeface="Tahoma"/>
                <a:ea typeface="Tahoma"/>
              </a:rPr>
              <a:t>A strong crop gives the proposition a place to live.</a:t>
            </a:r>
            <a:endParaRPr lang="en-US"/>
          </a:p>
        </p:txBody>
      </p:sp>
      <p:sp>
        <p:nvSpPr>
          <p:cNvPr id="7" name="visual-rule"/>
          <p:cNvSpPr/>
          <p:nvPr/>
        </p:nvSpPr>
        <p:spPr>
          <a:xfrm xmlns:a="http://schemas.openxmlformats.org/drawingml/2006/main">
            <a:off x="914400" y="4476750"/>
            <a:ext cx="4419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A6B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visual-label"/>
          <p:cNvSpPr txBox="1"/>
          <p:nvPr/>
        </p:nvSpPr>
        <p:spPr>
          <a:xfrm xmlns:a="http://schemas.openxmlformats.org/drawingml/2006/main">
            <a:off x="914400" y="48196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9A6B45"/>
                </a:solidFill>
                <a:latin typeface="Tahoma"/>
                <a:ea typeface="Tahoma"/>
              </a:rPr>
              <a:t>THE IMAGE IS EVIDENCE, NOT FILL</a:t>
            </a:r>
            <a:endParaRPr lang="en-US"/>
          </a:p>
        </p:txBody>
      </p:sp>
      <p:sp>
        <p:nvSpPr>
          <p:cNvPr id="9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98989"/>
                </a:solidFill>
                <a:latin typeface="Tahoma"/>
                <a:ea typeface="Tahoma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10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98989"/>
                </a:solidFill>
                <a:latin typeface="Tahoma"/>
                <a:ea typeface="Tahoma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pic>
        <p:nvPicPr>
          <p:cNvPr id="2" name="close-visual-fiel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aeb6f74d36d260d0_1"/>
          <a:srcRect xmlns:a="http://schemas.openxmlformats.org/drawingml/2006/main" l="0" t="34180" r="0" b="34180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</p:spPr>
      </p:pic>
      <p:sp>
        <p:nvSpPr>
          <p:cNvPr id="3" name="close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3F3">
              <a:alpha val="96000"/>
            </a:srgbClr>
          </a:solidFill>
          <a:ln xmlns:a="http://schemas.openxmlformats.org/drawingml/2006/main" w="0">
            <a:solidFill>
              <a:srgbClr val="F2F3F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clos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A6B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SILVER ATELIER · CLOS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9A6B45"/>
                </a:solidFill>
                <a:latin typeface="Tahoma"/>
                <a:ea typeface="Tahoma"/>
              </a:rPr>
              <a:t>SILVER ATELIER · CLOSE</a:t>
            </a:r>
            <a:endParaRPr lang="en-US"/>
          </a:p>
        </p:txBody>
      </p:sp>
      <p:sp>
        <p:nvSpPr>
          <p:cNvPr id="6" name="close-title"/>
          <p:cNvSpPr txBox="1"/>
          <p:nvPr/>
        </p:nvSpPr>
        <p:spPr>
          <a:xfrm xmlns:a="http://schemas.openxmlformats.org/drawingml/2006/main">
            <a:off x="914400" y="1314450"/>
            <a:ext cx="628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71717"/>
                </a:solidFill>
                <a:latin typeface="Tahoma"/>
                <a:ea typeface="Tahoma"/>
              </a:rPr>
              <a:t>Turn the shared invitation into an action plan</a:t>
            </a:r>
            <a:endParaRPr lang="en-US"/>
          </a:p>
        </p:txBody>
      </p:sp>
      <p:sp>
        <p:nvSpPr>
          <p:cNvPr id="7" name="close-basis"/>
          <p:cNvSpPr txBox="1"/>
          <p:nvPr/>
        </p:nvSpPr>
        <p:spPr>
          <a:xfrm xmlns:a="http://schemas.openxmlformats.org/drawingml/2006/main">
            <a:off x="952500" y="198120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98989"/>
                </a:solidFill>
                <a:latin typeface="Tahoma"/>
                <a:ea typeface="Tahoma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8" name="clos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898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9A6B45"/>
                </a:solidFill>
                <a:latin typeface="Tahoma"/>
                <a:ea typeface="Tahoma"/>
              </a:rPr>
              <a:t>01</a:t>
            </a:r>
            <a:endParaRPr lang="en-US"/>
          </a:p>
        </p:txBody>
      </p:sp>
      <p:sp>
        <p:nvSpPr>
          <p:cNvPr id="10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9898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1717"/>
                </a:solidFill>
                <a:latin typeface="Tahoma"/>
                <a:ea typeface="Tahoma"/>
              </a:rPr>
              <a:t>Promise</a:t>
            </a:r>
            <a:endParaRPr lang="en-US"/>
          </a:p>
        </p:txBody>
      </p:sp>
      <p:sp>
        <p:nvSpPr>
          <p:cNvPr id="12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71717"/>
                </a:solidFill>
                <a:latin typeface="Tahoma"/>
                <a:ea typeface="Tahoma"/>
              </a:rPr>
              <a:t>The proposition is legible.</a:t>
            </a:r>
            <a:endParaRPr lang="en-US"/>
          </a:p>
        </p:txBody>
      </p:sp>
      <p:sp>
        <p:nvSpPr>
          <p:cNvPr id="13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71717"/>
                </a:solidFill>
                <a:latin typeface="Tahoma"/>
                <a:ea typeface="Tahoma"/>
              </a:rPr>
              <a:t>02</a:t>
            </a:r>
            <a:endParaRPr lang="en-US"/>
          </a:p>
        </p:txBody>
      </p:sp>
      <p:sp>
        <p:nvSpPr>
          <p:cNvPr id="14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9898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1717"/>
                </a:solidFill>
                <a:latin typeface="Tahoma"/>
                <a:ea typeface="Tahoma"/>
              </a:rPr>
              <a:t>Proof</a:t>
            </a:r>
            <a:endParaRPr lang="en-US"/>
          </a:p>
        </p:txBody>
      </p:sp>
      <p:sp>
        <p:nvSpPr>
          <p:cNvPr id="16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71717"/>
                </a:solidFill>
                <a:latin typeface="Tahoma"/>
                <a:ea typeface="Tahoma"/>
              </a:rPr>
              <a:t>The response is measurable.</a:t>
            </a:r>
            <a:endParaRPr lang="en-US"/>
          </a:p>
        </p:txBody>
      </p:sp>
      <p:sp>
        <p:nvSpPr>
          <p:cNvPr id="17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9A6B45"/>
                </a:solidFill>
                <a:latin typeface="Tahoma"/>
                <a:ea typeface="Tahoma"/>
              </a:rPr>
              <a:t>03</a:t>
            </a:r>
            <a:endParaRPr lang="en-US"/>
          </a:p>
        </p:txBody>
      </p:sp>
      <p:sp>
        <p:nvSpPr>
          <p:cNvPr id="18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A6B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1717"/>
                </a:solidFill>
                <a:latin typeface="Tahoma"/>
                <a:ea typeface="Tahoma"/>
              </a:rPr>
              <a:t>Move</a:t>
            </a:r>
            <a:endParaRPr lang="en-US"/>
          </a:p>
        </p:txBody>
      </p:sp>
      <p:sp>
        <p:nvSpPr>
          <p:cNvPr id="20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71717"/>
                </a:solidFill>
                <a:latin typeface="Tahoma"/>
                <a:ea typeface="Tahoma"/>
              </a:rPr>
              <a:t>Give the audience one action.</a:t>
            </a:r>
            <a:endParaRPr lang="en-US"/>
          </a:p>
        </p:txBody>
      </p:sp>
      <p:sp>
        <p:nvSpPr>
          <p:cNvPr id="21" name="next-rule"/>
          <p:cNvSpPr/>
          <p:nvPr/>
        </p:nvSpPr>
        <p:spPr>
          <a:xfrm xmlns:a="http://schemas.openxmlformats.org/drawingml/2006/main">
            <a:off x="10668000" y="3714750"/>
            <a:ext cx="304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A6B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next-label"/>
          <p:cNvSpPr txBox="1"/>
          <p:nvPr/>
        </p:nvSpPr>
        <p:spPr>
          <a:xfrm xmlns:a="http://schemas.openxmlformats.org/drawingml/2006/main">
            <a:off x="10668000" y="40386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9A6B45"/>
                </a:solidFill>
                <a:latin typeface="Tahoma"/>
                <a:ea typeface="Tahoma"/>
              </a:rPr>
              <a:t>NEXT MOVE</a:t>
            </a:r>
            <a:endParaRPr lang="en-US"/>
          </a:p>
        </p:txBody>
      </p:sp>
      <p:sp>
        <p:nvSpPr>
          <p:cNvPr id="23" name="next-text"/>
          <p:cNvSpPr txBox="1"/>
          <p:nvPr/>
        </p:nvSpPr>
        <p:spPr>
          <a:xfrm xmlns:a="http://schemas.openxmlformats.org/drawingml/2006/main">
            <a:off x="10668000" y="4514850"/>
            <a:ext cx="304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75" b="1">
                <a:solidFill>
                  <a:srgbClr val="171717"/>
                </a:solidFill>
                <a:latin typeface="Tahoma"/>
                <a:ea typeface="Tahoma"/>
              </a:rPr>
              <a:t>Publish the invitation</a:t>
            </a:r>
            <a:endParaRPr lang="en-US"/>
          </a:p>
        </p:txBody>
      </p:sp>
      <p:sp>
        <p:nvSpPr>
          <p:cNvPr id="24" name="next-foot"/>
          <p:cNvSpPr txBox="1"/>
          <p:nvPr/>
        </p:nvSpPr>
        <p:spPr>
          <a:xfrm xmlns:a="http://schemas.openxmlformats.org/drawingml/2006/main">
            <a:off x="10668000" y="56007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98989"/>
                </a:solidFill>
                <a:latin typeface="Tahoma"/>
                <a:ea typeface="Tahoma"/>
              </a:rPr>
              <a:t>Owner · reviewer · date</a:t>
            </a:r>
            <a:endParaRPr lang="en-US"/>
          </a:p>
        </p:txBody>
      </p:sp>
      <p:sp>
        <p:nvSpPr>
          <p:cNvPr id="2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98989"/>
                </a:solidFill>
                <a:latin typeface="Tahoma"/>
                <a:ea typeface="Tahoma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2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98989"/>
                </a:solidFill>
                <a:latin typeface="Tahoma"/>
                <a:ea typeface="Tahoma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