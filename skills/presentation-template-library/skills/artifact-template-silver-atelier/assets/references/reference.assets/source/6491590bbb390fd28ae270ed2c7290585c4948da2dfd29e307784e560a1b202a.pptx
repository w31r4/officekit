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1397533552744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7790b68b5d8fcd92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c237998db8bee20d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31956823b229fb66_1" /><Relationship Type="http://schemas.openxmlformats.org/officeDocument/2006/relationships/chart" Target="/ppt/slides/charts/chart1.xml" Id="R0eb11adf5d9f4f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c7b73f8fac405495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aeb6f74d36d260d0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9A6B45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98989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7790b68b5d8fcd92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>
              <a:alpha val="84000"/>
            </a:srgbClr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PROMOTION · OFFICEKIT CALIBRATION</a:t>
            </a:r>
            <a:endParaRPr lang="en-US"/>
          </a:p>
        </p:txBody>
      </p:sp>
      <p:sp>
        <p:nvSpPr>
          <p:cNvPr id="4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FFFFF"/>
                </a:solidFill>
                <a:latin typeface="Tahoma"/>
                <a:ea typeface="Tahoma"/>
              </a:rPr>
              <a:t>Silver Atelier: a claim worth testing</a:t>
            </a:r>
            <a:endParaRPr lang="en-US"/>
          </a:p>
        </p:txBody>
      </p:sp>
      <p:sp>
        <p:nvSpPr>
          <p:cNvPr id="5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F0F2F2"/>
                </a:solidFill>
                <a:latin typeface="Tahoma"/>
                <a:ea typeface="Tahoma"/>
              </a:rPr>
              <a:t>A clean-room reference for a visual proposition.</a:t>
            </a:r>
            <a:endParaRPr lang="en-US"/>
          </a:p>
        </p:txBody>
      </p:sp>
      <p:sp>
        <p:nvSpPr>
          <p:cNvPr id="6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FFFFFF"/>
                </a:solidFill>
                <a:latin typeface="Tahoma"/>
                <a:ea typeface="Tahoma"/>
              </a:rPr>
              <a:t>A proposition earns attention when it gives a next move.</a:t>
            </a:r>
            <a:endParaRPr lang="en-US"/>
          </a:p>
        </p:txBody>
      </p:sp>
      <p:sp>
        <p:nvSpPr>
          <p:cNvPr id="8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F0F2F2"/>
                </a:solidFill>
                <a:latin typeface="Tahoma"/>
                <a:ea typeface="Tahoma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F0F2F2"/>
                </a:solidFill>
                <a:latin typeface="Tahoma"/>
                <a:ea typeface="Tahoma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bg>
      <p:bgPr>
        <a:blipFill xmlns:a="http://schemas.openxmlformats.org/drawingml/2006/main">
          <a:blip xmlns:r="http://schemas.openxmlformats.org/officeDocument/2006/relationships" r:embed="rIdOfficeKitImagec237998db8bee20d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rgument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6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ILVER ATELIER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The proposition is the page's visual center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ONE PROPOSITION</a:t>
            </a:r>
            <a:endParaRPr lang="en-US"/>
          </a:p>
        </p:txBody>
      </p:sp>
      <p:sp>
        <p:nvSpPr>
          <p:cNvPr id="9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171717"/>
                </a:solidFill>
                <a:latin typeface="Tahoma"/>
                <a:ea typeface="Tahoma"/>
              </a:rPr>
              <a:t>Make the next action visible.</a:t>
            </a:r>
            <a:endParaRPr lang="en-US"/>
          </a:p>
        </p:txBody>
      </p:sp>
      <p:sp>
        <p:nvSpPr>
          <p:cNvPr id="10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171717"/>
                </a:solidFill>
                <a:latin typeface="Tahoma"/>
                <a:ea typeface="Tahoma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11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237998db8bee20d_1"/>
          <a:srcRect xmlns:a="http://schemas.openxmlformats.org/drawingml/2006/main" l="0" t="31908" r="0" b="319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9A6B45"/>
                </a:solidFill>
                <a:latin typeface="Tahoma"/>
                <a:ea typeface="Tahoma"/>
              </a:rPr>
              <a:t>INVITE · PROVE · MOVE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bg>
      <p:bgPr>
        <a:blipFill xmlns:a="http://schemas.openxmlformats.org/drawingml/2006/main">
          <a:blip xmlns:r="http://schemas.openxmlformats.org/officeDocument/2006/relationships" r:embed="rIdOfficeKitImage31956823b229fb66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videnc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6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ILVER ATELIER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The signal grows when the invitation stays measurable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Illustrative reach and response · source and measurement convention remain attached.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b11adf5d9f4ffd"/>
          </a:graphicData>
        </a:graphic>
      </p:graphicFrame>
      <p:sp>
        <p:nvSpPr>
          <p:cNvPr id="9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9A6B45"/>
                </a:solidFill>
                <a:latin typeface="Tahoma"/>
                <a:ea typeface="Tahoma"/>
              </a:rPr>
              <a:t>68</a:t>
            </a:r>
            <a:endParaRPr lang="en-US"/>
          </a:p>
        </p:txBody>
      </p:sp>
      <p:sp>
        <p:nvSpPr>
          <p:cNvPr id="10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qualified response · campaign close</a:t>
            </a:r>
            <a:endParaRPr lang="en-US"/>
          </a:p>
        </p:txBody>
      </p:sp>
      <p:sp>
        <p:nvSpPr>
          <p:cNvPr id="11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Reach is useful only when the audience can see and take the next step.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1717"/>
                </a:solidFill>
                <a:latin typeface="Tahoma"/>
                <a:ea typeface="Tahoma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ILVER ATELIER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The same idea can hold several views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Unequal image frames · visual variety without decorative filler.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B45"/>
          </a:solidFill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717"/>
                </a:solidFill>
                <a:latin typeface="Tahoma"/>
                <a:ea typeface="Tahoma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989"/>
                </a:solidFill>
                <a:latin typeface="Tahoma"/>
                <a:ea typeface="Tahoma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c7b73f8fac405495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4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VISUAL CARRIER</a:t>
            </a:r>
            <a:endParaRPr lang="en-US"/>
          </a:p>
        </p:txBody>
      </p:sp>
      <p:sp>
        <p:nvSpPr>
          <p:cNvPr id="4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171717"/>
                </a:solidFill>
                <a:latin typeface="Tahoma"/>
                <a:ea typeface="Tahoma"/>
              </a:rPr>
              <a:t>Let the subject do the work</a:t>
            </a:r>
            <a:endParaRPr lang="en-US"/>
          </a:p>
        </p:txBody>
      </p:sp>
      <p:sp>
        <p:nvSpPr>
          <p:cNvPr id="5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71717"/>
                </a:solidFill>
                <a:latin typeface="Tahoma"/>
                <a:ea typeface="Tahoma"/>
              </a:rPr>
              <a:t>A strong crop gives the proposition a place to live.</a:t>
            </a:r>
            <a:endParaRPr lang="en-US"/>
          </a:p>
        </p:txBody>
      </p:sp>
      <p:sp>
        <p:nvSpPr>
          <p:cNvPr id="6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THE IMAGE IS EVIDENCE, NOT FILL</a:t>
            </a:r>
            <a:endParaRPr lang="en-US"/>
          </a:p>
        </p:txBody>
      </p:sp>
      <p:sp>
        <p:nvSpPr>
          <p:cNvPr id="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bg>
      <p:bgPr>
        <a:blipFill xmlns:a="http://schemas.openxmlformats.org/drawingml/2006/main">
          <a:blip xmlns:r="http://schemas.openxmlformats.org/officeDocument/2006/relationships" r:embed="rIdOfficeKitImageaeb6f74d36d260d0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los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6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ILVER ATELIER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Turn the shared invitation into an action plan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9A6B45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Promise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Tahoma"/>
                <a:ea typeface="Tahoma"/>
              </a:rPr>
              <a:t>The proposition is legible.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717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Proof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Tahoma"/>
                <a:ea typeface="Tahoma"/>
              </a:rPr>
              <a:t>The response is measurable.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9A6B45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Move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Tahoma"/>
                <a:ea typeface="Tahoma"/>
              </a:rPr>
              <a:t>Give the audience one action.</a:t>
            </a:r>
            <a:endParaRPr lang="en-US"/>
          </a:p>
        </p:txBody>
      </p:sp>
      <p:sp>
        <p:nvSpPr>
          <p:cNvPr id="20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717"/>
                </a:solidFill>
                <a:latin typeface="Tahoma"/>
                <a:ea typeface="Tahoma"/>
              </a:rPr>
              <a:t>Publish the invitation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