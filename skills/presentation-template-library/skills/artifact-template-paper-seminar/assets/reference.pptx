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1ad309633fa49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6af8c9b5dff6e3a3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8bca39c9b7ba070f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8fbc298f8d1b7a3c_1" /><Relationship Type="http://schemas.openxmlformats.org/officeDocument/2006/relationships/chart" Target="/ppt/slides/charts/chart1.xml" Id="Rdb52d7e32d4d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4.jpg" Id="rIdOfficeKitImaged71bfa074cda59bb_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5.jpg" Id="rIdOfficeKitImage45ba195e2a5649fb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6af8c9b5dff6e3a3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over the study window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Primary</c:v>
          </c:tx>
          <c:spPr>
            <a:solidFill>
              <a:srgbClr val="3E7658"/>
            </a:solidFill>
            <a:ln w="50800">
              <a:solidFill>
                <a:srgbClr val="3E7658"/>
              </a:solidFill>
              <a:prstDash val="solid"/>
            </a:ln>
          </c:spPr>
          <c:marker>
            <c:symbol val="circle"/>
            <c:size val="8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48</c:v>
              </c:pt>
              <c:pt idx="2">
                <c:v>54</c:v>
              </c:pt>
              <c:pt idx="3">
                <c:v>61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92978E"/>
            </a:solidFill>
            <a:ln w="38100">
              <a:solidFill>
                <a:srgbClr val="92978E"/>
              </a:solidFill>
              <a:prstDash val="solid"/>
            </a:ln>
          </c:spPr>
          <c:marker>
            <c:symbol val="circle"/>
            <c:size val="7"/>
          </c:marke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42</c:v>
              </c:pt>
              <c:pt idx="2">
                <c:v>44</c:v>
              </c:pt>
              <c:pt idx="3">
                <c:v>45</c:v>
              </c:pt>
              <c:pt idx="4">
                <c:v>46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tifact-template-paper-seminar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f8c9b5dff6e3a3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over-paper-scrim"/>
          <p:cNvSpPr/>
          <p:nvPr/>
        </p:nvSpPr>
        <p:spPr>
          <a:xfrm xmlns:a="http://schemas.openxmlformats.org/drawingml/2006/main">
            <a:off x="0" y="0"/>
            <a:ext cx="9525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>
              <a:alpha val="100000"/>
            </a:srgbClr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E765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6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26352E"/>
                </a:solidFill>
                <a:latin typeface="Inter"/>
                <a:ea typeface="Inter"/>
              </a:rPr>
              <a:t>Paper Seminar: a claim worth testing</a:t>
            </a:r>
            <a:endParaRPr lang="en-US"/>
          </a:p>
        </p:txBody>
      </p:sp>
      <p:sp>
        <p:nvSpPr>
          <p:cNvPr id="7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3E765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8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10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6352E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1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2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3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127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argument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bca39c9b7ba070f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argument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argument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ARGUMENT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ARGUMENT</a:t>
            </a:r>
            <a:endParaRPr lang="en-US"/>
          </a:p>
        </p:txBody>
      </p:sp>
      <p:sp>
        <p:nvSpPr>
          <p:cNvPr id="7" name="argument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8" name="argument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9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2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3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6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7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20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1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3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3E765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4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2978E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evidenc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8fbc298f8d1b7a3c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evidenc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evidenc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EVIDENC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EVIDENCE</a:t>
            </a:r>
            <a:endParaRPr lang="en-US"/>
          </a:p>
        </p:txBody>
      </p:sp>
      <p:sp>
        <p:nvSpPr>
          <p:cNvPr id="7" name="evidenc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8" name="evidenc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graphicFrame>
        <p:nvGraphicFramePr>
          <p:cNvPr id="9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52d7e32d4d4722"/>
          </a:graphicData>
        </a:graphic>
      </p:graphicFrame>
      <p:sp>
        <p:nvSpPr>
          <p:cNvPr id="10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3E7658"/>
                </a:solidFill>
                <a:latin typeface="Inter"/>
                <a:ea typeface="Inter"/>
              </a:rPr>
              <a:t>68</a:t>
            </a:r>
            <a:endParaRPr lang="en-US"/>
          </a:p>
        </p:txBody>
      </p:sp>
      <p:sp>
        <p:nvSpPr>
          <p:cNvPr id="11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92978E"/>
                </a:solidFill>
                <a:latin typeface="Inter"/>
                <a:ea typeface="Inter"/>
              </a:rPr>
              <a:t>participation index · week 4</a:t>
            </a:r>
            <a:endParaRPr lang="en-US"/>
          </a:p>
        </p:txBody>
      </p:sp>
      <p:sp>
        <p:nvSpPr>
          <p:cNvPr id="12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The observed lift is compatible with the registered mechanism, not proof of generalization.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26352E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detai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d71bfa074cda59bb_1"/>
          <a:srcRect xmlns:a="http://schemas.openxmlformats.org/drawingml/2006/main" l="0" t="47258" r="0" b="472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detai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detai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DETAIL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DETAIL</a:t>
            </a:r>
            <a:endParaRPr lang="en-US"/>
          </a:p>
        </p:txBody>
      </p:sp>
      <p:sp>
        <p:nvSpPr>
          <p:cNvPr id="7" name="detai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8" name="detail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9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2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Frame</a:t>
            </a:r>
            <a:endParaRPr lang="en-US"/>
          </a:p>
        </p:txBody>
      </p:sp>
      <p:sp>
        <p:nvSpPr>
          <p:cNvPr id="13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Name the question</a:t>
            </a:r>
            <a:endParaRPr lang="en-US"/>
          </a:p>
        </p:txBody>
      </p:sp>
      <p:sp>
        <p:nvSpPr>
          <p:cNvPr id="14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7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Test</a:t>
            </a:r>
            <a:endParaRPr lang="en-US"/>
          </a:p>
        </p:txBody>
      </p:sp>
      <p:sp>
        <p:nvSpPr>
          <p:cNvPr id="18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Hold the rule</a:t>
            </a:r>
            <a:endParaRPr lang="en-US"/>
          </a:p>
        </p:txBody>
      </p:sp>
      <p:sp>
        <p:nvSpPr>
          <p:cNvPr id="19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2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Read</a:t>
            </a:r>
            <a:endParaRPr lang="en-US"/>
          </a:p>
        </p:txBody>
      </p:sp>
      <p:sp>
        <p:nvSpPr>
          <p:cNvPr id="23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Separate signal</a:t>
            </a:r>
            <a:endParaRPr lang="en-US"/>
          </a:p>
        </p:txBody>
      </p:sp>
      <p:sp>
        <p:nvSpPr>
          <p:cNvPr id="24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6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3E7658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7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26352E"/>
                </a:solidFill>
                <a:latin typeface="Inter"/>
                <a:ea typeface="Inter"/>
              </a:rPr>
              <a:t>Decide</a:t>
            </a:r>
            <a:endParaRPr lang="en-US"/>
          </a:p>
        </p:txBody>
      </p:sp>
      <p:sp>
        <p:nvSpPr>
          <p:cNvPr id="28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92978E"/>
                </a:solidFill>
                <a:latin typeface="Inter"/>
                <a:ea typeface="Inter"/>
              </a:rPr>
              <a:t>Set the next gate</a:t>
            </a:r>
            <a:endParaRPr lang="en-US"/>
          </a:p>
        </p:txBody>
      </p:sp>
      <p:sp>
        <p:nvSpPr>
          <p:cNvPr id="29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30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26352E"/>
                </a:solidFill>
                <a:latin typeface="Inter"/>
                <a:ea typeface="Inter"/>
              </a:rPr>
              <a:t>The sequence is the evidence.</a:t>
            </a:r>
            <a:endParaRPr lang="en-US"/>
          </a:p>
        </p:txBody>
      </p:sp>
      <p:sp>
        <p:nvSpPr>
          <p:cNvPr id="31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2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3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visual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45ba195e2a5649fb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visual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visual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VISUAL CARRIER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VISUAL CARRIER</a:t>
            </a:r>
            <a:endParaRPr lang="en-US"/>
          </a:p>
        </p:txBody>
      </p:sp>
      <p:sp>
        <p:nvSpPr>
          <p:cNvPr id="7" name="visual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8" name="visual-body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9" name="visual-process-rail"/>
          <p:cNvSpPr/>
          <p:nvPr/>
        </p:nvSpPr>
        <p:spPr>
          <a:xfrm xmlns:a="http://schemas.openxmlformats.org/drawingml/2006/main">
            <a:off x="1447800" y="3524250"/>
            <a:ext cx="0" cy="2647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visual-process-node-0"/>
          <p:cNvSpPr/>
          <p:nvPr/>
        </p:nvSpPr>
        <p:spPr>
          <a:xfrm xmlns:a="http://schemas.openxmlformats.org/drawingml/2006/main">
            <a:off x="1257300" y="3352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process-number-0"/>
          <p:cNvSpPr txBox="1"/>
          <p:nvPr/>
        </p:nvSpPr>
        <p:spPr>
          <a:xfrm xmlns:a="http://schemas.openxmlformats.org/drawingml/2006/main">
            <a:off x="1238250" y="34671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2" name="visual-process-label-0"/>
          <p:cNvSpPr txBox="1"/>
          <p:nvPr/>
        </p:nvSpPr>
        <p:spPr>
          <a:xfrm xmlns:a="http://schemas.openxmlformats.org/drawingml/2006/main">
            <a:off x="19431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Observe</a:t>
            </a:r>
            <a:endParaRPr lang="en-US"/>
          </a:p>
        </p:txBody>
      </p:sp>
      <p:sp>
        <p:nvSpPr>
          <p:cNvPr id="13" name="visual-process-text-0"/>
          <p:cNvSpPr txBox="1"/>
          <p:nvPr/>
        </p:nvSpPr>
        <p:spPr>
          <a:xfrm xmlns:a="http://schemas.openxmlformats.org/drawingml/2006/main">
            <a:off x="3829050" y="34004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Find the signal</a:t>
            </a:r>
            <a:endParaRPr lang="en-US"/>
          </a:p>
        </p:txBody>
      </p:sp>
      <p:sp>
        <p:nvSpPr>
          <p:cNvPr id="14" name="visual-process-node-1"/>
          <p:cNvSpPr/>
          <p:nvPr/>
        </p:nvSpPr>
        <p:spPr>
          <a:xfrm xmlns:a="http://schemas.openxmlformats.org/drawingml/2006/main">
            <a:off x="12573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visual-process-number-1"/>
          <p:cNvSpPr txBox="1"/>
          <p:nvPr/>
        </p:nvSpPr>
        <p:spPr>
          <a:xfrm xmlns:a="http://schemas.openxmlformats.org/drawingml/2006/main">
            <a:off x="1238250" y="42100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6" name="visual-process-label-1"/>
          <p:cNvSpPr txBox="1"/>
          <p:nvPr/>
        </p:nvSpPr>
        <p:spPr>
          <a:xfrm xmlns:a="http://schemas.openxmlformats.org/drawingml/2006/main">
            <a:off x="1943100" y="4114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Explain</a:t>
            </a:r>
            <a:endParaRPr lang="en-US"/>
          </a:p>
        </p:txBody>
      </p:sp>
      <p:sp>
        <p:nvSpPr>
          <p:cNvPr id="17" name="visual-process-text-1"/>
          <p:cNvSpPr txBox="1"/>
          <p:nvPr/>
        </p:nvSpPr>
        <p:spPr>
          <a:xfrm xmlns:a="http://schemas.openxmlformats.org/drawingml/2006/main">
            <a:off x="3829050" y="41433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Name the mechanism</a:t>
            </a:r>
            <a:endParaRPr lang="en-US"/>
          </a:p>
        </p:txBody>
      </p:sp>
      <p:sp>
        <p:nvSpPr>
          <p:cNvPr id="18" name="visual-process-node-2"/>
          <p:cNvSpPr/>
          <p:nvPr/>
        </p:nvSpPr>
        <p:spPr>
          <a:xfrm xmlns:a="http://schemas.openxmlformats.org/drawingml/2006/main">
            <a:off x="1257300" y="4838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3810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visual-process-number-2"/>
          <p:cNvSpPr txBox="1"/>
          <p:nvPr/>
        </p:nvSpPr>
        <p:spPr>
          <a:xfrm xmlns:a="http://schemas.openxmlformats.org/drawingml/2006/main">
            <a:off x="1238250" y="495300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20" name="visual-process-label-2"/>
          <p:cNvSpPr txBox="1"/>
          <p:nvPr/>
        </p:nvSpPr>
        <p:spPr>
          <a:xfrm xmlns:a="http://schemas.openxmlformats.org/drawingml/2006/main">
            <a:off x="1943100" y="4857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Choose</a:t>
            </a:r>
            <a:endParaRPr lang="en-US"/>
          </a:p>
        </p:txBody>
      </p:sp>
      <p:sp>
        <p:nvSpPr>
          <p:cNvPr id="21" name="visual-process-text-2"/>
          <p:cNvSpPr txBox="1"/>
          <p:nvPr/>
        </p:nvSpPr>
        <p:spPr>
          <a:xfrm xmlns:a="http://schemas.openxmlformats.org/drawingml/2006/main">
            <a:off x="3829050" y="48863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Set the condition</a:t>
            </a:r>
            <a:endParaRPr lang="en-US"/>
          </a:p>
        </p:txBody>
      </p:sp>
      <p:sp>
        <p:nvSpPr>
          <p:cNvPr id="22" name="visual-process-node-3"/>
          <p:cNvSpPr/>
          <p:nvPr/>
        </p:nvSpPr>
        <p:spPr>
          <a:xfrm xmlns:a="http://schemas.openxmlformats.org/drawingml/2006/main">
            <a:off x="1257300" y="558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3" name="visual-process-number-3"/>
          <p:cNvSpPr txBox="1"/>
          <p:nvPr/>
        </p:nvSpPr>
        <p:spPr>
          <a:xfrm xmlns:a="http://schemas.openxmlformats.org/drawingml/2006/main">
            <a:off x="1238250" y="56959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00" b="1">
                <a:solidFill>
                  <a:srgbClr val="FFFFFF"/>
                </a:solidFill>
                <a:latin typeface="Inter"/>
                <a:ea typeface="Inter"/>
              </a:rPr>
              <a:t>04</a:t>
            </a:r>
            <a:endParaRPr lang="en-US"/>
          </a:p>
        </p:txBody>
      </p:sp>
      <p:sp>
        <p:nvSpPr>
          <p:cNvPr id="24" name="visual-process-label-3"/>
          <p:cNvSpPr txBox="1"/>
          <p:nvPr/>
        </p:nvSpPr>
        <p:spPr>
          <a:xfrm xmlns:a="http://schemas.openxmlformats.org/drawingml/2006/main">
            <a:off x="1943100" y="560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Act</a:t>
            </a:r>
            <a:endParaRPr lang="en-US"/>
          </a:p>
        </p:txBody>
      </p:sp>
      <p:sp>
        <p:nvSpPr>
          <p:cNvPr id="25" name="visual-process-text-3"/>
          <p:cNvSpPr txBox="1"/>
          <p:nvPr/>
        </p:nvSpPr>
        <p:spPr>
          <a:xfrm xmlns:a="http://schemas.openxmlformats.org/drawingml/2006/main">
            <a:off x="3829050" y="56292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Return with proof</a:t>
            </a:r>
            <a:endParaRPr lang="en-US"/>
          </a:p>
        </p:txBody>
      </p:sp>
      <p:sp>
        <p:nvSpPr>
          <p:cNvPr id="26" name="visual-process-rule"/>
          <p:cNvSpPr/>
          <p:nvPr/>
        </p:nvSpPr>
        <p:spPr>
          <a:xfrm xmlns:a="http://schemas.openxmlformats.org/drawingml/2006/main">
            <a:off x="7239000" y="34861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7" name="visual-process-note-label"/>
          <p:cNvSpPr txBox="1"/>
          <p:nvPr/>
        </p:nvSpPr>
        <p:spPr>
          <a:xfrm xmlns:a="http://schemas.openxmlformats.org/drawingml/2006/main">
            <a:off x="8001000" y="3562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PROCESS CARRIER</a:t>
            </a:r>
            <a:endParaRPr lang="en-US"/>
          </a:p>
        </p:txBody>
      </p:sp>
      <p:sp>
        <p:nvSpPr>
          <p:cNvPr id="28" name="visual-process-note-title"/>
          <p:cNvSpPr txBox="1"/>
          <p:nvPr/>
        </p:nvSpPr>
        <p:spPr>
          <a:xfrm xmlns:a="http://schemas.openxmlformats.org/drawingml/2006/main">
            <a:off x="8001000" y="4038600"/>
            <a:ext cx="438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250" b="1">
                <a:solidFill>
                  <a:srgbClr val="26352E"/>
                </a:solidFill>
                <a:latin typeface="Inter"/>
                <a:ea typeface="Inter"/>
              </a:rPr>
              <a:t>A relationship earns a line.</a:t>
            </a:r>
            <a:endParaRPr lang="en-US"/>
          </a:p>
        </p:txBody>
      </p:sp>
      <p:sp>
        <p:nvSpPr>
          <p:cNvPr id="29" name="visual-process-note-body"/>
          <p:cNvSpPr txBox="1"/>
          <p:nvPr/>
        </p:nvSpPr>
        <p:spPr>
          <a:xfrm xmlns:a="http://schemas.openxmlformats.org/drawingml/2006/main">
            <a:off x="8001000" y="5048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92978E"/>
                </a:solidFill>
                <a:latin typeface="Inter"/>
                <a:ea typeface="Inter"/>
              </a:rPr>
              <a:t>Use sequence, direction and conditions to make the mechanism visible. If the relationship is not real, remove the arrow.</a:t>
            </a:r>
            <a:endParaRPr lang="en-US"/>
          </a:p>
        </p:txBody>
      </p:sp>
      <p:sp>
        <p:nvSpPr>
          <p:cNvPr id="30" name="visual-note"/>
          <p:cNvSpPr/>
          <p:nvPr/>
        </p:nvSpPr>
        <p:spPr>
          <a:xfrm xmlns:a="http://schemas.openxmlformats.org/drawingml/2006/main">
            <a:off x="8858250" y="3333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1" name="visual-note-label"/>
          <p:cNvSpPr txBox="1"/>
          <p:nvPr/>
        </p:nvSpPr>
        <p:spPr>
          <a:xfrm xmlns:a="http://schemas.openxmlformats.org/drawingml/2006/main">
            <a:off x="9239250" y="3695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3E765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32" name="visual-note-text"/>
          <p:cNvSpPr txBox="1"/>
          <p:nvPr/>
        </p:nvSpPr>
        <p:spPr>
          <a:xfrm xmlns:a="http://schemas.openxmlformats.org/drawingml/2006/main">
            <a:off x="9239250" y="417195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26352E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33" name="visual-note-foot"/>
          <p:cNvSpPr txBox="1"/>
          <p:nvPr/>
        </p:nvSpPr>
        <p:spPr>
          <a:xfrm xmlns:a="http://schemas.openxmlformats.org/drawingml/2006/main">
            <a:off x="9239250" y="5219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92978E"/>
                </a:solidFill>
                <a:latin typeface="Inter"/>
                <a:ea typeface="Inter"/>
              </a:rPr>
              <a:t>Crop, contrast and source role are reviewed before delivery.</a:t>
            </a:r>
            <a:endParaRPr lang="en-US"/>
          </a:p>
        </p:txBody>
      </p:sp>
      <p:sp>
        <p:nvSpPr>
          <p:cNvPr id="3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3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F6F1E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pic>
        <p:nvPicPr>
          <p:cNvPr id="3" name="close-photo-ban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6af8c9b5dff6e3a3_1"/>
          <a:srcRect xmlns:a="http://schemas.openxmlformats.org/drawingml/2006/main" l="0" t="47256" r="0" b="472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</p:spPr>
      </p:pic>
      <p:sp>
        <p:nvSpPr>
          <p:cNvPr id="4" name="close-photo-scrim"/>
          <p:cNvSpPr/>
          <p:nvPr/>
        </p:nvSpPr>
        <p:spPr>
          <a:xfrm xmlns:a="http://schemas.openxmlformats.org/drawingml/2006/main">
            <a:off x="0" y="0"/>
            <a:ext cx="15240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52E">
              <a:alpha val="62000"/>
            </a:srgbClr>
          </a:solidFill>
          <a:ln xmlns:a="http://schemas.openxmlformats.org/drawingml/2006/main" w="0">
            <a:solidFill>
              <a:srgbClr val="26352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close-photo-rule"/>
          <p:cNvSpPr/>
          <p:nvPr/>
        </p:nvSpPr>
        <p:spPr>
          <a:xfrm xmlns:a="http://schemas.openxmlformats.org/drawingml/2006/main">
            <a:off x="914400" y="1438275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6" name="PAPER SEMINAR · CLOSE"/>
          <p:cNvSpPr txBox="1"/>
          <p:nvPr/>
        </p:nvSpPr>
        <p:spPr>
          <a:xfrm xmlns:a="http://schemas.openxmlformats.org/drawingml/2006/main">
            <a:off x="914400" y="2286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3E7658"/>
                </a:solidFill>
                <a:latin typeface="Inter"/>
                <a:ea typeface="Inter"/>
              </a:rPr>
              <a:t>PAPER SEMINAR · CLOSE</a:t>
            </a:r>
            <a:endParaRPr lang="en-US"/>
          </a:p>
        </p:txBody>
      </p:sp>
      <p:sp>
        <p:nvSpPr>
          <p:cNvPr id="7" name="close-title"/>
          <p:cNvSpPr txBox="1"/>
          <p:nvPr/>
        </p:nvSpPr>
        <p:spPr>
          <a:xfrm xmlns:a="http://schemas.openxmlformats.org/drawingml/2006/main">
            <a:off x="914400" y="495300"/>
            <a:ext cx="1200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550" b="1">
                <a:solidFill>
                  <a:srgbClr val="FFFFFF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8" name="close-basis"/>
          <p:cNvSpPr txBox="1"/>
          <p:nvPr/>
        </p:nvSpPr>
        <p:spPr>
          <a:xfrm xmlns:a="http://schemas.openxmlformats.org/drawingml/2006/main">
            <a:off x="952500" y="1066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0F3F2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E765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6352E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92978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3E765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26352E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26352E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1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7658"/>
          </a:solidFill>
          <a:ln xmlns:a="http://schemas.openxmlformats.org/drawingml/2006/main" w="0">
            <a:solidFill>
              <a:srgbClr val="3E765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92978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