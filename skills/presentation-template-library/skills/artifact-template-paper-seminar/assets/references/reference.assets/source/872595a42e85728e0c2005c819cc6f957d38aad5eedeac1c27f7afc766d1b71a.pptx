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05e8719d80346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6af8c9b5dff6e3a3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8bca39c9b7ba070f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8fbc298f8d1b7a3c_1" /><Relationship Type="http://schemas.openxmlformats.org/officeDocument/2006/relationships/chart" Target="/ppt/slides/charts/chart1.xml" Id="R383f833084d64c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d71bfa074cda59bb_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5.jpg" Id="rIdOfficeKitImage45ba195e2a5649fb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6af8c9b5dff6e3a3_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 over the study window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Primary</c:v>
          </c:tx>
          <c:spPr>
            <a:solidFill>
              <a:srgbClr val="3E7658"/>
            </a:solidFill>
            <a:ln w="50800">
              <a:solidFill>
                <a:srgbClr val="3E7658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48</c:v>
              </c:pt>
              <c:pt idx="2">
                <c:v>54</c:v>
              </c:pt>
              <c:pt idx="3">
                <c:v>61</c:v>
              </c:pt>
              <c:pt idx="4">
                <c:v>68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92978E"/>
            </a:solidFill>
            <a:ln w="38100">
              <a:solidFill>
                <a:srgbClr val="92978E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42</c:v>
              </c:pt>
              <c:pt idx="2">
                <c:v>44</c:v>
              </c:pt>
              <c:pt idx="3">
                <c:v>45</c:v>
              </c:pt>
              <c:pt idx="4">
                <c:v>46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6af8c9b5dff6e3a3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>
              <a:alpha val="100000"/>
            </a:srgbClr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E7658"/>
                </a:solidFill>
                <a:latin typeface="Inter"/>
                <a:ea typeface="Inter"/>
              </a:rPr>
              <a:t>ACADEMIC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26352E"/>
                </a:solidFill>
                <a:latin typeface="Inter"/>
                <a:ea typeface="Inter"/>
              </a:rPr>
              <a:t>Paper Seminar: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3E7658"/>
                </a:solidFill>
                <a:latin typeface="Inter"/>
                <a:ea typeface="Inter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6352E"/>
                </a:solidFill>
                <a:latin typeface="Inter"/>
                <a:ea typeface="Inter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6352E"/>
                </a:solidFill>
                <a:latin typeface="Inter"/>
                <a:ea typeface="Inter"/>
              </a:rPr>
              <a:t>A falsifiable claim is a design decision.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argument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8bca39c9b7ba070f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argument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2E">
              <a:alpha val="62000"/>
            </a:srgbClr>
          </a:solidFill>
          <a:ln xmlns:a="http://schemas.openxmlformats.org/drawingml/2006/main" w="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argument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PAPER SEMINAR · ARGUMENT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3E7658"/>
                </a:solidFill>
                <a:latin typeface="Inter"/>
                <a:ea typeface="Inter"/>
              </a:rPr>
              <a:t>PAPER SEMINAR · ARGUMENT</a:t>
            </a:r>
            <a:endParaRPr lang="en-US"/>
          </a:p>
        </p:txBody>
      </p:sp>
      <p:sp>
        <p:nvSpPr>
          <p:cNvPr id="7" name="argument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The method keeps mechanism separate from drift</a:t>
            </a:r>
            <a:endParaRPr lang="en-US"/>
          </a:p>
        </p:txBody>
      </p:sp>
      <p:sp>
        <p:nvSpPr>
          <p:cNvPr id="8" name="argument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Question → method → result → limitation, without marketing language.</a:t>
            </a:r>
            <a:endParaRPr lang="en-US"/>
          </a:p>
        </p:txBody>
      </p:sp>
      <p:sp>
        <p:nvSpPr>
          <p:cNvPr id="9" name="academic-number-0"/>
          <p:cNvSpPr txBox="1"/>
          <p:nvPr/>
        </p:nvSpPr>
        <p:spPr>
          <a:xfrm xmlns:a="http://schemas.openxmlformats.org/drawingml/2006/main">
            <a:off x="1104900" y="3238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E765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0" name="academic-rule-0"/>
          <p:cNvSpPr/>
          <p:nvPr/>
        </p:nvSpPr>
        <p:spPr>
          <a:xfrm xmlns:a="http://schemas.openxmlformats.org/drawingml/2006/main">
            <a:off x="2000250" y="3390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academic-label-0"/>
          <p:cNvSpPr txBox="1"/>
          <p:nvPr/>
        </p:nvSpPr>
        <p:spPr>
          <a:xfrm xmlns:a="http://schemas.openxmlformats.org/drawingml/2006/main">
            <a:off x="2114550" y="3200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Question</a:t>
            </a:r>
            <a:endParaRPr lang="en-US"/>
          </a:p>
        </p:txBody>
      </p:sp>
      <p:sp>
        <p:nvSpPr>
          <p:cNvPr id="12" name="academic-text-0"/>
          <p:cNvSpPr txBox="1"/>
          <p:nvPr/>
        </p:nvSpPr>
        <p:spPr>
          <a:xfrm xmlns:a="http://schemas.openxmlformats.org/drawingml/2006/main">
            <a:off x="4095750" y="3238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6352E"/>
                </a:solidFill>
                <a:latin typeface="Inter"/>
                <a:ea typeface="Inter"/>
              </a:rPr>
              <a:t>Can the intervention move the outcome?</a:t>
            </a:r>
            <a:endParaRPr lang="en-US"/>
          </a:p>
        </p:txBody>
      </p:sp>
      <p:sp>
        <p:nvSpPr>
          <p:cNvPr id="13" name="academic-number-1"/>
          <p:cNvSpPr txBox="1"/>
          <p:nvPr/>
        </p:nvSpPr>
        <p:spPr>
          <a:xfrm xmlns:a="http://schemas.openxmlformats.org/drawingml/2006/main">
            <a:off x="1104900" y="4191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E765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4" name="academic-rule-1"/>
          <p:cNvSpPr/>
          <p:nvPr/>
        </p:nvSpPr>
        <p:spPr>
          <a:xfrm xmlns:a="http://schemas.openxmlformats.org/drawingml/2006/main">
            <a:off x="2000250" y="43434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cademic-label-1"/>
          <p:cNvSpPr txBox="1"/>
          <p:nvPr/>
        </p:nvSpPr>
        <p:spPr>
          <a:xfrm xmlns:a="http://schemas.openxmlformats.org/drawingml/2006/main">
            <a:off x="2114550" y="4152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Method</a:t>
            </a:r>
            <a:endParaRPr lang="en-US"/>
          </a:p>
        </p:txBody>
      </p:sp>
      <p:sp>
        <p:nvSpPr>
          <p:cNvPr id="16" name="academic-text-1"/>
          <p:cNvSpPr txBox="1"/>
          <p:nvPr/>
        </p:nvSpPr>
        <p:spPr>
          <a:xfrm xmlns:a="http://schemas.openxmlformats.org/drawingml/2006/main">
            <a:off x="4095750" y="419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6352E"/>
                </a:solidFill>
                <a:latin typeface="Inter"/>
                <a:ea typeface="Inter"/>
              </a:rPr>
              <a:t>Two groups, one rule, registered before launch.</a:t>
            </a:r>
            <a:endParaRPr lang="en-US"/>
          </a:p>
        </p:txBody>
      </p:sp>
      <p:sp>
        <p:nvSpPr>
          <p:cNvPr id="17" name="academic-number-2"/>
          <p:cNvSpPr txBox="1"/>
          <p:nvPr/>
        </p:nvSpPr>
        <p:spPr>
          <a:xfrm xmlns:a="http://schemas.openxmlformats.org/drawingml/2006/main">
            <a:off x="1104900" y="5143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E765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8" name="academic-rule-2"/>
          <p:cNvSpPr/>
          <p:nvPr/>
        </p:nvSpPr>
        <p:spPr>
          <a:xfrm xmlns:a="http://schemas.openxmlformats.org/drawingml/2006/main">
            <a:off x="2000250" y="5295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cademic-label-2"/>
          <p:cNvSpPr txBox="1"/>
          <p:nvPr/>
        </p:nvSpPr>
        <p:spPr>
          <a:xfrm xmlns:a="http://schemas.openxmlformats.org/drawingml/2006/main">
            <a:off x="2114550" y="5105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20" name="academic-text-2"/>
          <p:cNvSpPr txBox="1"/>
          <p:nvPr/>
        </p:nvSpPr>
        <p:spPr>
          <a:xfrm xmlns:a="http://schemas.openxmlformats.org/drawingml/2006/main">
            <a:off x="4095750" y="5143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6352E"/>
                </a:solidFill>
                <a:latin typeface="Inter"/>
                <a:ea typeface="Inter"/>
              </a:rPr>
              <a:t>The result applies to this window and sample.</a:t>
            </a:r>
            <a:endParaRPr lang="en-US"/>
          </a:p>
        </p:txBody>
      </p:sp>
      <p:sp>
        <p:nvSpPr>
          <p:cNvPr id="21" name="method-panel"/>
          <p:cNvSpPr/>
          <p:nvPr/>
        </p:nvSpPr>
        <p:spPr>
          <a:xfrm xmlns:a="http://schemas.openxmlformats.org/drawingml/2006/main">
            <a:off x="10287000" y="3238500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method-label"/>
          <p:cNvSpPr txBox="1"/>
          <p:nvPr/>
        </p:nvSpPr>
        <p:spPr>
          <a:xfrm xmlns:a="http://schemas.openxmlformats.org/drawingml/2006/main">
            <a:off x="10668000" y="3571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3E7658"/>
                </a:solidFill>
                <a:latin typeface="Inter"/>
                <a:ea typeface="Inter"/>
              </a:rPr>
              <a:t>REGISTERED RULE</a:t>
            </a:r>
            <a:endParaRPr lang="en-US"/>
          </a:p>
        </p:txBody>
      </p:sp>
      <p:sp>
        <p:nvSpPr>
          <p:cNvPr id="23" name="method-value"/>
          <p:cNvSpPr txBox="1"/>
          <p:nvPr/>
        </p:nvSpPr>
        <p:spPr>
          <a:xfrm xmlns:a="http://schemas.openxmlformats.org/drawingml/2006/main">
            <a:off x="10668000" y="40481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750" b="1">
                <a:solidFill>
                  <a:srgbClr val="3E7658"/>
                </a:solidFill>
                <a:latin typeface="Inter"/>
                <a:ea typeface="Inter"/>
              </a:rPr>
              <a:t>≥ 2 pp</a:t>
            </a:r>
            <a:endParaRPr lang="en-US"/>
          </a:p>
        </p:txBody>
      </p:sp>
      <p:sp>
        <p:nvSpPr>
          <p:cNvPr id="24" name="method-foot"/>
          <p:cNvSpPr txBox="1"/>
          <p:nvPr/>
        </p:nvSpPr>
        <p:spPr>
          <a:xfrm xmlns:a="http://schemas.openxmlformats.org/drawingml/2006/main">
            <a:off x="10668000" y="4762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2978E"/>
                </a:solidFill>
                <a:latin typeface="Inter"/>
                <a:ea typeface="Inter"/>
              </a:rPr>
              <a:t>confidence interval excludes zero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evidenc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8fbc298f8d1b7a3c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evidenc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2E">
              <a:alpha val="62000"/>
            </a:srgbClr>
          </a:solidFill>
          <a:ln xmlns:a="http://schemas.openxmlformats.org/drawingml/2006/main" w="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videnc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PAPER SEMINAR · EVIDENC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3E7658"/>
                </a:solidFill>
                <a:latin typeface="Inter"/>
                <a:ea typeface="Inter"/>
              </a:rPr>
              <a:t>PAPER SEMINAR · EVIDENCE</a:t>
            </a:r>
            <a:endParaRPr lang="en-US"/>
          </a:p>
        </p:txBody>
      </p:sp>
      <p:sp>
        <p:nvSpPr>
          <p:cNvPr id="7" name="evidenc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The result clears the rule; uncertainty remains visible</a:t>
            </a:r>
            <a:endParaRPr lang="en-US"/>
          </a:p>
        </p:txBody>
      </p:sp>
      <p:sp>
        <p:nvSpPr>
          <p:cNvPr id="8" name="evidenc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Illustrative measure · mean of 24 observations · 95% CI shown in the read-through.</a:t>
            </a:r>
            <a:endParaRPr lang="en-US"/>
          </a:p>
        </p:txBody>
      </p:sp>
      <p:graphicFrame>
        <p:nvGraphicFramePr>
          <p:cNvPr id="9" name="evidence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1047750" y="3048000"/>
          <a:ext xmlns:a="http://schemas.openxmlformats.org/drawingml/2006/main" cx="7905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3f833084d64cac"/>
          </a:graphicData>
        </a:graphic>
      </p:graphicFrame>
      <p:sp>
        <p:nvSpPr>
          <p:cNvPr id="10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3E7658"/>
                </a:solidFill>
                <a:latin typeface="Inter"/>
                <a:ea typeface="Inter"/>
              </a:rPr>
              <a:t>68</a:t>
            </a:r>
            <a:endParaRPr lang="en-US"/>
          </a:p>
        </p:txBody>
      </p:sp>
      <p:sp>
        <p:nvSpPr>
          <p:cNvPr id="11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2978E"/>
                </a:solidFill>
                <a:latin typeface="Inter"/>
                <a:ea typeface="Inter"/>
              </a:rPr>
              <a:t>participation index · week 4</a:t>
            </a:r>
            <a:endParaRPr lang="en-US"/>
          </a:p>
        </p:txBody>
      </p:sp>
      <p:sp>
        <p:nvSpPr>
          <p:cNvPr id="12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The observed lift is compatible with the registered mechanism, not proof of generalization.</a:t>
            </a:r>
            <a:endParaRPr lang="en-US"/>
          </a:p>
        </p:txBody>
      </p:sp>
      <p:sp>
        <p:nvSpPr>
          <p:cNvPr id="14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26352E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detai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d71bfa074cda59bb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detai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2E">
              <a:alpha val="62000"/>
            </a:srgbClr>
          </a:solidFill>
          <a:ln xmlns:a="http://schemas.openxmlformats.org/drawingml/2006/main" w="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detai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PAPER SEMINAR · DETAIL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3E7658"/>
                </a:solidFill>
                <a:latin typeface="Inter"/>
                <a:ea typeface="Inter"/>
              </a:rPr>
              <a:t>PAPER SEMINAR · DETAIL</a:t>
            </a:r>
            <a:endParaRPr lang="en-US"/>
          </a:p>
        </p:txBody>
      </p:sp>
      <p:sp>
        <p:nvSpPr>
          <p:cNvPr id="7" name="detai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The table keeps the result honest</a:t>
            </a:r>
            <a:endParaRPr lang="en-US"/>
          </a:p>
        </p:txBody>
      </p:sp>
      <p:sp>
        <p:nvSpPr>
          <p:cNvPr id="8" name="detail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Structured comparison · method, window, measure and boundary remain adjacent.</a:t>
            </a:r>
            <a:endParaRPr lang="en-US"/>
          </a:p>
        </p:txBody>
      </p:sp>
      <p:sp>
        <p:nvSpPr>
          <p:cNvPr id="9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3810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3E765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2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6352E"/>
                </a:solidFill>
                <a:latin typeface="Inter"/>
                <a:ea typeface="Inter"/>
              </a:rPr>
              <a:t>Frame</a:t>
            </a:r>
            <a:endParaRPr lang="en-US"/>
          </a:p>
        </p:txBody>
      </p:sp>
      <p:sp>
        <p:nvSpPr>
          <p:cNvPr id="13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2978E"/>
                </a:solidFill>
                <a:latin typeface="Inter"/>
                <a:ea typeface="Inter"/>
              </a:rPr>
              <a:t>Name the question</a:t>
            </a:r>
            <a:endParaRPr lang="en-US"/>
          </a:p>
        </p:txBody>
      </p:sp>
      <p:sp>
        <p:nvSpPr>
          <p:cNvPr id="14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3810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3E765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7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6352E"/>
                </a:solidFill>
                <a:latin typeface="Inter"/>
                <a:ea typeface="Inter"/>
              </a:rPr>
              <a:t>Test</a:t>
            </a:r>
            <a:endParaRPr lang="en-US"/>
          </a:p>
        </p:txBody>
      </p:sp>
      <p:sp>
        <p:nvSpPr>
          <p:cNvPr id="18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2978E"/>
                </a:solidFill>
                <a:latin typeface="Inter"/>
                <a:ea typeface="Inter"/>
              </a:rPr>
              <a:t>Hold the rule</a:t>
            </a:r>
            <a:endParaRPr lang="en-US"/>
          </a:p>
        </p:txBody>
      </p:sp>
      <p:sp>
        <p:nvSpPr>
          <p:cNvPr id="19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3810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3E765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2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6352E"/>
                </a:solidFill>
                <a:latin typeface="Inter"/>
                <a:ea typeface="Inter"/>
              </a:rPr>
              <a:t>Read</a:t>
            </a:r>
            <a:endParaRPr lang="en-US"/>
          </a:p>
        </p:txBody>
      </p:sp>
      <p:sp>
        <p:nvSpPr>
          <p:cNvPr id="23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2978E"/>
                </a:solidFill>
                <a:latin typeface="Inter"/>
                <a:ea typeface="Inter"/>
              </a:rPr>
              <a:t>Separate signal</a:t>
            </a:r>
            <a:endParaRPr lang="en-US"/>
          </a:p>
        </p:txBody>
      </p:sp>
      <p:sp>
        <p:nvSpPr>
          <p:cNvPr id="24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3E7658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27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6352E"/>
                </a:solidFill>
                <a:latin typeface="Inter"/>
                <a:ea typeface="Inter"/>
              </a:rPr>
              <a:t>Decide</a:t>
            </a:r>
            <a:endParaRPr lang="en-US"/>
          </a:p>
        </p:txBody>
      </p:sp>
      <p:sp>
        <p:nvSpPr>
          <p:cNvPr id="28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2978E"/>
                </a:solidFill>
                <a:latin typeface="Inter"/>
                <a:ea typeface="Inter"/>
              </a:rPr>
              <a:t>Set the next gate</a:t>
            </a:r>
            <a:endParaRPr lang="en-US"/>
          </a:p>
        </p:txBody>
      </p:sp>
      <p:sp>
        <p:nvSpPr>
          <p:cNvPr id="29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3E7658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30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26352E"/>
                </a:solidFill>
                <a:latin typeface="Inter"/>
                <a:ea typeface="Inter"/>
              </a:rPr>
              <a:t>The sequence is the evidence.</a:t>
            </a:r>
            <a:endParaRPr lang="en-US"/>
          </a:p>
        </p:txBody>
      </p:sp>
      <p:sp>
        <p:nvSpPr>
          <p:cNvPr id="31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2978E"/>
                </a:solidFill>
                <a:latin typeface="Inter"/>
                <a:ea typeface="Inter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2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3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visua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45ba195e2a5649fb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visua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2E">
              <a:alpha val="62000"/>
            </a:srgbClr>
          </a:solidFill>
          <a:ln xmlns:a="http://schemas.openxmlformats.org/drawingml/2006/main" w="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visua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PAPER SEMINAR · VISUAL CARRIER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3E7658"/>
                </a:solidFill>
                <a:latin typeface="Inter"/>
                <a:ea typeface="Inter"/>
              </a:rPr>
              <a:t>PAPER SEMINAR · VISUAL CARRIER</a:t>
            </a:r>
            <a:endParaRPr lang="en-US"/>
          </a:p>
        </p:txBody>
      </p:sp>
      <p:sp>
        <p:nvSpPr>
          <p:cNvPr id="7" name="visua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Evidence has a texture</a:t>
            </a:r>
            <a:endParaRPr lang="en-US"/>
          </a:p>
        </p:txBody>
      </p:sp>
      <p:sp>
        <p:nvSpPr>
          <p:cNvPr id="8" name="visual-body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Use a visual carrier when the audience needs to see a pattern before reading the caveat.</a:t>
            </a:r>
            <a:endParaRPr lang="en-US"/>
          </a:p>
        </p:txBody>
      </p:sp>
      <p:sp>
        <p:nvSpPr>
          <p:cNvPr id="9" name="visual-process-rail"/>
          <p:cNvSpPr/>
          <p:nvPr/>
        </p:nvSpPr>
        <p:spPr>
          <a:xfrm xmlns:a="http://schemas.openxmlformats.org/drawingml/2006/main">
            <a:off x="1447800" y="3524250"/>
            <a:ext cx="0" cy="2647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visual-process-node-0"/>
          <p:cNvSpPr/>
          <p:nvPr/>
        </p:nvSpPr>
        <p:spPr>
          <a:xfrm xmlns:a="http://schemas.openxmlformats.org/drawingml/2006/main">
            <a:off x="12573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3810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visual-process-number-0"/>
          <p:cNvSpPr txBox="1"/>
          <p:nvPr/>
        </p:nvSpPr>
        <p:spPr>
          <a:xfrm xmlns:a="http://schemas.openxmlformats.org/drawingml/2006/main">
            <a:off x="1238250" y="34671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3E765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2" name="visual-process-label-0"/>
          <p:cNvSpPr txBox="1"/>
          <p:nvPr/>
        </p:nvSpPr>
        <p:spPr>
          <a:xfrm xmlns:a="http://schemas.openxmlformats.org/drawingml/2006/main">
            <a:off x="1943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Observe</a:t>
            </a:r>
            <a:endParaRPr lang="en-US"/>
          </a:p>
        </p:txBody>
      </p:sp>
      <p:sp>
        <p:nvSpPr>
          <p:cNvPr id="13" name="visual-process-text-0"/>
          <p:cNvSpPr txBox="1"/>
          <p:nvPr/>
        </p:nvSpPr>
        <p:spPr>
          <a:xfrm xmlns:a="http://schemas.openxmlformats.org/drawingml/2006/main">
            <a:off x="3829050" y="3400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2978E"/>
                </a:solidFill>
                <a:latin typeface="Inter"/>
                <a:ea typeface="Inter"/>
              </a:rPr>
              <a:t>Find the signal</a:t>
            </a:r>
            <a:endParaRPr lang="en-US"/>
          </a:p>
        </p:txBody>
      </p:sp>
      <p:sp>
        <p:nvSpPr>
          <p:cNvPr id="14" name="visual-process-node-1"/>
          <p:cNvSpPr/>
          <p:nvPr/>
        </p:nvSpPr>
        <p:spPr>
          <a:xfrm xmlns:a="http://schemas.openxmlformats.org/drawingml/2006/main">
            <a:off x="12573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3810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visual-process-number-1"/>
          <p:cNvSpPr txBox="1"/>
          <p:nvPr/>
        </p:nvSpPr>
        <p:spPr>
          <a:xfrm xmlns:a="http://schemas.openxmlformats.org/drawingml/2006/main">
            <a:off x="1238250" y="42100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3E765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6" name="visual-process-label-1"/>
          <p:cNvSpPr txBox="1"/>
          <p:nvPr/>
        </p:nvSpPr>
        <p:spPr>
          <a:xfrm xmlns:a="http://schemas.openxmlformats.org/drawingml/2006/main">
            <a:off x="194310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Explain</a:t>
            </a:r>
            <a:endParaRPr lang="en-US"/>
          </a:p>
        </p:txBody>
      </p:sp>
      <p:sp>
        <p:nvSpPr>
          <p:cNvPr id="17" name="visual-process-text-1"/>
          <p:cNvSpPr txBox="1"/>
          <p:nvPr/>
        </p:nvSpPr>
        <p:spPr>
          <a:xfrm xmlns:a="http://schemas.openxmlformats.org/drawingml/2006/main">
            <a:off x="3829050" y="4143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2978E"/>
                </a:solidFill>
                <a:latin typeface="Inter"/>
                <a:ea typeface="Inter"/>
              </a:rPr>
              <a:t>Name the mechanism</a:t>
            </a:r>
            <a:endParaRPr lang="en-US"/>
          </a:p>
        </p:txBody>
      </p:sp>
      <p:sp>
        <p:nvSpPr>
          <p:cNvPr id="18" name="visual-process-node-2"/>
          <p:cNvSpPr/>
          <p:nvPr/>
        </p:nvSpPr>
        <p:spPr>
          <a:xfrm xmlns:a="http://schemas.openxmlformats.org/drawingml/2006/main">
            <a:off x="125730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3810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visual-process-number-2"/>
          <p:cNvSpPr txBox="1"/>
          <p:nvPr/>
        </p:nvSpPr>
        <p:spPr>
          <a:xfrm xmlns:a="http://schemas.openxmlformats.org/drawingml/2006/main">
            <a:off x="1238250" y="49530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3E765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0" name="visual-process-label-2"/>
          <p:cNvSpPr txBox="1"/>
          <p:nvPr/>
        </p:nvSpPr>
        <p:spPr>
          <a:xfrm xmlns:a="http://schemas.openxmlformats.org/drawingml/2006/main">
            <a:off x="19431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Choose</a:t>
            </a:r>
            <a:endParaRPr lang="en-US"/>
          </a:p>
        </p:txBody>
      </p:sp>
      <p:sp>
        <p:nvSpPr>
          <p:cNvPr id="21" name="visual-process-text-2"/>
          <p:cNvSpPr txBox="1"/>
          <p:nvPr/>
        </p:nvSpPr>
        <p:spPr>
          <a:xfrm xmlns:a="http://schemas.openxmlformats.org/drawingml/2006/main">
            <a:off x="382905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2978E"/>
                </a:solidFill>
                <a:latin typeface="Inter"/>
                <a:ea typeface="Inter"/>
              </a:rPr>
              <a:t>Set the condition</a:t>
            </a:r>
            <a:endParaRPr lang="en-US"/>
          </a:p>
        </p:txBody>
      </p:sp>
      <p:sp>
        <p:nvSpPr>
          <p:cNvPr id="22" name="visual-process-node-3"/>
          <p:cNvSpPr/>
          <p:nvPr/>
        </p:nvSpPr>
        <p:spPr>
          <a:xfrm xmlns:a="http://schemas.openxmlformats.org/drawingml/2006/main">
            <a:off x="1257300" y="558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visual-process-number-3"/>
          <p:cNvSpPr txBox="1"/>
          <p:nvPr/>
        </p:nvSpPr>
        <p:spPr>
          <a:xfrm xmlns:a="http://schemas.openxmlformats.org/drawingml/2006/main">
            <a:off x="1238250" y="5695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24" name="visual-process-label-3"/>
          <p:cNvSpPr txBox="1"/>
          <p:nvPr/>
        </p:nvSpPr>
        <p:spPr>
          <a:xfrm xmlns:a="http://schemas.openxmlformats.org/drawingml/2006/main">
            <a:off x="19431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Act</a:t>
            </a:r>
            <a:endParaRPr lang="en-US"/>
          </a:p>
        </p:txBody>
      </p:sp>
      <p:sp>
        <p:nvSpPr>
          <p:cNvPr id="25" name="visual-process-text-3"/>
          <p:cNvSpPr txBox="1"/>
          <p:nvPr/>
        </p:nvSpPr>
        <p:spPr>
          <a:xfrm xmlns:a="http://schemas.openxmlformats.org/drawingml/2006/main">
            <a:off x="3829050" y="562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2978E"/>
                </a:solidFill>
                <a:latin typeface="Inter"/>
                <a:ea typeface="Inter"/>
              </a:rPr>
              <a:t>Return with proof</a:t>
            </a:r>
            <a:endParaRPr lang="en-US"/>
          </a:p>
        </p:txBody>
      </p:sp>
      <p:sp>
        <p:nvSpPr>
          <p:cNvPr id="26" name="visual-process-rule"/>
          <p:cNvSpPr/>
          <p:nvPr/>
        </p:nvSpPr>
        <p:spPr>
          <a:xfrm xmlns:a="http://schemas.openxmlformats.org/drawingml/2006/main">
            <a:off x="7239000" y="34861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visual-process-note-label"/>
          <p:cNvSpPr txBox="1"/>
          <p:nvPr/>
        </p:nvSpPr>
        <p:spPr>
          <a:xfrm xmlns:a="http://schemas.openxmlformats.org/drawingml/2006/main">
            <a:off x="80010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3E7658"/>
                </a:solidFill>
                <a:latin typeface="Inter"/>
                <a:ea typeface="Inter"/>
              </a:rPr>
              <a:t>PROCESS CARRIER</a:t>
            </a:r>
            <a:endParaRPr lang="en-US"/>
          </a:p>
        </p:txBody>
      </p:sp>
      <p:sp>
        <p:nvSpPr>
          <p:cNvPr id="28" name="visual-process-note-title"/>
          <p:cNvSpPr txBox="1"/>
          <p:nvPr/>
        </p:nvSpPr>
        <p:spPr>
          <a:xfrm xmlns:a="http://schemas.openxmlformats.org/drawingml/2006/main">
            <a:off x="8001000" y="40386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26352E"/>
                </a:solidFill>
                <a:latin typeface="Inter"/>
                <a:ea typeface="Inter"/>
              </a:rPr>
              <a:t>A relationship earns a line.</a:t>
            </a:r>
            <a:endParaRPr lang="en-US"/>
          </a:p>
        </p:txBody>
      </p:sp>
      <p:sp>
        <p:nvSpPr>
          <p:cNvPr id="29" name="visual-process-note-body"/>
          <p:cNvSpPr txBox="1"/>
          <p:nvPr/>
        </p:nvSpPr>
        <p:spPr>
          <a:xfrm xmlns:a="http://schemas.openxmlformats.org/drawingml/2006/main">
            <a:off x="8001000" y="5048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2978E"/>
                </a:solidFill>
                <a:latin typeface="Inter"/>
                <a:ea typeface="Inter"/>
              </a:rPr>
              <a:t>Use sequence, direction and conditions to make the mechanism visible. If the relationship is not real, remove the arrow.</a:t>
            </a:r>
            <a:endParaRPr lang="en-US"/>
          </a:p>
        </p:txBody>
      </p:sp>
      <p:sp>
        <p:nvSpPr>
          <p:cNvPr id="30" name="visual-note"/>
          <p:cNvSpPr/>
          <p:nvPr/>
        </p:nvSpPr>
        <p:spPr>
          <a:xfrm xmlns:a="http://schemas.openxmlformats.org/drawingml/2006/main">
            <a:off x="8858250" y="3333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1" name="visual-note-label"/>
          <p:cNvSpPr txBox="1"/>
          <p:nvPr/>
        </p:nvSpPr>
        <p:spPr>
          <a:xfrm xmlns:a="http://schemas.openxmlformats.org/drawingml/2006/main">
            <a:off x="9239250" y="3695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3E7658"/>
                </a:solidFill>
                <a:latin typeface="Inter"/>
                <a:ea typeface="Inter"/>
              </a:rPr>
              <a:t>CARRIER</a:t>
            </a:r>
            <a:endParaRPr lang="en-US"/>
          </a:p>
        </p:txBody>
      </p:sp>
      <p:sp>
        <p:nvSpPr>
          <p:cNvPr id="32" name="visual-note-text"/>
          <p:cNvSpPr txBox="1"/>
          <p:nvPr/>
        </p:nvSpPr>
        <p:spPr>
          <a:xfrm xmlns:a="http://schemas.openxmlformats.org/drawingml/2006/main">
            <a:off x="9239250" y="41719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6352E"/>
                </a:solidFill>
                <a:latin typeface="Inter"/>
                <a:ea typeface="Inter"/>
              </a:rPr>
              <a:t>Pattern before caveat</a:t>
            </a:r>
            <a:endParaRPr lang="en-US"/>
          </a:p>
        </p:txBody>
      </p:sp>
      <p:sp>
        <p:nvSpPr>
          <p:cNvPr id="33" name="visual-note-foot"/>
          <p:cNvSpPr txBox="1"/>
          <p:nvPr/>
        </p:nvSpPr>
        <p:spPr>
          <a:xfrm xmlns:a="http://schemas.openxmlformats.org/drawingml/2006/main">
            <a:off x="9239250" y="5219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2978E"/>
                </a:solidFill>
                <a:latin typeface="Inter"/>
                <a:ea typeface="Inter"/>
              </a:rPr>
              <a:t>Crop, contrast and source role are reviewed before delivery.</a:t>
            </a:r>
            <a:endParaRPr lang="en-US"/>
          </a:p>
        </p:txBody>
      </p:sp>
      <p:sp>
        <p:nvSpPr>
          <p:cNvPr id="3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3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clos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6af8c9b5dff6e3a3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clos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2E">
              <a:alpha val="62000"/>
            </a:srgbClr>
          </a:solidFill>
          <a:ln xmlns:a="http://schemas.openxmlformats.org/drawingml/2006/main" w="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clos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PAPER SEMINAR · CLOS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3E7658"/>
                </a:solidFill>
                <a:latin typeface="Inter"/>
                <a:ea typeface="Inter"/>
              </a:rPr>
              <a:t>PAPER SEMINAR · CLOSE</a:t>
            </a:r>
            <a:endParaRPr lang="en-US"/>
          </a:p>
        </p:txBody>
      </p:sp>
      <p:sp>
        <p:nvSpPr>
          <p:cNvPr id="7" name="clos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A cleared gate is a decision, not a universal claim</a:t>
            </a:r>
            <a:endParaRPr lang="en-US"/>
          </a:p>
        </p:txBody>
      </p:sp>
      <p:sp>
        <p:nvSpPr>
          <p:cNvPr id="8" name="clos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3E765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Claim</a:t>
            </a:r>
            <a:endParaRPr lang="en-US"/>
          </a:p>
        </p:txBody>
      </p:sp>
      <p:sp>
        <p:nvSpPr>
          <p:cNvPr id="1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6352E"/>
                </a:solidFill>
                <a:latin typeface="Inter"/>
                <a:ea typeface="Inter"/>
              </a:rPr>
              <a:t>The mechanism moved the measured outcome.</a:t>
            </a:r>
            <a:endParaRPr lang="en-US"/>
          </a:p>
        </p:txBody>
      </p:sp>
      <p:sp>
        <p:nvSpPr>
          <p:cNvPr id="1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6352E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1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6352E"/>
                </a:solidFill>
                <a:latin typeface="Inter"/>
                <a:ea typeface="Inter"/>
              </a:rPr>
              <a:t>The sample does not establish persistence.</a:t>
            </a:r>
            <a:endParaRPr lang="en-US"/>
          </a:p>
        </p:txBody>
      </p:sp>
      <p:sp>
        <p:nvSpPr>
          <p:cNvPr id="1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3E765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Next test</a:t>
            </a:r>
            <a:endParaRPr lang="en-US"/>
          </a:p>
        </p:txBody>
      </p:sp>
      <p:sp>
        <p:nvSpPr>
          <p:cNvPr id="2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6352E"/>
                </a:solidFill>
                <a:latin typeface="Inter"/>
                <a:ea typeface="Inter"/>
              </a:rPr>
              <a:t>Replicate across a new region.</a:t>
            </a:r>
            <a:endParaRPr lang="en-US"/>
          </a:p>
        </p:txBody>
      </p:sp>
      <p:sp>
        <p:nvSpPr>
          <p:cNvPr id="2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2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Inter"/>
                <a:ea typeface="Inter"/>
              </a:rPr>
              <a:t>Replicate the test</a:t>
            </a:r>
            <a:endParaRPr lang="en-US"/>
          </a:p>
        </p:txBody>
      </p:sp>
      <p:sp>
        <p:nvSpPr>
          <p:cNvPr id="2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