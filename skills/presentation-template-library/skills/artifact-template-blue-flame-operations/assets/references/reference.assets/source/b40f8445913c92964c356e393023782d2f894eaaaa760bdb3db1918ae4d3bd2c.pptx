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7995a6caf1944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59ee3aa5202fd02f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48a10dd448c544f3" /><Relationship Type="http://schemas.openxmlformats.org/officeDocument/2006/relationships/chart" Target="/ppt/slides/charts/chart2.xml" Id="Re7f05caa676a40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3.xml" Id="Rd45c05f779f842ed" /><Relationship Type="http://schemas.openxmlformats.org/officeDocument/2006/relationships/chart" Target="/ppt/slides/charts/chart4.xml" Id="Rf086b4177c514f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Primary signal · observed versus reference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20BBD8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787B7F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Driver trend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Driver</c:v>
          </c:tx>
          <c:spPr>
            <a:solidFill>
              <a:srgbClr val="87DCEB"/>
            </a:solidFill>
            <a:ln w="38100">
              <a:solidFill>
                <a:srgbClr val="87DCEB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28</c:v>
              </c:pt>
              <c:pt idx="2">
                <c:v>34</c:v>
              </c:pt>
              <c:pt idx="3">
                <c:v>39</c:v>
              </c:pt>
              <c:pt idx="4">
                <c:v>45</c:v>
              </c:pt>
              <c:pt idx="5">
                <c:v>51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3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20BBD8"/>
            </a:solidFill>
          </c:spP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4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Context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Context</c:v>
          </c:tx>
          <c:spPr>
            <a:solidFill>
              <a:srgbClr val="87DCEB"/>
            </a:solidFill>
            <a:ln w="38100">
              <a:solidFill>
                <a:srgbClr val="87DCEB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59ee3aa5202fd02f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>
              <a:alpha val="100000"/>
            </a:srgbClr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0BBD8"/>
                </a:solidFill>
                <a:latin typeface="Inter"/>
                <a:ea typeface="Inter"/>
              </a:rPr>
              <a:t>WORK · OFFICEKIT CALIBRATION</a:t>
            </a:r>
            <a:endParaRPr lang="en-US"/>
          </a:p>
        </p:txBody>
      </p:sp>
      <p:sp>
        <p:nvSpPr>
          <p:cNvPr id="16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2F6F8"/>
                </a:solidFill>
                <a:latin typeface="Inter"/>
                <a:ea typeface="Inter"/>
              </a:rPr>
              <a:t>Blue Flame Operations: a claim worth testing</a:t>
            </a:r>
            <a:endParaRPr lang="en-US"/>
          </a:p>
        </p:txBody>
      </p:sp>
      <p:sp>
        <p:nvSpPr>
          <p:cNvPr id="17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20BBD8"/>
                </a:solidFill>
                <a:latin typeface="Inter"/>
                <a:ea typeface="Inter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18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2F6F8"/>
                </a:solidFill>
                <a:latin typeface="Inter"/>
                <a:ea typeface="Inter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20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2F6F8"/>
                </a:solidFill>
                <a:latin typeface="Inter"/>
                <a:ea typeface="Inter"/>
              </a:rPr>
              <a:t>A visible operating signal creates a shared next action.</a:t>
            </a:r>
            <a:endParaRPr lang="en-US"/>
          </a:p>
        </p:txBody>
      </p:sp>
      <p:sp>
        <p:nvSpPr>
          <p:cNvPr id="21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2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  <p:sp>
        <p:nvSpPr>
          <p:cNvPr id="23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254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8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1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3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BLUE FLAME OPERATIONS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0BBD8"/>
                </a:solidFill>
                <a:latin typeface="Inter"/>
                <a:ea typeface="Inter"/>
              </a:rPr>
              <a:t>BLUE FLAME OPERATIONS · ARGUMENT</a:t>
            </a:r>
            <a:endParaRPr lang="en-US"/>
          </a:p>
        </p:txBody>
      </p:sp>
      <p:sp>
        <p:nvSpPr>
          <p:cNvPr id="16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F2F6F8"/>
                </a:solidFill>
                <a:latin typeface="Inter"/>
                <a:ea typeface="Inter"/>
              </a:rPr>
              <a:t>One operating constraint should own the page</a:t>
            </a:r>
            <a:endParaRPr lang="en-US"/>
          </a:p>
        </p:txBody>
      </p:sp>
      <p:sp>
        <p:nvSpPr>
          <p:cNvPr id="17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87B7F"/>
                </a:solidFill>
                <a:latin typeface="Inter"/>
                <a:ea typeface="Inter"/>
              </a:rPr>
              <a:t>Status, cause, owner, and date make the next operational move visible.</a:t>
            </a:r>
            <a:endParaRPr lang="en-US"/>
          </a:p>
        </p:txBody>
      </p:sp>
      <p:sp>
        <p:nvSpPr>
          <p:cNvPr id="18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work-status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0BBD8"/>
                </a:solidFill>
                <a:latin typeface="Inter"/>
                <a:ea typeface="Inter"/>
              </a:rPr>
              <a:t>OPERATING SIGNAL</a:t>
            </a:r>
            <a:endParaRPr lang="en-US"/>
          </a:p>
        </p:txBody>
      </p:sp>
      <p:sp>
        <p:nvSpPr>
          <p:cNvPr id="20" name="work-headline"/>
          <p:cNvSpPr txBox="1"/>
          <p:nvPr/>
        </p:nvSpPr>
        <p:spPr>
          <a:xfrm xmlns:a="http://schemas.openxmlformats.org/drawingml/2006/main">
            <a:off x="1104900" y="37909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2F6F8"/>
                </a:solidFill>
                <a:latin typeface="Inter"/>
                <a:ea typeface="Inter"/>
              </a:rPr>
              <a:t>The queue is healthy; the handoff is not.</a:t>
            </a:r>
            <a:endParaRPr lang="en-US"/>
          </a:p>
        </p:txBody>
      </p:sp>
      <p:sp>
        <p:nvSpPr>
          <p:cNvPr id="21" name="work-body"/>
          <p:cNvSpPr txBox="1"/>
          <p:nvPr/>
        </p:nvSpPr>
        <p:spPr>
          <a:xfrm xmlns:a="http://schemas.openxmlformats.org/drawingml/2006/main">
            <a:off x="1104900" y="4762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F2F6F8"/>
                </a:solidFill>
                <a:latin typeface="Inter"/>
                <a:ea typeface="Inter"/>
              </a:rPr>
              <a:t>Three visible signals point to one owner and one date.</a:t>
            </a:r>
            <a:endParaRPr lang="en-US"/>
          </a:p>
        </p:txBody>
      </p:sp>
      <p:sp>
        <p:nvSpPr>
          <p:cNvPr id="22" name="work-rail"/>
          <p:cNvSpPr/>
          <p:nvPr/>
        </p:nvSpPr>
        <p:spPr>
          <a:xfrm xmlns:a="http://schemas.openxmlformats.org/drawingml/2006/main">
            <a:off x="10001250" y="33337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work-num-0"/>
          <p:cNvSpPr txBox="1"/>
          <p:nvPr/>
        </p:nvSpPr>
        <p:spPr>
          <a:xfrm xmlns:a="http://schemas.openxmlformats.org/drawingml/2006/main">
            <a:off x="10477500" y="3448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0BBD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24" name="work-label-0"/>
          <p:cNvSpPr txBox="1"/>
          <p:nvPr/>
        </p:nvSpPr>
        <p:spPr>
          <a:xfrm xmlns:a="http://schemas.openxmlformats.org/drawingml/2006/main">
            <a:off x="11144250" y="3448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F2F6F8"/>
                </a:solidFill>
                <a:latin typeface="Inter"/>
                <a:ea typeface="Inter"/>
              </a:rPr>
              <a:t>Queue</a:t>
            </a:r>
            <a:endParaRPr lang="en-US"/>
          </a:p>
        </p:txBody>
      </p:sp>
      <p:sp>
        <p:nvSpPr>
          <p:cNvPr id="25" name="work-text-0"/>
          <p:cNvSpPr txBox="1"/>
          <p:nvPr/>
        </p:nvSpPr>
        <p:spPr>
          <a:xfrm xmlns:a="http://schemas.openxmlformats.org/drawingml/2006/main">
            <a:off x="12668250" y="3448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87B7F"/>
                </a:solidFill>
                <a:latin typeface="Inter"/>
                <a:ea typeface="Inter"/>
              </a:rPr>
              <a:t>On target</a:t>
            </a:r>
            <a:endParaRPr lang="en-US"/>
          </a:p>
        </p:txBody>
      </p:sp>
      <p:sp>
        <p:nvSpPr>
          <p:cNvPr id="26" name="work-num-1"/>
          <p:cNvSpPr txBox="1"/>
          <p:nvPr/>
        </p:nvSpPr>
        <p:spPr>
          <a:xfrm xmlns:a="http://schemas.openxmlformats.org/drawingml/2006/main">
            <a:off x="10477500" y="4229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0BBD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27" name="work-label-1"/>
          <p:cNvSpPr txBox="1"/>
          <p:nvPr/>
        </p:nvSpPr>
        <p:spPr>
          <a:xfrm xmlns:a="http://schemas.openxmlformats.org/drawingml/2006/main">
            <a:off x="11144250" y="4229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F2F6F8"/>
                </a:solidFill>
                <a:latin typeface="Inter"/>
                <a:ea typeface="Inter"/>
              </a:rPr>
              <a:t>Handoff</a:t>
            </a:r>
            <a:endParaRPr lang="en-US"/>
          </a:p>
        </p:txBody>
      </p:sp>
      <p:sp>
        <p:nvSpPr>
          <p:cNvPr id="28" name="work-text-1"/>
          <p:cNvSpPr txBox="1"/>
          <p:nvPr/>
        </p:nvSpPr>
        <p:spPr>
          <a:xfrm xmlns:a="http://schemas.openxmlformats.org/drawingml/2006/main">
            <a:off x="12668250" y="422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20BBD8"/>
                </a:solidFill>
                <a:latin typeface="Inter"/>
                <a:ea typeface="Inter"/>
              </a:rPr>
              <a:t>At risk</a:t>
            </a:r>
            <a:endParaRPr lang="en-US"/>
          </a:p>
        </p:txBody>
      </p:sp>
      <p:sp>
        <p:nvSpPr>
          <p:cNvPr id="29" name="work-num-2"/>
          <p:cNvSpPr txBox="1"/>
          <p:nvPr/>
        </p:nvSpPr>
        <p:spPr>
          <a:xfrm xmlns:a="http://schemas.openxmlformats.org/drawingml/2006/main">
            <a:off x="10477500" y="50101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0BBD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30" name="work-label-2"/>
          <p:cNvSpPr txBox="1"/>
          <p:nvPr/>
        </p:nvSpPr>
        <p:spPr>
          <a:xfrm xmlns:a="http://schemas.openxmlformats.org/drawingml/2006/main">
            <a:off x="1114425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F2F6F8"/>
                </a:solidFill>
                <a:latin typeface="Inter"/>
                <a:ea typeface="Inter"/>
              </a:rPr>
              <a:t>Owner</a:t>
            </a:r>
            <a:endParaRPr lang="en-US"/>
          </a:p>
        </p:txBody>
      </p:sp>
      <p:sp>
        <p:nvSpPr>
          <p:cNvPr id="31" name="work-text-2"/>
          <p:cNvSpPr txBox="1"/>
          <p:nvPr/>
        </p:nvSpPr>
        <p:spPr>
          <a:xfrm xmlns:a="http://schemas.openxmlformats.org/drawingml/2006/main">
            <a:off x="12668250" y="5010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87B7F"/>
                </a:solidFill>
                <a:latin typeface="Inter"/>
                <a:ea typeface="Inter"/>
              </a:rPr>
              <a:t>Named</a:t>
            </a:r>
            <a:endParaRPr lang="en-US"/>
          </a:p>
        </p:txBody>
      </p:sp>
      <p:sp>
        <p:nvSpPr>
          <p:cNvPr id="32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33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BLUE FLAME OPERATIONS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0BBD8"/>
                </a:solidFill>
                <a:latin typeface="Inter"/>
                <a:ea typeface="Inter"/>
              </a:rPr>
              <a:t>BLUE FLAME OPERATIONS · EVIDENCE</a:t>
            </a:r>
            <a:endParaRPr lang="en-US"/>
          </a:p>
        </p:txBody>
      </p:sp>
      <p:sp>
        <p:nvSpPr>
          <p:cNvPr id="16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F2F6F8"/>
                </a:solidFill>
                <a:latin typeface="Inter"/>
                <a:ea typeface="Inter"/>
              </a:rPr>
              <a:t>The operating signal improves while the exception stays visible</a:t>
            </a:r>
            <a:endParaRPr lang="en-US"/>
          </a:p>
        </p:txBody>
      </p:sp>
      <p:sp>
        <p:nvSpPr>
          <p:cNvPr id="17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87B7F"/>
                </a:solidFill>
                <a:latin typeface="Inter"/>
                <a:ea typeface="Inter"/>
              </a:rPr>
              <a:t>Illustrative operations ledger · current state, target, and exception share one frame.</a:t>
            </a:r>
            <a:endParaRPr lang="en-US"/>
          </a:p>
        </p:txBody>
      </p:sp>
      <p:sp>
        <p:nvSpPr>
          <p:cNvPr id="18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dense-prim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048000"/>
          <a:ext xmlns:a="http://schemas.openxmlformats.org/drawingml/2006/main" cx="6286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a10dd448c544f3"/>
          </a:graphicData>
        </a:graphic>
      </p:graphicFrame>
      <p:graphicFrame>
        <p:nvGraphicFramePr>
          <p:cNvPr id="20" name="dense-second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658100" y="3048000"/>
          <a:ext xmlns:a="http://schemas.openxmlformats.org/drawingml/2006/main" cx="3143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f05caa676a407a"/>
          </a:graphicData>
        </a:graphic>
      </p:graphicFrame>
      <p:sp>
        <p:nvSpPr>
          <p:cNvPr id="21" name="dense-read-rule"/>
          <p:cNvSpPr/>
          <p:nvPr/>
        </p:nvSpPr>
        <p:spPr>
          <a:xfrm xmlns:a="http://schemas.openxmlformats.org/drawingml/2006/main">
            <a:off x="11315700" y="33147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dense-read-label"/>
          <p:cNvSpPr txBox="1"/>
          <p:nvPr/>
        </p:nvSpPr>
        <p:spPr>
          <a:xfrm xmlns:a="http://schemas.openxmlformats.org/drawingml/2006/main">
            <a:off x="11315700" y="3543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0BBD8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23" name="dense-read-title"/>
          <p:cNvSpPr txBox="1"/>
          <p:nvPr/>
        </p:nvSpPr>
        <p:spPr>
          <a:xfrm xmlns:a="http://schemas.openxmlformats.org/drawingml/2006/main">
            <a:off x="11315700" y="4000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2F6F8"/>
                </a:solidFill>
                <a:latin typeface="Inter"/>
                <a:ea typeface="Inter"/>
              </a:rPr>
              <a:t>The signal earns its space.</a:t>
            </a:r>
            <a:endParaRPr lang="en-US"/>
          </a:p>
        </p:txBody>
      </p:sp>
      <p:sp>
        <p:nvSpPr>
          <p:cNvPr id="24" name="dense-read-body"/>
          <p:cNvSpPr txBox="1"/>
          <p:nvPr/>
        </p:nvSpPr>
        <p:spPr>
          <a:xfrm xmlns:a="http://schemas.openxmlformats.org/drawingml/2006/main">
            <a:off x="11315700" y="49530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87B7F"/>
                </a:solidFill>
                <a:latin typeface="Inter"/>
                <a:ea typeface="Inter"/>
              </a:rPr>
              <a:t>Every mark answers the page's question; remove anything that does not.</a:t>
            </a:r>
            <a:endParaRPr lang="en-US"/>
          </a:p>
        </p:txBody>
      </p:sp>
      <p:sp>
        <p:nvSpPr>
          <p:cNvPr id="25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F2F6F8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27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8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BLUE FLAME OPERATIONS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0BBD8"/>
                </a:solidFill>
                <a:latin typeface="Inter"/>
                <a:ea typeface="Inter"/>
              </a:rPr>
              <a:t>BLUE FLAME OPERATIONS · DETAIL</a:t>
            </a:r>
            <a:endParaRPr lang="en-US"/>
          </a:p>
        </p:txBody>
      </p:sp>
      <p:sp>
        <p:nvSpPr>
          <p:cNvPr id="16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F2F6F8"/>
                </a:solidFill>
                <a:latin typeface="Inter"/>
                <a:ea typeface="Inter"/>
              </a:rPr>
              <a:t>The gap becomes useful when it has an owner</a:t>
            </a:r>
            <a:endParaRPr lang="en-US"/>
          </a:p>
        </p:txBody>
      </p:sp>
      <p:sp>
        <p:nvSpPr>
          <p:cNvPr id="17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87B7F"/>
                </a:solidFill>
                <a:latin typeface="Inter"/>
                <a:ea typeface="Inter"/>
              </a:rPr>
              <a:t>Target, current state and exception share a single operating frame.</a:t>
            </a:r>
            <a:endParaRPr lang="en-US"/>
          </a:p>
        </p:txBody>
      </p:sp>
      <p:sp>
        <p:nvSpPr>
          <p:cNvPr id="18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operating-label-0"/>
          <p:cNvSpPr txBox="1"/>
          <p:nvPr/>
        </p:nvSpPr>
        <p:spPr>
          <a:xfrm xmlns:a="http://schemas.openxmlformats.org/drawingml/2006/main">
            <a:off x="11049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87B7F"/>
                </a:solidFill>
                <a:latin typeface="Inter"/>
                <a:ea typeface="Inter"/>
              </a:rPr>
              <a:t>NOW</a:t>
            </a:r>
            <a:endParaRPr lang="en-US"/>
          </a:p>
        </p:txBody>
      </p:sp>
      <p:sp>
        <p:nvSpPr>
          <p:cNvPr id="20" name="operating-bar-0"/>
          <p:cNvSpPr/>
          <p:nvPr/>
        </p:nvSpPr>
        <p:spPr>
          <a:xfrm xmlns:a="http://schemas.openxmlformats.org/drawingml/2006/main">
            <a:off x="11049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operating-fill-0"/>
          <p:cNvSpPr/>
          <p:nvPr/>
        </p:nvSpPr>
        <p:spPr>
          <a:xfrm xmlns:a="http://schemas.openxmlformats.org/drawingml/2006/main">
            <a:off x="1104900" y="3848100"/>
            <a:ext cx="1133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operating-value-0"/>
          <p:cNvSpPr txBox="1"/>
          <p:nvPr/>
        </p:nvSpPr>
        <p:spPr>
          <a:xfrm xmlns:a="http://schemas.openxmlformats.org/drawingml/2006/main">
            <a:off x="11049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F2F6F8"/>
                </a:solidFill>
                <a:latin typeface="Inter"/>
                <a:ea typeface="Inter"/>
              </a:rPr>
              <a:t>54%</a:t>
            </a:r>
            <a:endParaRPr lang="en-US"/>
          </a:p>
        </p:txBody>
      </p:sp>
      <p:sp>
        <p:nvSpPr>
          <p:cNvPr id="23" name="operating-label-1"/>
          <p:cNvSpPr txBox="1"/>
          <p:nvPr/>
        </p:nvSpPr>
        <p:spPr>
          <a:xfrm xmlns:a="http://schemas.openxmlformats.org/drawingml/2006/main">
            <a:off x="379095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87B7F"/>
                </a:solidFill>
                <a:latin typeface="Inter"/>
                <a:ea typeface="Inter"/>
              </a:rPr>
              <a:t>TARGET</a:t>
            </a:r>
            <a:endParaRPr lang="en-US"/>
          </a:p>
        </p:txBody>
      </p:sp>
      <p:sp>
        <p:nvSpPr>
          <p:cNvPr id="24" name="operating-bar-1"/>
          <p:cNvSpPr/>
          <p:nvPr/>
        </p:nvSpPr>
        <p:spPr>
          <a:xfrm xmlns:a="http://schemas.openxmlformats.org/drawingml/2006/main">
            <a:off x="379095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operating-fill-1"/>
          <p:cNvSpPr/>
          <p:nvPr/>
        </p:nvSpPr>
        <p:spPr>
          <a:xfrm xmlns:a="http://schemas.openxmlformats.org/drawingml/2006/main">
            <a:off x="3790950" y="3848100"/>
            <a:ext cx="1590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DCEB"/>
          </a:solidFill>
          <a:ln xmlns:a="http://schemas.openxmlformats.org/drawingml/2006/main" w="0">
            <a:solidFill>
              <a:srgbClr val="87DCE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operating-value-1"/>
          <p:cNvSpPr txBox="1"/>
          <p:nvPr/>
        </p:nvSpPr>
        <p:spPr>
          <a:xfrm xmlns:a="http://schemas.openxmlformats.org/drawingml/2006/main">
            <a:off x="379095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F2F6F8"/>
                </a:solidFill>
                <a:latin typeface="Inter"/>
                <a:ea typeface="Inter"/>
              </a:rPr>
              <a:t>76%</a:t>
            </a:r>
            <a:endParaRPr lang="en-US"/>
          </a:p>
        </p:txBody>
      </p:sp>
      <p:sp>
        <p:nvSpPr>
          <p:cNvPr id="27" name="operating-label-2"/>
          <p:cNvSpPr txBox="1"/>
          <p:nvPr/>
        </p:nvSpPr>
        <p:spPr>
          <a:xfrm xmlns:a="http://schemas.openxmlformats.org/drawingml/2006/main">
            <a:off x="64770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87B7F"/>
                </a:solidFill>
                <a:latin typeface="Inter"/>
                <a:ea typeface="Inter"/>
              </a:rPr>
              <a:t>GAP</a:t>
            </a:r>
            <a:endParaRPr lang="en-US"/>
          </a:p>
        </p:txBody>
      </p:sp>
      <p:sp>
        <p:nvSpPr>
          <p:cNvPr id="28" name="operating-bar-2"/>
          <p:cNvSpPr/>
          <p:nvPr/>
        </p:nvSpPr>
        <p:spPr>
          <a:xfrm xmlns:a="http://schemas.openxmlformats.org/drawingml/2006/main">
            <a:off x="64770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operating-fill-2"/>
          <p:cNvSpPr/>
          <p:nvPr/>
        </p:nvSpPr>
        <p:spPr>
          <a:xfrm xmlns:a="http://schemas.openxmlformats.org/drawingml/2006/main">
            <a:off x="6477000" y="38481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operating-value-2"/>
          <p:cNvSpPr txBox="1"/>
          <p:nvPr/>
        </p:nvSpPr>
        <p:spPr>
          <a:xfrm xmlns:a="http://schemas.openxmlformats.org/drawingml/2006/main">
            <a:off x="64770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F2F6F8"/>
                </a:solidFill>
                <a:latin typeface="Inter"/>
                <a:ea typeface="Inter"/>
              </a:rPr>
              <a:t>22%</a:t>
            </a:r>
            <a:endParaRPr lang="en-US"/>
          </a:p>
        </p:txBody>
      </p:sp>
      <p:sp>
        <p:nvSpPr>
          <p:cNvPr id="31" name="operating-axis"/>
          <p:cNvSpPr/>
          <p:nvPr/>
        </p:nvSpPr>
        <p:spPr>
          <a:xfrm xmlns:a="http://schemas.openxmlformats.org/drawingml/2006/main">
            <a:off x="1104900" y="5334000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operating-read"/>
          <p:cNvSpPr txBox="1"/>
          <p:nvPr/>
        </p:nvSpPr>
        <p:spPr>
          <a:xfrm xmlns:a="http://schemas.openxmlformats.org/drawingml/2006/main">
            <a:off x="1104900" y="56578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2F6F8"/>
                </a:solidFill>
                <a:latin typeface="Inter"/>
                <a:ea typeface="Inter"/>
              </a:rPr>
              <a:t>Status is useful only when the next handoff is visible.</a:t>
            </a:r>
            <a:endParaRPr lang="en-US"/>
          </a:p>
        </p:txBody>
      </p:sp>
      <p:sp>
        <p:nvSpPr>
          <p:cNvPr id="33" name="operating-note-label"/>
          <p:cNvSpPr txBox="1"/>
          <p:nvPr/>
        </p:nvSpPr>
        <p:spPr>
          <a:xfrm xmlns:a="http://schemas.openxmlformats.org/drawingml/2006/main">
            <a:off x="10287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0BBD8"/>
                </a:solidFill>
                <a:latin typeface="Inter"/>
                <a:ea typeface="Inter"/>
              </a:rPr>
              <a:t>EXCEPTION</a:t>
            </a:r>
            <a:endParaRPr lang="en-US"/>
          </a:p>
        </p:txBody>
      </p:sp>
      <p:sp>
        <p:nvSpPr>
          <p:cNvPr id="34" name="operating-note"/>
          <p:cNvSpPr txBox="1"/>
          <p:nvPr/>
        </p:nvSpPr>
        <p:spPr>
          <a:xfrm xmlns:a="http://schemas.openxmlformats.org/drawingml/2006/main">
            <a:off x="10287000" y="38290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F2F6F8"/>
                </a:solidFill>
                <a:latin typeface="Inter"/>
                <a:ea typeface="Inter"/>
              </a:rPr>
              <a:t>The gap is not a decoration; it is the work.</a:t>
            </a:r>
            <a:endParaRPr lang="en-US"/>
          </a:p>
        </p:txBody>
      </p:sp>
      <p:sp>
        <p:nvSpPr>
          <p:cNvPr id="35" name="operating-note-foot"/>
          <p:cNvSpPr txBox="1"/>
          <p:nvPr/>
        </p:nvSpPr>
        <p:spPr>
          <a:xfrm xmlns:a="http://schemas.openxmlformats.org/drawingml/2006/main">
            <a:off x="10287000" y="5010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787B7F"/>
                </a:solidFill>
                <a:latin typeface="Inter"/>
                <a:ea typeface="Inter"/>
              </a:rPr>
              <a:t>A healthy page names the owner and the next date.</a:t>
            </a:r>
            <a:endParaRPr lang="en-US"/>
          </a:p>
        </p:txBody>
      </p:sp>
      <p:sp>
        <p:nvSpPr>
          <p:cNvPr id="3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5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7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9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1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3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BLUE FLAME OPERATIONS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0BBD8"/>
                </a:solidFill>
                <a:latin typeface="Inter"/>
                <a:ea typeface="Inter"/>
              </a:rPr>
              <a:t>BLUE FLAME OPERATIONS · VISUAL CARRIER</a:t>
            </a:r>
            <a:endParaRPr lang="en-US"/>
          </a:p>
        </p:txBody>
      </p:sp>
      <p:sp>
        <p:nvSpPr>
          <p:cNvPr id="16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F2F6F8"/>
                </a:solidFill>
                <a:latin typeface="Inter"/>
                <a:ea typeface="Inter"/>
              </a:rPr>
              <a:t>Show the operating shape</a:t>
            </a:r>
            <a:endParaRPr lang="en-US"/>
          </a:p>
        </p:txBody>
      </p:sp>
      <p:sp>
        <p:nvSpPr>
          <p:cNvPr id="17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87B7F"/>
                </a:solidFill>
                <a:latin typeface="Inter"/>
                <a:ea typeface="Inter"/>
              </a:rPr>
              <a:t>An operating page should reveal the shape of the work, not decorate the status.</a:t>
            </a:r>
            <a:endParaRPr lang="en-US"/>
          </a:p>
        </p:txBody>
      </p:sp>
      <p:sp>
        <p:nvSpPr>
          <p:cNvPr id="18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dense-visual-bars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5c05f779f842ed"/>
          </a:graphicData>
        </a:graphic>
      </p:graphicFrame>
      <p:graphicFrame>
        <p:nvGraphicFramePr>
          <p:cNvPr id="20" name="dense-visual-lin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667500" y="3028950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86b4177c514f84"/>
          </a:graphicData>
        </a:graphic>
      </p:graphicFrame>
      <p:sp>
        <p:nvSpPr>
          <p:cNvPr id="21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0BBD8"/>
                </a:solidFill>
                <a:latin typeface="Inter"/>
                <a:ea typeface="Inter"/>
              </a:rPr>
              <a:t>CARRIER</a:t>
            </a:r>
            <a:endParaRPr lang="en-US"/>
          </a:p>
        </p:txBody>
      </p:sp>
      <p:sp>
        <p:nvSpPr>
          <p:cNvPr id="23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F2F6F8"/>
                </a:solidFill>
                <a:latin typeface="Inter"/>
                <a:ea typeface="Inter"/>
              </a:rPr>
              <a:t>Exception before polish</a:t>
            </a:r>
            <a:endParaRPr lang="en-US"/>
          </a:p>
        </p:txBody>
      </p:sp>
      <p:sp>
        <p:nvSpPr>
          <p:cNvPr id="24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87B7F"/>
                </a:solidFill>
                <a:latin typeface="Inter"/>
                <a:ea typeface="Inter"/>
              </a:rPr>
              <a:t>Read the mark, unit, and basis.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BLUE FLAME OPERATIONS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0BBD8"/>
                </a:solidFill>
                <a:latin typeface="Inter"/>
                <a:ea typeface="Inter"/>
              </a:rPr>
              <a:t>BLUE FLAME OPERATIONS · CLOSE</a:t>
            </a:r>
            <a:endParaRPr lang="en-US"/>
          </a:p>
        </p:txBody>
      </p:sp>
      <p:sp>
        <p:nvSpPr>
          <p:cNvPr id="16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F2F6F8"/>
                </a:solidFill>
                <a:latin typeface="Inter"/>
                <a:ea typeface="Inter"/>
              </a:rPr>
              <a:t>Make the owner and the next date impossible to miss</a:t>
            </a:r>
            <a:endParaRPr lang="en-US"/>
          </a:p>
        </p:txBody>
      </p:sp>
      <p:sp>
        <p:nvSpPr>
          <p:cNvPr id="17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87B7F"/>
                </a:solidFill>
                <a:latin typeface="Inter"/>
                <a:ea typeface="Inter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18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0BBD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2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2F6F8"/>
                </a:solidFill>
                <a:latin typeface="Inter"/>
                <a:ea typeface="Inter"/>
              </a:rPr>
              <a:t>Status</a:t>
            </a:r>
            <a:endParaRPr lang="en-US"/>
          </a:p>
        </p:txBody>
      </p:sp>
      <p:sp>
        <p:nvSpPr>
          <p:cNvPr id="2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2F6F8"/>
                </a:solidFill>
                <a:latin typeface="Inter"/>
                <a:ea typeface="Inter"/>
              </a:rPr>
              <a:t>The queue is on target.</a:t>
            </a:r>
            <a:endParaRPr lang="en-US"/>
          </a:p>
        </p:txBody>
      </p:sp>
      <p:sp>
        <p:nvSpPr>
          <p:cNvPr id="2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2F6F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2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2F6F8"/>
                </a:solidFill>
                <a:latin typeface="Inter"/>
                <a:ea typeface="Inter"/>
              </a:rPr>
              <a:t>Exception</a:t>
            </a:r>
            <a:endParaRPr lang="en-US"/>
          </a:p>
        </p:txBody>
      </p:sp>
      <p:sp>
        <p:nvSpPr>
          <p:cNvPr id="2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2F6F8"/>
                </a:solidFill>
                <a:latin typeface="Inter"/>
                <a:ea typeface="Inter"/>
              </a:rPr>
              <a:t>The handoff is the constraint.</a:t>
            </a:r>
            <a:endParaRPr lang="en-US"/>
          </a:p>
        </p:txBody>
      </p:sp>
      <p:sp>
        <p:nvSpPr>
          <p:cNvPr id="2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0BBD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2F6F8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3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2F6F8"/>
                </a:solidFill>
                <a:latin typeface="Inter"/>
                <a:ea typeface="Inter"/>
              </a:rPr>
              <a:t>Name the owner today.</a:t>
            </a:r>
            <a:endParaRPr lang="en-US"/>
          </a:p>
        </p:txBody>
      </p:sp>
      <p:sp>
        <p:nvSpPr>
          <p:cNvPr id="31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02124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33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02124"/>
                </a:solidFill>
                <a:latin typeface="Inter"/>
                <a:ea typeface="Inter"/>
              </a:rPr>
              <a:t>Assign the handoff</a:t>
            </a:r>
            <a:endParaRPr lang="en-US"/>
          </a:p>
        </p:txBody>
      </p:sp>
      <p:sp>
        <p:nvSpPr>
          <p:cNvPr id="34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202124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3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3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