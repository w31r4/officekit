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5074b30225840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d3bd4b5ccdd7c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lue-flame-cover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blue-flame-cover-top-rule"/>
          <p:cNvSpPr/>
          <p:nvPr/>
        </p:nvSpPr>
        <p:spPr>
          <a:xfrm xmlns:a="http://schemas.openxmlformats.org/drawingml/2006/main">
            <a:off x="914400" y="4191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-flame-cover-eyebrow"/>
          <p:cNvSpPr txBox="1"/>
          <p:nvPr/>
        </p:nvSpPr>
        <p:spPr>
          <a:xfrm xmlns:a="http://schemas.openxmlformats.org/drawingml/2006/main">
            <a:off x="914400" y="6286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0BBD8"/>
                </a:solidFill>
                <a:latin typeface="Inter"/>
                <a:ea typeface="Inter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0096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Blue Flame Operations: a claim worth testing</a:t>
            </a:r>
            <a:endParaRPr lang="en-US"/>
          </a:p>
        </p:txBody>
      </p:sp>
      <p:sp>
        <p:nvSpPr>
          <p:cNvPr id="6" name="blue-flame-cover-basis"/>
          <p:cNvSpPr txBox="1"/>
          <p:nvPr/>
        </p:nvSpPr>
        <p:spPr>
          <a:xfrm xmlns:a="http://schemas.openxmlformats.org/drawingml/2006/main">
            <a:off x="952500" y="16573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A late-night operating review turns signal into a bounded next move.</a:t>
            </a:r>
            <a:endParaRPr lang="en-US"/>
          </a:p>
        </p:txBody>
      </p:sp>
      <p:sp>
        <p:nvSpPr>
          <p:cNvPr id="7" name="blue-flame-kpi-value-0"/>
          <p:cNvSpPr txBox="1"/>
          <p:nvPr/>
        </p:nvSpPr>
        <p:spPr>
          <a:xfrm xmlns:a="http://schemas.openxmlformats.org/drawingml/2006/main">
            <a:off x="952500" y="2076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BBD8"/>
                </a:solidFill>
                <a:latin typeface="Inter"/>
                <a:ea typeface="Inter"/>
              </a:rPr>
              <a:t>3.26m</a:t>
            </a:r>
            <a:endParaRPr lang="en-US"/>
          </a:p>
        </p:txBody>
      </p:sp>
      <p:sp>
        <p:nvSpPr>
          <p:cNvPr id="8" name="blue-flame-kpi-label-0"/>
          <p:cNvSpPr txBox="1"/>
          <p:nvPr/>
        </p:nvSpPr>
        <p:spPr>
          <a:xfrm xmlns:a="http://schemas.openxmlformats.org/drawingml/2006/main">
            <a:off x="952500" y="24574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87B7F"/>
                </a:solidFill>
                <a:latin typeface="Inter"/>
                <a:ea typeface="Inter"/>
              </a:rPr>
              <a:t>orders observed</a:t>
            </a:r>
            <a:endParaRPr lang="en-US"/>
          </a:p>
        </p:txBody>
      </p:sp>
      <p:sp>
        <p:nvSpPr>
          <p:cNvPr id="9" name="blue-flame-kpi-rule-0"/>
          <p:cNvSpPr/>
          <p:nvPr/>
        </p:nvSpPr>
        <p:spPr>
          <a:xfrm xmlns:a="http://schemas.openxmlformats.org/drawingml/2006/main">
            <a:off x="3162300" y="2038350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blue-flame-kpi-value-1"/>
          <p:cNvSpPr txBox="1"/>
          <p:nvPr/>
        </p:nvSpPr>
        <p:spPr>
          <a:xfrm xmlns:a="http://schemas.openxmlformats.org/drawingml/2006/main">
            <a:off x="3524250" y="2076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31m</a:t>
            </a:r>
            <a:endParaRPr lang="en-US"/>
          </a:p>
        </p:txBody>
      </p:sp>
      <p:sp>
        <p:nvSpPr>
          <p:cNvPr id="11" name="blue-flame-kpi-label-1"/>
          <p:cNvSpPr txBox="1"/>
          <p:nvPr/>
        </p:nvSpPr>
        <p:spPr>
          <a:xfrm xmlns:a="http://schemas.openxmlformats.org/drawingml/2006/main">
            <a:off x="3524250" y="24574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87B7F"/>
                </a:solidFill>
                <a:latin typeface="Inter"/>
                <a:ea typeface="Inter"/>
              </a:rPr>
              <a:t>avg. handoff</a:t>
            </a:r>
            <a:endParaRPr lang="en-US"/>
          </a:p>
        </p:txBody>
      </p:sp>
      <p:sp>
        <p:nvSpPr>
          <p:cNvPr id="12" name="blue-flame-kpi-rule-1"/>
          <p:cNvSpPr/>
          <p:nvPr/>
        </p:nvSpPr>
        <p:spPr>
          <a:xfrm xmlns:a="http://schemas.openxmlformats.org/drawingml/2006/main">
            <a:off x="5734050" y="2038350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blue-flame-kpi-value-2"/>
          <p:cNvSpPr txBox="1"/>
          <p:nvPr/>
        </p:nvSpPr>
        <p:spPr>
          <a:xfrm xmlns:a="http://schemas.openxmlformats.org/drawingml/2006/main">
            <a:off x="6096000" y="2076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BBD8"/>
                </a:solidFill>
                <a:latin typeface="Inter"/>
                <a:ea typeface="Inter"/>
              </a:rPr>
              <a:t>5.1m</a:t>
            </a:r>
            <a:endParaRPr lang="en-US"/>
          </a:p>
        </p:txBody>
      </p:sp>
      <p:sp>
        <p:nvSpPr>
          <p:cNvPr id="14" name="blue-flame-kpi-label-2"/>
          <p:cNvSpPr txBox="1"/>
          <p:nvPr/>
        </p:nvSpPr>
        <p:spPr>
          <a:xfrm xmlns:a="http://schemas.openxmlformats.org/drawingml/2006/main">
            <a:off x="6096000" y="24574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87B7F"/>
                </a:solidFill>
                <a:latin typeface="Inter"/>
                <a:ea typeface="Inter"/>
              </a:rPr>
              <a:t>cost variance</a:t>
            </a:r>
            <a:endParaRPr lang="en-US"/>
          </a:p>
        </p:txBody>
      </p:sp>
      <p:pic>
        <p:nvPicPr>
          <p:cNvPr id="15" name="blue-flame-cover-photo" descr="Documentary operating scene used as the cover evidence band"/>
          <p:cNvPicPr/>
          <p:nvPr/>
        </p:nvPicPr>
        <p:blipFill>
          <a:blip xmlns:r="http://schemas.openxmlformats.org/officeDocument/2006/relationships" xmlns:a="http://schemas.openxmlformats.org/drawingml/2006/main" r:embed="rIdOfficeKitImage0d3bd4b5ccdd7cbb_1"/>
          <a:srcRect xmlns:a="http://schemas.openxmlformats.org/drawingml/2006/main" l="0" t="45645" r="0" b="4564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14400" y="3105150"/>
            <a:ext cx="13411200" cy="2076450"/>
          </a:xfrm>
          <a:prstGeom xmlns:a="http://schemas.openxmlformats.org/drawingml/2006/main" prst="rect">
            <a:avLst/>
          </a:prstGeom>
        </p:spPr>
      </p:pic>
      <p:sp>
        <p:nvSpPr>
          <p:cNvPr id="16" name="blue-flame-photo-frame"/>
          <p:cNvSpPr/>
          <p:nvPr/>
        </p:nvSpPr>
        <p:spPr>
          <a:xfrm xmlns:a="http://schemas.openxmlformats.org/drawingml/2006/main">
            <a:off x="914400" y="3105150"/>
            <a:ext cx="13411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blue-flame-cover-footer-rule"/>
          <p:cNvSpPr/>
          <p:nvPr/>
        </p:nvSpPr>
        <p:spPr>
          <a:xfrm xmlns:a="http://schemas.openxmlformats.org/drawingml/2006/main">
            <a:off x="914400" y="65532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lue-flame-cover-thesis"/>
          <p:cNvSpPr txBox="1"/>
          <p:nvPr/>
        </p:nvSpPr>
        <p:spPr>
          <a:xfrm xmlns:a="http://schemas.openxmlformats.org/drawingml/2006/main">
            <a:off x="914400" y="68008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F2F6F8"/>
                </a:solidFill>
                <a:latin typeface="Inter"/>
                <a:ea typeface="Inter"/>
              </a:rPr>
              <a:t>A visible operating signal creates a shared next action.</a:t>
            </a:r>
            <a:endParaRPr lang="en-US"/>
          </a:p>
        </p:txBody>
      </p:sp>
      <p:sp>
        <p:nvSpPr>
          <p:cNvPr id="19" name="blue-flame-cover-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0" name="blue-flame-cover-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2F6F8"/>
                </a:solidFill>
                <a:latin typeface="Inter"/>
                <a:ea typeface="Inter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6F8"/>
                </a:solidFill>
                <a:latin typeface="Inter"/>
                <a:ea typeface="Inter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BBD8"/>
                </a:solidFill>
                <a:latin typeface="Inter"/>
                <a:ea typeface="Inter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0BB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F2F6F8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6F8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DCEB"/>
          </a:solidFill>
          <a:ln xmlns:a="http://schemas.openxmlformats.org/drawingml/2006/main" w="0">
            <a:solidFill>
              <a:srgbClr val="87DCE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2F6F8"/>
                </a:solidFill>
                <a:latin typeface="Inter"/>
                <a:ea typeface="Inter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2124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Exception before polish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Inter"/>
                <a:ea typeface="Inter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