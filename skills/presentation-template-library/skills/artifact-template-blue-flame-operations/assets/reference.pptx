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slides/charts/chart4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9591c1305f2d40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59ee3aa5202fd02f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e3a6d326d7c546e5" /><Relationship Type="http://schemas.openxmlformats.org/officeDocument/2006/relationships/chart" Target="/ppt/slides/charts/chart2.xml" Id="Rd5540448384c4d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3.xml" Id="R5495d9c7307b462b" /><Relationship Type="http://schemas.openxmlformats.org/officeDocument/2006/relationships/chart" Target="/ppt/slides/charts/chart4.xml" Id="Rc2d2191c9b8b48c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0BB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87B7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87DCEB"/>
            </a:solidFill>
            <a:ln w="38100">
              <a:solidFill>
                <a:srgbClr val="87DCEB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3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0BBD8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4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87DCEB"/>
            </a:solidFill>
            <a:ln w="38100">
              <a:solidFill>
                <a:srgbClr val="87DCEB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blue-flame-operation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>
              <a:alpha val="100000"/>
            </a:srgbClr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0"/>
          <p:cNvSpPr/>
          <p:nvPr/>
        </p:nvSpPr>
        <p:spPr>
          <a:xfrm xmlns:a="http://schemas.openxmlformats.org/drawingml/2006/main">
            <a:off x="91440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0"/>
          <p:cNvSpPr txBox="1"/>
          <p:nvPr/>
        </p:nvSpPr>
        <p:spPr>
          <a:xfrm xmlns:a="http://schemas.openxmlformats.org/drawingml/2006/main">
            <a:off x="99060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7" name="fixed-nav-1"/>
          <p:cNvSpPr/>
          <p:nvPr/>
        </p:nvSpPr>
        <p:spPr>
          <a:xfrm xmlns:a="http://schemas.openxmlformats.org/drawingml/2006/main">
            <a:off x="248793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1"/>
          <p:cNvSpPr txBox="1"/>
          <p:nvPr/>
        </p:nvSpPr>
        <p:spPr>
          <a:xfrm xmlns:a="http://schemas.openxmlformats.org/drawingml/2006/main">
            <a:off x="256413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fixed-nav-2"/>
          <p:cNvSpPr/>
          <p:nvPr/>
        </p:nvSpPr>
        <p:spPr>
          <a:xfrm xmlns:a="http://schemas.openxmlformats.org/drawingml/2006/main">
            <a:off x="406146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2"/>
          <p:cNvSpPr txBox="1"/>
          <p:nvPr/>
        </p:nvSpPr>
        <p:spPr>
          <a:xfrm xmlns:a="http://schemas.openxmlformats.org/drawingml/2006/main">
            <a:off x="413766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1" name="fixed-nav-3"/>
          <p:cNvSpPr/>
          <p:nvPr/>
        </p:nvSpPr>
        <p:spPr>
          <a:xfrm xmlns:a="http://schemas.openxmlformats.org/drawingml/2006/main">
            <a:off x="563499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3"/>
          <p:cNvSpPr txBox="1"/>
          <p:nvPr/>
        </p:nvSpPr>
        <p:spPr>
          <a:xfrm xmlns:a="http://schemas.openxmlformats.org/drawingml/2006/main">
            <a:off x="571119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3" name="fixed-nav-4"/>
          <p:cNvSpPr/>
          <p:nvPr/>
        </p:nvSpPr>
        <p:spPr>
          <a:xfrm xmlns:a="http://schemas.openxmlformats.org/drawingml/2006/main">
            <a:off x="7208520" y="421005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fixed-nav-label-4"/>
          <p:cNvSpPr txBox="1"/>
          <p:nvPr/>
        </p:nvSpPr>
        <p:spPr>
          <a:xfrm xmlns:a="http://schemas.openxmlformats.org/drawingml/2006/main">
            <a:off x="7284720" y="424815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5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WORK · OFFICEKIT CALIBRATION</a:t>
            </a:r>
            <a:endParaRPr lang="en-US"/>
          </a:p>
        </p:txBody>
      </p:sp>
      <p:sp>
        <p:nvSpPr>
          <p:cNvPr id="17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2F6F8"/>
                </a:solidFill>
                <a:latin typeface="Inter"/>
                <a:ea typeface="Inter"/>
              </a:rPr>
              <a:t>Blue Flame Operations: a claim worth testing</a:t>
            </a:r>
            <a:endParaRPr lang="en-US"/>
          </a:p>
        </p:txBody>
      </p:sp>
      <p:sp>
        <p:nvSpPr>
          <p:cNvPr id="18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0BB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9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1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A visible operating signal creates a shared next action.</a:t>
            </a:r>
            <a:endParaRPr lang="en-US"/>
          </a:p>
        </p:txBody>
      </p:sp>
      <p:sp>
        <p:nvSpPr>
          <p:cNvPr id="22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4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127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4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One operating constraint should own the page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Status, cause, owner, and date make the next operational move visible.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OPERATING SIGNAL</a:t>
            </a:r>
            <a:endParaRPr lang="en-US"/>
          </a:p>
        </p:txBody>
      </p:sp>
      <p:sp>
        <p:nvSpPr>
          <p:cNvPr id="2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2F6F8"/>
                </a:solidFill>
                <a:latin typeface="Inter"/>
                <a:ea typeface="Inter"/>
              </a:rPr>
              <a:t>The queue is healthy; the handoff is not.</a:t>
            </a:r>
            <a:endParaRPr lang="en-US"/>
          </a:p>
        </p:txBody>
      </p:sp>
      <p:sp>
        <p:nvSpPr>
          <p:cNvPr id="2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6F8"/>
                </a:solidFill>
                <a:latin typeface="Inter"/>
                <a:ea typeface="Inter"/>
              </a:rPr>
              <a:t>Three visible signals point to one owner and one date.</a:t>
            </a:r>
            <a:endParaRPr lang="en-US"/>
          </a:p>
        </p:txBody>
      </p:sp>
      <p:sp>
        <p:nvSpPr>
          <p:cNvPr id="2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Queue</a:t>
            </a:r>
            <a:endParaRPr lang="en-US"/>
          </a:p>
        </p:txBody>
      </p:sp>
      <p:sp>
        <p:nvSpPr>
          <p:cNvPr id="2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On target</a:t>
            </a:r>
            <a:endParaRPr lang="en-US"/>
          </a:p>
        </p:txBody>
      </p:sp>
      <p:sp>
        <p:nvSpPr>
          <p:cNvPr id="2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Handoff</a:t>
            </a:r>
            <a:endParaRPr lang="en-US"/>
          </a:p>
        </p:txBody>
      </p:sp>
      <p:sp>
        <p:nvSpPr>
          <p:cNvPr id="2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20BBD8"/>
                </a:solidFill>
                <a:latin typeface="Inter"/>
                <a:ea typeface="Inter"/>
              </a:rPr>
              <a:t>At risk</a:t>
            </a:r>
            <a:endParaRPr lang="en-US"/>
          </a:p>
        </p:txBody>
      </p:sp>
      <p:sp>
        <p:nvSpPr>
          <p:cNvPr id="2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6F8"/>
                </a:solidFill>
                <a:latin typeface="Inter"/>
                <a:ea typeface="Inter"/>
              </a:rPr>
              <a:t>Owner</a:t>
            </a:r>
            <a:endParaRPr lang="en-US"/>
          </a:p>
        </p:txBody>
      </p:sp>
      <p:sp>
        <p:nvSpPr>
          <p:cNvPr id="3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Named</a:t>
            </a:r>
            <a:endParaRPr lang="en-US"/>
          </a:p>
        </p:txBody>
      </p:sp>
      <p:sp>
        <p:nvSpPr>
          <p:cNvPr id="3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operating signal improves while the exception stays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Illustrative operations ledger · current state, target, and exception share one frame.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3a6d326d7c546e5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540448384c4d98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0BB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2F6F8"/>
                </a:solidFill>
                <a:latin typeface="Inter"/>
                <a:ea typeface="Inter"/>
              </a:rPr>
              <a:t>The signal earns its space.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6F8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The gap becomes useful when it has an owner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NOW</a:t>
            </a:r>
            <a:endParaRPr lang="en-US"/>
          </a:p>
        </p:txBody>
      </p:sp>
      <p:sp>
        <p:nvSpPr>
          <p:cNvPr id="2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54%</a:t>
            </a:r>
            <a:endParaRPr lang="en-US"/>
          </a:p>
        </p:txBody>
      </p:sp>
      <p:sp>
        <p:nvSpPr>
          <p:cNvPr id="2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TARGET</a:t>
            </a:r>
            <a:endParaRPr lang="en-US"/>
          </a:p>
        </p:txBody>
      </p:sp>
      <p:sp>
        <p:nvSpPr>
          <p:cNvPr id="2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7DCEB"/>
          </a:solidFill>
          <a:ln xmlns:a="http://schemas.openxmlformats.org/drawingml/2006/main" w="0">
            <a:solidFill>
              <a:srgbClr val="87DCE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76%</a:t>
            </a:r>
            <a:endParaRPr lang="en-US"/>
          </a:p>
        </p:txBody>
      </p:sp>
      <p:sp>
        <p:nvSpPr>
          <p:cNvPr id="2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87B7F"/>
                </a:solidFill>
                <a:latin typeface="Inter"/>
                <a:ea typeface="Inter"/>
              </a:rPr>
              <a:t>GAP</a:t>
            </a:r>
            <a:endParaRPr lang="en-US"/>
          </a:p>
        </p:txBody>
      </p:sp>
      <p:sp>
        <p:nvSpPr>
          <p:cNvPr id="2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2F6F8"/>
                </a:solidFill>
                <a:latin typeface="Inter"/>
                <a:ea typeface="Inter"/>
              </a:rPr>
              <a:t>22%</a:t>
            </a:r>
            <a:endParaRPr lang="en-US"/>
          </a:p>
        </p:txBody>
      </p:sp>
      <p:sp>
        <p:nvSpPr>
          <p:cNvPr id="3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2F6F8"/>
                </a:solidFill>
                <a:latin typeface="Inter"/>
                <a:ea typeface="Inter"/>
              </a:rPr>
              <a:t>Status is useful only when the next handoff is visible.</a:t>
            </a:r>
            <a:endParaRPr lang="en-US"/>
          </a:p>
        </p:txBody>
      </p:sp>
      <p:sp>
        <p:nvSpPr>
          <p:cNvPr id="3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3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The gap is not a decoration; it is the work.</a:t>
            </a:r>
            <a:endParaRPr lang="en-US"/>
          </a:p>
        </p:txBody>
      </p:sp>
      <p:sp>
        <p:nvSpPr>
          <p:cNvPr id="3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87B7F"/>
                </a:solidFill>
                <a:latin typeface="Inter"/>
                <a:ea typeface="Inter"/>
              </a:rPr>
              <a:t>A healthy page names the owner and the next date.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Show the operating shape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An operating page should reveal the shape of the work, not decorate the status.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95d9c7307b462b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d2191c9b8b48cd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BB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6F8"/>
                </a:solidFill>
                <a:latin typeface="Inter"/>
                <a:ea typeface="Inter"/>
              </a:rPr>
              <a:t>Exception before polish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87B7F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0A10"/>
          </a:solidFill>
          <a:ln xmlns:a="http://schemas.openxmlformats.org/drawingml/2006/main" w="0">
            <a:solidFill>
              <a:srgbClr val="070A1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87B7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8"/>
          </a:solidFill>
          <a:ln xmlns:a="http://schemas.openxmlformats.org/drawingml/2006/main" w="0">
            <a:solidFill>
              <a:srgbClr val="F2F6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BLUE FLAME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0BBD8"/>
                </a:solidFill>
                <a:latin typeface="Inter"/>
                <a:ea typeface="Inter"/>
              </a:rPr>
              <a:t>BLUE FLAME OPERATIONS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2F6F8"/>
                </a:solidFill>
                <a:latin typeface="Inter"/>
                <a:ea typeface="Inter"/>
              </a:rPr>
              <a:t>Make the owner and the next date impossible to miss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87B7F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Status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queue is on target.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6F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87B7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Exception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The handoff is the constraint.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BB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6F8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6F8"/>
                </a:solidFill>
                <a:latin typeface="Inter"/>
                <a:ea typeface="Inter"/>
              </a:rPr>
              <a:t>Name the owner today.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BBD8"/>
          </a:solidFill>
          <a:ln xmlns:a="http://schemas.openxmlformats.org/drawingml/2006/main" w="0">
            <a:solidFill>
              <a:srgbClr val="20BB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02124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02124"/>
                </a:solidFill>
                <a:latin typeface="Inter"/>
                <a:ea typeface="Inter"/>
              </a:rPr>
              <a:t>Assign the handoff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202124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87B7F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