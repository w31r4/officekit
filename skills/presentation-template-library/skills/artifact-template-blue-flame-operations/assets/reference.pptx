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7a9d21c67f34d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b5a7d66fe0ba8bb7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b5a7d66fe0ba8bb7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>
              <a:alpha val="100000"/>
            </a:srgbClr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WORK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2F6F8"/>
                </a:solidFill>
                <a:latin typeface="Inter"/>
                <a:ea typeface="Inter"/>
              </a:rPr>
              <a:t>Blue Flame Operations: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0BBD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6F8"/>
                </a:solidFill>
                <a:latin typeface="Inter"/>
                <a:ea typeface="Inter"/>
              </a:rPr>
              <a:t>A visible operating signal creates a shared next action.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254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One operating constraint should own the page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OPERATING SIGNAL</a:t>
            </a:r>
            <a:endParaRPr lang="en-US"/>
          </a:p>
        </p:txBody>
      </p:sp>
      <p:sp>
        <p:nvSpPr>
          <p:cNvPr id="2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2F6F8"/>
                </a:solidFill>
                <a:latin typeface="Inter"/>
                <a:ea typeface="Inter"/>
              </a:rPr>
              <a:t>The queue is healthy; the handoff is not.</a:t>
            </a:r>
            <a:endParaRPr lang="en-US"/>
          </a:p>
        </p:txBody>
      </p:sp>
      <p:sp>
        <p:nvSpPr>
          <p:cNvPr id="2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6F8"/>
                </a:solidFill>
                <a:latin typeface="Inter"/>
                <a:ea typeface="Inter"/>
              </a:rPr>
              <a:t>Three visible signals point to one owner and one date.</a:t>
            </a:r>
            <a:endParaRPr lang="en-US"/>
          </a:p>
        </p:txBody>
      </p:sp>
      <p:sp>
        <p:nvSpPr>
          <p:cNvPr id="2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BB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Queue</a:t>
            </a:r>
            <a:endParaRPr lang="en-US"/>
          </a:p>
        </p:txBody>
      </p:sp>
      <p:sp>
        <p:nvSpPr>
          <p:cNvPr id="2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On target</a:t>
            </a:r>
            <a:endParaRPr lang="en-US"/>
          </a:p>
        </p:txBody>
      </p:sp>
      <p:sp>
        <p:nvSpPr>
          <p:cNvPr id="2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BB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Handoff</a:t>
            </a:r>
            <a:endParaRPr lang="en-US"/>
          </a:p>
        </p:txBody>
      </p:sp>
      <p:sp>
        <p:nvSpPr>
          <p:cNvPr id="2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20BBD8"/>
                </a:solidFill>
                <a:latin typeface="Inter"/>
                <a:ea typeface="Inter"/>
              </a:rPr>
              <a:t>At risk</a:t>
            </a:r>
            <a:endParaRPr lang="en-US"/>
          </a:p>
        </p:txBody>
      </p:sp>
      <p:sp>
        <p:nvSpPr>
          <p:cNvPr id="2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BB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Owner</a:t>
            </a:r>
            <a:endParaRPr lang="en-US"/>
          </a:p>
        </p:txBody>
      </p:sp>
      <p:sp>
        <p:nvSpPr>
          <p:cNvPr id="3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Named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EVOLUTION / TRANSITION</a:t>
            </a:r>
            <a:endParaRPr lang="en-US"/>
          </a:p>
        </p:txBody>
      </p:sp>
      <p:sp>
        <p:nvSpPr>
          <p:cNvPr id="20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254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0BB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3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24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25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254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0BB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7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28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29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254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0BB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1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32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33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254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0BBD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35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36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37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254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0BBD8"/>
                </a:solidFill>
                <a:latin typeface="Inter"/>
                <a:ea typeface="Inter"/>
              </a:rPr>
              <a:t>05</a:t>
            </a:r>
            <a:endParaRPr lang="en-US"/>
          </a:p>
        </p:txBody>
      </p:sp>
      <p:sp>
        <p:nvSpPr>
          <p:cNvPr id="39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Scale</a:t>
            </a:r>
            <a:endParaRPr lang="en-US"/>
          </a:p>
        </p:txBody>
      </p:sp>
      <p:sp>
        <p:nvSpPr>
          <p:cNvPr id="40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Repeat what held</a:t>
            </a:r>
            <a:endParaRPr lang="en-US"/>
          </a:p>
        </p:txBody>
      </p:sp>
      <p:sp>
        <p:nvSpPr>
          <p:cNvPr id="41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0BBD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42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F2F6F8"/>
                </a:solidFill>
                <a:latin typeface="Inter"/>
                <a:ea typeface="Inter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4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6F8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4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4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The gap becomes useful when it has an owner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87B7F"/>
                </a:solidFill>
                <a:latin typeface="Inter"/>
                <a:ea typeface="Inter"/>
              </a:rPr>
              <a:t>NOW</a:t>
            </a:r>
            <a:endParaRPr lang="en-US"/>
          </a:p>
        </p:txBody>
      </p:sp>
      <p:sp>
        <p:nvSpPr>
          <p:cNvPr id="2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54%</a:t>
            </a:r>
            <a:endParaRPr lang="en-US"/>
          </a:p>
        </p:txBody>
      </p:sp>
      <p:sp>
        <p:nvSpPr>
          <p:cNvPr id="2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87B7F"/>
                </a:solidFill>
                <a:latin typeface="Inter"/>
                <a:ea typeface="Inter"/>
              </a:rPr>
              <a:t>TARGET</a:t>
            </a:r>
            <a:endParaRPr lang="en-US"/>
          </a:p>
        </p:txBody>
      </p:sp>
      <p:sp>
        <p:nvSpPr>
          <p:cNvPr id="2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DCEB"/>
          </a:solidFill>
          <a:ln xmlns:a="http://schemas.openxmlformats.org/drawingml/2006/main" w="0">
            <a:solidFill>
              <a:srgbClr val="87DCE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76%</a:t>
            </a:r>
            <a:endParaRPr lang="en-US"/>
          </a:p>
        </p:txBody>
      </p:sp>
      <p:sp>
        <p:nvSpPr>
          <p:cNvPr id="2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87B7F"/>
                </a:solidFill>
                <a:latin typeface="Inter"/>
                <a:ea typeface="Inter"/>
              </a:rPr>
              <a:t>GAP</a:t>
            </a:r>
            <a:endParaRPr lang="en-US"/>
          </a:p>
        </p:txBody>
      </p:sp>
      <p:sp>
        <p:nvSpPr>
          <p:cNvPr id="2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22%</a:t>
            </a:r>
            <a:endParaRPr lang="en-US"/>
          </a:p>
        </p:txBody>
      </p:sp>
      <p:sp>
        <p:nvSpPr>
          <p:cNvPr id="3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2F6F8"/>
                </a:solidFill>
                <a:latin typeface="Inter"/>
                <a:ea typeface="Inter"/>
              </a:rPr>
              <a:t>Status is useful only when the next handoff is visible.</a:t>
            </a:r>
            <a:endParaRPr lang="en-US"/>
          </a:p>
        </p:txBody>
      </p:sp>
      <p:sp>
        <p:nvSpPr>
          <p:cNvPr id="3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EXCEPTION</a:t>
            </a:r>
            <a:endParaRPr lang="en-US"/>
          </a:p>
        </p:txBody>
      </p:sp>
      <p:sp>
        <p:nvSpPr>
          <p:cNvPr id="3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6F8"/>
                </a:solidFill>
                <a:latin typeface="Inter"/>
                <a:ea typeface="Inter"/>
              </a:rPr>
              <a:t>The gap is not a decoration; it is the work.</a:t>
            </a:r>
            <a:endParaRPr lang="en-US"/>
          </a:p>
        </p:txBody>
      </p:sp>
      <p:sp>
        <p:nvSpPr>
          <p:cNvPr id="3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A healthy page names the owner and the next date.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Show the operating shape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381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0BB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2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2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381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0BB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2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2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381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0BB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3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3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02124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3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3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3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3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3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4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6F8"/>
                </a:solidFill>
                <a:latin typeface="Inter"/>
                <a:ea typeface="Inter"/>
              </a:rPr>
              <a:t>Exception before polish</a:t>
            </a:r>
            <a:endParaRPr lang="en-US"/>
          </a:p>
        </p:txBody>
      </p:sp>
      <p:sp>
        <p:nvSpPr>
          <p:cNvPr id="4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4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Make the owner and the next date impossible to miss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BB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Status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The queue is on target.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6F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Exception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The handoff is the constraint.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BB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Name the owner today.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Inter"/>
                <a:ea typeface="Inter"/>
              </a:rPr>
              <a:t>Assign the handoff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