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573340133f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33b8c33a8fc3d61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f2c469db7c764307" /><Relationship Type="http://schemas.openxmlformats.org/officeDocument/2006/relationships/chart" Target="/ppt/slides/charts/chart2.xml" Id="Rbdf421c5f80e49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b3eb274cb5484fbb" /><Relationship Type="http://schemas.openxmlformats.org/officeDocument/2006/relationships/chart" Target="/ppt/slides/charts/chart4.xml" Id="R7878947a10fc48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0BBD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787B7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87DCEB"/>
            </a:solidFill>
            <a:ln w="38100">
              <a:solidFill>
                <a:srgbClr val="87DC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0BBD8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87DCEB"/>
            </a:solidFill>
            <a:ln w="38100">
              <a:solidFill>
                <a:srgbClr val="87DCEB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blue-flame-operations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3b8c33a8fc3d613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>
              <a:alpha val="100000"/>
            </a:srgbClr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7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9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1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3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5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WORK · OFFICEKIT CALIBRATION</a:t>
            </a:r>
            <a:endParaRPr lang="en-US"/>
          </a:p>
        </p:txBody>
      </p:sp>
      <p:sp>
        <p:nvSpPr>
          <p:cNvPr id="17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2F6F8"/>
                </a:solidFill>
                <a:latin typeface="Inter"/>
                <a:ea typeface="Inter"/>
              </a:rPr>
              <a:t>Blue Flame Operations: a claim worth testing</a:t>
            </a:r>
            <a:endParaRPr lang="en-US"/>
          </a:p>
        </p:txBody>
      </p:sp>
      <p:sp>
        <p:nvSpPr>
          <p:cNvPr id="18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0BBD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9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1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6F8"/>
                </a:solidFill>
                <a:latin typeface="Inter"/>
                <a:ea typeface="Inter"/>
              </a:rPr>
              <a:t>A visible operating signal creates a shared next action.</a:t>
            </a:r>
            <a:endParaRPr lang="en-US"/>
          </a:p>
        </p:txBody>
      </p:sp>
      <p:sp>
        <p:nvSpPr>
          <p:cNvPr id="22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24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254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127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4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One operating constraint should own the page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OPERATING SIGNAL</a:t>
            </a:r>
            <a:endParaRPr lang="en-US"/>
          </a:p>
        </p:txBody>
      </p:sp>
      <p:sp>
        <p:nvSpPr>
          <p:cNvPr id="2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2F6F8"/>
                </a:solidFill>
                <a:latin typeface="Inter"/>
                <a:ea typeface="Inter"/>
              </a:rPr>
              <a:t>The queue is healthy; the handoff is not.</a:t>
            </a:r>
            <a:endParaRPr lang="en-US"/>
          </a:p>
        </p:txBody>
      </p:sp>
      <p:sp>
        <p:nvSpPr>
          <p:cNvPr id="2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F2F6F8"/>
                </a:solidFill>
                <a:latin typeface="Inter"/>
                <a:ea typeface="Inter"/>
              </a:rPr>
              <a:t>Three visible signals point to one owner and one date.</a:t>
            </a:r>
            <a:endParaRPr lang="en-US"/>
          </a:p>
        </p:txBody>
      </p:sp>
      <p:sp>
        <p:nvSpPr>
          <p:cNvPr id="2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Queue</a:t>
            </a:r>
            <a:endParaRPr lang="en-US"/>
          </a:p>
        </p:txBody>
      </p:sp>
      <p:sp>
        <p:nvSpPr>
          <p:cNvPr id="2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On target</a:t>
            </a:r>
            <a:endParaRPr lang="en-US"/>
          </a:p>
        </p:txBody>
      </p:sp>
      <p:sp>
        <p:nvSpPr>
          <p:cNvPr id="2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Handoff</a:t>
            </a:r>
            <a:endParaRPr lang="en-US"/>
          </a:p>
        </p:txBody>
      </p:sp>
      <p:sp>
        <p:nvSpPr>
          <p:cNvPr id="2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0BBD8"/>
                </a:solidFill>
                <a:latin typeface="Inter"/>
                <a:ea typeface="Inter"/>
              </a:rPr>
              <a:t>At risk</a:t>
            </a:r>
            <a:endParaRPr lang="en-US"/>
          </a:p>
        </p:txBody>
      </p:sp>
      <p:sp>
        <p:nvSpPr>
          <p:cNvPr id="2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BB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3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2F6F8"/>
                </a:solidFill>
                <a:latin typeface="Inter"/>
                <a:ea typeface="Inter"/>
              </a:rPr>
              <a:t>Owner</a:t>
            </a:r>
            <a:endParaRPr lang="en-US"/>
          </a:p>
        </p:txBody>
      </p:sp>
      <p:sp>
        <p:nvSpPr>
          <p:cNvPr id="3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Named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c469db7c764307"/>
          </a:graphicData>
        </a:graphic>
      </p:graphicFrame>
      <p:graphicFrame>
        <p:nvGraphicFramePr>
          <p:cNvPr id="2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f421c5f80e4922"/>
          </a:graphicData>
        </a:graphic>
      </p:graphicFrame>
      <p:sp>
        <p:nvSpPr>
          <p:cNvPr id="2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0BBD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2F6F8"/>
                </a:solidFill>
                <a:latin typeface="Inter"/>
                <a:ea typeface="Inter"/>
              </a:rPr>
              <a:t>The signal earns its space.</a:t>
            </a:r>
            <a:endParaRPr lang="en-US"/>
          </a:p>
        </p:txBody>
      </p:sp>
      <p:sp>
        <p:nvSpPr>
          <p:cNvPr id="2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Every mark answers the page's question; remove anything that does not.</a:t>
            </a:r>
            <a:endParaRPr lang="en-US"/>
          </a:p>
        </p:txBody>
      </p:sp>
      <p:sp>
        <p:nvSpPr>
          <p:cNvPr id="2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2F6F8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The gap becomes useful when it has an owner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NOW</a:t>
            </a:r>
            <a:endParaRPr lang="en-US"/>
          </a:p>
        </p:txBody>
      </p:sp>
      <p:sp>
        <p:nvSpPr>
          <p:cNvPr id="20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54%</a:t>
            </a:r>
            <a:endParaRPr lang="en-US"/>
          </a:p>
        </p:txBody>
      </p:sp>
      <p:sp>
        <p:nvSpPr>
          <p:cNvPr id="23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TARGET</a:t>
            </a:r>
            <a:endParaRPr lang="en-US"/>
          </a:p>
        </p:txBody>
      </p:sp>
      <p:sp>
        <p:nvSpPr>
          <p:cNvPr id="24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DCEB"/>
          </a:solidFill>
          <a:ln xmlns:a="http://schemas.openxmlformats.org/drawingml/2006/main" w="0">
            <a:solidFill>
              <a:srgbClr val="87DCE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76%</a:t>
            </a:r>
            <a:endParaRPr lang="en-US"/>
          </a:p>
        </p:txBody>
      </p:sp>
      <p:sp>
        <p:nvSpPr>
          <p:cNvPr id="27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87B7F"/>
                </a:solidFill>
                <a:latin typeface="Inter"/>
                <a:ea typeface="Inter"/>
              </a:rPr>
              <a:t>GAP</a:t>
            </a:r>
            <a:endParaRPr lang="en-US"/>
          </a:p>
        </p:txBody>
      </p:sp>
      <p:sp>
        <p:nvSpPr>
          <p:cNvPr id="28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2F6F8"/>
                </a:solidFill>
                <a:latin typeface="Inter"/>
                <a:ea typeface="Inter"/>
              </a:rPr>
              <a:t>22%</a:t>
            </a:r>
            <a:endParaRPr lang="en-US"/>
          </a:p>
        </p:txBody>
      </p:sp>
      <p:sp>
        <p:nvSpPr>
          <p:cNvPr id="31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2F6F8"/>
                </a:solidFill>
                <a:latin typeface="Inter"/>
                <a:ea typeface="Inter"/>
              </a:rPr>
              <a:t>Status is useful only when the next handoff is visible.</a:t>
            </a:r>
            <a:endParaRPr lang="en-US"/>
          </a:p>
        </p:txBody>
      </p:sp>
      <p:sp>
        <p:nvSpPr>
          <p:cNvPr id="33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EXCEPTION</a:t>
            </a:r>
            <a:endParaRPr lang="en-US"/>
          </a:p>
        </p:txBody>
      </p:sp>
      <p:sp>
        <p:nvSpPr>
          <p:cNvPr id="34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6F8"/>
                </a:solidFill>
                <a:latin typeface="Inter"/>
                <a:ea typeface="Inter"/>
              </a:rPr>
              <a:t>The gap is not a decoration; it is the work.</a:t>
            </a:r>
            <a:endParaRPr lang="en-US"/>
          </a:p>
        </p:txBody>
      </p:sp>
      <p:sp>
        <p:nvSpPr>
          <p:cNvPr id="35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787B7F"/>
                </a:solidFill>
                <a:latin typeface="Inter"/>
                <a:ea typeface="Inter"/>
              </a:rPr>
              <a:t>A healthy page names the owner and the next date.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Show the operating shape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eb274cb5484fbb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78947a10fc48be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BBD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6F8"/>
                </a:solidFill>
                <a:latin typeface="Inter"/>
                <a:ea typeface="Inter"/>
              </a:rPr>
              <a:t>Exception before polish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87B7F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70A1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87B7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solidFill>
              <a:srgbClr val="F2F6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BLUE FLAME OPERATION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0BBD8"/>
                </a:solidFill>
                <a:latin typeface="Inter"/>
                <a:ea typeface="Inter"/>
              </a:rPr>
              <a:t>BLUE FLAME OPERATIONS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2F6F8"/>
                </a:solidFill>
                <a:latin typeface="Inter"/>
                <a:ea typeface="Inter"/>
              </a:rPr>
              <a:t>Make the owner and the next date impossible to miss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87B7F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BB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Status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The queue is on target.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6F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87B7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Exception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The handoff is the constraint.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BB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6F8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6F8"/>
                </a:solidFill>
                <a:latin typeface="Inter"/>
                <a:ea typeface="Inter"/>
              </a:rPr>
              <a:t>Name the owner today.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BD8"/>
          </a:solidFill>
          <a:ln xmlns:a="http://schemas.openxmlformats.org/drawingml/2006/main" w="0">
            <a:solidFill>
              <a:srgbClr val="20BBD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124"/>
                </a:solidFill>
                <a:latin typeface="Inter"/>
                <a:ea typeface="Inter"/>
              </a:rPr>
              <a:t>Assign the handoff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202124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87B7F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