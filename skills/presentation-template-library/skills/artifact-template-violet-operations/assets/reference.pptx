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f21993a323c4e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4650c5e003a270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4df9c6298f17ef7a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ff039bf2f181c5d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d3bd4b5ccdd7cbb_1" /><Relationship Type="http://schemas.openxmlformats.org/officeDocument/2006/relationships/image" Target="/ppt/media/image5.jpg" Id="rIdOfficeKitImagea5c00489db854fa2_1" /><Relationship Type="http://schemas.openxmlformats.org/officeDocument/2006/relationships/image" Target="/ppt/media/image6.jpg" Id="rIdOfficeKitImage8579b0a87ff097c1_1" /><Relationship Type="http://schemas.openxmlformats.org/officeDocument/2006/relationships/image" Target="/ppt/media/image7.jpg" Id="rIdOfficeKitImage7acdacea277813e8_1" /><Relationship Type="http://schemas.openxmlformats.org/officeDocument/2006/relationships/image" Target="/ppt/media/image8.jpg" Id="rIdOfficeKitImage89634c5b24a89a0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9.jpg" Id="rIdOfficeKitImage6a3db1fe43260f3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6785cc6781fd2511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lectric-violet-cover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solidFill>
              <a:srgbClr val="12121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lectric-violet-cover-photo" descr="Documentary work scene used as the cover visual"/>
          <p:cNvPicPr/>
          <p:nvPr/>
        </p:nvPicPr>
        <p:blipFill>
          <a:blip xmlns:r="http://schemas.openxmlformats.org/officeDocument/2006/relationships" xmlns:a="http://schemas.openxmlformats.org/drawingml/2006/main" r:embed="rIdOfficeKitImageb4650c5e003a270c_1"/>
          <a:srcRect xmlns:a="http://schemas.openxmlformats.org/drawingml/2006/main" l="0" t="41949" r="0" b="4194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4210050"/>
            <a:ext cx="15240000" cy="4362450"/>
          </a:xfrm>
          <a:prstGeom xmlns:a="http://schemas.openxmlformats.org/drawingml/2006/main" prst="rect">
            <a:avLst/>
          </a:prstGeom>
        </p:spPr>
      </p:pic>
      <p:sp>
        <p:nvSpPr>
          <p:cNvPr id="4" name="electric-violet-cover-rule"/>
          <p:cNvSpPr/>
          <p:nvPr/>
        </p:nvSpPr>
        <p:spPr>
          <a:xfrm xmlns:a="http://schemas.openxmlformats.org/drawingml/2006/main">
            <a:off x="914400" y="5143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lectric-violet-cover-eyebrow"/>
          <p:cNvSpPr txBox="1"/>
          <p:nvPr/>
        </p:nvSpPr>
        <p:spPr>
          <a:xfrm xmlns:a="http://schemas.openxmlformats.org/drawingml/2006/main">
            <a:off x="914400" y="781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314450"/>
            <a:ext cx="1162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FFFFF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7" name="electric-violet-cover-basis"/>
          <p:cNvSpPr txBox="1"/>
          <p:nvPr/>
        </p:nvSpPr>
        <p:spPr>
          <a:xfrm xmlns:a="http://schemas.openxmlformats.org/drawingml/2006/main">
            <a:off x="952500" y="24574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>
                <a:solidFill>
                  <a:srgbClr val="B9B9B9"/>
                </a:solidFill>
                <a:latin typeface="Tahoma"/>
                <a:ea typeface="Tahoma"/>
              </a:rPr>
              <a:t>A documentary operating review turns status into a decision.</a:t>
            </a:r>
            <a:endParaRPr lang="en-US"/>
          </a:p>
        </p:txBody>
      </p:sp>
      <p:sp>
        <p:nvSpPr>
          <p:cNvPr id="8" name="electric-violet-cover-photo-rule"/>
          <p:cNvSpPr/>
          <p:nvPr/>
        </p:nvSpPr>
        <p:spPr>
          <a:xfrm xmlns:a="http://schemas.openxmlformats.org/drawingml/2006/main">
            <a:off x="914400" y="38862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electric-violet-cover-photo-label"/>
          <p:cNvSpPr txBox="1"/>
          <p:nvPr/>
        </p:nvSpPr>
        <p:spPr>
          <a:xfrm xmlns:a="http://schemas.openxmlformats.org/drawingml/2006/main">
            <a:off x="914400" y="39814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B9B9B9"/>
                </a:solidFill>
                <a:latin typeface="Tahoma"/>
                <a:ea typeface="Tahoma"/>
              </a:rPr>
              <a:t>MEASURED WORK · VISIBLE CONSEQUENCE</a:t>
            </a:r>
            <a:endParaRPr lang="en-US"/>
          </a:p>
        </p:txBody>
      </p:sp>
      <p:sp>
        <p:nvSpPr>
          <p:cNvPr id="10" name="electric-violet-cover-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B9B9B9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electric-violet-cover-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B9B9B9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4df9c6298f17ef7a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ff039bf2f181c5d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DIRECT-LABELLED DISTRIBUTION</a:t>
            </a:r>
            <a:endParaRPr lang="en-US"/>
          </a:p>
        </p:txBody>
      </p:sp>
      <p:sp>
        <p:nvSpPr>
          <p:cNvPr id="10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2F33"/>
          </a:solidFill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8081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North · 42%</a:t>
            </a:r>
            <a:endParaRPr lang="en-US"/>
          </a:p>
        </p:txBody>
      </p:sp>
      <p:sp>
        <p:nvSpPr>
          <p:cNvPr id="19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Central · 68%</a:t>
            </a:r>
            <a:endParaRPr lang="en-US"/>
          </a:p>
        </p:txBody>
      </p:sp>
      <p:sp>
        <p:nvSpPr>
          <p:cNvPr id="21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East · 55%</a:t>
            </a:r>
            <a:endParaRPr lang="en-US"/>
          </a:p>
        </p:txBody>
      </p:sp>
      <p:sp>
        <p:nvSpPr>
          <p:cNvPr id="23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South · 31%</a:t>
            </a:r>
            <a:endParaRPr lang="en-US"/>
          </a:p>
        </p:txBody>
      </p:sp>
      <p:sp>
        <p:nvSpPr>
          <p:cNvPr id="25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6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The geography changes the decision.</a:t>
            </a:r>
            <a:endParaRPr lang="en-US"/>
          </a:p>
        </p:txBody>
      </p:sp>
      <p:sp>
        <p:nvSpPr>
          <p:cNvPr id="27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d3bd4b5ccdd7cbb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5c00489db854fa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579b0a87ff097c1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9634c5b24a89a0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6a3db1fe43260f3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785cc6781fd251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