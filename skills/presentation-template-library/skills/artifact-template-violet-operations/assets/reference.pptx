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bed8b04ffb34e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7650495d0c3b8602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e4bd683f73b7a543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c7b73f8fac405495_1" /><Relationship Type="http://schemas.openxmlformats.org/officeDocument/2006/relationships/chart" Target="/ppt/slides/charts/chart1.xml" Id="R3fa3e06d9ecd46fb" /><Relationship Type="http://schemas.openxmlformats.org/officeDocument/2006/relationships/chart" Target="/ppt/slides/charts/chart2.xml" Id="R1c16994bc25748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59ee3aa5202fd02f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33b8c33a8fc3d613_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7047FF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7F8081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E6E8EA"/>
            </a:solidFill>
            <a:ln w="38100">
              <a:solidFill>
                <a:srgbClr val="E6E8EA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artifact-template-violet-operations-cover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7650495d0c3b8602_1"/>
          <a:srcRect xmlns:a="http://schemas.openxmlformats.org/drawingml/2006/main" l="0" t="34180" r="0" b="341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5">
              <a:alpha val="100000"/>
            </a:srgbClr>
          </a:solidFill>
          <a:ln xmlns:a="http://schemas.openxmlformats.org/drawingml/2006/main" w="0">
            <a:solidFill>
              <a:srgbClr val="10111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47FF"/>
                </a:solidFill>
                <a:latin typeface="Tahoma"/>
                <a:ea typeface="Tahoma"/>
              </a:rPr>
              <a:t>WORK · OFFICEKIT CALIBRATION</a:t>
            </a:r>
            <a:endParaRPr lang="en-US"/>
          </a:p>
        </p:txBody>
      </p:sp>
      <p:sp>
        <p:nvSpPr>
          <p:cNvPr id="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8F8F7"/>
                </a:solidFill>
                <a:latin typeface="Tahoma"/>
                <a:ea typeface="Tahoma"/>
              </a:rPr>
              <a:t>Violet Operations: a claim worth testing</a:t>
            </a:r>
            <a:endParaRPr lang="en-US"/>
          </a:p>
        </p:txBody>
      </p:sp>
      <p:sp>
        <p:nvSpPr>
          <p:cNvPr id="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7047FF"/>
                </a:solidFill>
                <a:latin typeface="Tahoma"/>
                <a:ea typeface="Tahoma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8F8F7"/>
                </a:solidFill>
                <a:latin typeface="Tahoma"/>
                <a:ea typeface="Tahoma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1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8F8F7"/>
                </a:solidFill>
                <a:latin typeface="Tahoma"/>
                <a:ea typeface="Tahoma"/>
              </a:rPr>
              <a:t>A visible operating signal creates a shared next action.</a:t>
            </a:r>
            <a:endParaRPr lang="en-US"/>
          </a:p>
        </p:txBody>
      </p:sp>
      <p:sp>
        <p:nvSpPr>
          <p:cNvPr id="1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1 / 6</a:t>
            </a:r>
            <a:endParaRPr lang="en-US"/>
          </a:p>
        </p:txBody>
      </p:sp>
      <p:sp>
        <p:nvSpPr>
          <p:cNvPr id="13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7FF"/>
          </a:solidFill>
          <a:ln xmlns:a="http://schemas.openxmlformats.org/drawingml/2006/main" w="127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7FF"/>
          </a:solidFill>
          <a:ln xmlns:a="http://schemas.openxmlformats.org/drawingml/2006/main" w="127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5"/>
          </a:solidFill>
          <a:ln xmlns:a="http://schemas.openxmlformats.org/drawingml/2006/main" w="127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7FF"/>
          </a:solidFill>
          <a:ln xmlns:a="http://schemas.openxmlformats.org/drawingml/2006/main" w="127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7FF"/>
          </a:solidFill>
          <a:ln xmlns:a="http://schemas.openxmlformats.org/drawingml/2006/main" w="127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5"/>
          </a:solidFill>
          <a:ln xmlns:a="http://schemas.openxmlformats.org/drawingml/2006/main" w="127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7FF"/>
          </a:solidFill>
          <a:ln xmlns:a="http://schemas.openxmlformats.org/drawingml/2006/main" w="127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7FF"/>
          </a:solidFill>
          <a:ln xmlns:a="http://schemas.openxmlformats.org/drawingml/2006/main" w="127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5"/>
          </a:solidFill>
          <a:ln xmlns:a="http://schemas.openxmlformats.org/drawingml/2006/main" w="127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8F8F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argument-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e4bd683f73b7a543_1"/>
          <a:srcRect xmlns:a="http://schemas.openxmlformats.org/drawingml/2006/main" l="0" t="34171" r="0" b="3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argument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5">
              <a:alpha val="96000"/>
            </a:srgbClr>
          </a:solidFill>
          <a:ln xmlns:a="http://schemas.openxmlformats.org/drawingml/2006/main" w="0">
            <a:solidFill>
              <a:srgbClr val="10111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VIOLET OPERATIONS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47FF"/>
                </a:solidFill>
                <a:latin typeface="Tahoma"/>
                <a:ea typeface="Tahoma"/>
              </a:rPr>
              <a:t>VIOLET OPERATIONS · ARGUMENT</a:t>
            </a:r>
            <a:endParaRPr lang="en-US"/>
          </a:p>
        </p:txBody>
      </p:sp>
      <p:sp>
        <p:nvSpPr>
          <p:cNvPr id="6" name="argument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8F8F7"/>
                </a:solidFill>
                <a:latin typeface="Tahoma"/>
                <a:ea typeface="Tahoma"/>
              </a:rPr>
              <a:t>The constraint owns the page</a:t>
            </a:r>
            <a:endParaRPr lang="en-US"/>
          </a:p>
        </p:txBody>
      </p:sp>
      <p:sp>
        <p:nvSpPr>
          <p:cNvPr id="7" name="argument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F8081"/>
                </a:solidFill>
                <a:latin typeface="Tahoma"/>
                <a:ea typeface="Tahoma"/>
              </a:rPr>
              <a:t>Status, cause, owner and date stay together.</a:t>
            </a:r>
            <a:endParaRPr lang="en-US"/>
          </a:p>
        </p:txBody>
      </p:sp>
      <p:sp>
        <p:nvSpPr>
          <p:cNvPr id="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work-status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47FF"/>
                </a:solidFill>
                <a:latin typeface="Tahoma"/>
                <a:ea typeface="Tahoma"/>
              </a:rPr>
              <a:t>OPERATING SIGNAL</a:t>
            </a:r>
            <a:endParaRPr lang="en-US"/>
          </a:p>
        </p:txBody>
      </p:sp>
      <p:sp>
        <p:nvSpPr>
          <p:cNvPr id="10" name="work-headline"/>
          <p:cNvSpPr txBox="1"/>
          <p:nvPr/>
        </p:nvSpPr>
        <p:spPr>
          <a:xfrm xmlns:a="http://schemas.openxmlformats.org/drawingml/2006/main">
            <a:off x="1104900" y="37909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8F8F7"/>
                </a:solidFill>
                <a:latin typeface="Tahoma"/>
                <a:ea typeface="Tahoma"/>
              </a:rPr>
              <a:t>The queue is healthy; the handoff is not.</a:t>
            </a:r>
            <a:endParaRPr lang="en-US"/>
          </a:p>
        </p:txBody>
      </p:sp>
      <p:sp>
        <p:nvSpPr>
          <p:cNvPr id="11" name="work-body"/>
          <p:cNvSpPr txBox="1"/>
          <p:nvPr/>
        </p:nvSpPr>
        <p:spPr>
          <a:xfrm xmlns:a="http://schemas.openxmlformats.org/drawingml/2006/main">
            <a:off x="1104900" y="4762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F8F8F7"/>
                </a:solidFill>
                <a:latin typeface="Tahoma"/>
                <a:ea typeface="Tahoma"/>
              </a:rPr>
              <a:t>Three visible signals point to one owner and one date.</a:t>
            </a:r>
            <a:endParaRPr lang="en-US"/>
          </a:p>
        </p:txBody>
      </p:sp>
      <p:sp>
        <p:nvSpPr>
          <p:cNvPr id="12" name="work-rail"/>
          <p:cNvSpPr/>
          <p:nvPr/>
        </p:nvSpPr>
        <p:spPr>
          <a:xfrm xmlns:a="http://schemas.openxmlformats.org/drawingml/2006/main">
            <a:off x="10001250" y="33337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work-num-0"/>
          <p:cNvSpPr txBox="1"/>
          <p:nvPr/>
        </p:nvSpPr>
        <p:spPr>
          <a:xfrm xmlns:a="http://schemas.openxmlformats.org/drawingml/2006/main">
            <a:off x="10477500" y="34480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7047FF"/>
                </a:solidFill>
                <a:latin typeface="Tahoma"/>
                <a:ea typeface="Tahoma"/>
              </a:rPr>
              <a:t>01</a:t>
            </a:r>
            <a:endParaRPr lang="en-US"/>
          </a:p>
        </p:txBody>
      </p:sp>
      <p:sp>
        <p:nvSpPr>
          <p:cNvPr id="14" name="work-label-0"/>
          <p:cNvSpPr txBox="1"/>
          <p:nvPr/>
        </p:nvSpPr>
        <p:spPr>
          <a:xfrm xmlns:a="http://schemas.openxmlformats.org/drawingml/2006/main">
            <a:off x="1114425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8F8F7"/>
                </a:solidFill>
                <a:latin typeface="Tahoma"/>
                <a:ea typeface="Tahoma"/>
              </a:rPr>
              <a:t>Queue</a:t>
            </a:r>
            <a:endParaRPr lang="en-US"/>
          </a:p>
        </p:txBody>
      </p:sp>
      <p:sp>
        <p:nvSpPr>
          <p:cNvPr id="15" name="work-text-0"/>
          <p:cNvSpPr txBox="1"/>
          <p:nvPr/>
        </p:nvSpPr>
        <p:spPr>
          <a:xfrm xmlns:a="http://schemas.openxmlformats.org/drawingml/2006/main">
            <a:off x="12668250" y="3448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F8081"/>
                </a:solidFill>
                <a:latin typeface="Tahoma"/>
                <a:ea typeface="Tahoma"/>
              </a:rPr>
              <a:t>On target</a:t>
            </a:r>
            <a:endParaRPr lang="en-US"/>
          </a:p>
        </p:txBody>
      </p:sp>
      <p:sp>
        <p:nvSpPr>
          <p:cNvPr id="16" name="work-num-1"/>
          <p:cNvSpPr txBox="1"/>
          <p:nvPr/>
        </p:nvSpPr>
        <p:spPr>
          <a:xfrm xmlns:a="http://schemas.openxmlformats.org/drawingml/2006/main">
            <a:off x="10477500" y="42291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7047FF"/>
                </a:solidFill>
                <a:latin typeface="Tahoma"/>
                <a:ea typeface="Tahoma"/>
              </a:rPr>
              <a:t>02</a:t>
            </a:r>
            <a:endParaRPr lang="en-US"/>
          </a:p>
        </p:txBody>
      </p:sp>
      <p:sp>
        <p:nvSpPr>
          <p:cNvPr id="17" name="work-label-1"/>
          <p:cNvSpPr txBox="1"/>
          <p:nvPr/>
        </p:nvSpPr>
        <p:spPr>
          <a:xfrm xmlns:a="http://schemas.openxmlformats.org/drawingml/2006/main">
            <a:off x="11144250" y="4229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8F8F7"/>
                </a:solidFill>
                <a:latin typeface="Tahoma"/>
                <a:ea typeface="Tahoma"/>
              </a:rPr>
              <a:t>Handoff</a:t>
            </a:r>
            <a:endParaRPr lang="en-US"/>
          </a:p>
        </p:txBody>
      </p:sp>
      <p:sp>
        <p:nvSpPr>
          <p:cNvPr id="18" name="work-text-1"/>
          <p:cNvSpPr txBox="1"/>
          <p:nvPr/>
        </p:nvSpPr>
        <p:spPr>
          <a:xfrm xmlns:a="http://schemas.openxmlformats.org/drawingml/2006/main">
            <a:off x="12668250" y="4229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047FF"/>
                </a:solidFill>
                <a:latin typeface="Tahoma"/>
                <a:ea typeface="Tahoma"/>
              </a:rPr>
              <a:t>At risk</a:t>
            </a:r>
            <a:endParaRPr lang="en-US"/>
          </a:p>
        </p:txBody>
      </p:sp>
      <p:sp>
        <p:nvSpPr>
          <p:cNvPr id="19" name="work-num-2"/>
          <p:cNvSpPr txBox="1"/>
          <p:nvPr/>
        </p:nvSpPr>
        <p:spPr>
          <a:xfrm xmlns:a="http://schemas.openxmlformats.org/drawingml/2006/main">
            <a:off x="10477500" y="50101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7047FF"/>
                </a:solidFill>
                <a:latin typeface="Tahoma"/>
                <a:ea typeface="Tahoma"/>
              </a:rPr>
              <a:t>03</a:t>
            </a:r>
            <a:endParaRPr lang="en-US"/>
          </a:p>
        </p:txBody>
      </p:sp>
      <p:sp>
        <p:nvSpPr>
          <p:cNvPr id="20" name="work-label-2"/>
          <p:cNvSpPr txBox="1"/>
          <p:nvPr/>
        </p:nvSpPr>
        <p:spPr>
          <a:xfrm xmlns:a="http://schemas.openxmlformats.org/drawingml/2006/main">
            <a:off x="1114425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 b="1">
                <a:solidFill>
                  <a:srgbClr val="F8F8F7"/>
                </a:solidFill>
                <a:latin typeface="Tahoma"/>
                <a:ea typeface="Tahoma"/>
              </a:rPr>
              <a:t>Owner</a:t>
            </a:r>
            <a:endParaRPr lang="en-US"/>
          </a:p>
        </p:txBody>
      </p:sp>
      <p:sp>
        <p:nvSpPr>
          <p:cNvPr id="21" name="work-text-2"/>
          <p:cNvSpPr txBox="1"/>
          <p:nvPr/>
        </p:nvSpPr>
        <p:spPr>
          <a:xfrm xmlns:a="http://schemas.openxmlformats.org/drawingml/2006/main">
            <a:off x="1266825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F8081"/>
                </a:solidFill>
                <a:latin typeface="Tahoma"/>
                <a:ea typeface="Tahoma"/>
              </a:rPr>
              <a:t>Named</a:t>
            </a:r>
            <a:endParaRPr lang="en-US"/>
          </a:p>
        </p:txBody>
      </p:sp>
      <p:sp>
        <p:nvSpPr>
          <p:cNvPr id="22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3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evidence-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7b73f8fac405495_1"/>
          <a:srcRect xmlns:a="http://schemas.openxmlformats.org/drawingml/2006/main" l="0" t="34171" r="0" b="3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evidenc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5">
              <a:alpha val="96000"/>
            </a:srgbClr>
          </a:solidFill>
          <a:ln xmlns:a="http://schemas.openxmlformats.org/drawingml/2006/main" w="0">
            <a:solidFill>
              <a:srgbClr val="10111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VIOLET OPERATIONS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47FF"/>
                </a:solidFill>
                <a:latin typeface="Tahoma"/>
                <a:ea typeface="Tahoma"/>
              </a:rPr>
              <a:t>VIOLET OPERATIONS · EVIDENCE</a:t>
            </a:r>
            <a:endParaRPr lang="en-US"/>
          </a:p>
        </p:txBody>
      </p:sp>
      <p:sp>
        <p:nvSpPr>
          <p:cNvPr id="6" name="evidence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8F8F7"/>
                </a:solidFill>
                <a:latin typeface="Tahoma"/>
                <a:ea typeface="Tahoma"/>
              </a:rPr>
              <a:t>Signal up; exception stays</a:t>
            </a:r>
            <a:endParaRPr lang="en-US"/>
          </a:p>
        </p:txBody>
      </p:sp>
      <p:sp>
        <p:nvSpPr>
          <p:cNvPr id="7" name="evidence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F8081"/>
                </a:solidFill>
                <a:latin typeface="Tahoma"/>
                <a:ea typeface="Tahoma"/>
              </a:rPr>
              <a:t>Illustrative operations ledger · current state and exception share one frame.</a:t>
            </a:r>
            <a:endParaRPr lang="en-US"/>
          </a:p>
        </p:txBody>
      </p:sp>
      <p:sp>
        <p:nvSpPr>
          <p:cNvPr id="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evidence-read-scrim"/>
          <p:cNvSpPr/>
          <p:nvPr/>
        </p:nvSpPr>
        <p:spPr>
          <a:xfrm xmlns:a="http://schemas.openxmlformats.org/drawingml/2006/main">
            <a:off x="9525000" y="28575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5">
              <a:alpha val="90000"/>
            </a:srgbClr>
          </a:solidFill>
          <a:ln xmlns:a="http://schemas.openxmlformats.org/drawingml/2006/main" w="0">
            <a:solidFill>
              <a:srgbClr val="10111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0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a3e06d9ecd46fb"/>
          </a:graphicData>
        </a:graphic>
      </p:graphicFrame>
      <p:graphicFrame>
        <p:nvGraphicFramePr>
          <p:cNvPr id="11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16994bc2574874"/>
          </a:graphicData>
        </a:graphic>
      </p:graphicFrame>
      <p:sp>
        <p:nvSpPr>
          <p:cNvPr id="12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7047FF"/>
                </a:solidFill>
                <a:latin typeface="Tahoma"/>
                <a:ea typeface="Tahoma"/>
              </a:rPr>
              <a:t>READ-THROUGH</a:t>
            </a:r>
            <a:endParaRPr lang="en-US"/>
          </a:p>
        </p:txBody>
      </p:sp>
      <p:sp>
        <p:nvSpPr>
          <p:cNvPr id="14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8F8F7"/>
                </a:solidFill>
                <a:latin typeface="Tahoma"/>
                <a:ea typeface="Tahoma"/>
              </a:rPr>
              <a:t>The signal earns its space.</a:t>
            </a:r>
            <a:endParaRPr lang="en-US"/>
          </a:p>
        </p:txBody>
      </p:sp>
      <p:sp>
        <p:nvSpPr>
          <p:cNvPr id="15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F8081"/>
                </a:solidFill>
                <a:latin typeface="Tahoma"/>
                <a:ea typeface="Tahoma"/>
              </a:rPr>
              <a:t>Every mark answers the page's question; remove anything that does not.</a:t>
            </a:r>
            <a:endParaRPr lang="en-US"/>
          </a:p>
        </p:txBody>
      </p:sp>
      <p:sp>
        <p:nvSpPr>
          <p:cNvPr id="16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F8F8F7"/>
                </a:solidFill>
                <a:latin typeface="Tahoma"/>
                <a:ea typeface="Tahoma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8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9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5"/>
          </a:solidFill>
          <a:ln xmlns:a="http://schemas.openxmlformats.org/drawingml/2006/main" w="0">
            <a:solidFill>
              <a:srgbClr val="10111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VIOLET OPERATIONS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47FF"/>
                </a:solidFill>
                <a:latin typeface="Tahoma"/>
                <a:ea typeface="Tahoma"/>
              </a:rPr>
              <a:t>VIOLET OPERATIONS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8F8F7"/>
                </a:solidFill>
                <a:latin typeface="Tahoma"/>
                <a:ea typeface="Tahoma"/>
              </a:rPr>
              <a:t>The gap becomes useful when it has an owner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F8081"/>
                </a:solidFill>
                <a:latin typeface="Tahoma"/>
                <a:ea typeface="Tahoma"/>
              </a:rPr>
              <a:t>Target, current state and exception share a single operating frame.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5"/>
          </a:solidFill>
          <a:ln xmlns:a="http://schemas.openxmlformats.org/drawingml/2006/main" w="38100">
            <a:solidFill>
              <a:srgbClr val="F8F8F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7047FF"/>
                </a:solidFill>
                <a:latin typeface="Tahoma"/>
                <a:ea typeface="Tahoma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8F8F7"/>
                </a:solidFill>
                <a:latin typeface="Tahoma"/>
                <a:ea typeface="Tahoma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7F8081"/>
                </a:solidFill>
                <a:latin typeface="Tahoma"/>
                <a:ea typeface="Tahoma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5"/>
          </a:solidFill>
          <a:ln xmlns:a="http://schemas.openxmlformats.org/drawingml/2006/main" w="38100">
            <a:solidFill>
              <a:srgbClr val="F8F8F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7047FF"/>
                </a:solidFill>
                <a:latin typeface="Tahoma"/>
                <a:ea typeface="Tahoma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8F8F7"/>
                </a:solidFill>
                <a:latin typeface="Tahoma"/>
                <a:ea typeface="Tahoma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7F8081"/>
                </a:solidFill>
                <a:latin typeface="Tahoma"/>
                <a:ea typeface="Tahoma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5"/>
          </a:solidFill>
          <a:ln xmlns:a="http://schemas.openxmlformats.org/drawingml/2006/main" w="38100">
            <a:solidFill>
              <a:srgbClr val="F8F8F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7047FF"/>
                </a:solidFill>
                <a:latin typeface="Tahoma"/>
                <a:ea typeface="Tahoma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8F8F7"/>
                </a:solidFill>
                <a:latin typeface="Tahoma"/>
                <a:ea typeface="Tahoma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7F8081"/>
                </a:solidFill>
                <a:latin typeface="Tahoma"/>
                <a:ea typeface="Tahoma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7FF"/>
          </a:solidFill>
          <a:ln xmlns:a="http://schemas.openxmlformats.org/drawingml/2006/main" w="381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7047FF"/>
                </a:solidFill>
                <a:latin typeface="Tahoma"/>
                <a:ea typeface="Tahoma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8F8F7"/>
                </a:solidFill>
                <a:latin typeface="Tahoma"/>
                <a:ea typeface="Tahoma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7F8081"/>
                </a:solidFill>
                <a:latin typeface="Tahoma"/>
                <a:ea typeface="Tahoma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7047FF"/>
                </a:solidFill>
                <a:latin typeface="Tahoma"/>
                <a:ea typeface="Tahoma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F8F8F7"/>
                </a:solidFill>
                <a:latin typeface="Tahoma"/>
                <a:ea typeface="Tahoma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7F8081"/>
                </a:solidFill>
                <a:latin typeface="Tahoma"/>
                <a:ea typeface="Tahoma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59ee3aa5202fd02f_1"/>
          <a:srcRect xmlns:a="http://schemas.openxmlformats.org/drawingml/2006/main" l="0" t="34180" r="0" b="341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visual-scrim"/>
          <p:cNvSpPr/>
          <p:nvPr/>
        </p:nvSpPr>
        <p:spPr>
          <a:xfrm xmlns:a="http://schemas.openxmlformats.org/drawingml/2006/main">
            <a:off x="0" y="0"/>
            <a:ext cx="6858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5">
              <a:alpha val="94000"/>
            </a:srgbClr>
          </a:solidFill>
          <a:ln xmlns:a="http://schemas.openxmlformats.org/drawingml/2006/main" w="0">
            <a:solidFill>
              <a:srgbClr val="10111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visual-eyebrow"/>
          <p:cNvSpPr txBox="1"/>
          <p:nvPr/>
        </p:nvSpPr>
        <p:spPr>
          <a:xfrm xmlns:a="http://schemas.openxmlformats.org/drawingml/2006/main">
            <a:off x="914400" y="895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47FF"/>
                </a:solidFill>
                <a:latin typeface="Tahoma"/>
                <a:ea typeface="Tahoma"/>
              </a:rPr>
              <a:t>VIOLET OPERATIONS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6383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300" b="1">
                <a:solidFill>
                  <a:srgbClr val="F8F8F7"/>
                </a:solidFill>
                <a:latin typeface="Tahoma"/>
                <a:ea typeface="Tahoma"/>
              </a:rPr>
              <a:t>Show the operating shape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14400" y="32194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8F8F7"/>
                </a:solidFill>
                <a:latin typeface="Tahoma"/>
                <a:ea typeface="Tahoma"/>
              </a:rPr>
              <a:t>The image carries context; the page names the move.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447675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label"/>
          <p:cNvSpPr txBox="1"/>
          <p:nvPr/>
        </p:nvSpPr>
        <p:spPr>
          <a:xfrm xmlns:a="http://schemas.openxmlformats.org/drawingml/2006/main">
            <a:off x="914400" y="4819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47FF"/>
                </a:solidFill>
                <a:latin typeface="Tahoma"/>
                <a:ea typeface="Tahoma"/>
              </a:rPr>
              <a:t>THE IMAGE IS EVIDENCE, NOT FILL</a:t>
            </a:r>
            <a:endParaRPr lang="en-US"/>
          </a:p>
        </p:txBody>
      </p:sp>
      <p:sp>
        <p:nvSpPr>
          <p:cNvPr id="9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0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close-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3b8c33a8fc3d613_1"/>
          <a:srcRect xmlns:a="http://schemas.openxmlformats.org/drawingml/2006/main" l="0" t="34180" r="0" b="341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clos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5">
              <a:alpha val="96000"/>
            </a:srgbClr>
          </a:solidFill>
          <a:ln xmlns:a="http://schemas.openxmlformats.org/drawingml/2006/main" w="0">
            <a:solidFill>
              <a:srgbClr val="10111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VIOLET OPERATIONS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047FF"/>
                </a:solidFill>
                <a:latin typeface="Tahoma"/>
                <a:ea typeface="Tahoma"/>
              </a:rPr>
              <a:t>VIOLET OPERATIONS · CLOSE</a:t>
            </a:r>
            <a:endParaRPr lang="en-US"/>
          </a:p>
        </p:txBody>
      </p:sp>
      <p:sp>
        <p:nvSpPr>
          <p:cNvPr id="6" name="close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F8F8F7"/>
                </a:solidFill>
                <a:latin typeface="Tahoma"/>
                <a:ea typeface="Tahoma"/>
              </a:rPr>
              <a:t>Name the owner and next date</a:t>
            </a:r>
            <a:endParaRPr lang="en-US"/>
          </a:p>
        </p:txBody>
      </p:sp>
      <p:sp>
        <p:nvSpPr>
          <p:cNvPr id="7" name="close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7F8081"/>
                </a:solidFill>
                <a:latin typeface="Tahoma"/>
                <a:ea typeface="Tahoma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7047FF"/>
                </a:solidFill>
                <a:latin typeface="Tahoma"/>
                <a:ea typeface="Tahoma"/>
              </a:rPr>
              <a:t>01</a:t>
            </a:r>
            <a:endParaRPr lang="en-US"/>
          </a:p>
        </p:txBody>
      </p:sp>
      <p:sp>
        <p:nvSpPr>
          <p:cNvPr id="1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8F8F7"/>
                </a:solidFill>
                <a:latin typeface="Tahoma"/>
                <a:ea typeface="Tahoma"/>
              </a:rPr>
              <a:t>Status</a:t>
            </a:r>
            <a:endParaRPr lang="en-US"/>
          </a:p>
        </p:txBody>
      </p:sp>
      <p:sp>
        <p:nvSpPr>
          <p:cNvPr id="1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8F8F7"/>
                </a:solidFill>
                <a:latin typeface="Tahoma"/>
                <a:ea typeface="Tahoma"/>
              </a:rPr>
              <a:t>The queue is on target.</a:t>
            </a:r>
            <a:endParaRPr lang="en-US"/>
          </a:p>
        </p:txBody>
      </p:sp>
      <p:sp>
        <p:nvSpPr>
          <p:cNvPr id="1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8F8F7"/>
                </a:solidFill>
                <a:latin typeface="Tahoma"/>
                <a:ea typeface="Tahoma"/>
              </a:rPr>
              <a:t>02</a:t>
            </a:r>
            <a:endParaRPr lang="en-US"/>
          </a:p>
        </p:txBody>
      </p:sp>
      <p:sp>
        <p:nvSpPr>
          <p:cNvPr id="1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7F8081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8F8F7"/>
                </a:solidFill>
                <a:latin typeface="Tahoma"/>
                <a:ea typeface="Tahoma"/>
              </a:rPr>
              <a:t>Exception</a:t>
            </a:r>
            <a:endParaRPr lang="en-US"/>
          </a:p>
        </p:txBody>
      </p:sp>
      <p:sp>
        <p:nvSpPr>
          <p:cNvPr id="1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8F8F7"/>
                </a:solidFill>
                <a:latin typeface="Tahoma"/>
                <a:ea typeface="Tahoma"/>
              </a:rPr>
              <a:t>The handoff is the constraint.</a:t>
            </a:r>
            <a:endParaRPr lang="en-US"/>
          </a:p>
        </p:txBody>
      </p:sp>
      <p:sp>
        <p:nvSpPr>
          <p:cNvPr id="1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7047FF"/>
                </a:solidFill>
                <a:latin typeface="Tahoma"/>
                <a:ea typeface="Tahoma"/>
              </a:rPr>
              <a:t>03</a:t>
            </a:r>
            <a:endParaRPr lang="en-US"/>
          </a:p>
        </p:txBody>
      </p:sp>
      <p:sp>
        <p:nvSpPr>
          <p:cNvPr id="1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8F8F7"/>
                </a:solidFill>
                <a:latin typeface="Tahoma"/>
                <a:ea typeface="Tahoma"/>
              </a:rPr>
              <a:t>Next</a:t>
            </a:r>
            <a:endParaRPr lang="en-US"/>
          </a:p>
        </p:txBody>
      </p:sp>
      <p:sp>
        <p:nvSpPr>
          <p:cNvPr id="2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F8F8F7"/>
                </a:solidFill>
                <a:latin typeface="Tahoma"/>
                <a:ea typeface="Tahoma"/>
              </a:rPr>
              <a:t>Name the owner today.</a:t>
            </a:r>
            <a:endParaRPr lang="en-US"/>
          </a:p>
        </p:txBody>
      </p:sp>
      <p:sp>
        <p:nvSpPr>
          <p:cNvPr id="2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7FF"/>
          </a:solidFill>
          <a:ln xmlns:a="http://schemas.openxmlformats.org/drawingml/2006/main" w="0">
            <a:solidFill>
              <a:srgbClr val="7047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Tahoma"/>
                <a:ea typeface="Tahoma"/>
              </a:rPr>
              <a:t>NEXT MOVE</a:t>
            </a:r>
            <a:endParaRPr lang="en-US"/>
          </a:p>
        </p:txBody>
      </p:sp>
      <p:sp>
        <p:nvSpPr>
          <p:cNvPr id="2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Tahoma"/>
                <a:ea typeface="Tahoma"/>
              </a:rPr>
              <a:t>Assign the handoff</a:t>
            </a:r>
            <a:endParaRPr lang="en-US"/>
          </a:p>
        </p:txBody>
      </p:sp>
      <p:sp>
        <p:nvSpPr>
          <p:cNvPr id="2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Tahoma"/>
                <a:ea typeface="Tahoma"/>
              </a:rPr>
              <a:t>Owner · reviewer ·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7F8081"/>
                </a:solidFill>
                <a:latin typeface="Tahoma"/>
                <a:ea typeface="Tahoma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