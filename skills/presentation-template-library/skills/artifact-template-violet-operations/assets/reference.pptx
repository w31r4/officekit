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5fea4af555344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33b8c33a8fc3d61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b7d7d39d00e5a7e4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7650495d0c3b8602_1" /><Relationship Type="http://schemas.openxmlformats.org/officeDocument/2006/relationships/chart" Target="/ppt/slides/charts/chart1.xml" Id="Ra070ced91c624346" /><Relationship Type="http://schemas.openxmlformats.org/officeDocument/2006/relationships/chart" Target="/ppt/slides/charts/chart2.xml" Id="R9289b5b2513742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e4bd683f73b7a543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59ee3aa5202fd02f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7047FF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F8081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E6E8EA"/>
            </a:solidFill>
            <a:ln w="38100">
              <a:solidFill>
                <a:srgbClr val="E6E8EA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violet-operations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3b8c33a8fc3d613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10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WORK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F8F8F7"/>
                </a:solidFill>
                <a:latin typeface="Tahoma"/>
                <a:ea typeface="Tahoma"/>
              </a:rPr>
              <a:t>Violet Operations: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7047FF"/>
                </a:solidFill>
                <a:latin typeface="Tahoma"/>
                <a:ea typeface="Tahoma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A visible operating signal creates a shared next action.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127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gument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7d7d39d00e5a7e4_1"/>
          <a:srcRect xmlns:a="http://schemas.openxmlformats.org/drawingml/2006/main" l="0" t="34170" r="0" b="3417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OLET OPERATION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ARGUMENT</a:t>
            </a:r>
            <a:endParaRPr lang="en-US"/>
          </a:p>
        </p:txBody>
      </p:sp>
      <p:sp>
        <p:nvSpPr>
          <p:cNvPr id="6" name="argument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8F8F7"/>
                </a:solidFill>
                <a:latin typeface="Tahoma"/>
                <a:ea typeface="Tahoma"/>
              </a:rPr>
              <a:t>The constraint owns the page</a:t>
            </a:r>
            <a:endParaRPr lang="en-US"/>
          </a:p>
        </p:txBody>
      </p:sp>
      <p:sp>
        <p:nvSpPr>
          <p:cNvPr id="7" name="argument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Status, cause, owner and date stay together.</a:t>
            </a:r>
            <a:endParaRPr lang="en-US"/>
          </a:p>
        </p:txBody>
      </p:sp>
      <p:sp>
        <p:nvSpPr>
          <p:cNvPr id="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OPERATING SIGNAL</a:t>
            </a:r>
            <a:endParaRPr lang="en-US"/>
          </a:p>
        </p:txBody>
      </p:sp>
      <p:sp>
        <p:nvSpPr>
          <p:cNvPr id="10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8F8F7"/>
                </a:solidFill>
                <a:latin typeface="Tahoma"/>
                <a:ea typeface="Tahoma"/>
              </a:rPr>
              <a:t>The queue is healthy; the handoff is not.</a:t>
            </a:r>
            <a:endParaRPr lang="en-US"/>
          </a:p>
        </p:txBody>
      </p:sp>
      <p:sp>
        <p:nvSpPr>
          <p:cNvPr id="11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8F8F7"/>
                </a:solidFill>
                <a:latin typeface="Tahoma"/>
                <a:ea typeface="Tahoma"/>
              </a:rPr>
              <a:t>Three visible signals point to one owner and one date.</a:t>
            </a:r>
            <a:endParaRPr lang="en-US"/>
          </a:p>
        </p:txBody>
      </p:sp>
      <p:sp>
        <p:nvSpPr>
          <p:cNvPr id="12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4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Queue</a:t>
            </a:r>
            <a:endParaRPr lang="en-US"/>
          </a:p>
        </p:txBody>
      </p:sp>
      <p:sp>
        <p:nvSpPr>
          <p:cNvPr id="15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On target</a:t>
            </a:r>
            <a:endParaRPr lang="en-US"/>
          </a:p>
        </p:txBody>
      </p:sp>
      <p:sp>
        <p:nvSpPr>
          <p:cNvPr id="16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7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Handoff</a:t>
            </a:r>
            <a:endParaRPr lang="en-US"/>
          </a:p>
        </p:txBody>
      </p:sp>
      <p:sp>
        <p:nvSpPr>
          <p:cNvPr id="18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047FF"/>
                </a:solidFill>
                <a:latin typeface="Tahoma"/>
                <a:ea typeface="Tahoma"/>
              </a:rPr>
              <a:t>At risk</a:t>
            </a:r>
            <a:endParaRPr lang="en-US"/>
          </a:p>
        </p:txBody>
      </p:sp>
      <p:sp>
        <p:nvSpPr>
          <p:cNvPr id="19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0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8F8F7"/>
                </a:solidFill>
                <a:latin typeface="Tahoma"/>
                <a:ea typeface="Tahoma"/>
              </a:rPr>
              <a:t>Owner</a:t>
            </a:r>
            <a:endParaRPr lang="en-US"/>
          </a:p>
        </p:txBody>
      </p:sp>
      <p:sp>
        <p:nvSpPr>
          <p:cNvPr id="21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Named</a:t>
            </a:r>
            <a:endParaRPr lang="en-US"/>
          </a:p>
        </p:txBody>
      </p:sp>
      <p:sp>
        <p:nvSpPr>
          <p:cNvPr id="22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3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videnc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OLET OPERATION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EVIDENCE</a:t>
            </a:r>
            <a:endParaRPr lang="en-US"/>
          </a:p>
        </p:txBody>
      </p:sp>
      <p:sp>
        <p:nvSpPr>
          <p:cNvPr id="6" name="evidenc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8F8F7"/>
                </a:solidFill>
                <a:latin typeface="Tahoma"/>
                <a:ea typeface="Tahoma"/>
              </a:rPr>
              <a:t>Signal up; exception stays</a:t>
            </a:r>
            <a:endParaRPr lang="en-US"/>
          </a:p>
        </p:txBody>
      </p:sp>
      <p:sp>
        <p:nvSpPr>
          <p:cNvPr id="7" name="evidenc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0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0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070ced91c624346"/>
          </a:graphicData>
        </a:graphic>
      </p:graphicFrame>
      <p:graphicFrame>
        <p:nvGraphicFramePr>
          <p:cNvPr id="11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89b5b25137421a"/>
          </a:graphicData>
        </a:graphic>
      </p:graphicFrame>
      <p:sp>
        <p:nvSpPr>
          <p:cNvPr id="12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14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8F8F7"/>
                </a:solidFill>
                <a:latin typeface="Tahoma"/>
                <a:ea typeface="Tahoma"/>
              </a:rPr>
              <a:t>The signal earns its space.</a:t>
            </a:r>
            <a:endParaRPr lang="en-US"/>
          </a:p>
        </p:txBody>
      </p:sp>
      <p:sp>
        <p:nvSpPr>
          <p:cNvPr id="15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F8081"/>
                </a:solidFill>
                <a:latin typeface="Tahoma"/>
                <a:ea typeface="Tahoma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6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8F8F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OLET OPERATION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8F8F7"/>
                </a:solidFill>
                <a:latin typeface="Tahoma"/>
                <a:ea typeface="Tahoma"/>
              </a:rPr>
              <a:t>The gap becomes useful when it has an owner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115"/>
          </a:solidFill>
          <a:ln xmlns:a="http://schemas.openxmlformats.org/drawingml/2006/main" w="38100">
            <a:solidFill>
              <a:srgbClr val="F8F8F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7047FF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F8F8F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F8081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7047FF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8F8F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F8081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4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8F8F7"/>
                </a:solidFill>
                <a:latin typeface="Tahoma"/>
                <a:ea typeface="Tahoma"/>
              </a:rPr>
              <a:t>Show the operating shape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8F8F7"/>
                </a:solidFill>
                <a:latin typeface="Tahoma"/>
                <a:ea typeface="Tahoma"/>
              </a:rPr>
              <a:t>The image carries context; the page names the move.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los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115">
              <a:alpha val="96000"/>
            </a:srgbClr>
          </a:solidFill>
          <a:ln xmlns:a="http://schemas.openxmlformats.org/drawingml/2006/main" w="0">
            <a:solidFill>
              <a:srgbClr val="10111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VIOLET OPERATION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7047FF"/>
                </a:solidFill>
                <a:latin typeface="Tahoma"/>
                <a:ea typeface="Tahoma"/>
              </a:rPr>
              <a:t>VIOLET OPERATIONS · CLOSE</a:t>
            </a:r>
            <a:endParaRPr lang="en-US"/>
          </a:p>
        </p:txBody>
      </p:sp>
      <p:sp>
        <p:nvSpPr>
          <p:cNvPr id="6" name="close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F8F8F7"/>
                </a:solidFill>
                <a:latin typeface="Tahoma"/>
                <a:ea typeface="Tahoma"/>
              </a:rPr>
              <a:t>Name the owner and next date</a:t>
            </a:r>
            <a:endParaRPr lang="en-US"/>
          </a:p>
        </p:txBody>
      </p:sp>
      <p:sp>
        <p:nvSpPr>
          <p:cNvPr id="7" name="close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F8081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Status</a:t>
            </a:r>
            <a:endParaRPr lang="en-US"/>
          </a:p>
        </p:txBody>
      </p:sp>
      <p:sp>
        <p:nvSpPr>
          <p:cNvPr id="1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queue is on target.</a:t>
            </a:r>
            <a:endParaRPr lang="en-US"/>
          </a:p>
        </p:txBody>
      </p:sp>
      <p:sp>
        <p:nvSpPr>
          <p:cNvPr id="1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8F8F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F8081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Exception</a:t>
            </a:r>
            <a:endParaRPr lang="en-US"/>
          </a:p>
        </p:txBody>
      </p:sp>
      <p:sp>
        <p:nvSpPr>
          <p:cNvPr id="1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The handoff is the constraint.</a:t>
            </a:r>
            <a:endParaRPr lang="en-US"/>
          </a:p>
        </p:txBody>
      </p:sp>
      <p:sp>
        <p:nvSpPr>
          <p:cNvPr id="1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7047FF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8F8F7"/>
                </a:solidFill>
                <a:latin typeface="Tahoma"/>
                <a:ea typeface="Tahoma"/>
              </a:rPr>
              <a:t>Next</a:t>
            </a:r>
            <a:endParaRPr lang="en-US"/>
          </a:p>
        </p:txBody>
      </p:sp>
      <p:sp>
        <p:nvSpPr>
          <p:cNvPr id="2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8F8F7"/>
                </a:solidFill>
                <a:latin typeface="Tahoma"/>
                <a:ea typeface="Tahoma"/>
              </a:rPr>
              <a:t>Name the owner today.</a:t>
            </a:r>
            <a:endParaRPr lang="en-US"/>
          </a:p>
        </p:txBody>
      </p:sp>
      <p:sp>
        <p:nvSpPr>
          <p:cNvPr id="2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047FF"/>
          </a:solidFill>
          <a:ln xmlns:a="http://schemas.openxmlformats.org/drawingml/2006/main" w="0">
            <a:solidFill>
              <a:srgbClr val="7047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Tahoma"/>
                <a:ea typeface="Tahoma"/>
              </a:rPr>
              <a:t>Assign the handoff</a:t>
            </a:r>
            <a:endParaRPr lang="en-US"/>
          </a:p>
        </p:txBody>
      </p:sp>
      <p:sp>
        <p:nvSpPr>
          <p:cNvPr id="2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F8081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