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89c904ea8da4cb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4df9c6298f17ef7a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0d3bd4b5ccdd7cbb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a5c00489db854fa2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8579b0a87ff097c1_1" /><Relationship Type="http://schemas.openxmlformats.org/officeDocument/2006/relationships/image" Target="/ppt/media/image5.jpg" Id="rIdOfficeKitImage7acdacea277813e8_1" /><Relationship Type="http://schemas.openxmlformats.org/officeDocument/2006/relationships/image" Target="/ppt/media/image6.jpg" Id="rIdOfficeKitImage89634c5b24a89a02_1" /><Relationship Type="http://schemas.openxmlformats.org/officeDocument/2006/relationships/image" Target="/ppt/media/image7.jpg" Id="rIdOfficeKitImage6a3db1fe43260f32_1" /><Relationship Type="http://schemas.openxmlformats.org/officeDocument/2006/relationships/image" Target="/ppt/media/image8.jpg" Id="rIdOfficeKitImage6785cc6781fd2511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9.jpg" Id="rIdOfficeKitImaged96cedd8678b85ac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0.jpg" Id="rIdOfficeKitImage06e55191024fa458_1" /></Relationships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lectric-violet-cover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212"/>
          </a:solidFill>
          <a:ln xmlns:a="http://schemas.openxmlformats.org/drawingml/2006/main" w="0">
            <a:solidFill>
              <a:srgbClr val="12121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lectric-violet-cover-photo" descr="Documentary work scene used as the cover visual"/>
          <p:cNvPicPr/>
          <p:nvPr/>
        </p:nvPicPr>
        <p:blipFill>
          <a:blip xmlns:r="http://schemas.openxmlformats.org/officeDocument/2006/relationships" xmlns:a="http://schemas.openxmlformats.org/drawingml/2006/main" r:embed="rIdOfficeKitImage4df9c6298f17ef7a_1"/>
          <a:srcRect xmlns:a="http://schemas.openxmlformats.org/drawingml/2006/main" l="0" t="41949" r="0" b="41949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4210050"/>
            <a:ext cx="15240000" cy="4362450"/>
          </a:xfrm>
          <a:prstGeom xmlns:a="http://schemas.openxmlformats.org/drawingml/2006/main" prst="rect">
            <a:avLst/>
          </a:prstGeom>
        </p:spPr>
      </p:pic>
      <p:sp>
        <p:nvSpPr>
          <p:cNvPr id="4" name="electric-violet-cover-rule"/>
          <p:cNvSpPr/>
          <p:nvPr/>
        </p:nvSpPr>
        <p:spPr>
          <a:xfrm xmlns:a="http://schemas.openxmlformats.org/drawingml/2006/main">
            <a:off x="914400" y="5143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lectric-violet-cover-eyebrow"/>
          <p:cNvSpPr txBox="1"/>
          <p:nvPr/>
        </p:nvSpPr>
        <p:spPr>
          <a:xfrm xmlns:a="http://schemas.openxmlformats.org/drawingml/2006/main">
            <a:off x="914400" y="7810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7047FF"/>
                </a:solidFill>
                <a:latin typeface="Tahoma"/>
                <a:ea typeface="Tahoma"/>
              </a:rPr>
              <a:t>WORK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314450"/>
            <a:ext cx="1162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FFFFF"/>
                </a:solidFill>
                <a:latin typeface="Tahoma"/>
                <a:ea typeface="Tahoma"/>
              </a:rPr>
              <a:t>Violet Operations: a claim worth testing</a:t>
            </a:r>
            <a:endParaRPr lang="en-US"/>
          </a:p>
        </p:txBody>
      </p:sp>
      <p:sp>
        <p:nvSpPr>
          <p:cNvPr id="7" name="electric-violet-cover-basis"/>
          <p:cNvSpPr txBox="1"/>
          <p:nvPr/>
        </p:nvSpPr>
        <p:spPr>
          <a:xfrm xmlns:a="http://schemas.openxmlformats.org/drawingml/2006/main">
            <a:off x="952500" y="24574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425">
                <a:solidFill>
                  <a:srgbClr val="B9B9B9"/>
                </a:solidFill>
                <a:latin typeface="Tahoma"/>
                <a:ea typeface="Tahoma"/>
              </a:rPr>
              <a:t>A documentary operating review turns status into a decision.</a:t>
            </a:r>
            <a:endParaRPr lang="en-US"/>
          </a:p>
        </p:txBody>
      </p:sp>
      <p:sp>
        <p:nvSpPr>
          <p:cNvPr id="8" name="electric-violet-cover-photo-rule"/>
          <p:cNvSpPr/>
          <p:nvPr/>
        </p:nvSpPr>
        <p:spPr>
          <a:xfrm xmlns:a="http://schemas.openxmlformats.org/drawingml/2006/main">
            <a:off x="914400" y="388620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electric-violet-cover-photo-label"/>
          <p:cNvSpPr txBox="1"/>
          <p:nvPr/>
        </p:nvSpPr>
        <p:spPr>
          <a:xfrm xmlns:a="http://schemas.openxmlformats.org/drawingml/2006/main">
            <a:off x="914400" y="398145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975" b="1">
                <a:solidFill>
                  <a:srgbClr val="B9B9B9"/>
                </a:solidFill>
                <a:latin typeface="Tahoma"/>
                <a:ea typeface="Tahoma"/>
              </a:rPr>
              <a:t>MEASURED WORK · VISIBLE CONSEQUENCE</a:t>
            </a:r>
            <a:endParaRPr lang="en-US"/>
          </a:p>
        </p:txBody>
      </p:sp>
      <p:sp>
        <p:nvSpPr>
          <p:cNvPr id="10" name="electric-violet-cover-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B9B9B9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electric-violet-cover-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B9B9B9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0d3bd4b5ccdd7cb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constraint owns the page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Status, cause, owner and date stay together.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OPERATING SIGNAL</a:t>
            </a:r>
            <a:endParaRPr lang="en-US"/>
          </a:p>
        </p:txBody>
      </p:sp>
      <p:sp>
        <p:nvSpPr>
          <p:cNvPr id="9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queue is healthy; the handoff is not.</a:t>
            </a:r>
            <a:endParaRPr lang="en-US"/>
          </a:p>
        </p:txBody>
      </p:sp>
      <p:sp>
        <p:nvSpPr>
          <p:cNvPr id="10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8F8F7"/>
                </a:solidFill>
                <a:latin typeface="Tahoma"/>
                <a:ea typeface="Tahoma"/>
              </a:rPr>
              <a:t>Three visible signals point to one owner and one date.</a:t>
            </a:r>
            <a:endParaRPr lang="en-US"/>
          </a:p>
        </p:txBody>
      </p:sp>
      <p:sp>
        <p:nvSpPr>
          <p:cNvPr id="11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3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Queue</a:t>
            </a:r>
            <a:endParaRPr lang="en-US"/>
          </a:p>
        </p:txBody>
      </p:sp>
      <p:sp>
        <p:nvSpPr>
          <p:cNvPr id="14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On target</a:t>
            </a:r>
            <a:endParaRPr lang="en-US"/>
          </a:p>
        </p:txBody>
      </p:sp>
      <p:sp>
        <p:nvSpPr>
          <p:cNvPr id="15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Handoff</a:t>
            </a:r>
            <a:endParaRPr lang="en-US"/>
          </a:p>
        </p:txBody>
      </p:sp>
      <p:sp>
        <p:nvSpPr>
          <p:cNvPr id="17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047FF"/>
                </a:solidFill>
                <a:latin typeface="Tahoma"/>
                <a:ea typeface="Tahoma"/>
              </a:rPr>
              <a:t>At risk</a:t>
            </a:r>
            <a:endParaRPr lang="en-US"/>
          </a:p>
        </p:txBody>
      </p:sp>
      <p:sp>
        <p:nvSpPr>
          <p:cNvPr id="18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9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20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Named</a:t>
            </a:r>
            <a:endParaRPr lang="en-US"/>
          </a:p>
        </p:txBody>
      </p:sp>
      <p:sp>
        <p:nvSpPr>
          <p:cNvPr id="2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a5c00489db854fa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Signal up; exception stays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0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map-label"/>
          <p:cNvSpPr txBox="1"/>
          <p:nvPr/>
        </p:nvSpPr>
        <p:spPr>
          <a:xfrm xmlns:a="http://schemas.openxmlformats.org/drawingml/2006/main">
            <a:off x="1066800" y="314325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7047FF"/>
                </a:solidFill>
                <a:latin typeface="Tahoma"/>
                <a:ea typeface="Tahoma"/>
              </a:rPr>
              <a:t>DIRECT-LABELLED DISTRIBUTION</a:t>
            </a:r>
            <a:endParaRPr lang="en-US"/>
          </a:p>
        </p:txBody>
      </p:sp>
      <p:sp>
        <p:nvSpPr>
          <p:cNvPr id="10" name="map-field"/>
          <p:cNvSpPr/>
          <p:nvPr/>
        </p:nvSpPr>
        <p:spPr>
          <a:xfrm xmlns:a="http://schemas.openxmlformats.org/drawingml/2006/main">
            <a:off x="1066800" y="3524250"/>
            <a:ext cx="75247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2F33"/>
          </a:solidFill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map-region-0"/>
          <p:cNvSpPr/>
          <p:nvPr/>
        </p:nvSpPr>
        <p:spPr>
          <a:xfrm xmlns:a="http://schemas.openxmlformats.org/drawingml/2006/main">
            <a:off x="1619250" y="4324350"/>
            <a:ext cx="1428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A">
              <a:alpha val="48000"/>
            </a:srgbClr>
          </a:solidFill>
          <a:ln xmlns:a="http://schemas.openxmlformats.org/drawingml/2006/main" w="2540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map-region-1"/>
          <p:cNvSpPr/>
          <p:nvPr/>
        </p:nvSpPr>
        <p:spPr>
          <a:xfrm xmlns:a="http://schemas.openxmlformats.org/drawingml/2006/main">
            <a:off x="3295650" y="3962400"/>
            <a:ext cx="1790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>
              <a:alpha val="76000"/>
            </a:srgbClr>
          </a:solidFill>
          <a:ln xmlns:a="http://schemas.openxmlformats.org/drawingml/2006/main" w="2540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map-region-2"/>
          <p:cNvSpPr/>
          <p:nvPr/>
        </p:nvSpPr>
        <p:spPr>
          <a:xfrm xmlns:a="http://schemas.openxmlformats.org/drawingml/2006/main">
            <a:off x="5295900" y="4457700"/>
            <a:ext cx="1200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A">
              <a:alpha val="48000"/>
            </a:srgbClr>
          </a:solidFill>
          <a:ln xmlns:a="http://schemas.openxmlformats.org/drawingml/2006/main" w="2540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map-region-3"/>
          <p:cNvSpPr/>
          <p:nvPr/>
        </p:nvSpPr>
        <p:spPr>
          <a:xfrm xmlns:a="http://schemas.openxmlformats.org/drawingml/2006/main">
            <a:off x="6705600" y="3848100"/>
            <a:ext cx="1238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>
              <a:alpha val="76000"/>
            </a:srgbClr>
          </a:solidFill>
          <a:ln xmlns:a="http://schemas.openxmlformats.org/drawingml/2006/main" w="2540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ap-region-4"/>
          <p:cNvSpPr/>
          <p:nvPr/>
        </p:nvSpPr>
        <p:spPr>
          <a:xfrm xmlns:a="http://schemas.openxmlformats.org/drawingml/2006/main">
            <a:off x="2590800" y="5219700"/>
            <a:ext cx="19431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8081">
              <a:alpha val="48000"/>
            </a:srgbClr>
          </a:solidFill>
          <a:ln xmlns:a="http://schemas.openxmlformats.org/drawingml/2006/main" w="2540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map-region-5"/>
          <p:cNvSpPr/>
          <p:nvPr/>
        </p:nvSpPr>
        <p:spPr>
          <a:xfrm xmlns:a="http://schemas.openxmlformats.org/drawingml/2006/main">
            <a:off x="4895850" y="5334000"/>
            <a:ext cx="1447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8EA">
              <a:alpha val="76000"/>
            </a:srgbClr>
          </a:solidFill>
          <a:ln xmlns:a="http://schemas.openxmlformats.org/drawingml/2006/main" w="2540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map-leader-0"/>
          <p:cNvSpPr/>
          <p:nvPr/>
        </p:nvSpPr>
        <p:spPr>
          <a:xfrm xmlns:a="http://schemas.openxmlformats.org/drawingml/2006/main">
            <a:off x="1943100" y="43624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map-label-0"/>
          <p:cNvSpPr txBox="1"/>
          <p:nvPr/>
        </p:nvSpPr>
        <p:spPr>
          <a:xfrm xmlns:a="http://schemas.openxmlformats.org/drawingml/2006/main">
            <a:off x="2190750" y="4095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8F8F7"/>
                </a:solidFill>
                <a:latin typeface="Tahoma"/>
                <a:ea typeface="Tahoma"/>
              </a:rPr>
              <a:t>North · 42%</a:t>
            </a:r>
            <a:endParaRPr lang="en-US"/>
          </a:p>
        </p:txBody>
      </p:sp>
      <p:sp>
        <p:nvSpPr>
          <p:cNvPr id="19" name="map-leader-1"/>
          <p:cNvSpPr/>
          <p:nvPr/>
        </p:nvSpPr>
        <p:spPr>
          <a:xfrm xmlns:a="http://schemas.openxmlformats.org/drawingml/2006/main">
            <a:off x="3676650" y="39814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map-label-1"/>
          <p:cNvSpPr txBox="1"/>
          <p:nvPr/>
        </p:nvSpPr>
        <p:spPr>
          <a:xfrm xmlns:a="http://schemas.openxmlformats.org/drawingml/2006/main">
            <a:off x="3924300" y="37147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8F8F7"/>
                </a:solidFill>
                <a:latin typeface="Tahoma"/>
                <a:ea typeface="Tahoma"/>
              </a:rPr>
              <a:t>Central · 68%</a:t>
            </a:r>
            <a:endParaRPr lang="en-US"/>
          </a:p>
        </p:txBody>
      </p:sp>
      <p:sp>
        <p:nvSpPr>
          <p:cNvPr id="21" name="map-leader-2"/>
          <p:cNvSpPr/>
          <p:nvPr/>
        </p:nvSpPr>
        <p:spPr>
          <a:xfrm xmlns:a="http://schemas.openxmlformats.org/drawingml/2006/main">
            <a:off x="6934200" y="388620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map-label-2"/>
          <p:cNvSpPr txBox="1"/>
          <p:nvPr/>
        </p:nvSpPr>
        <p:spPr>
          <a:xfrm xmlns:a="http://schemas.openxmlformats.org/drawingml/2006/main">
            <a:off x="7181850" y="3619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8F8F7"/>
                </a:solidFill>
                <a:latin typeface="Tahoma"/>
                <a:ea typeface="Tahoma"/>
              </a:rPr>
              <a:t>East · 55%</a:t>
            </a:r>
            <a:endParaRPr lang="en-US"/>
          </a:p>
        </p:txBody>
      </p:sp>
      <p:sp>
        <p:nvSpPr>
          <p:cNvPr id="23" name="map-leader-3"/>
          <p:cNvSpPr/>
          <p:nvPr/>
        </p:nvSpPr>
        <p:spPr>
          <a:xfrm xmlns:a="http://schemas.openxmlformats.org/drawingml/2006/main">
            <a:off x="2952750" y="6343650"/>
            <a:ext cx="20955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map-label-3"/>
          <p:cNvSpPr txBox="1"/>
          <p:nvPr/>
        </p:nvSpPr>
        <p:spPr>
          <a:xfrm xmlns:a="http://schemas.openxmlformats.org/drawingml/2006/main">
            <a:off x="3200400" y="60769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8F8F7"/>
                </a:solidFill>
                <a:latin typeface="Tahoma"/>
                <a:ea typeface="Tahoma"/>
              </a:rPr>
              <a:t>South · 31%</a:t>
            </a:r>
            <a:endParaRPr lang="en-US"/>
          </a:p>
        </p:txBody>
      </p:sp>
      <p:sp>
        <p:nvSpPr>
          <p:cNvPr id="25" name="map-read-label"/>
          <p:cNvSpPr txBox="1"/>
          <p:nvPr/>
        </p:nvSpPr>
        <p:spPr>
          <a:xfrm xmlns:a="http://schemas.openxmlformats.org/drawingml/2006/main">
            <a:off x="9906000" y="3333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26" name="map-read-title"/>
          <p:cNvSpPr txBox="1"/>
          <p:nvPr/>
        </p:nvSpPr>
        <p:spPr>
          <a:xfrm xmlns:a="http://schemas.openxmlformats.org/drawingml/2006/main">
            <a:off x="9906000" y="3829050"/>
            <a:ext cx="342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8F8F7"/>
                </a:solidFill>
                <a:latin typeface="Tahoma"/>
                <a:ea typeface="Tahoma"/>
              </a:rPr>
              <a:t>The geography changes the decision.</a:t>
            </a:r>
            <a:endParaRPr lang="en-US"/>
          </a:p>
        </p:txBody>
      </p:sp>
      <p:sp>
        <p:nvSpPr>
          <p:cNvPr id="27" name="map-read-body"/>
          <p:cNvSpPr txBox="1"/>
          <p:nvPr/>
        </p:nvSpPr>
        <p:spPr>
          <a:xfrm xmlns:a="http://schemas.openxmlformats.org/drawingml/2006/main">
            <a:off x="9906000" y="49530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F8081"/>
                </a:solidFill>
                <a:latin typeface="Tahoma"/>
                <a:ea typeface="Tahoma"/>
              </a:rPr>
              <a:t>Use a map only when position, distribution, or concentration carries the argument. Direct labels stay next to the region they qualify.</a:t>
            </a:r>
            <a:endParaRPr lang="en-US"/>
          </a:p>
        </p:txBody>
      </p:sp>
      <p:sp>
        <p:nvSpPr>
          <p:cNvPr id="28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8F8F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gap becomes useful when it has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579b0a87ff097c1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acdacea277813e8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9634c5b24a89a02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a3db1fe43260f32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785cc6781fd2511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IMAGE MATRIX</a:t>
            </a:r>
            <a:endParaRPr lang="en-US"/>
          </a:p>
        </p:txBody>
      </p:sp>
      <p:sp>
        <p:nvSpPr>
          <p:cNvPr id="1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8F8F7"/>
                </a:solidFill>
                <a:latin typeface="Tahoma"/>
                <a:ea typeface="Tahoma"/>
              </a:rPr>
              <a:t>One subject, five ways to notice it.</a:t>
            </a:r>
            <a:endParaRPr lang="en-US"/>
          </a:p>
        </p:txBody>
      </p:sp>
      <p:sp>
        <p:nvSpPr>
          <p:cNvPr id="1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mood; labels carry the claim.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d96cedd8678b85ac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4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8F8F7"/>
                </a:solidFill>
                <a:latin typeface="Tahoma"/>
                <a:ea typeface="Tahoma"/>
              </a:rPr>
              <a:t>Show the operating shape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8F8F7"/>
                </a:solidFill>
                <a:latin typeface="Tahoma"/>
                <a:ea typeface="Tahoma"/>
              </a:rPr>
              <a:t>The image carries context; the page names the move.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06e55191024fa458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Name the owner and next date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Status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queue is on target.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8F8F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handoff is the constraint.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Name the owner today.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