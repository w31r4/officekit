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f3cb5ccfbd894d1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4df9c6298f17ef7a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0d3bd4b5ccdd7cbb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a5c00489db854fa2_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8579b0a87ff097c1_1" /><Relationship Type="http://schemas.openxmlformats.org/officeDocument/2006/relationships/image" Target="/ppt/media/image5.jpg" Id="rIdOfficeKitImage7acdacea277813e8_1" /><Relationship Type="http://schemas.openxmlformats.org/officeDocument/2006/relationships/image" Target="/ppt/media/image6.jpg" Id="rIdOfficeKitImage89634c5b24a89a02_1" /><Relationship Type="http://schemas.openxmlformats.org/officeDocument/2006/relationships/image" Target="/ppt/media/image7.jpg" Id="rIdOfficeKitImage6a3db1fe43260f32_1" /><Relationship Type="http://schemas.openxmlformats.org/officeDocument/2006/relationships/image" Target="/ppt/media/image8.jpg" Id="rIdOfficeKitImage6785cc6781fd2511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9.jpg" Id="rIdOfficeKitImaged96cedd8678b85ac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10.jpg" Id="rIdOfficeKitImage06e55191024fa458_1" /></Relationships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4df9c6298f17ef7a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100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WORK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8F8F7"/>
                </a:solidFill>
                <a:latin typeface="Tahoma"/>
                <a:ea typeface="Tahoma"/>
              </a:rPr>
              <a:t>Violet Operations: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7047FF"/>
                </a:solidFill>
                <a:latin typeface="Tahoma"/>
                <a:ea typeface="Tahoma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8F8F7"/>
                </a:solidFill>
                <a:latin typeface="Tahoma"/>
                <a:ea typeface="Tahoma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8F8F7"/>
                </a:solidFill>
                <a:latin typeface="Tahoma"/>
                <a:ea typeface="Tahoma"/>
              </a:rPr>
              <a:t>A visible operating signal creates a shared next action.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F8F8F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bg>
      <p:bgPr>
        <a:blipFill xmlns:a="http://schemas.openxmlformats.org/drawingml/2006/main">
          <a:blip xmlns:r="http://schemas.openxmlformats.org/officeDocument/2006/relationships" r:embed="rIdOfficeKitImage0d3bd4b5ccdd7cbb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rgument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96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VIOLET OPERATIONS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VIOLET OPERATIONS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8F8F7"/>
                </a:solidFill>
                <a:latin typeface="Tahoma"/>
                <a:ea typeface="Tahoma"/>
              </a:rPr>
              <a:t>The constraint owns the page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F8081"/>
                </a:solidFill>
                <a:latin typeface="Tahoma"/>
                <a:ea typeface="Tahoma"/>
              </a:rPr>
              <a:t>Status, cause, owner and date stay together.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work-status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47FF"/>
                </a:solidFill>
                <a:latin typeface="Tahoma"/>
                <a:ea typeface="Tahoma"/>
              </a:rPr>
              <a:t>OPERATING SIGNAL</a:t>
            </a:r>
            <a:endParaRPr lang="en-US"/>
          </a:p>
        </p:txBody>
      </p:sp>
      <p:sp>
        <p:nvSpPr>
          <p:cNvPr id="9" name="work-headline"/>
          <p:cNvSpPr txBox="1"/>
          <p:nvPr/>
        </p:nvSpPr>
        <p:spPr>
          <a:xfrm xmlns:a="http://schemas.openxmlformats.org/drawingml/2006/main">
            <a:off x="1104900" y="3790950"/>
            <a:ext cx="666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8F8F7"/>
                </a:solidFill>
                <a:latin typeface="Tahoma"/>
                <a:ea typeface="Tahoma"/>
              </a:rPr>
              <a:t>The queue is healthy; the handoff is not.</a:t>
            </a:r>
            <a:endParaRPr lang="en-US"/>
          </a:p>
        </p:txBody>
      </p:sp>
      <p:sp>
        <p:nvSpPr>
          <p:cNvPr id="10" name="work-body"/>
          <p:cNvSpPr txBox="1"/>
          <p:nvPr/>
        </p:nvSpPr>
        <p:spPr>
          <a:xfrm xmlns:a="http://schemas.openxmlformats.org/drawingml/2006/main">
            <a:off x="1104900" y="47625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F8F8F7"/>
                </a:solidFill>
                <a:latin typeface="Tahoma"/>
                <a:ea typeface="Tahoma"/>
              </a:rPr>
              <a:t>Three visible signals point to one owner and one date.</a:t>
            </a:r>
            <a:endParaRPr lang="en-US"/>
          </a:p>
        </p:txBody>
      </p:sp>
      <p:sp>
        <p:nvSpPr>
          <p:cNvPr id="11" name="work-rail"/>
          <p:cNvSpPr/>
          <p:nvPr/>
        </p:nvSpPr>
        <p:spPr>
          <a:xfrm xmlns:a="http://schemas.openxmlformats.org/drawingml/2006/main">
            <a:off x="10001250" y="3333750"/>
            <a:ext cx="0" cy="2381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work-num-0"/>
          <p:cNvSpPr txBox="1"/>
          <p:nvPr/>
        </p:nvSpPr>
        <p:spPr>
          <a:xfrm xmlns:a="http://schemas.openxmlformats.org/drawingml/2006/main">
            <a:off x="10477500" y="34480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7047FF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13" name="work-label-0"/>
          <p:cNvSpPr txBox="1"/>
          <p:nvPr/>
        </p:nvSpPr>
        <p:spPr>
          <a:xfrm xmlns:a="http://schemas.openxmlformats.org/drawingml/2006/main">
            <a:off x="11144250" y="3448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8F8F7"/>
                </a:solidFill>
                <a:latin typeface="Tahoma"/>
                <a:ea typeface="Tahoma"/>
              </a:rPr>
              <a:t>Queue</a:t>
            </a:r>
            <a:endParaRPr lang="en-US"/>
          </a:p>
        </p:txBody>
      </p:sp>
      <p:sp>
        <p:nvSpPr>
          <p:cNvPr id="14" name="work-text-0"/>
          <p:cNvSpPr txBox="1"/>
          <p:nvPr/>
        </p:nvSpPr>
        <p:spPr>
          <a:xfrm xmlns:a="http://schemas.openxmlformats.org/drawingml/2006/main">
            <a:off x="12668250" y="34480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F8081"/>
                </a:solidFill>
                <a:latin typeface="Tahoma"/>
                <a:ea typeface="Tahoma"/>
              </a:rPr>
              <a:t>On target</a:t>
            </a:r>
            <a:endParaRPr lang="en-US"/>
          </a:p>
        </p:txBody>
      </p:sp>
      <p:sp>
        <p:nvSpPr>
          <p:cNvPr id="15" name="work-num-1"/>
          <p:cNvSpPr txBox="1"/>
          <p:nvPr/>
        </p:nvSpPr>
        <p:spPr>
          <a:xfrm xmlns:a="http://schemas.openxmlformats.org/drawingml/2006/main">
            <a:off x="10477500" y="42291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7047FF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16" name="work-label-1"/>
          <p:cNvSpPr txBox="1"/>
          <p:nvPr/>
        </p:nvSpPr>
        <p:spPr>
          <a:xfrm xmlns:a="http://schemas.openxmlformats.org/drawingml/2006/main">
            <a:off x="11144250" y="42291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8F8F7"/>
                </a:solidFill>
                <a:latin typeface="Tahoma"/>
                <a:ea typeface="Tahoma"/>
              </a:rPr>
              <a:t>Handoff</a:t>
            </a:r>
            <a:endParaRPr lang="en-US"/>
          </a:p>
        </p:txBody>
      </p:sp>
      <p:sp>
        <p:nvSpPr>
          <p:cNvPr id="17" name="work-text-1"/>
          <p:cNvSpPr txBox="1"/>
          <p:nvPr/>
        </p:nvSpPr>
        <p:spPr>
          <a:xfrm xmlns:a="http://schemas.openxmlformats.org/drawingml/2006/main">
            <a:off x="12668250" y="422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047FF"/>
                </a:solidFill>
                <a:latin typeface="Tahoma"/>
                <a:ea typeface="Tahoma"/>
              </a:rPr>
              <a:t>At risk</a:t>
            </a:r>
            <a:endParaRPr lang="en-US"/>
          </a:p>
        </p:txBody>
      </p:sp>
      <p:sp>
        <p:nvSpPr>
          <p:cNvPr id="18" name="work-num-2"/>
          <p:cNvSpPr txBox="1"/>
          <p:nvPr/>
        </p:nvSpPr>
        <p:spPr>
          <a:xfrm xmlns:a="http://schemas.openxmlformats.org/drawingml/2006/main">
            <a:off x="10477500" y="50101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7047FF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19" name="work-label-2"/>
          <p:cNvSpPr txBox="1"/>
          <p:nvPr/>
        </p:nvSpPr>
        <p:spPr>
          <a:xfrm xmlns:a="http://schemas.openxmlformats.org/drawingml/2006/main">
            <a:off x="11144250" y="5010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8F8F7"/>
                </a:solidFill>
                <a:latin typeface="Tahoma"/>
                <a:ea typeface="Tahoma"/>
              </a:rPr>
              <a:t>Owner</a:t>
            </a:r>
            <a:endParaRPr lang="en-US"/>
          </a:p>
        </p:txBody>
      </p:sp>
      <p:sp>
        <p:nvSpPr>
          <p:cNvPr id="20" name="work-text-2"/>
          <p:cNvSpPr txBox="1"/>
          <p:nvPr/>
        </p:nvSpPr>
        <p:spPr>
          <a:xfrm xmlns:a="http://schemas.openxmlformats.org/drawingml/2006/main">
            <a:off x="12668250" y="50101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F8081"/>
                </a:solidFill>
                <a:latin typeface="Tahoma"/>
                <a:ea typeface="Tahoma"/>
              </a:rPr>
              <a:t>Named</a:t>
            </a:r>
            <a:endParaRPr lang="en-US"/>
          </a:p>
        </p:txBody>
      </p:sp>
      <p:sp>
        <p:nvSpPr>
          <p:cNvPr id="21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bg>
      <p:bgPr>
        <a:blipFill xmlns:a="http://schemas.openxmlformats.org/drawingml/2006/main">
          <a:blip xmlns:r="http://schemas.openxmlformats.org/officeDocument/2006/relationships" r:embed="rIdOfficeKitImagea5c00489db854fa2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videnc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96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VIOLET OPERATIONS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VIOLET OPERATIONS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8F8F7"/>
                </a:solidFill>
                <a:latin typeface="Tahoma"/>
                <a:ea typeface="Tahoma"/>
              </a:rPr>
              <a:t>Signal up; exception stays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F8081"/>
                </a:solidFill>
                <a:latin typeface="Tahoma"/>
                <a:ea typeface="Tahoma"/>
              </a:rPr>
              <a:t>Illustrative operations ledger · current state and exception share one frame.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evidence-read-scrim"/>
          <p:cNvSpPr/>
          <p:nvPr/>
        </p:nvSpPr>
        <p:spPr>
          <a:xfrm xmlns:a="http://schemas.openxmlformats.org/drawingml/2006/main">
            <a:off x="9525000" y="2857500"/>
            <a:ext cx="47625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90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map-label"/>
          <p:cNvSpPr txBox="1"/>
          <p:nvPr/>
        </p:nvSpPr>
        <p:spPr>
          <a:xfrm xmlns:a="http://schemas.openxmlformats.org/drawingml/2006/main">
            <a:off x="1066800" y="314325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7047FF"/>
                </a:solidFill>
                <a:latin typeface="Tahoma"/>
                <a:ea typeface="Tahoma"/>
              </a:rPr>
              <a:t>DIRECT-LABELLED DISTRIBUTION</a:t>
            </a:r>
            <a:endParaRPr lang="en-US"/>
          </a:p>
        </p:txBody>
      </p:sp>
      <p:sp>
        <p:nvSpPr>
          <p:cNvPr id="10" name="map-field"/>
          <p:cNvSpPr/>
          <p:nvPr/>
        </p:nvSpPr>
        <p:spPr>
          <a:xfrm xmlns:a="http://schemas.openxmlformats.org/drawingml/2006/main">
            <a:off x="1066800" y="3524250"/>
            <a:ext cx="75247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2F33"/>
          </a:solidFill>
          <a:ln xmlns:a="http://schemas.openxmlformats.org/drawingml/2006/main" w="127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map-region-0"/>
          <p:cNvSpPr/>
          <p:nvPr/>
        </p:nvSpPr>
        <p:spPr>
          <a:xfrm xmlns:a="http://schemas.openxmlformats.org/drawingml/2006/main">
            <a:off x="1619250" y="4324350"/>
            <a:ext cx="1428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A">
              <a:alpha val="48000"/>
            </a:srgbClr>
          </a:solidFill>
          <a:ln xmlns:a="http://schemas.openxmlformats.org/drawingml/2006/main" w="2540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map-region-1"/>
          <p:cNvSpPr/>
          <p:nvPr/>
        </p:nvSpPr>
        <p:spPr>
          <a:xfrm xmlns:a="http://schemas.openxmlformats.org/drawingml/2006/main">
            <a:off x="3295650" y="3962400"/>
            <a:ext cx="1790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>
              <a:alpha val="76000"/>
            </a:srgbClr>
          </a:solidFill>
          <a:ln xmlns:a="http://schemas.openxmlformats.org/drawingml/2006/main" w="2540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map-region-2"/>
          <p:cNvSpPr/>
          <p:nvPr/>
        </p:nvSpPr>
        <p:spPr>
          <a:xfrm xmlns:a="http://schemas.openxmlformats.org/drawingml/2006/main">
            <a:off x="5295900" y="4457700"/>
            <a:ext cx="1200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A">
              <a:alpha val="48000"/>
            </a:srgbClr>
          </a:solidFill>
          <a:ln xmlns:a="http://schemas.openxmlformats.org/drawingml/2006/main" w="2540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map-region-3"/>
          <p:cNvSpPr/>
          <p:nvPr/>
        </p:nvSpPr>
        <p:spPr>
          <a:xfrm xmlns:a="http://schemas.openxmlformats.org/drawingml/2006/main">
            <a:off x="6705600" y="3848100"/>
            <a:ext cx="1238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>
              <a:alpha val="76000"/>
            </a:srgbClr>
          </a:solidFill>
          <a:ln xmlns:a="http://schemas.openxmlformats.org/drawingml/2006/main" w="2540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map-region-4"/>
          <p:cNvSpPr/>
          <p:nvPr/>
        </p:nvSpPr>
        <p:spPr>
          <a:xfrm xmlns:a="http://schemas.openxmlformats.org/drawingml/2006/main">
            <a:off x="2590800" y="5219700"/>
            <a:ext cx="19431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8081">
              <a:alpha val="48000"/>
            </a:srgbClr>
          </a:solidFill>
          <a:ln xmlns:a="http://schemas.openxmlformats.org/drawingml/2006/main" w="2540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map-region-5"/>
          <p:cNvSpPr/>
          <p:nvPr/>
        </p:nvSpPr>
        <p:spPr>
          <a:xfrm xmlns:a="http://schemas.openxmlformats.org/drawingml/2006/main">
            <a:off x="4895850" y="5334000"/>
            <a:ext cx="1447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A">
              <a:alpha val="76000"/>
            </a:srgbClr>
          </a:solidFill>
          <a:ln xmlns:a="http://schemas.openxmlformats.org/drawingml/2006/main" w="2540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map-leader-0"/>
          <p:cNvSpPr/>
          <p:nvPr/>
        </p:nvSpPr>
        <p:spPr>
          <a:xfrm xmlns:a="http://schemas.openxmlformats.org/drawingml/2006/main">
            <a:off x="1943100" y="4362450"/>
            <a:ext cx="209550" cy="228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8F8F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map-label-0"/>
          <p:cNvSpPr txBox="1"/>
          <p:nvPr/>
        </p:nvSpPr>
        <p:spPr>
          <a:xfrm xmlns:a="http://schemas.openxmlformats.org/drawingml/2006/main">
            <a:off x="2190750" y="40957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8F8F7"/>
                </a:solidFill>
                <a:latin typeface="Tahoma"/>
                <a:ea typeface="Tahoma"/>
              </a:rPr>
              <a:t>North · 42%</a:t>
            </a:r>
            <a:endParaRPr lang="en-US"/>
          </a:p>
        </p:txBody>
      </p:sp>
      <p:sp>
        <p:nvSpPr>
          <p:cNvPr id="19" name="map-leader-1"/>
          <p:cNvSpPr/>
          <p:nvPr/>
        </p:nvSpPr>
        <p:spPr>
          <a:xfrm xmlns:a="http://schemas.openxmlformats.org/drawingml/2006/main">
            <a:off x="3676650" y="3981450"/>
            <a:ext cx="209550" cy="228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8F8F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map-label-1"/>
          <p:cNvSpPr txBox="1"/>
          <p:nvPr/>
        </p:nvSpPr>
        <p:spPr>
          <a:xfrm xmlns:a="http://schemas.openxmlformats.org/drawingml/2006/main">
            <a:off x="3924300" y="37147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8F8F7"/>
                </a:solidFill>
                <a:latin typeface="Tahoma"/>
                <a:ea typeface="Tahoma"/>
              </a:rPr>
              <a:t>Central · 68%</a:t>
            </a:r>
            <a:endParaRPr lang="en-US"/>
          </a:p>
        </p:txBody>
      </p:sp>
      <p:sp>
        <p:nvSpPr>
          <p:cNvPr id="21" name="map-leader-2"/>
          <p:cNvSpPr/>
          <p:nvPr/>
        </p:nvSpPr>
        <p:spPr>
          <a:xfrm xmlns:a="http://schemas.openxmlformats.org/drawingml/2006/main">
            <a:off x="6934200" y="3886200"/>
            <a:ext cx="209550" cy="228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8F8F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map-label-2"/>
          <p:cNvSpPr txBox="1"/>
          <p:nvPr/>
        </p:nvSpPr>
        <p:spPr>
          <a:xfrm xmlns:a="http://schemas.openxmlformats.org/drawingml/2006/main">
            <a:off x="7181850" y="3619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8F8F7"/>
                </a:solidFill>
                <a:latin typeface="Tahoma"/>
                <a:ea typeface="Tahoma"/>
              </a:rPr>
              <a:t>East · 55%</a:t>
            </a:r>
            <a:endParaRPr lang="en-US"/>
          </a:p>
        </p:txBody>
      </p:sp>
      <p:sp>
        <p:nvSpPr>
          <p:cNvPr id="23" name="map-leader-3"/>
          <p:cNvSpPr/>
          <p:nvPr/>
        </p:nvSpPr>
        <p:spPr>
          <a:xfrm xmlns:a="http://schemas.openxmlformats.org/drawingml/2006/main">
            <a:off x="2952750" y="6343650"/>
            <a:ext cx="209550" cy="228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8F8F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map-label-3"/>
          <p:cNvSpPr txBox="1"/>
          <p:nvPr/>
        </p:nvSpPr>
        <p:spPr>
          <a:xfrm xmlns:a="http://schemas.openxmlformats.org/drawingml/2006/main">
            <a:off x="3200400" y="60769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8F8F7"/>
                </a:solidFill>
                <a:latin typeface="Tahoma"/>
                <a:ea typeface="Tahoma"/>
              </a:rPr>
              <a:t>South · 31%</a:t>
            </a:r>
            <a:endParaRPr lang="en-US"/>
          </a:p>
        </p:txBody>
      </p:sp>
      <p:sp>
        <p:nvSpPr>
          <p:cNvPr id="25" name="map-read-label"/>
          <p:cNvSpPr txBox="1"/>
          <p:nvPr/>
        </p:nvSpPr>
        <p:spPr>
          <a:xfrm xmlns:a="http://schemas.openxmlformats.org/drawingml/2006/main">
            <a:off x="9906000" y="33337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47FF"/>
                </a:solidFill>
                <a:latin typeface="Tahoma"/>
                <a:ea typeface="Tahoma"/>
              </a:rPr>
              <a:t>READ-THROUGH</a:t>
            </a:r>
            <a:endParaRPr lang="en-US"/>
          </a:p>
        </p:txBody>
      </p:sp>
      <p:sp>
        <p:nvSpPr>
          <p:cNvPr id="26" name="map-read-title"/>
          <p:cNvSpPr txBox="1"/>
          <p:nvPr/>
        </p:nvSpPr>
        <p:spPr>
          <a:xfrm xmlns:a="http://schemas.openxmlformats.org/drawingml/2006/main">
            <a:off x="9906000" y="3829050"/>
            <a:ext cx="342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F8F8F7"/>
                </a:solidFill>
                <a:latin typeface="Tahoma"/>
                <a:ea typeface="Tahoma"/>
              </a:rPr>
              <a:t>The geography changes the decision.</a:t>
            </a:r>
            <a:endParaRPr lang="en-US"/>
          </a:p>
        </p:txBody>
      </p:sp>
      <p:sp>
        <p:nvSpPr>
          <p:cNvPr id="27" name="map-read-body"/>
          <p:cNvSpPr txBox="1"/>
          <p:nvPr/>
        </p:nvSpPr>
        <p:spPr>
          <a:xfrm xmlns:a="http://schemas.openxmlformats.org/drawingml/2006/main">
            <a:off x="9906000" y="4953000"/>
            <a:ext cx="3429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7F8081"/>
                </a:solidFill>
                <a:latin typeface="Tahoma"/>
                <a:ea typeface="Tahoma"/>
              </a:rPr>
              <a:t>Use a map only when position, distribution, or concentration carries the argument. Direct labels stay next to the region they qualify.</a:t>
            </a:r>
            <a:endParaRPr lang="en-US"/>
          </a:p>
        </p:txBody>
      </p:sp>
      <p:sp>
        <p:nvSpPr>
          <p:cNvPr id="28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F8F8F7"/>
                </a:solidFill>
                <a:latin typeface="Tahoma"/>
                <a:ea typeface="Tahoma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30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31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VIOLET OPERATIONS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VIOLET OPERATIONS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8F8F7"/>
                </a:solidFill>
                <a:latin typeface="Tahoma"/>
                <a:ea typeface="Tahoma"/>
              </a:rPr>
              <a:t>The gap becomes useful when it has an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F8F8F7"/>
                </a:solidFill>
                <a:latin typeface="Tahoma"/>
                <a:ea typeface="Tahoma"/>
              </a:rPr>
              <a:t>owner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F8081"/>
                </a:solidFill>
                <a:latin typeface="Tahoma"/>
                <a:ea typeface="Tahoma"/>
              </a:rPr>
              <a:t>Target, current state and exception share a single operating frame.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8" name="image-evidence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579b0a87ff097c1_1"/>
          <a:srcRect xmlns:a="http://schemas.openxmlformats.org/drawingml/2006/main" l="0" t="31971" r="0" b="319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90600" y="3162300"/>
            <a:ext cx="3714750" cy="2381250"/>
          </a:xfrm>
          <a:prstGeom xmlns:a="http://schemas.openxmlformats.org/drawingml/2006/main" prst="rect">
            <a:avLst/>
          </a:prstGeom>
        </p:spPr>
      </p:pic>
      <p:pic>
        <p:nvPicPr>
          <p:cNvPr id="9" name="image-evidence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7acdacea277813e8_1"/>
          <a:srcRect xmlns:a="http://schemas.openxmlformats.org/drawingml/2006/main" l="0" t="32333" r="0" b="32333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0" name="image-evidence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9634c5b24a89a02_1"/>
          <a:srcRect xmlns:a="http://schemas.openxmlformats.org/drawingml/2006/main" l="0" t="32333" r="0" b="32333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1" name="image-evidence-3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6a3db1fe43260f32_1"/>
          <a:srcRect xmlns:a="http://schemas.openxmlformats.org/drawingml/2006/main" l="0" t="32333" r="0" b="32333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44577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2" name="image-evidence-4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6785cc6781fd2511_1"/>
          <a:srcRect xmlns:a="http://schemas.openxmlformats.org/drawingml/2006/main" l="0" t="32333" r="0" b="32333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4457700"/>
            <a:ext cx="1790700" cy="1123950"/>
          </a:xfrm>
          <a:prstGeom xmlns:a="http://schemas.openxmlformats.org/drawingml/2006/main" prst="rect">
            <a:avLst/>
          </a:prstGeom>
        </p:spPr>
      </p:pic>
      <p:sp>
        <p:nvSpPr>
          <p:cNvPr id="13" name="image-matrix-label"/>
          <p:cNvSpPr txBox="1"/>
          <p:nvPr/>
        </p:nvSpPr>
        <p:spPr>
          <a:xfrm xmlns:a="http://schemas.openxmlformats.org/drawingml/2006/main">
            <a:off x="9620250" y="3314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47FF"/>
                </a:solidFill>
                <a:latin typeface="Tahoma"/>
                <a:ea typeface="Tahoma"/>
              </a:rPr>
              <a:t>IMAGE MATRIX</a:t>
            </a:r>
            <a:endParaRPr lang="en-US"/>
          </a:p>
        </p:txBody>
      </p:sp>
      <p:sp>
        <p:nvSpPr>
          <p:cNvPr id="14" name="image-matrix-title"/>
          <p:cNvSpPr txBox="1"/>
          <p:nvPr/>
        </p:nvSpPr>
        <p:spPr>
          <a:xfrm xmlns:a="http://schemas.openxmlformats.org/drawingml/2006/main">
            <a:off x="9620250" y="3790950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F8F8F7"/>
                </a:solidFill>
                <a:latin typeface="Tahoma"/>
                <a:ea typeface="Tahoma"/>
              </a:rPr>
              <a:t>One subject, five ways to notice it.</a:t>
            </a:r>
            <a:endParaRPr lang="en-US"/>
          </a:p>
        </p:txBody>
      </p:sp>
      <p:sp>
        <p:nvSpPr>
          <p:cNvPr id="15" name="image-matrix-body"/>
          <p:cNvSpPr txBox="1"/>
          <p:nvPr/>
        </p:nvSpPr>
        <p:spPr>
          <a:xfrm xmlns:a="http://schemas.openxmlformats.org/drawingml/2006/main">
            <a:off x="9620250" y="4953000"/>
            <a:ext cx="352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F8081"/>
                </a:solidFill>
                <a:latin typeface="Tahoma"/>
                <a:ea typeface="Tahoma"/>
              </a:rPr>
              <a:t>One dominant frame plus four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7F8081"/>
                </a:solidFill>
                <a:latin typeface="Tahoma"/>
                <a:ea typeface="Tahoma"/>
              </a:rPr>
              <a:t>supporting crops. Image carries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7F8081"/>
                </a:solidFill>
                <a:latin typeface="Tahoma"/>
                <a:ea typeface="Tahoma"/>
              </a:rPr>
              <a:t>mood; labels carry the claim.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d96cedd8678b85ac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94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VIOLET OPERATIONS · VISUAL CARRIER</a:t>
            </a:r>
            <a:endParaRPr lang="en-US"/>
          </a:p>
        </p:txBody>
      </p:sp>
      <p:sp>
        <p:nvSpPr>
          <p:cNvPr id="4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F8F8F7"/>
                </a:solidFill>
                <a:latin typeface="Tahoma"/>
                <a:ea typeface="Tahoma"/>
              </a:rPr>
              <a:t>Show the operating shape</a:t>
            </a:r>
            <a:endParaRPr lang="en-US"/>
          </a:p>
        </p:txBody>
      </p:sp>
      <p:sp>
        <p:nvSpPr>
          <p:cNvPr id="5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F8F8F7"/>
                </a:solidFill>
                <a:latin typeface="Tahoma"/>
                <a:ea typeface="Tahoma"/>
              </a:rPr>
              <a:t>The image carries context; the page names the move.</a:t>
            </a:r>
            <a:endParaRPr lang="en-US"/>
          </a:p>
        </p:txBody>
      </p:sp>
      <p:sp>
        <p:nvSpPr>
          <p:cNvPr id="6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THE IMAGE IS EVIDENCE, NOT FILL</a:t>
            </a:r>
            <a:endParaRPr lang="en-US"/>
          </a:p>
        </p:txBody>
      </p:sp>
      <p:sp>
        <p:nvSpPr>
          <p:cNvPr id="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bg>
      <p:bgPr>
        <a:blipFill xmlns:a="http://schemas.openxmlformats.org/drawingml/2006/main">
          <a:blip xmlns:r="http://schemas.openxmlformats.org/officeDocument/2006/relationships" r:embed="rIdOfficeKitImage06e55191024fa458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los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96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VIOLET OPERATIONS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VIOLET OPERATIONS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8F8F7"/>
                </a:solidFill>
                <a:latin typeface="Tahoma"/>
                <a:ea typeface="Tahoma"/>
              </a:rPr>
              <a:t>Name the owner and next date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F8081"/>
                </a:solidFill>
                <a:latin typeface="Tahoma"/>
                <a:ea typeface="Tahoma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7047FF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8F8F7"/>
                </a:solidFill>
                <a:latin typeface="Tahoma"/>
                <a:ea typeface="Tahoma"/>
              </a:rPr>
              <a:t>Status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8F8F7"/>
                </a:solidFill>
                <a:latin typeface="Tahoma"/>
                <a:ea typeface="Tahoma"/>
              </a:rPr>
              <a:t>The queue is on target.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8F8F7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8F8F7"/>
                </a:solidFill>
                <a:latin typeface="Tahoma"/>
                <a:ea typeface="Tahoma"/>
              </a:rPr>
              <a:t>Exception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8F8F7"/>
                </a:solidFill>
                <a:latin typeface="Tahoma"/>
                <a:ea typeface="Tahoma"/>
              </a:rPr>
              <a:t>The handoff is the constraint.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7047FF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8F8F7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8F8F7"/>
                </a:solidFill>
                <a:latin typeface="Tahoma"/>
                <a:ea typeface="Tahoma"/>
              </a:rPr>
              <a:t>Name the owner today.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Tahoma"/>
                <a:ea typeface="Tahoma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Tahoma"/>
                <a:ea typeface="Tahoma"/>
              </a:rPr>
              <a:t>Assign the handoff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Tahoma"/>
                <a:ea typeface="Tahoma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