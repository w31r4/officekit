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9e7e6d61078485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59ee3aa5202fd02f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d71bfa074cda59bb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7650495d0c3b8602_1" /><Relationship Type="http://schemas.openxmlformats.org/officeDocument/2006/relationships/chart" Target="/ppt/slides/charts/chart1.xml" Id="Rdce51a98e2da4927" /><Relationship Type="http://schemas.openxmlformats.org/officeDocument/2006/relationships/chart" Target="/ppt/slides/charts/chart2.xml" Id="Rd424ad46aab2421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d71bfa074cda59bb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7650495d0c3b8602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7047FF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7F8081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E6E8EA"/>
            </a:solidFill>
            <a:ln w="38100">
              <a:solidFill>
                <a:srgbClr val="E6E8EA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violet-operations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100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WORK · OFFICEKIT CALIBRATION</a:t>
            </a:r>
            <a:endParaRPr lang="en-US"/>
          </a:p>
        </p:txBody>
      </p:sp>
      <p:sp>
        <p:nvSpPr>
          <p:cNvPr id="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8F8F7"/>
                </a:solidFill>
                <a:latin typeface="Tahoma"/>
                <a:ea typeface="Tahoma"/>
              </a:rPr>
              <a:t>Violet Operations: a claim worth testing</a:t>
            </a:r>
            <a:endParaRPr lang="en-US"/>
          </a:p>
        </p:txBody>
      </p:sp>
      <p:sp>
        <p:nvSpPr>
          <p:cNvPr id="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7047FF"/>
                </a:solidFill>
                <a:latin typeface="Tahoma"/>
                <a:ea typeface="Tahoma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8F8F7"/>
                </a:solidFill>
                <a:latin typeface="Tahoma"/>
                <a:ea typeface="Tahoma"/>
              </a:rPr>
              <a:t>A visible operating signal creates a shared next action.</a:t>
            </a:r>
            <a:endParaRPr lang="en-US"/>
          </a:p>
        </p:txBody>
      </p:sp>
      <p:sp>
        <p:nvSpPr>
          <p:cNvPr id="1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  <p:sp>
        <p:nvSpPr>
          <p:cNvPr id="13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gument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VIOLET OPERATIONS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ARGUMENT</a:t>
            </a:r>
            <a:endParaRPr lang="en-US"/>
          </a:p>
        </p:txBody>
      </p:sp>
      <p:sp>
        <p:nvSpPr>
          <p:cNvPr id="6" name="argument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8F8F7"/>
                </a:solidFill>
                <a:latin typeface="Tahoma"/>
                <a:ea typeface="Tahoma"/>
              </a:rPr>
              <a:t>The constraint owns the page</a:t>
            </a:r>
            <a:endParaRPr lang="en-US"/>
          </a:p>
        </p:txBody>
      </p:sp>
      <p:sp>
        <p:nvSpPr>
          <p:cNvPr id="7" name="argument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Status, cause, owner and date stay together.</a:t>
            </a:r>
            <a:endParaRPr lang="en-US"/>
          </a:p>
        </p:txBody>
      </p:sp>
      <p:sp>
        <p:nvSpPr>
          <p:cNvPr id="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47FF"/>
                </a:solidFill>
                <a:latin typeface="Tahoma"/>
                <a:ea typeface="Tahoma"/>
              </a:rPr>
              <a:t>OPERATING SIGNAL</a:t>
            </a:r>
            <a:endParaRPr lang="en-US"/>
          </a:p>
        </p:txBody>
      </p:sp>
      <p:sp>
        <p:nvSpPr>
          <p:cNvPr id="10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The queue is healthy; the handoff is not.</a:t>
            </a:r>
            <a:endParaRPr lang="en-US"/>
          </a:p>
        </p:txBody>
      </p:sp>
      <p:sp>
        <p:nvSpPr>
          <p:cNvPr id="11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F8F8F7"/>
                </a:solidFill>
                <a:latin typeface="Tahoma"/>
                <a:ea typeface="Tahoma"/>
              </a:rPr>
              <a:t>Three visible signals point to one owner and one date.</a:t>
            </a:r>
            <a:endParaRPr lang="en-US"/>
          </a:p>
        </p:txBody>
      </p:sp>
      <p:sp>
        <p:nvSpPr>
          <p:cNvPr id="12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4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Queue</a:t>
            </a:r>
            <a:endParaRPr lang="en-US"/>
          </a:p>
        </p:txBody>
      </p:sp>
      <p:sp>
        <p:nvSpPr>
          <p:cNvPr id="15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On target</a:t>
            </a:r>
            <a:endParaRPr lang="en-US"/>
          </a:p>
        </p:txBody>
      </p:sp>
      <p:sp>
        <p:nvSpPr>
          <p:cNvPr id="16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7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Handoff</a:t>
            </a:r>
            <a:endParaRPr lang="en-US"/>
          </a:p>
        </p:txBody>
      </p:sp>
      <p:sp>
        <p:nvSpPr>
          <p:cNvPr id="18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047FF"/>
                </a:solidFill>
                <a:latin typeface="Tahoma"/>
                <a:ea typeface="Tahoma"/>
              </a:rPr>
              <a:t>At risk</a:t>
            </a:r>
            <a:endParaRPr lang="en-US"/>
          </a:p>
        </p:txBody>
      </p:sp>
      <p:sp>
        <p:nvSpPr>
          <p:cNvPr id="19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20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Owner</a:t>
            </a:r>
            <a:endParaRPr lang="en-US"/>
          </a:p>
        </p:txBody>
      </p:sp>
      <p:sp>
        <p:nvSpPr>
          <p:cNvPr id="21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Named</a:t>
            </a:r>
            <a:endParaRPr lang="en-US"/>
          </a:p>
        </p:txBody>
      </p:sp>
      <p:sp>
        <p:nvSpPr>
          <p:cNvPr id="2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evidence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650495d0c3b8602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VIOLET OPERATION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EVIDENCE</a:t>
            </a:r>
            <a:endParaRPr lang="en-US"/>
          </a:p>
        </p:txBody>
      </p:sp>
      <p:sp>
        <p:nvSpPr>
          <p:cNvPr id="6" name="evidenc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8F8F7"/>
                </a:solidFill>
                <a:latin typeface="Tahoma"/>
                <a:ea typeface="Tahoma"/>
              </a:rPr>
              <a:t>Signal up; exception stays</a:t>
            </a:r>
            <a:endParaRPr lang="en-US"/>
          </a:p>
        </p:txBody>
      </p:sp>
      <p:sp>
        <p:nvSpPr>
          <p:cNvPr id="7" name="evidenc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Illustrative operations ledger · current state and exception share one frame.</a:t>
            </a:r>
            <a:endParaRPr lang="en-US"/>
          </a:p>
        </p:txBody>
      </p:sp>
      <p:sp>
        <p:nvSpPr>
          <p:cNvPr id="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0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0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ce51a98e2da4927"/>
          </a:graphicData>
        </a:graphic>
      </p:graphicFrame>
      <p:graphicFrame>
        <p:nvGraphicFramePr>
          <p:cNvPr id="11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424ad46aab24218"/>
          </a:graphicData>
        </a:graphic>
      </p:graphicFrame>
      <p:sp>
        <p:nvSpPr>
          <p:cNvPr id="12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7047FF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14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8F8F7"/>
                </a:solidFill>
                <a:latin typeface="Tahoma"/>
                <a:ea typeface="Tahoma"/>
              </a:rPr>
              <a:t>The signal earns its space.</a:t>
            </a:r>
            <a:endParaRPr lang="en-US"/>
          </a:p>
        </p:txBody>
      </p:sp>
      <p:sp>
        <p:nvSpPr>
          <p:cNvPr id="15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16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8F8F7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8F8F7"/>
                </a:solidFill>
                <a:latin typeface="Tahoma"/>
                <a:ea typeface="Tahoma"/>
              </a:rPr>
              <a:t>The gap becomes useful when it has an owner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381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381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381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47FF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F8F8F7"/>
                </a:solidFill>
                <a:latin typeface="Tahoma"/>
                <a:ea typeface="Tahoma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F8081"/>
                </a:solidFill>
                <a:latin typeface="Tahoma"/>
                <a:ea typeface="Tahoma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4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F8F8F7"/>
                </a:solidFill>
                <a:latin typeface="Tahoma"/>
                <a:ea typeface="Tahoma"/>
              </a:rPr>
              <a:t>Show the operating shape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8F8F7"/>
                </a:solidFill>
                <a:latin typeface="Tahoma"/>
                <a:ea typeface="Tahoma"/>
              </a:rPr>
              <a:t>The image carries context; the page names the move.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THE IMAGE IS EVIDENCE, NOT FILL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close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650495d0c3b8602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VIOLET OPERATIONS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CLOSE</a:t>
            </a:r>
            <a:endParaRPr lang="en-US"/>
          </a:p>
        </p:txBody>
      </p:sp>
      <p:sp>
        <p:nvSpPr>
          <p:cNvPr id="6" name="clos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8F8F7"/>
                </a:solidFill>
                <a:latin typeface="Tahoma"/>
                <a:ea typeface="Tahoma"/>
              </a:rPr>
              <a:t>Name the owner and next date</a:t>
            </a:r>
            <a:endParaRPr lang="en-US"/>
          </a:p>
        </p:txBody>
      </p:sp>
      <p:sp>
        <p:nvSpPr>
          <p:cNvPr id="7" name="clos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Status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The queue is on target.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8F8F7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Exception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The handoff is the constraint.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Name the owner today.</a:t>
            </a:r>
            <a:endParaRPr lang="en-US"/>
          </a:p>
        </p:txBody>
      </p:sp>
      <p:sp>
        <p:nvSpPr>
          <p:cNvPr id="2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Tahoma"/>
                <a:ea typeface="Tahoma"/>
              </a:rPr>
              <a:t>Assign the handoff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