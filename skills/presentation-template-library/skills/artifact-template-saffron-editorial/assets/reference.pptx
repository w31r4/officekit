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png" ContentType="image/pn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f22fce8090fc407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png" Id="rIdOfficeKitImage6f80b7c05bd357c7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9c910f592253444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png" Id="rIdOfficeKitImage6f80b7c05bd357c7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2.xml" Id="Rfe4a7d7e65cb464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by cohort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E4B91E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51</c:v>
              </c:pt>
              <c:pt idx="2">
                <c:v>58</c:v>
              </c:pt>
              <c:pt idx="3">
                <c:v>64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77726B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43</c:v>
              </c:pt>
              <c:pt idx="2">
                <c:v>45</c:v>
              </c:pt>
              <c:pt idx="3">
                <c:v>47</c:v>
              </c:pt>
              <c:pt idx="4">
                <c:v>48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Signal carried by the evidence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Observed</c:v>
          </c:tx>
          <c:spPr>
            <a:solidFill>
              <a:srgbClr val="E4B91E"/>
            </a:solidFill>
          </c:spPr>
          <c:cat>
            <c:strLit>
              <c:ptCount val="5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</c:strLit>
          </c:cat>
          <c:val>
            <c:numLit>
              <c:formatCode>General</c:formatCode>
              <c:ptCount val="5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77726B"/>
            </a:solidFill>
          </c:spPr>
          <c:cat>
            <c:strLit>
              <c:ptCount val="5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</c:strLit>
          </c:cat>
          <c:val>
            <c:numLit>
              <c:formatCode>General</c:formatCode>
              <c:ptCount val="5"/>
              <c:pt idx="0">
                <c:v>32</c:v>
              </c:pt>
              <c:pt idx="1">
                <c:v>36</c:v>
              </c:pt>
              <c:pt idx="2">
                <c:v>40</c:v>
              </c:pt>
              <c:pt idx="3">
                <c:v>44</c:v>
              </c:pt>
              <c:pt idx="4">
                <c:v>49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/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PROMOTION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11111"/>
                </a:solidFill>
                <a:latin typeface="Arial"/>
                <a:ea typeface="Arial"/>
              </a:rPr>
              <a:t>Saffron Editorial: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E4B91E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11111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11111"/>
                </a:solidFill>
                <a:latin typeface="Arial"/>
                <a:ea typeface="Arial"/>
              </a:rPr>
              <a:t>A proposition earns attention when it gives a next move.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2" name="anchor-shape"/>
          <p:cNvSpPr/>
          <p:nvPr/>
        </p:nvSpPr>
        <p:spPr>
          <a:xfrm xmlns:a="http://schemas.openxmlformats.org/drawingml/2006/main">
            <a:off x="11430000" y="2000250"/>
            <a:ext cx="2095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B91E"/>
          </a:solidFill>
          <a:ln xmlns:a="http://schemas.openxmlformats.org/drawingml/2006/main" w="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shape-two"/>
          <p:cNvSpPr/>
          <p:nvPr/>
        </p:nvSpPr>
        <p:spPr>
          <a:xfrm xmlns:a="http://schemas.openxmlformats.org/drawingml/2006/main">
            <a:off x="12096750" y="2743200"/>
            <a:ext cx="2095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4055"/>
          </a:solidFill>
          <a:ln xmlns:a="http://schemas.openxmlformats.org/drawingml/2006/main" w="0">
            <a:solidFill>
              <a:srgbClr val="D6405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/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AFFRON EDITORIAL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11111"/>
                </a:solidFill>
                <a:latin typeface="Arial"/>
                <a:ea typeface="Arial"/>
              </a:rPr>
              <a:t>The proposition is the page's visual center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4B91E"/>
                </a:solidFill>
                <a:latin typeface="Arial"/>
                <a:ea typeface="Arial"/>
              </a:rPr>
              <a:t>ONE PROPOSITION</a:t>
            </a:r>
            <a:endParaRPr lang="en-US"/>
          </a:p>
        </p:txBody>
      </p:sp>
      <p:sp>
        <p:nvSpPr>
          <p:cNvPr id="9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111111"/>
                </a:solidFill>
                <a:latin typeface="Arial"/>
                <a:ea typeface="Arial"/>
              </a:rPr>
              <a:t>Make the next action visible.</a:t>
            </a:r>
            <a:endParaRPr lang="en-US"/>
          </a:p>
        </p:txBody>
      </p:sp>
      <p:sp>
        <p:nvSpPr>
          <p:cNvPr id="10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11111"/>
                </a:solidFill>
                <a:latin typeface="Arial"/>
                <a:ea typeface="Arial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11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6f80b7c05bd357c7_1"/>
          <a:srcRect xmlns:a="http://schemas.openxmlformats.org/drawingml/2006/main" l="6250" t="0" r="6250" b="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3143250"/>
            <a:ext cx="4000500" cy="2571750"/>
          </a:xfrm>
          <a:prstGeom xmlns:a="http://schemas.openxmlformats.org/drawingml/2006/main" prst="rect">
            <a:avLst/>
          </a:prstGeom>
        </p:spPr>
      </p:pic>
      <p:sp>
        <p:nvSpPr>
          <p:cNvPr id="12" name="promotion-image-rule"/>
          <p:cNvSpPr/>
          <p:nvPr/>
        </p:nvSpPr>
        <p:spPr>
          <a:xfrm xmlns:a="http://schemas.openxmlformats.org/drawingml/2006/main">
            <a:off x="9525000" y="59055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promotion-image-label"/>
          <p:cNvSpPr txBox="1"/>
          <p:nvPr/>
        </p:nvSpPr>
        <p:spPr>
          <a:xfrm xmlns:a="http://schemas.openxmlformats.org/drawingml/2006/main">
            <a:off x="9525000" y="6153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E4B91E"/>
                </a:solidFill>
                <a:latin typeface="Arial"/>
                <a:ea typeface="Arial"/>
              </a:rPr>
              <a:t>INVITE · PROVE · MOVE</a:t>
            </a:r>
            <a:endParaRPr lang="en-US"/>
          </a:p>
        </p:txBody>
      </p:sp>
      <p:sp>
        <p:nvSpPr>
          <p:cNvPr id="14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15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/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AFFRON EDITORIAL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11111"/>
                </a:solidFill>
                <a:latin typeface="Arial"/>
                <a:ea typeface="Arial"/>
              </a:rPr>
              <a:t>The signal grows when the invitation stays measurable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Illustrative reach and response · source and measurement convention remain attached.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c910f592253444f"/>
          </a:graphicData>
        </a:graphic>
      </p:graphicFrame>
      <p:sp>
        <p:nvSpPr>
          <p:cNvPr id="9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E4B91E"/>
                </a:solidFill>
                <a:latin typeface="Arial"/>
                <a:ea typeface="Arial"/>
              </a:rPr>
              <a:t>68</a:t>
            </a:r>
            <a:endParaRPr lang="en-US"/>
          </a:p>
        </p:txBody>
      </p:sp>
      <p:sp>
        <p:nvSpPr>
          <p:cNvPr id="10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qualified response · campaign close</a:t>
            </a:r>
            <a:endParaRPr lang="en-US"/>
          </a:p>
        </p:txBody>
      </p:sp>
      <p:sp>
        <p:nvSpPr>
          <p:cNvPr id="11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11111"/>
                </a:solidFill>
                <a:latin typeface="Arial"/>
                <a:ea typeface="Arial"/>
              </a:rPr>
              <a:t>Reach is useful only when the audience can see and take the next step.</a:t>
            </a:r>
            <a:endParaRPr lang="en-US"/>
          </a:p>
        </p:txBody>
      </p:sp>
      <p:sp>
        <p:nvSpPr>
          <p:cNvPr id="1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11111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/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AFFRON EDITORIAL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11111"/>
                </a:solidFill>
                <a:latin typeface="Arial"/>
                <a:ea typeface="Arial"/>
              </a:rPr>
              <a:t>The same idea can hold several views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Unequal image frames · visual variety without decorative filler.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8" name="image-evidence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6f80b7c05bd357c7_1"/>
          <a:srcRect xmlns:a="http://schemas.openxmlformats.org/drawingml/2006/main" l="13438" t="0" r="13438" b="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90600" y="3162300"/>
            <a:ext cx="3714750" cy="2857500"/>
          </a:xfrm>
          <a:prstGeom xmlns:a="http://schemas.openxmlformats.org/drawingml/2006/main" prst="rect">
            <a:avLst/>
          </a:prstGeom>
        </p:spPr>
      </p:pic>
      <p:pic>
        <p:nvPicPr>
          <p:cNvPr id="9" name="image-evidence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6f80b7c05bd357c7_1"/>
          <a:srcRect xmlns:a="http://schemas.openxmlformats.org/drawingml/2006/main" l="0" t="18091" r="0" b="1809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3162300"/>
            <a:ext cx="3714750" cy="1333500"/>
          </a:xfrm>
          <a:prstGeom xmlns:a="http://schemas.openxmlformats.org/drawingml/2006/main" prst="rect">
            <a:avLst/>
          </a:prstGeom>
        </p:spPr>
      </p:pic>
      <p:pic>
        <p:nvPicPr>
          <p:cNvPr id="10" name="image-evidence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6f80b7c05bd357c7_1"/>
          <a:srcRect xmlns:a="http://schemas.openxmlformats.org/drawingml/2006/main" l="0" t="18091" r="0" b="1809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4686300"/>
            <a:ext cx="3714750" cy="1333500"/>
          </a:xfrm>
          <a:prstGeom xmlns:a="http://schemas.openxmlformats.org/drawingml/2006/main" prst="rect">
            <a:avLst/>
          </a:prstGeom>
        </p:spPr>
      </p:pic>
      <p:sp>
        <p:nvSpPr>
          <p:cNvPr id="11" name="image-matrix-label"/>
          <p:cNvSpPr txBox="1"/>
          <p:nvPr/>
        </p:nvSpPr>
        <p:spPr>
          <a:xfrm xmlns:a="http://schemas.openxmlformats.org/drawingml/2006/main">
            <a:off x="9620250" y="3314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4B91E"/>
                </a:solidFill>
                <a:latin typeface="Arial"/>
                <a:ea typeface="Arial"/>
              </a:rPr>
              <a:t>IMAGE MATRIX</a:t>
            </a:r>
            <a:endParaRPr lang="en-US"/>
          </a:p>
        </p:txBody>
      </p:sp>
      <p:sp>
        <p:nvSpPr>
          <p:cNvPr id="12" name="image-matrix-title"/>
          <p:cNvSpPr txBox="1"/>
          <p:nvPr/>
        </p:nvSpPr>
        <p:spPr>
          <a:xfrm xmlns:a="http://schemas.openxmlformats.org/drawingml/2006/main">
            <a:off x="9620250" y="3790950"/>
            <a:ext cx="3714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11111"/>
                </a:solidFill>
                <a:latin typeface="Arial"/>
                <a:ea typeface="Arial"/>
              </a:rPr>
              <a:t>One subject, three ways to notice it.</a:t>
            </a:r>
            <a:endParaRPr lang="en-US"/>
          </a:p>
        </p:txBody>
      </p:sp>
      <p:sp>
        <p:nvSpPr>
          <p:cNvPr id="13" name="image-matrix-body"/>
          <p:cNvSpPr txBox="1"/>
          <p:nvPr/>
        </p:nvSpPr>
        <p:spPr>
          <a:xfrm xmlns:a="http://schemas.openxmlformats.org/drawingml/2006/main">
            <a:off x="9620250" y="4953000"/>
            <a:ext cx="3524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77726B"/>
                </a:solidFill>
                <a:latin typeface="Arial"/>
                <a:ea typeface="Arial"/>
              </a:rPr>
              <a:t>Use unequal frames to show facets of one idea. The crop carries the mood; the label carries the claim.</a:t>
            </a:r>
            <a:endParaRPr lang="en-US"/>
          </a:p>
        </p:txBody>
      </p:sp>
      <p:sp>
        <p:nvSpPr>
          <p:cNvPr id="1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1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/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AFFRON EDITORIAL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11111"/>
                </a:solidFill>
                <a:latin typeface="Arial"/>
                <a:ea typeface="Arial"/>
              </a:rPr>
              <a:t>Let the subject do the work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A strong crop gives the proposition a place to live.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visual-field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14400" y="3028950"/>
          <a:ext xmlns:a="http://schemas.openxmlformats.org/drawingml/2006/main" cx="7429500" cy="36957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e4a7d7e65cb4645"/>
          </a:graphicData>
        </a:graphic>
      </p:graphicFrame>
      <p:sp>
        <p:nvSpPr>
          <p:cNvPr id="9" name="visual-note"/>
          <p:cNvSpPr/>
          <p:nvPr/>
        </p:nvSpPr>
        <p:spPr>
          <a:xfrm xmlns:a="http://schemas.openxmlformats.org/drawingml/2006/main">
            <a:off x="8858250" y="3333750"/>
            <a:ext cx="4762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visual-note-label"/>
          <p:cNvSpPr txBox="1"/>
          <p:nvPr/>
        </p:nvSpPr>
        <p:spPr>
          <a:xfrm xmlns:a="http://schemas.openxmlformats.org/drawingml/2006/main">
            <a:off x="9239250" y="3695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4B91E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11" name="visual-note-text"/>
          <p:cNvSpPr txBox="1"/>
          <p:nvPr/>
        </p:nvSpPr>
        <p:spPr>
          <a:xfrm xmlns:a="http://schemas.openxmlformats.org/drawingml/2006/main">
            <a:off x="9239250" y="4171950"/>
            <a:ext cx="4000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11111"/>
                </a:solidFill>
                <a:latin typeface="Arial"/>
                <a:ea typeface="Arial"/>
              </a:rPr>
              <a:t>Subject before slogan</a:t>
            </a:r>
            <a:endParaRPr lang="en-US"/>
          </a:p>
        </p:txBody>
      </p:sp>
      <p:sp>
        <p:nvSpPr>
          <p:cNvPr id="12" name="visual-note-foot"/>
          <p:cNvSpPr txBox="1"/>
          <p:nvPr/>
        </p:nvSpPr>
        <p:spPr>
          <a:xfrm xmlns:a="http://schemas.openxmlformats.org/drawingml/2006/main">
            <a:off x="9239250" y="52197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7726B"/>
                </a:solidFill>
                <a:latin typeface="Arial"/>
                <a:ea typeface="Arial"/>
              </a:rPr>
              <a:t>Crop, contrast and source role are reviewed before delivery.</a:t>
            </a:r>
            <a:endParaRPr lang="en-US"/>
          </a:p>
        </p:txBody>
      </p:sp>
      <p:sp>
        <p:nvSpPr>
          <p:cNvPr id="1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/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AFFRON EDITORIAL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11111"/>
                </a:solidFill>
                <a:latin typeface="Arial"/>
                <a:ea typeface="Arial"/>
              </a:rPr>
              <a:t>Turn the shared invitation into an action plan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E4B91E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11111"/>
                </a:solidFill>
                <a:latin typeface="Arial"/>
                <a:ea typeface="Arial"/>
              </a:rPr>
              <a:t>Promise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11111"/>
                </a:solidFill>
                <a:latin typeface="Arial"/>
                <a:ea typeface="Arial"/>
              </a:rPr>
              <a:t>The proposition is legible.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11111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11111"/>
                </a:solidFill>
                <a:latin typeface="Arial"/>
                <a:ea typeface="Arial"/>
              </a:rPr>
              <a:t>Proof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11111"/>
                </a:solidFill>
                <a:latin typeface="Arial"/>
                <a:ea typeface="Arial"/>
              </a:rPr>
              <a:t>The response is measurable.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E4B91E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11111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11111"/>
                </a:solidFill>
                <a:latin typeface="Arial"/>
                <a:ea typeface="Arial"/>
              </a:rPr>
              <a:t>Give the audience one action.</a:t>
            </a:r>
            <a:endParaRPr lang="en-US"/>
          </a:p>
        </p:txBody>
      </p:sp>
      <p:sp>
        <p:nvSpPr>
          <p:cNvPr id="20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4B91E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11111"/>
                </a:solidFill>
                <a:latin typeface="Arial"/>
                <a:ea typeface="Arial"/>
              </a:rPr>
              <a:t>Publish the invitation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7726B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