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jpg" ContentType="image/jpeg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Masters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c802a8ef0bae4f8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IdMaster1"/>
  </p:sldMasterIdLst>
  <p:sldIdLst>
    <p:sldId xmlns:r="http://schemas.openxmlformats.org/officeDocument/2006/relationships" id="256" r:id="rIdSlide1"/>
    <p:sldId xmlns:r="http://schemas.openxmlformats.org/officeDocument/2006/relationships" id="257" r:id="rIdSlide2"/>
    <p:sldId xmlns:r="http://schemas.openxmlformats.org/officeDocument/2006/relationships" id="258" r:id="rIdSlide3"/>
    <p:sldId xmlns:r="http://schemas.openxmlformats.org/officeDocument/2006/relationships" id="259" r:id="rIdSlide4"/>
    <p:sldId xmlns:r="http://schemas.openxmlformats.org/officeDocument/2006/relationships" id="260" r:id="rIdSlide5"/>
    <p:sldId xmlns:r="http://schemas.openxmlformats.org/officeDocument/2006/relationships" id="261" r:id="rIdSlide6"/>
  </p:sldIdLst>
  <p:sldSz cx="15240000" cy="8572500"/>
  <p:notesSz cx="6858000" cy="9144000"/>
  <p:defaultTextStyle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Master1" /><Relationship Type="http://schemas.openxmlformats.org/officeDocument/2006/relationships/slide" Target="/ppt/slides/slide1.xml" Id="rIdSlide1" /><Relationship Type="http://schemas.openxmlformats.org/officeDocument/2006/relationships/slide" Target="/ppt/slides/slide2.xml" Id="rIdSlide2" /><Relationship Type="http://schemas.openxmlformats.org/officeDocument/2006/relationships/slide" Target="/ppt/slides/slide3.xml" Id="rIdSlide3" /><Relationship Type="http://schemas.openxmlformats.org/officeDocument/2006/relationships/slide" Target="/ppt/slides/slide4.xml" Id="rIdSlide4" /><Relationship Type="http://schemas.openxmlformats.org/officeDocument/2006/relationships/slide" Target="/ppt/slides/slide5.xml" Id="rIdSlide5" /><Relationship Type="http://schemas.openxmlformats.org/officeDocument/2006/relationships/slide" Target="/ppt/slides/slide6.xml" Id="rIdSlide6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Master1" /></Relationships>
</file>

<file path=ppt/slideLayouts/slideLayout1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</p:spTree>
  </p:cSld>
  <p:clrMapOvr>
    <a:masterClrMapping xmlns:a="http://schemas.openxmlformats.org/drawingml/2006/main"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1.xml" Id="rIdTheme1" /><Relationship Type="http://schemas.openxmlformats.org/officeDocument/2006/relationships/slideLayout" Target="/ppt/slideLayouts/slideLayout1.xml" Id="rIdLayout1" /></Relationships>
</file>

<file path=ppt/slideMasters/slideMaster1.xml><?xml version="1.0" encoding="utf-8"?>
<p:sldMaster xmlns:p="http://schemas.openxmlformats.org/presentationml/2006/main">
  <p:cSld name="Default Master">
    <p:bg>
      <p:bgPr>
        <a:solidFill xmlns:a="http://schemas.openxmlformats.org/drawingml/2006/main">
          <a:srgbClr val="FFFFFF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Layout1"/>
  </p:sldLayoutIdLst>
  <p:txStyles>
    <p:titleStyle/>
    <p:bodyStyle/>
    <p:otherStyle/>
  </p:txStyles>
</p:sldMaster>
</file>

<file path=ppt/slideMasters/theme/theme1.xml><?xml version="1.0" encoding="utf-8"?>
<a:theme xmlns:a="http://schemas.openxmlformats.org/drawingml/2006/main" name="Office Clean Room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1" /><Relationship Type="http://schemas.openxmlformats.org/officeDocument/2006/relationships/image" Target="/ppt/media/image.jpg" Id="rIdOfficeKitImagee930dcb9c6b95953_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1" /><Relationship Type="http://schemas.openxmlformats.org/officeDocument/2006/relationships/image" Target="/ppt/media/image2.jpg" Id="rIdOfficeKitImagee977612ad933c986_1" /><Relationship Type="http://schemas.openxmlformats.org/officeDocument/2006/relationships/image" Target="/ppt/media/image3.jpg" Id="rIdOfficeKitImage35d943dc999c7d05_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1" /><Relationship Type="http://schemas.openxmlformats.org/officeDocument/2006/relationships/image" Target="/ppt/media/image4.jpg" Id="rIdOfficeKitImagea68aebf613832e5f_1" /><Relationship Type="http://schemas.openxmlformats.org/officeDocument/2006/relationships/image" Target="/ppt/media/image5.jpg" Id="rIdOfficeKitImage84ff976f39aab728_1" /><Relationship Type="http://schemas.openxmlformats.org/officeDocument/2006/relationships/image" Target="/ppt/media/image6.jpg" Id="rIdOfficeKitImage3635f59fd49ef0e6_1" /><Relationship Type="http://schemas.openxmlformats.org/officeDocument/2006/relationships/image" Target="/ppt/media/image7.jpg" Id="rIdOfficeKitImage20fc6993425855c3_1" /><Relationship Type="http://schemas.openxmlformats.org/officeDocument/2006/relationships/image" Target="/ppt/media/image8.jpg" Id="rIdOfficeKitImagefdea69a11126d29b_1" /><Relationship Type="http://schemas.openxmlformats.org/officeDocument/2006/relationships/image" Target="/ppt/media/image9.jpg" Id="rIdOfficeKitImagef4419f659ab3f590_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1" /><Relationship Type="http://schemas.openxmlformats.org/officeDocument/2006/relationships/image" Target="/ppt/media/image10.jpg" Id="rIdOfficeKitImage6785cc6781fd2511_1" /><Relationship Type="http://schemas.openxmlformats.org/officeDocument/2006/relationships/image" Target="/ppt/media/image11.jpg" Id="rIdOfficeKitImagefff481b85b8743d2_1" /><Relationship Type="http://schemas.openxmlformats.org/officeDocument/2006/relationships/image" Target="/ppt/media/image12.jpg" Id="rIdOfficeKitImage06e55191024fa458_1" /><Relationship Type="http://schemas.openxmlformats.org/officeDocument/2006/relationships/image" Target="/ppt/media/image.jpg" Id="rIdOfficeKitImagee930dcb9c6b95953_1" /><Relationship Type="http://schemas.openxmlformats.org/officeDocument/2006/relationships/image" Target="/ppt/media/image2.jpg" Id="rIdOfficeKitImagee977612ad933c986_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1" /><Relationship Type="http://schemas.openxmlformats.org/officeDocument/2006/relationships/image" Target="/ppt/media/image3.jpg" Id="rIdOfficeKitImage35d943dc999c7d05_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1" /><Relationship Type="http://schemas.openxmlformats.org/officeDocument/2006/relationships/image" Target="/ppt/media/image4.jpg" Id="rIdOfficeKitImagea68aebf613832e5f_1" /></Relationships>
</file>

<file path=ppt/slides/slide1.xml><?xml version="1.0" encoding="utf-8"?>
<p:sld xmlns:p="http://schemas.openxmlformats.org/presentationml/2006/main">
  <p:cSld name="Opening claim">
    <p:bg>
      <p:bgPr>
        <a:blipFill xmlns:a="http://schemas.openxmlformats.org/drawingml/2006/main">
          <a:blip xmlns:r="http://schemas.openxmlformats.org/officeDocument/2006/relationships" r:embed="rIdOfficeKitImagee930dcb9c6b95953_1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editorial-cover-scrim"/>
          <p:cNvSpPr/>
          <p:nvPr/>
        </p:nvSpPr>
        <p:spPr>
          <a:xfrm xmlns:a="http://schemas.openxmlformats.org/drawingml/2006/main">
            <a:off x="0" y="0"/>
            <a:ext cx="7239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>
              <a:alpha val="84000"/>
            </a:srgbClr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3" name="eyebrow"/>
          <p:cNvSpPr txBox="1"/>
          <p:nvPr/>
        </p:nvSpPr>
        <p:spPr>
          <a:xfrm xmlns:a="http://schemas.openxmlformats.org/drawingml/2006/main">
            <a:off x="914400" y="800100"/>
            <a:ext cx="704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 b="1">
                <a:solidFill>
                  <a:srgbClr val="E4B91E"/>
                </a:solidFill>
                <a:latin typeface="Arial"/>
                <a:ea typeface="Arial"/>
              </a:rPr>
              <a:t>PROMOTION · OFFICEKIT CALIBRATION</a:t>
            </a:r>
            <a:endParaRPr lang="en-US"/>
          </a:p>
        </p:txBody>
      </p:sp>
      <p:sp>
        <p:nvSpPr>
          <p:cNvPr id="4" name="cover-title"/>
          <p:cNvSpPr txBox="1"/>
          <p:nvPr/>
        </p:nvSpPr>
        <p:spPr>
          <a:xfrm xmlns:a="http://schemas.openxmlformats.org/drawingml/2006/main">
            <a:off x="914400" y="1962150"/>
            <a:ext cx="5810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3900" b="1">
                <a:solidFill>
                  <a:srgbClr val="FFFFFF"/>
                </a:solidFill>
                <a:latin typeface="Arial"/>
                <a:ea typeface="Arial"/>
              </a:rPr>
              <a:t>Saffron Editorial: a claim worth testing</a:t>
            </a:r>
            <a:endParaRPr lang="en-US"/>
          </a:p>
        </p:txBody>
      </p:sp>
      <p:sp>
        <p:nvSpPr>
          <p:cNvPr id="5" name="cover-subtitle"/>
          <p:cNvSpPr txBox="1"/>
          <p:nvPr/>
        </p:nvSpPr>
        <p:spPr>
          <a:xfrm xmlns:a="http://schemas.openxmlformats.org/drawingml/2006/main">
            <a:off x="952500" y="363855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650">
                <a:solidFill>
                  <a:srgbClr val="F0F2F2"/>
                </a:solidFill>
                <a:latin typeface="Arial"/>
                <a:ea typeface="Arial"/>
              </a:rPr>
              <a:t>A clean-room reference for a visual proposition.</a:t>
            </a:r>
            <a:endParaRPr lang="en-US"/>
          </a:p>
        </p:txBody>
      </p:sp>
      <p:sp>
        <p:nvSpPr>
          <p:cNvPr id="6" name="cover-photo-rule"/>
          <p:cNvSpPr/>
          <p:nvPr/>
        </p:nvSpPr>
        <p:spPr>
          <a:xfrm xmlns:a="http://schemas.openxmlformats.org/drawingml/2006/main">
            <a:off x="914400" y="4533900"/>
            <a:ext cx="4895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4B91E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7" name="cover-thesis"/>
          <p:cNvSpPr txBox="1"/>
          <p:nvPr/>
        </p:nvSpPr>
        <p:spPr>
          <a:xfrm xmlns:a="http://schemas.openxmlformats.org/drawingml/2006/main">
            <a:off x="952500" y="4895850"/>
            <a:ext cx="5715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950" b="1">
                <a:solidFill>
                  <a:srgbClr val="FFFFFF"/>
                </a:solidFill>
                <a:latin typeface="Arial"/>
                <a:ea typeface="Arial"/>
              </a:rPr>
              <a:t>A proposition earns attention when it gives a next move.</a:t>
            </a:r>
            <a:endParaRPr lang="en-US"/>
          </a:p>
        </p:txBody>
      </p:sp>
      <p:sp>
        <p:nvSpPr>
          <p:cNvPr id="8" name="cover-source"/>
          <p:cNvSpPr txBox="1"/>
          <p:nvPr/>
        </p:nvSpPr>
        <p:spPr>
          <a:xfrm xmlns:a="http://schemas.openxmlformats.org/drawingml/2006/main">
            <a:off x="952500" y="7334250"/>
            <a:ext cx="904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>
                <a:solidFill>
                  <a:srgbClr val="F0F2F2"/>
                </a:solidFill>
                <a:latin typeface="Arial"/>
                <a:ea typeface="Arial"/>
              </a:rPr>
              <a:t>OfficeKit original clean-room calibration · fictional content · 2026-08-29</a:t>
            </a:r>
            <a:endParaRPr lang="en-US"/>
          </a:p>
        </p:txBody>
      </p:sp>
      <p:sp>
        <p:nvSpPr>
          <p:cNvPr id="9" name="page-number"/>
          <p:cNvSpPr txBox="1"/>
          <p:nvPr/>
        </p:nvSpPr>
        <p:spPr>
          <a:xfrm xmlns:a="http://schemas.openxmlformats.org/drawingml/2006/main">
            <a:off x="13335000" y="78105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/>
            <a:r>
              <a:rPr lang="en-US" sz="1050">
                <a:solidFill>
                  <a:srgbClr val="F0F2F2"/>
                </a:solidFill>
                <a:latin typeface="Arial"/>
                <a:ea typeface="Arial"/>
              </a:rPr>
              <a:t>1 / 6</a:t>
            </a:r>
            <a:endParaRPr lang="en-US"/>
          </a:p>
        </p:txBody>
      </p:sp>
    </p:spTree>
  </p:cSld>
  <p:clrMapOvr>
    <a:masterClrMapping xmlns:a="http://schemas.openxmlformats.org/drawingml/2006/main"/>
  </p:clrMapOvr>
</p:sld>
</file>

<file path=ppt/slides/slide2.xml><?xml version="1.0" encoding="utf-8"?>
<p:sld xmlns:p="http://schemas.openxmlformats.org/presentationml/2006/main">
  <p:cSld name="Argument">
    <p:bg>
      <p:bgPr>
        <a:blipFill xmlns:a="http://schemas.openxmlformats.org/drawingml/2006/main">
          <a:blip xmlns:r="http://schemas.openxmlformats.org/officeDocument/2006/relationships" r:embed="rIdOfficeKitImagee977612ad933c986_1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argument-paper-scrim"/>
          <p:cNvSpPr/>
          <p:nvPr/>
        </p:nvSpPr>
        <p:spPr>
          <a:xfrm xmlns:a="http://schemas.openxmlformats.org/drawingml/2006/main">
            <a:off x="0" y="0"/>
            <a:ext cx="74295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6DF">
              <a:alpha val="96000"/>
            </a:srgbClr>
          </a:solidFill>
          <a:ln xmlns:a="http://schemas.openxmlformats.org/drawingml/2006/main" w="0">
            <a:solidFill>
              <a:srgbClr val="E9E6D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3" name="argument-top-rule"/>
          <p:cNvSpPr/>
          <p:nvPr/>
        </p:nvSpPr>
        <p:spPr>
          <a:xfrm xmlns:a="http://schemas.openxmlformats.org/drawingml/2006/main">
            <a:off x="838200" y="666750"/>
            <a:ext cx="1356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4B91E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4" name="SAFFRON EDITORIAL · ARGUMENT"/>
          <p:cNvSpPr txBox="1"/>
          <p:nvPr/>
        </p:nvSpPr>
        <p:spPr>
          <a:xfrm xmlns:a="http://schemas.openxmlformats.org/drawingml/2006/main">
            <a:off x="914400" y="8953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E4B91E"/>
                </a:solidFill>
                <a:latin typeface="Arial"/>
                <a:ea typeface="Arial"/>
              </a:rPr>
              <a:t>SAFFRON EDITORIAL · ARGUMENT</a:t>
            </a:r>
            <a:endParaRPr lang="en-US"/>
          </a:p>
        </p:txBody>
      </p:sp>
      <p:sp>
        <p:nvSpPr>
          <p:cNvPr id="5" name="argument-title"/>
          <p:cNvSpPr txBox="1"/>
          <p:nvPr/>
        </p:nvSpPr>
        <p:spPr>
          <a:xfrm xmlns:a="http://schemas.openxmlformats.org/drawingml/2006/main">
            <a:off x="914400" y="1314450"/>
            <a:ext cx="6286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550" b="1">
                <a:solidFill>
                  <a:srgbClr val="111111"/>
                </a:solidFill>
                <a:latin typeface="Arial"/>
                <a:ea typeface="Arial"/>
              </a:rPr>
              <a:t>The proposition is the page's visual</a:t>
            </a:r>
            <a:endParaRPr lang="en-US"/>
          </a:p>
          <a:p xmlns:a="http://schemas.openxmlformats.org/drawingml/2006/main">
            <a:r>
              <a:rPr lang="en-US" sz="2550" b="1">
                <a:solidFill>
                  <a:srgbClr val="111111"/>
                </a:solidFill>
                <a:latin typeface="Arial"/>
                <a:ea typeface="Arial"/>
              </a:rPr>
              <a:t>center</a:t>
            </a:r>
            <a:endParaRPr lang="en-US"/>
          </a:p>
        </p:txBody>
      </p:sp>
      <p:sp>
        <p:nvSpPr>
          <p:cNvPr id="6" name="argument-basis"/>
          <p:cNvSpPr txBox="1"/>
          <p:nvPr/>
        </p:nvSpPr>
        <p:spPr>
          <a:xfrm xmlns:a="http://schemas.openxmlformats.org/drawingml/2006/main">
            <a:off x="952500" y="21907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77726B"/>
                </a:solidFill>
                <a:latin typeface="Arial"/>
                <a:ea typeface="Arial"/>
              </a:rPr>
              <a:t>Scale, crop, and color invite attention without hiding the evidence.</a:t>
            </a:r>
            <a:endParaRPr lang="en-US"/>
          </a:p>
        </p:txBody>
      </p:sp>
      <p:sp>
        <p:nvSpPr>
          <p:cNvPr id="7" name="argument-rule"/>
          <p:cNvSpPr/>
          <p:nvPr/>
        </p:nvSpPr>
        <p:spPr>
          <a:xfrm xmlns:a="http://schemas.openxmlformats.org/drawingml/2006/main">
            <a:off x="914400" y="2457450"/>
            <a:ext cx="1341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77726B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8" name="promotion-kicker"/>
          <p:cNvSpPr txBox="1"/>
          <p:nvPr/>
        </p:nvSpPr>
        <p:spPr>
          <a:xfrm xmlns:a="http://schemas.openxmlformats.org/drawingml/2006/main">
            <a:off x="1104900" y="33528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 b="1">
                <a:solidFill>
                  <a:srgbClr val="E4B91E"/>
                </a:solidFill>
                <a:latin typeface="Arial"/>
                <a:ea typeface="Arial"/>
              </a:rPr>
              <a:t>ONE PROPOSITION</a:t>
            </a:r>
            <a:endParaRPr lang="en-US"/>
          </a:p>
        </p:txBody>
      </p:sp>
      <p:sp>
        <p:nvSpPr>
          <p:cNvPr id="9" name="promotion-headline"/>
          <p:cNvSpPr txBox="1"/>
          <p:nvPr/>
        </p:nvSpPr>
        <p:spPr>
          <a:xfrm xmlns:a="http://schemas.openxmlformats.org/drawingml/2006/main">
            <a:off x="1104900" y="3790950"/>
            <a:ext cx="6477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625" b="1">
                <a:solidFill>
                  <a:srgbClr val="111111"/>
                </a:solidFill>
                <a:latin typeface="Arial"/>
                <a:ea typeface="Arial"/>
              </a:rPr>
              <a:t>Make the next action visible.</a:t>
            </a:r>
            <a:endParaRPr lang="en-US"/>
          </a:p>
        </p:txBody>
      </p:sp>
      <p:sp>
        <p:nvSpPr>
          <p:cNvPr id="10" name="promotion-body"/>
          <p:cNvSpPr txBox="1"/>
          <p:nvPr/>
        </p:nvSpPr>
        <p:spPr>
          <a:xfrm xmlns:a="http://schemas.openxmlformats.org/drawingml/2006/main">
            <a:off x="1104900" y="4762500"/>
            <a:ext cx="619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575">
                <a:solidFill>
                  <a:srgbClr val="111111"/>
                </a:solidFill>
                <a:latin typeface="Arial"/>
                <a:ea typeface="Arial"/>
              </a:rPr>
              <a:t>A clear invitation earns attention when evidence and access arrive together.</a:t>
            </a:r>
            <a:endParaRPr lang="en-US"/>
          </a:p>
        </p:txBody>
      </p:sp>
      <p:pic>
        <p:nvPicPr>
          <p:cNvPr id="11" name="promotion-hero-frame">
            <a:extLst xmlns:a="http://schemas.openxmlformats.org/drawingml/2006/main"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xmlns:r="http://schemas.openxmlformats.org/officeDocument/2006/relationships" xmlns:a="http://schemas.openxmlformats.org/drawingml/2006/main" r:embed="rIdOfficeKitImage35d943dc999c7d05_1"/>
          <a:srcRect xmlns:a="http://schemas.openxmlformats.org/drawingml/2006/main" l="0" t="31920" r="0" b="31920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9525000" y="3143250"/>
            <a:ext cx="4000500" cy="2571750"/>
          </a:xfrm>
          <a:prstGeom xmlns:a="http://schemas.openxmlformats.org/drawingml/2006/main" prst="rect">
            <a:avLst/>
          </a:prstGeom>
        </p:spPr>
      </p:pic>
      <p:sp>
        <p:nvSpPr>
          <p:cNvPr id="12" name="promotion-image-rule"/>
          <p:cNvSpPr/>
          <p:nvPr/>
        </p:nvSpPr>
        <p:spPr>
          <a:xfrm xmlns:a="http://schemas.openxmlformats.org/drawingml/2006/main">
            <a:off x="9525000" y="5905500"/>
            <a:ext cx="400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4B91E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3" name="promotion-image-label"/>
          <p:cNvSpPr txBox="1"/>
          <p:nvPr/>
        </p:nvSpPr>
        <p:spPr>
          <a:xfrm xmlns:a="http://schemas.openxmlformats.org/drawingml/2006/main">
            <a:off x="9525000" y="61531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75" b="1">
                <a:solidFill>
                  <a:srgbClr val="E4B91E"/>
                </a:solidFill>
                <a:latin typeface="Arial"/>
                <a:ea typeface="Arial"/>
              </a:rPr>
              <a:t>INVITE · PROVE · MOVE</a:t>
            </a:r>
            <a:endParaRPr lang="en-US"/>
          </a:p>
        </p:txBody>
      </p:sp>
      <p:sp>
        <p:nvSpPr>
          <p:cNvPr id="14" name="source"/>
          <p:cNvSpPr txBox="1"/>
          <p:nvPr/>
        </p:nvSpPr>
        <p:spPr>
          <a:xfrm xmlns:a="http://schemas.openxmlformats.org/drawingml/2006/main">
            <a:off x="914400" y="7810500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>
                <a:solidFill>
                  <a:srgbClr val="77726B"/>
                </a:solidFill>
                <a:latin typeface="Arial"/>
                <a:ea typeface="Arial"/>
              </a:rPr>
              <a:t>Source: illustrative calibration brief · every claim is fictional and bounded</a:t>
            </a:r>
            <a:endParaRPr lang="en-US"/>
          </a:p>
        </p:txBody>
      </p:sp>
      <p:sp>
        <p:nvSpPr>
          <p:cNvPr id="15" name="page-number"/>
          <p:cNvSpPr txBox="1"/>
          <p:nvPr/>
        </p:nvSpPr>
        <p:spPr>
          <a:xfrm xmlns:a="http://schemas.openxmlformats.org/drawingml/2006/main">
            <a:off x="13335000" y="78105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/>
            <a:r>
              <a:rPr lang="en-US" sz="1050">
                <a:solidFill>
                  <a:srgbClr val="77726B"/>
                </a:solidFill>
                <a:latin typeface="Arial"/>
                <a:ea typeface="Arial"/>
              </a:rPr>
              <a:t>2 / 6</a:t>
            </a:r>
            <a:endParaRPr lang="en-US"/>
          </a:p>
        </p:txBody>
      </p:sp>
    </p:spTree>
  </p:cSld>
  <p:clrMapOvr>
    <a:masterClrMapping xmlns:a="http://schemas.openxmlformats.org/drawingml/2006/main"/>
  </p:clrMapOvr>
</p:sld>
</file>

<file path=ppt/slides/slide3.xml><?xml version="1.0" encoding="utf-8"?>
<p:sld xmlns:p="http://schemas.openxmlformats.org/presentationml/2006/main">
  <p:cSld name="Evidence">
    <p:bg>
      <p:bgPr>
        <a:blipFill xmlns:a="http://schemas.openxmlformats.org/drawingml/2006/main">
          <a:blip xmlns:r="http://schemas.openxmlformats.org/officeDocument/2006/relationships" r:embed="rIdOfficeKitImagea68aebf613832e5f_1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evidence-paper-scrim"/>
          <p:cNvSpPr/>
          <p:nvPr/>
        </p:nvSpPr>
        <p:spPr>
          <a:xfrm xmlns:a="http://schemas.openxmlformats.org/drawingml/2006/main">
            <a:off x="0" y="0"/>
            <a:ext cx="74295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6DF">
              <a:alpha val="96000"/>
            </a:srgbClr>
          </a:solidFill>
          <a:ln xmlns:a="http://schemas.openxmlformats.org/drawingml/2006/main" w="0">
            <a:solidFill>
              <a:srgbClr val="E9E6D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3" name="evidence-top-rule"/>
          <p:cNvSpPr/>
          <p:nvPr/>
        </p:nvSpPr>
        <p:spPr>
          <a:xfrm xmlns:a="http://schemas.openxmlformats.org/drawingml/2006/main">
            <a:off x="838200" y="666750"/>
            <a:ext cx="1356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4B91E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4" name="SAFFRON EDITORIAL · EVIDENCE"/>
          <p:cNvSpPr txBox="1"/>
          <p:nvPr/>
        </p:nvSpPr>
        <p:spPr>
          <a:xfrm xmlns:a="http://schemas.openxmlformats.org/drawingml/2006/main">
            <a:off x="914400" y="8953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E4B91E"/>
                </a:solidFill>
                <a:latin typeface="Arial"/>
                <a:ea typeface="Arial"/>
              </a:rPr>
              <a:t>SAFFRON EDITORIAL · EVIDENCE</a:t>
            </a:r>
            <a:endParaRPr lang="en-US"/>
          </a:p>
        </p:txBody>
      </p:sp>
      <p:sp>
        <p:nvSpPr>
          <p:cNvPr id="5" name="evidence-title"/>
          <p:cNvSpPr txBox="1"/>
          <p:nvPr/>
        </p:nvSpPr>
        <p:spPr>
          <a:xfrm xmlns:a="http://schemas.openxmlformats.org/drawingml/2006/main">
            <a:off x="914400" y="1314450"/>
            <a:ext cx="6286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550" b="1">
                <a:solidFill>
                  <a:srgbClr val="111111"/>
                </a:solidFill>
                <a:latin typeface="Arial"/>
                <a:ea typeface="Arial"/>
              </a:rPr>
              <a:t>The signal grows when the invitation</a:t>
            </a:r>
            <a:endParaRPr lang="en-US"/>
          </a:p>
          <a:p xmlns:a="http://schemas.openxmlformats.org/drawingml/2006/main">
            <a:r>
              <a:rPr lang="en-US" sz="2550" b="1">
                <a:solidFill>
                  <a:srgbClr val="111111"/>
                </a:solidFill>
                <a:latin typeface="Arial"/>
                <a:ea typeface="Arial"/>
              </a:rPr>
              <a:t>stays measurable</a:t>
            </a:r>
            <a:endParaRPr lang="en-US"/>
          </a:p>
        </p:txBody>
      </p:sp>
      <p:sp>
        <p:nvSpPr>
          <p:cNvPr id="6" name="evidence-basis"/>
          <p:cNvSpPr txBox="1"/>
          <p:nvPr/>
        </p:nvSpPr>
        <p:spPr>
          <a:xfrm xmlns:a="http://schemas.openxmlformats.org/drawingml/2006/main">
            <a:off x="952500" y="21907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77726B"/>
                </a:solidFill>
                <a:latin typeface="Arial"/>
                <a:ea typeface="Arial"/>
              </a:rPr>
              <a:t>Illustrative reach and response · source and measurement convention remain attached.</a:t>
            </a:r>
            <a:endParaRPr lang="en-US"/>
          </a:p>
        </p:txBody>
      </p:sp>
      <p:sp>
        <p:nvSpPr>
          <p:cNvPr id="7" name="evidence-rule"/>
          <p:cNvSpPr/>
          <p:nvPr/>
        </p:nvSpPr>
        <p:spPr>
          <a:xfrm xmlns:a="http://schemas.openxmlformats.org/drawingml/2006/main">
            <a:off x="914400" y="2457450"/>
            <a:ext cx="1341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77726B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pic>
        <p:nvPicPr>
          <p:cNvPr id="8" name="evidence-matrix-0">
            <a:extLst xmlns:a="http://schemas.openxmlformats.org/drawingml/2006/main"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xmlns:r="http://schemas.openxmlformats.org/officeDocument/2006/relationships" xmlns:a="http://schemas.openxmlformats.org/drawingml/2006/main" r:embed="rIdOfficeKitImage84ff976f39aab728_1"/>
          <a:srcRect xmlns:a="http://schemas.openxmlformats.org/drawingml/2006/main" l="0" t="30757" r="0" b="30757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1066800" y="3333750"/>
            <a:ext cx="3619500" cy="2476500"/>
          </a:xfrm>
          <a:prstGeom xmlns:a="http://schemas.openxmlformats.org/drawingml/2006/main" prst="rect">
            <a:avLst/>
          </a:prstGeom>
        </p:spPr>
      </p:pic>
      <p:pic>
        <p:nvPicPr>
          <p:cNvPr id="9" name="evidence-matrix-1">
            <a:extLst xmlns:a="http://schemas.openxmlformats.org/drawingml/2006/main"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xmlns:r="http://schemas.openxmlformats.org/officeDocument/2006/relationships" xmlns:a="http://schemas.openxmlformats.org/drawingml/2006/main" r:embed="rIdOfficeKitImage3635f59fd49ef0e6_1"/>
          <a:srcRect xmlns:a="http://schemas.openxmlformats.org/drawingml/2006/main" l="0" t="31927" r="0" b="31927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4895850" y="3333750"/>
            <a:ext cx="1809750" cy="1162050"/>
          </a:xfrm>
          <a:prstGeom xmlns:a="http://schemas.openxmlformats.org/drawingml/2006/main" prst="rect">
            <a:avLst/>
          </a:prstGeom>
        </p:spPr>
      </p:pic>
      <p:pic>
        <p:nvPicPr>
          <p:cNvPr id="10" name="evidence-matrix-2">
            <a:extLst xmlns:a="http://schemas.openxmlformats.org/drawingml/2006/main"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xmlns:r="http://schemas.openxmlformats.org/officeDocument/2006/relationships" xmlns:a="http://schemas.openxmlformats.org/drawingml/2006/main" r:embed="rIdOfficeKitImage20fc6993425855c3_1"/>
          <a:srcRect xmlns:a="http://schemas.openxmlformats.org/drawingml/2006/main" l="0" t="31927" r="0" b="31927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877050" y="3333750"/>
            <a:ext cx="1809750" cy="1162050"/>
          </a:xfrm>
          <a:prstGeom xmlns:a="http://schemas.openxmlformats.org/drawingml/2006/main" prst="rect">
            <a:avLst/>
          </a:prstGeom>
        </p:spPr>
      </p:pic>
      <p:pic>
        <p:nvPicPr>
          <p:cNvPr id="11" name="evidence-matrix-3">
            <a:extLst xmlns:a="http://schemas.openxmlformats.org/drawingml/2006/main"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xmlns:r="http://schemas.openxmlformats.org/officeDocument/2006/relationships" xmlns:a="http://schemas.openxmlformats.org/drawingml/2006/main" r:embed="rIdOfficeKitImagefdea69a11126d29b_1"/>
          <a:srcRect xmlns:a="http://schemas.openxmlformats.org/drawingml/2006/main" l="0" t="31927" r="0" b="31927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4895850" y="4648200"/>
            <a:ext cx="1809750" cy="1162050"/>
          </a:xfrm>
          <a:prstGeom xmlns:a="http://schemas.openxmlformats.org/drawingml/2006/main" prst="rect">
            <a:avLst/>
          </a:prstGeom>
        </p:spPr>
      </p:pic>
      <p:pic>
        <p:nvPicPr>
          <p:cNvPr id="12" name="evidence-matrix-4">
            <a:extLst xmlns:a="http://schemas.openxmlformats.org/drawingml/2006/main"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xmlns:r="http://schemas.openxmlformats.org/officeDocument/2006/relationships" xmlns:a="http://schemas.openxmlformats.org/drawingml/2006/main" r:embed="rIdOfficeKitImagef4419f659ab3f590_1"/>
          <a:srcRect xmlns:a="http://schemas.openxmlformats.org/drawingml/2006/main" l="0" t="31927" r="0" b="31927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877050" y="4648200"/>
            <a:ext cx="1809750" cy="1162050"/>
          </a:xfrm>
          <a:prstGeom xmlns:a="http://schemas.openxmlformats.org/drawingml/2006/main" prst="rect">
            <a:avLst/>
          </a:prstGeom>
        </p:spPr>
      </p:pic>
      <p:sp>
        <p:nvSpPr>
          <p:cNvPr id="13" name="matrix-label"/>
          <p:cNvSpPr txBox="1"/>
          <p:nvPr/>
        </p:nvSpPr>
        <p:spPr>
          <a:xfrm xmlns:a="http://schemas.openxmlformats.org/drawingml/2006/main">
            <a:off x="9620250" y="34290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 b="1">
                <a:solidFill>
                  <a:srgbClr val="E4B91E"/>
                </a:solidFill>
                <a:latin typeface="Arial"/>
                <a:ea typeface="Arial"/>
              </a:rPr>
              <a:t>IMAGE EVIDENCE</a:t>
            </a:r>
            <a:endParaRPr lang="en-US"/>
          </a:p>
        </p:txBody>
      </p:sp>
      <p:sp>
        <p:nvSpPr>
          <p:cNvPr id="14" name="matrix-title"/>
          <p:cNvSpPr txBox="1"/>
          <p:nvPr/>
        </p:nvSpPr>
        <p:spPr>
          <a:xfrm xmlns:a="http://schemas.openxmlformats.org/drawingml/2006/main">
            <a:off x="9620250" y="3943350"/>
            <a:ext cx="3619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025" b="1">
                <a:solidFill>
                  <a:srgbClr val="111111"/>
                </a:solidFill>
                <a:latin typeface="Arial"/>
                <a:ea typeface="Arial"/>
              </a:rPr>
              <a:t>The same subject can carry several proofs.</a:t>
            </a:r>
            <a:endParaRPr lang="en-US"/>
          </a:p>
        </p:txBody>
      </p:sp>
      <p:sp>
        <p:nvSpPr>
          <p:cNvPr id="15" name="matrix-body"/>
          <p:cNvSpPr txBox="1"/>
          <p:nvPr/>
        </p:nvSpPr>
        <p:spPr>
          <a:xfrm xmlns:a="http://schemas.openxmlformats.org/drawingml/2006/main">
            <a:off x="9620250" y="5048250"/>
            <a:ext cx="3619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75">
                <a:solidFill>
                  <a:srgbClr val="77726B"/>
                </a:solidFill>
                <a:latin typeface="Arial"/>
                <a:ea typeface="Arial"/>
              </a:rPr>
              <a:t>Use a dominant frame for context and smaller crops for comparable detail. Every image needs a role, source, and readable caption.</a:t>
            </a:r>
            <a:endParaRPr lang="en-US"/>
          </a:p>
        </p:txBody>
      </p:sp>
      <p:sp>
        <p:nvSpPr>
          <p:cNvPr id="16" name="evidence-band"/>
          <p:cNvSpPr/>
          <p:nvPr/>
        </p:nvSpPr>
        <p:spPr>
          <a:xfrm xmlns:a="http://schemas.openxmlformats.org/drawingml/2006/main">
            <a:off x="914400" y="6877050"/>
            <a:ext cx="13411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0">
            <a:solidFill>
              <a:srgbClr val="F3F5F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7" name="evidence-band-text"/>
          <p:cNvSpPr txBox="1"/>
          <p:nvPr/>
        </p:nvSpPr>
        <p:spPr>
          <a:xfrm xmlns:a="http://schemas.openxmlformats.org/drawingml/2006/main">
            <a:off x="1143000" y="7058025"/>
            <a:ext cx="1238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75" b="1">
                <a:solidFill>
                  <a:srgbClr val="111111"/>
                </a:solidFill>
                <a:latin typeface="Arial"/>
                <a:ea typeface="Arial"/>
              </a:rPr>
              <a:t>EVIDENCE  ·  Keep the unit, time window, and limitation adjacent to the number.</a:t>
            </a:r>
            <a:endParaRPr lang="en-US"/>
          </a:p>
        </p:txBody>
      </p:sp>
      <p:sp>
        <p:nvSpPr>
          <p:cNvPr id="18" name="source"/>
          <p:cNvSpPr txBox="1"/>
          <p:nvPr/>
        </p:nvSpPr>
        <p:spPr>
          <a:xfrm xmlns:a="http://schemas.openxmlformats.org/drawingml/2006/main">
            <a:off x="914400" y="7829550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>
                <a:solidFill>
                  <a:srgbClr val="77726B"/>
                </a:solidFill>
                <a:latin typeface="Arial"/>
                <a:ea typeface="Arial"/>
              </a:rPr>
              <a:t>Source: illustrative calibration brief · values are fictional</a:t>
            </a:r>
            <a:endParaRPr lang="en-US"/>
          </a:p>
        </p:txBody>
      </p:sp>
      <p:sp>
        <p:nvSpPr>
          <p:cNvPr id="19" name="page-number"/>
          <p:cNvSpPr txBox="1"/>
          <p:nvPr/>
        </p:nvSpPr>
        <p:spPr>
          <a:xfrm xmlns:a="http://schemas.openxmlformats.org/drawingml/2006/main">
            <a:off x="13335000" y="78295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/>
            <a:r>
              <a:rPr lang="en-US" sz="1050">
                <a:solidFill>
                  <a:srgbClr val="77726B"/>
                </a:solidFill>
                <a:latin typeface="Arial"/>
                <a:ea typeface="Arial"/>
              </a:rPr>
              <a:t>3 / 6</a:t>
            </a:r>
            <a:endParaRPr lang="en-US"/>
          </a:p>
        </p:txBody>
      </p:sp>
    </p:spTree>
  </p:cSld>
  <p:clrMapOvr>
    <a:masterClrMapping xmlns:a="http://schemas.openxmlformats.org/drawingml/2006/main"/>
  </p:clrMapOvr>
</p:sld>
</file>

<file path=ppt/slides/slide4.xml><?xml version="1.0" encoding="utf-8"?>
<p:sld xmlns:p="http://schemas.openxmlformats.org/presentationml/2006/main">
  <p:cSld name="Detail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6DF"/>
          </a:solidFill>
          <a:ln xmlns:a="http://schemas.openxmlformats.org/drawingml/2006/main" w="0">
            <a:solidFill>
              <a:srgbClr val="E9E6D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3" name="detail-top-rule"/>
          <p:cNvSpPr/>
          <p:nvPr/>
        </p:nvSpPr>
        <p:spPr>
          <a:xfrm xmlns:a="http://schemas.openxmlformats.org/drawingml/2006/main">
            <a:off x="838200" y="666750"/>
            <a:ext cx="1356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4B91E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4" name="SAFFRON EDITORIAL · DETAIL"/>
          <p:cNvSpPr txBox="1"/>
          <p:nvPr/>
        </p:nvSpPr>
        <p:spPr>
          <a:xfrm xmlns:a="http://schemas.openxmlformats.org/drawingml/2006/main">
            <a:off x="914400" y="8953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E4B91E"/>
                </a:solidFill>
                <a:latin typeface="Arial"/>
                <a:ea typeface="Arial"/>
              </a:rPr>
              <a:t>SAFFRON EDITORIAL · DETAIL</a:t>
            </a:r>
            <a:endParaRPr lang="en-US"/>
          </a:p>
        </p:txBody>
      </p:sp>
      <p:sp>
        <p:nvSpPr>
          <p:cNvPr id="5" name="detail-title"/>
          <p:cNvSpPr txBox="1"/>
          <p:nvPr/>
        </p:nvSpPr>
        <p:spPr>
          <a:xfrm xmlns:a="http://schemas.openxmlformats.org/drawingml/2006/main">
            <a:off x="914400" y="1314450"/>
            <a:ext cx="628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550" b="1">
                <a:solidFill>
                  <a:srgbClr val="111111"/>
                </a:solidFill>
                <a:latin typeface="Arial"/>
                <a:ea typeface="Arial"/>
              </a:rPr>
              <a:t>The same idea can hold several views</a:t>
            </a:r>
            <a:endParaRPr lang="en-US"/>
          </a:p>
        </p:txBody>
      </p:sp>
      <p:sp>
        <p:nvSpPr>
          <p:cNvPr id="6" name="detail-basis"/>
          <p:cNvSpPr txBox="1"/>
          <p:nvPr/>
        </p:nvSpPr>
        <p:spPr>
          <a:xfrm xmlns:a="http://schemas.openxmlformats.org/drawingml/2006/main">
            <a:off x="952500" y="198120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77726B"/>
                </a:solidFill>
                <a:latin typeface="Arial"/>
                <a:ea typeface="Arial"/>
              </a:rPr>
              <a:t>Unequal image frames · visual variety without decorative filler.</a:t>
            </a:r>
            <a:endParaRPr lang="en-US"/>
          </a:p>
        </p:txBody>
      </p:sp>
      <p:sp>
        <p:nvSpPr>
          <p:cNvPr id="7" name="detail-rule"/>
          <p:cNvSpPr/>
          <p:nvPr/>
        </p:nvSpPr>
        <p:spPr>
          <a:xfrm xmlns:a="http://schemas.openxmlformats.org/drawingml/2006/main">
            <a:off x="914400" y="2457450"/>
            <a:ext cx="1341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77726B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pic>
        <p:nvPicPr>
          <p:cNvPr id="8" name="image-evidence-0">
            <a:extLst xmlns:a="http://schemas.openxmlformats.org/drawingml/2006/main"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xmlns:r="http://schemas.openxmlformats.org/officeDocument/2006/relationships" xmlns:a="http://schemas.openxmlformats.org/drawingml/2006/main" r:embed="rIdOfficeKitImage6785cc6781fd2511_1"/>
          <a:srcRect xmlns:a="http://schemas.openxmlformats.org/drawingml/2006/main" l="0" t="31957" r="0" b="31957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990600" y="3162300"/>
            <a:ext cx="3714750" cy="2381250"/>
          </a:xfrm>
          <a:prstGeom xmlns:a="http://schemas.openxmlformats.org/drawingml/2006/main" prst="rect">
            <a:avLst/>
          </a:prstGeom>
        </p:spPr>
      </p:pic>
      <p:pic>
        <p:nvPicPr>
          <p:cNvPr id="9" name="image-evidence-1">
            <a:extLst xmlns:a="http://schemas.openxmlformats.org/drawingml/2006/main"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xmlns:r="http://schemas.openxmlformats.org/officeDocument/2006/relationships" xmlns:a="http://schemas.openxmlformats.org/drawingml/2006/main" r:embed="rIdOfficeKitImagefff481b85b8743d2_1"/>
          <a:srcRect xmlns:a="http://schemas.openxmlformats.org/drawingml/2006/main" l="0" t="32333" r="0" b="32333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4895850" y="3162300"/>
            <a:ext cx="1790700" cy="1123950"/>
          </a:xfrm>
          <a:prstGeom xmlns:a="http://schemas.openxmlformats.org/drawingml/2006/main" prst="rect">
            <a:avLst/>
          </a:prstGeom>
        </p:spPr>
      </p:pic>
      <p:pic>
        <p:nvPicPr>
          <p:cNvPr id="10" name="image-evidence-2">
            <a:extLst xmlns:a="http://schemas.openxmlformats.org/drawingml/2006/main"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xmlns:r="http://schemas.openxmlformats.org/officeDocument/2006/relationships" xmlns:a="http://schemas.openxmlformats.org/drawingml/2006/main" r:embed="rIdOfficeKitImage06e55191024fa458_1"/>
          <a:srcRect xmlns:a="http://schemas.openxmlformats.org/drawingml/2006/main" l="0" t="32347" r="0" b="32347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858000" y="3162300"/>
            <a:ext cx="1790700" cy="1123950"/>
          </a:xfrm>
          <a:prstGeom xmlns:a="http://schemas.openxmlformats.org/drawingml/2006/main" prst="rect">
            <a:avLst/>
          </a:prstGeom>
        </p:spPr>
      </p:pic>
      <p:pic>
        <p:nvPicPr>
          <p:cNvPr id="11" name="image-evidence-3">
            <a:extLst xmlns:a="http://schemas.openxmlformats.org/drawingml/2006/main"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xmlns:r="http://schemas.openxmlformats.org/officeDocument/2006/relationships" xmlns:a="http://schemas.openxmlformats.org/drawingml/2006/main" r:embed="rIdOfficeKitImagee930dcb9c6b95953_1"/>
          <a:srcRect xmlns:a="http://schemas.openxmlformats.org/drawingml/2006/main" l="0" t="32347" r="0" b="32347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4895850" y="4457700"/>
            <a:ext cx="1790700" cy="1123950"/>
          </a:xfrm>
          <a:prstGeom xmlns:a="http://schemas.openxmlformats.org/drawingml/2006/main" prst="rect">
            <a:avLst/>
          </a:prstGeom>
        </p:spPr>
      </p:pic>
      <p:pic>
        <p:nvPicPr>
          <p:cNvPr id="12" name="image-evidence-4">
            <a:extLst xmlns:a="http://schemas.openxmlformats.org/drawingml/2006/main"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xmlns:r="http://schemas.openxmlformats.org/officeDocument/2006/relationships" xmlns:a="http://schemas.openxmlformats.org/drawingml/2006/main" r:embed="rIdOfficeKitImagee977612ad933c986_1"/>
          <a:srcRect xmlns:a="http://schemas.openxmlformats.org/drawingml/2006/main" l="0" t="32333" r="0" b="32333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858000" y="4457700"/>
            <a:ext cx="1790700" cy="1123950"/>
          </a:xfrm>
          <a:prstGeom xmlns:a="http://schemas.openxmlformats.org/drawingml/2006/main" prst="rect">
            <a:avLst/>
          </a:prstGeom>
        </p:spPr>
      </p:pic>
      <p:sp>
        <p:nvSpPr>
          <p:cNvPr id="13" name="image-matrix-label"/>
          <p:cNvSpPr txBox="1"/>
          <p:nvPr/>
        </p:nvSpPr>
        <p:spPr>
          <a:xfrm xmlns:a="http://schemas.openxmlformats.org/drawingml/2006/main">
            <a:off x="9620250" y="33147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 b="1">
                <a:solidFill>
                  <a:srgbClr val="E4B91E"/>
                </a:solidFill>
                <a:latin typeface="Arial"/>
                <a:ea typeface="Arial"/>
              </a:rPr>
              <a:t>IMAGE MATRIX</a:t>
            </a:r>
            <a:endParaRPr lang="en-US"/>
          </a:p>
        </p:txBody>
      </p:sp>
      <p:sp>
        <p:nvSpPr>
          <p:cNvPr id="14" name="image-matrix-title"/>
          <p:cNvSpPr txBox="1"/>
          <p:nvPr/>
        </p:nvSpPr>
        <p:spPr>
          <a:xfrm xmlns:a="http://schemas.openxmlformats.org/drawingml/2006/main">
            <a:off x="9620250" y="3790950"/>
            <a:ext cx="3714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100" b="1">
                <a:solidFill>
                  <a:srgbClr val="111111"/>
                </a:solidFill>
                <a:latin typeface="Arial"/>
                <a:ea typeface="Arial"/>
              </a:rPr>
              <a:t>One subject, five ways to notice it.</a:t>
            </a:r>
            <a:endParaRPr lang="en-US"/>
          </a:p>
        </p:txBody>
      </p:sp>
      <p:sp>
        <p:nvSpPr>
          <p:cNvPr id="15" name="image-matrix-body"/>
          <p:cNvSpPr txBox="1"/>
          <p:nvPr/>
        </p:nvSpPr>
        <p:spPr>
          <a:xfrm xmlns:a="http://schemas.openxmlformats.org/drawingml/2006/main">
            <a:off x="9620250" y="4953000"/>
            <a:ext cx="3524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77726B"/>
                </a:solidFill>
                <a:latin typeface="Arial"/>
                <a:ea typeface="Arial"/>
              </a:rPr>
              <a:t>One dominant frame plus four</a:t>
            </a:r>
            <a:endParaRPr lang="en-US"/>
          </a:p>
          <a:p xmlns:a="http://schemas.openxmlformats.org/drawingml/2006/main">
            <a:r>
              <a:rPr lang="en-US" sz="1200">
                <a:solidFill>
                  <a:srgbClr val="77726B"/>
                </a:solidFill>
                <a:latin typeface="Arial"/>
                <a:ea typeface="Arial"/>
              </a:rPr>
              <a:t>supporting crops. Image carries</a:t>
            </a:r>
            <a:endParaRPr lang="en-US"/>
          </a:p>
          <a:p xmlns:a="http://schemas.openxmlformats.org/drawingml/2006/main">
            <a:r>
              <a:rPr lang="en-US" sz="1200">
                <a:solidFill>
                  <a:srgbClr val="77726B"/>
                </a:solidFill>
                <a:latin typeface="Arial"/>
                <a:ea typeface="Arial"/>
              </a:rPr>
              <a:t>mood; labels carry the claim.</a:t>
            </a:r>
            <a:endParaRPr lang="en-US"/>
          </a:p>
        </p:txBody>
      </p:sp>
      <p:sp>
        <p:nvSpPr>
          <p:cNvPr id="16" name="source"/>
          <p:cNvSpPr txBox="1"/>
          <p:nvPr/>
        </p:nvSpPr>
        <p:spPr>
          <a:xfrm xmlns:a="http://schemas.openxmlformats.org/drawingml/2006/main">
            <a:off x="914400" y="7829550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>
                <a:solidFill>
                  <a:srgbClr val="77726B"/>
                </a:solidFill>
                <a:latin typeface="Arial"/>
                <a:ea typeface="Arial"/>
              </a:rPr>
              <a:t>Source: illustrative calibration brief · labels and values are fictional</a:t>
            </a:r>
            <a:endParaRPr lang="en-US"/>
          </a:p>
        </p:txBody>
      </p:sp>
      <p:sp>
        <p:nvSpPr>
          <p:cNvPr id="17" name="page-number"/>
          <p:cNvSpPr txBox="1"/>
          <p:nvPr/>
        </p:nvSpPr>
        <p:spPr>
          <a:xfrm xmlns:a="http://schemas.openxmlformats.org/drawingml/2006/main">
            <a:off x="13335000" y="78295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/>
            <a:r>
              <a:rPr lang="en-US" sz="1050">
                <a:solidFill>
                  <a:srgbClr val="77726B"/>
                </a:solidFill>
                <a:latin typeface="Arial"/>
                <a:ea typeface="Arial"/>
              </a:rPr>
              <a:t>4 / 6</a:t>
            </a:r>
            <a:endParaRPr lang="en-US"/>
          </a:p>
        </p:txBody>
      </p:sp>
    </p:spTree>
  </p:cSld>
  <p:clrMapOvr>
    <a:masterClrMapping xmlns:a="http://schemas.openxmlformats.org/drawingml/2006/main"/>
  </p:clrMapOvr>
</p:sld>
</file>

<file path=ppt/slides/slide5.xml><?xml version="1.0" encoding="utf-8"?>
<p:sld xmlns:p="http://schemas.openxmlformats.org/presentationml/2006/main">
  <p:cSld name="Visual carrier">
    <p:bg>
      <p:bgPr>
        <a:blipFill xmlns:a="http://schemas.openxmlformats.org/drawingml/2006/main">
          <a:blip xmlns:r="http://schemas.openxmlformats.org/officeDocument/2006/relationships" r:embed="rIdOfficeKitImage35d943dc999c7d05_1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visual-scrim"/>
          <p:cNvSpPr/>
          <p:nvPr/>
        </p:nvSpPr>
        <p:spPr>
          <a:xfrm xmlns:a="http://schemas.openxmlformats.org/drawingml/2006/main">
            <a:off x="0" y="0"/>
            <a:ext cx="6858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6DF">
              <a:alpha val="94000"/>
            </a:srgbClr>
          </a:solidFill>
          <a:ln xmlns:a="http://schemas.openxmlformats.org/drawingml/2006/main" w="0">
            <a:solidFill>
              <a:srgbClr val="E9E6D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3" name="visual-eyebrow"/>
          <p:cNvSpPr txBox="1"/>
          <p:nvPr/>
        </p:nvSpPr>
        <p:spPr>
          <a:xfrm xmlns:a="http://schemas.openxmlformats.org/drawingml/2006/main">
            <a:off x="914400" y="8953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E4B91E"/>
                </a:solidFill>
                <a:latin typeface="Arial"/>
                <a:ea typeface="Arial"/>
              </a:rPr>
              <a:t>SAFFRON EDITORIAL · VISUAL CARRIER</a:t>
            </a:r>
            <a:endParaRPr lang="en-US"/>
          </a:p>
        </p:txBody>
      </p:sp>
      <p:sp>
        <p:nvSpPr>
          <p:cNvPr id="4" name="visual-title"/>
          <p:cNvSpPr txBox="1"/>
          <p:nvPr/>
        </p:nvSpPr>
        <p:spPr>
          <a:xfrm xmlns:a="http://schemas.openxmlformats.org/drawingml/2006/main">
            <a:off x="914400" y="1638300"/>
            <a:ext cx="5334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3300" b="1">
                <a:solidFill>
                  <a:srgbClr val="111111"/>
                </a:solidFill>
                <a:latin typeface="Arial"/>
                <a:ea typeface="Arial"/>
              </a:rPr>
              <a:t>Let the subject do the work</a:t>
            </a:r>
            <a:endParaRPr lang="en-US"/>
          </a:p>
        </p:txBody>
      </p:sp>
      <p:sp>
        <p:nvSpPr>
          <p:cNvPr id="5" name="visual-body"/>
          <p:cNvSpPr txBox="1"/>
          <p:nvPr/>
        </p:nvSpPr>
        <p:spPr>
          <a:xfrm xmlns:a="http://schemas.openxmlformats.org/drawingml/2006/main">
            <a:off x="914400" y="3219450"/>
            <a:ext cx="4762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111111"/>
                </a:solidFill>
                <a:latin typeface="Arial"/>
                <a:ea typeface="Arial"/>
              </a:rPr>
              <a:t>A strong crop gives the proposition a place to live.</a:t>
            </a:r>
            <a:endParaRPr lang="en-US"/>
          </a:p>
        </p:txBody>
      </p:sp>
      <p:sp>
        <p:nvSpPr>
          <p:cNvPr id="6" name="visual-rule"/>
          <p:cNvSpPr/>
          <p:nvPr/>
        </p:nvSpPr>
        <p:spPr>
          <a:xfrm xmlns:a="http://schemas.openxmlformats.org/drawingml/2006/main">
            <a:off x="914400" y="4476750"/>
            <a:ext cx="441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4B91E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7" name="visual-label"/>
          <p:cNvSpPr txBox="1"/>
          <p:nvPr/>
        </p:nvSpPr>
        <p:spPr>
          <a:xfrm xmlns:a="http://schemas.openxmlformats.org/drawingml/2006/main">
            <a:off x="914400" y="4819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E4B91E"/>
                </a:solidFill>
                <a:latin typeface="Arial"/>
                <a:ea typeface="Arial"/>
              </a:rPr>
              <a:t>THE IMAGE IS EVIDENCE, NOT FILL</a:t>
            </a:r>
            <a:endParaRPr lang="en-US"/>
          </a:p>
        </p:txBody>
      </p:sp>
      <p:sp>
        <p:nvSpPr>
          <p:cNvPr id="8" name="source"/>
          <p:cNvSpPr txBox="1"/>
          <p:nvPr/>
        </p:nvSpPr>
        <p:spPr>
          <a:xfrm xmlns:a="http://schemas.openxmlformats.org/drawingml/2006/main">
            <a:off x="914400" y="7829550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>
                <a:solidFill>
                  <a:srgbClr val="77726B"/>
                </a:solidFill>
                <a:latin typeface="Arial"/>
                <a:ea typeface="Arial"/>
              </a:rPr>
              <a:t>OfficeKit original clean-room visual field · fictional content</a:t>
            </a:r>
            <a:endParaRPr lang="en-US"/>
          </a:p>
        </p:txBody>
      </p:sp>
      <p:sp>
        <p:nvSpPr>
          <p:cNvPr id="9" name="page-number"/>
          <p:cNvSpPr txBox="1"/>
          <p:nvPr/>
        </p:nvSpPr>
        <p:spPr>
          <a:xfrm xmlns:a="http://schemas.openxmlformats.org/drawingml/2006/main">
            <a:off x="13335000" y="78295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/>
            <a:r>
              <a:rPr lang="en-US" sz="1050">
                <a:solidFill>
                  <a:srgbClr val="77726B"/>
                </a:solidFill>
                <a:latin typeface="Arial"/>
                <a:ea typeface="Arial"/>
              </a:rPr>
              <a:t>5 / 6</a:t>
            </a:r>
            <a:endParaRPr lang="en-US"/>
          </a:p>
        </p:txBody>
      </p:sp>
    </p:spTree>
  </p:cSld>
  <p:clrMapOvr>
    <a:masterClrMapping xmlns:a="http://schemas.openxmlformats.org/drawingml/2006/main"/>
  </p:clrMapOvr>
</p:sld>
</file>

<file path=ppt/slides/slide6.xml><?xml version="1.0" encoding="utf-8"?>
<p:sld xmlns:p="http://schemas.openxmlformats.org/presentationml/2006/main">
  <p:cSld name="Decision close">
    <p:bg>
      <p:bgPr>
        <a:blipFill xmlns:a="http://schemas.openxmlformats.org/drawingml/2006/main">
          <a:blip xmlns:r="http://schemas.openxmlformats.org/officeDocument/2006/relationships" r:embed="rIdOfficeKitImagea68aebf613832e5f_1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close-paper-scrim"/>
          <p:cNvSpPr/>
          <p:nvPr/>
        </p:nvSpPr>
        <p:spPr>
          <a:xfrm xmlns:a="http://schemas.openxmlformats.org/drawingml/2006/main">
            <a:off x="0" y="0"/>
            <a:ext cx="74295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6DF">
              <a:alpha val="96000"/>
            </a:srgbClr>
          </a:solidFill>
          <a:ln xmlns:a="http://schemas.openxmlformats.org/drawingml/2006/main" w="0">
            <a:solidFill>
              <a:srgbClr val="E9E6D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3" name="close-top-rule"/>
          <p:cNvSpPr/>
          <p:nvPr/>
        </p:nvSpPr>
        <p:spPr>
          <a:xfrm xmlns:a="http://schemas.openxmlformats.org/drawingml/2006/main">
            <a:off x="838200" y="666750"/>
            <a:ext cx="1356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4B91E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4" name="SAFFRON EDITORIAL · CLOSE"/>
          <p:cNvSpPr txBox="1"/>
          <p:nvPr/>
        </p:nvSpPr>
        <p:spPr>
          <a:xfrm xmlns:a="http://schemas.openxmlformats.org/drawingml/2006/main">
            <a:off x="914400" y="8953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E4B91E"/>
                </a:solidFill>
                <a:latin typeface="Arial"/>
                <a:ea typeface="Arial"/>
              </a:rPr>
              <a:t>SAFFRON EDITORIAL · CLOSE</a:t>
            </a:r>
            <a:endParaRPr lang="en-US"/>
          </a:p>
        </p:txBody>
      </p:sp>
      <p:sp>
        <p:nvSpPr>
          <p:cNvPr id="5" name="close-title"/>
          <p:cNvSpPr txBox="1"/>
          <p:nvPr/>
        </p:nvSpPr>
        <p:spPr>
          <a:xfrm xmlns:a="http://schemas.openxmlformats.org/drawingml/2006/main">
            <a:off x="914400" y="1314450"/>
            <a:ext cx="6286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550" b="1">
                <a:solidFill>
                  <a:srgbClr val="111111"/>
                </a:solidFill>
                <a:latin typeface="Arial"/>
                <a:ea typeface="Arial"/>
              </a:rPr>
              <a:t>Turn the shared invitation into an</a:t>
            </a:r>
            <a:endParaRPr lang="en-US"/>
          </a:p>
          <a:p xmlns:a="http://schemas.openxmlformats.org/drawingml/2006/main">
            <a:r>
              <a:rPr lang="en-US" sz="2550" b="1">
                <a:solidFill>
                  <a:srgbClr val="111111"/>
                </a:solidFill>
                <a:latin typeface="Arial"/>
                <a:ea typeface="Arial"/>
              </a:rPr>
              <a:t>action plan</a:t>
            </a:r>
            <a:endParaRPr lang="en-US"/>
          </a:p>
        </p:txBody>
      </p:sp>
      <p:sp>
        <p:nvSpPr>
          <p:cNvPr id="6" name="close-basis"/>
          <p:cNvSpPr txBox="1"/>
          <p:nvPr/>
        </p:nvSpPr>
        <p:spPr>
          <a:xfrm xmlns:a="http://schemas.openxmlformats.org/drawingml/2006/main">
            <a:off x="952500" y="21907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77726B"/>
                </a:solidFill>
                <a:latin typeface="Arial"/>
                <a:ea typeface="Arial"/>
              </a:rPr>
              <a:t>A reference page must leave the reader with a bounded next move.</a:t>
            </a:r>
            <a:endParaRPr lang="en-US"/>
          </a:p>
        </p:txBody>
      </p:sp>
      <p:sp>
        <p:nvSpPr>
          <p:cNvPr id="7" name="close-rule"/>
          <p:cNvSpPr/>
          <p:nvPr/>
        </p:nvSpPr>
        <p:spPr>
          <a:xfrm xmlns:a="http://schemas.openxmlformats.org/drawingml/2006/main">
            <a:off x="914400" y="2457450"/>
            <a:ext cx="1341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77726B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8" name="close-number-0"/>
          <p:cNvSpPr txBox="1"/>
          <p:nvPr/>
        </p:nvSpPr>
        <p:spPr>
          <a:xfrm xmlns:a="http://schemas.openxmlformats.org/drawingml/2006/main">
            <a:off x="1104900" y="32194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875" b="1">
                <a:solidFill>
                  <a:srgbClr val="E4B91E"/>
                </a:solidFill>
                <a:latin typeface="Arial"/>
                <a:ea typeface="Arial"/>
              </a:rPr>
              <a:t>01</a:t>
            </a:r>
            <a:endParaRPr lang="en-US"/>
          </a:p>
        </p:txBody>
      </p:sp>
      <p:sp>
        <p:nvSpPr>
          <p:cNvPr id="9" name="close-row-rule-0"/>
          <p:cNvSpPr/>
          <p:nvPr/>
        </p:nvSpPr>
        <p:spPr>
          <a:xfrm xmlns:a="http://schemas.openxmlformats.org/drawingml/2006/main">
            <a:off x="2000250" y="3371850"/>
            <a:ext cx="581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77726B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0" name="close-label-0"/>
          <p:cNvSpPr txBox="1"/>
          <p:nvPr/>
        </p:nvSpPr>
        <p:spPr>
          <a:xfrm xmlns:a="http://schemas.openxmlformats.org/drawingml/2006/main">
            <a:off x="2114550" y="31813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650" b="1">
                <a:solidFill>
                  <a:srgbClr val="111111"/>
                </a:solidFill>
                <a:latin typeface="Arial"/>
                <a:ea typeface="Arial"/>
              </a:rPr>
              <a:t>Promise</a:t>
            </a:r>
            <a:endParaRPr lang="en-US"/>
          </a:p>
        </p:txBody>
      </p:sp>
      <p:sp>
        <p:nvSpPr>
          <p:cNvPr id="11" name="close-text-0"/>
          <p:cNvSpPr txBox="1"/>
          <p:nvPr/>
        </p:nvSpPr>
        <p:spPr>
          <a:xfrm xmlns:a="http://schemas.openxmlformats.org/drawingml/2006/main">
            <a:off x="4495800" y="3219450"/>
            <a:ext cx="571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111111"/>
                </a:solidFill>
                <a:latin typeface="Arial"/>
                <a:ea typeface="Arial"/>
              </a:rPr>
              <a:t>The proposition is legible.</a:t>
            </a:r>
            <a:endParaRPr lang="en-US"/>
          </a:p>
        </p:txBody>
      </p:sp>
      <p:sp>
        <p:nvSpPr>
          <p:cNvPr id="12" name="close-number-1"/>
          <p:cNvSpPr txBox="1"/>
          <p:nvPr/>
        </p:nvSpPr>
        <p:spPr>
          <a:xfrm xmlns:a="http://schemas.openxmlformats.org/drawingml/2006/main">
            <a:off x="1104900" y="42672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875" b="1">
                <a:solidFill>
                  <a:srgbClr val="111111"/>
                </a:solidFill>
                <a:latin typeface="Arial"/>
                <a:ea typeface="Arial"/>
              </a:rPr>
              <a:t>02</a:t>
            </a:r>
            <a:endParaRPr lang="en-US"/>
          </a:p>
        </p:txBody>
      </p:sp>
      <p:sp>
        <p:nvSpPr>
          <p:cNvPr id="13" name="close-row-rule-1"/>
          <p:cNvSpPr/>
          <p:nvPr/>
        </p:nvSpPr>
        <p:spPr>
          <a:xfrm xmlns:a="http://schemas.openxmlformats.org/drawingml/2006/main">
            <a:off x="2000250" y="4419600"/>
            <a:ext cx="581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77726B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4" name="close-label-1"/>
          <p:cNvSpPr txBox="1"/>
          <p:nvPr/>
        </p:nvSpPr>
        <p:spPr>
          <a:xfrm xmlns:a="http://schemas.openxmlformats.org/drawingml/2006/main">
            <a:off x="2114550" y="42291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650" b="1">
                <a:solidFill>
                  <a:srgbClr val="111111"/>
                </a:solidFill>
                <a:latin typeface="Arial"/>
                <a:ea typeface="Arial"/>
              </a:rPr>
              <a:t>Proof</a:t>
            </a:r>
            <a:endParaRPr lang="en-US"/>
          </a:p>
        </p:txBody>
      </p:sp>
      <p:sp>
        <p:nvSpPr>
          <p:cNvPr id="15" name="close-text-1"/>
          <p:cNvSpPr txBox="1"/>
          <p:nvPr/>
        </p:nvSpPr>
        <p:spPr>
          <a:xfrm xmlns:a="http://schemas.openxmlformats.org/drawingml/2006/main">
            <a:off x="4495800" y="4267200"/>
            <a:ext cx="571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111111"/>
                </a:solidFill>
                <a:latin typeface="Arial"/>
                <a:ea typeface="Arial"/>
              </a:rPr>
              <a:t>The response is measurable.</a:t>
            </a:r>
            <a:endParaRPr lang="en-US"/>
          </a:p>
        </p:txBody>
      </p:sp>
      <p:sp>
        <p:nvSpPr>
          <p:cNvPr id="16" name="close-number-2"/>
          <p:cNvSpPr txBox="1"/>
          <p:nvPr/>
        </p:nvSpPr>
        <p:spPr>
          <a:xfrm xmlns:a="http://schemas.openxmlformats.org/drawingml/2006/main">
            <a:off x="1104900" y="53149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875" b="1">
                <a:solidFill>
                  <a:srgbClr val="E4B91E"/>
                </a:solidFill>
                <a:latin typeface="Arial"/>
                <a:ea typeface="Arial"/>
              </a:rPr>
              <a:t>03</a:t>
            </a:r>
            <a:endParaRPr lang="en-US"/>
          </a:p>
        </p:txBody>
      </p:sp>
      <p:sp>
        <p:nvSpPr>
          <p:cNvPr id="17" name="close-row-rule-2"/>
          <p:cNvSpPr/>
          <p:nvPr/>
        </p:nvSpPr>
        <p:spPr>
          <a:xfrm xmlns:a="http://schemas.openxmlformats.org/drawingml/2006/main">
            <a:off x="2000250" y="5467350"/>
            <a:ext cx="581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E4B91E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8" name="close-label-2"/>
          <p:cNvSpPr txBox="1"/>
          <p:nvPr/>
        </p:nvSpPr>
        <p:spPr>
          <a:xfrm xmlns:a="http://schemas.openxmlformats.org/drawingml/2006/main">
            <a:off x="2114550" y="52768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650" b="1">
                <a:solidFill>
                  <a:srgbClr val="111111"/>
                </a:solidFill>
                <a:latin typeface="Arial"/>
                <a:ea typeface="Arial"/>
              </a:rPr>
              <a:t>Move</a:t>
            </a:r>
            <a:endParaRPr lang="en-US"/>
          </a:p>
        </p:txBody>
      </p:sp>
      <p:sp>
        <p:nvSpPr>
          <p:cNvPr id="19" name="close-text-2"/>
          <p:cNvSpPr txBox="1"/>
          <p:nvPr/>
        </p:nvSpPr>
        <p:spPr>
          <a:xfrm xmlns:a="http://schemas.openxmlformats.org/drawingml/2006/main">
            <a:off x="4495800" y="5314950"/>
            <a:ext cx="571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111111"/>
                </a:solidFill>
                <a:latin typeface="Arial"/>
                <a:ea typeface="Arial"/>
              </a:rPr>
              <a:t>Give the audience one action.</a:t>
            </a:r>
            <a:endParaRPr lang="en-US"/>
          </a:p>
        </p:txBody>
      </p:sp>
      <p:sp>
        <p:nvSpPr>
          <p:cNvPr id="20" name="next-rule"/>
          <p:cNvSpPr/>
          <p:nvPr/>
        </p:nvSpPr>
        <p:spPr>
          <a:xfrm xmlns:a="http://schemas.openxmlformats.org/drawingml/2006/main">
            <a:off x="10668000" y="3714750"/>
            <a:ext cx="304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4B91E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1" name="next-label"/>
          <p:cNvSpPr txBox="1"/>
          <p:nvPr/>
        </p:nvSpPr>
        <p:spPr>
          <a:xfrm xmlns:a="http://schemas.openxmlformats.org/drawingml/2006/main">
            <a:off x="10668000" y="40386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 b="1">
                <a:solidFill>
                  <a:srgbClr val="E4B91E"/>
                </a:solidFill>
                <a:latin typeface="Arial"/>
                <a:ea typeface="Arial"/>
              </a:rPr>
              <a:t>NEXT MOVE</a:t>
            </a:r>
            <a:endParaRPr lang="en-US"/>
          </a:p>
        </p:txBody>
      </p:sp>
      <p:sp>
        <p:nvSpPr>
          <p:cNvPr id="22" name="next-text"/>
          <p:cNvSpPr txBox="1"/>
          <p:nvPr/>
        </p:nvSpPr>
        <p:spPr>
          <a:xfrm xmlns:a="http://schemas.openxmlformats.org/drawingml/2006/main">
            <a:off x="10668000" y="4514850"/>
            <a:ext cx="304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175" b="1">
                <a:solidFill>
                  <a:srgbClr val="111111"/>
                </a:solidFill>
                <a:latin typeface="Arial"/>
                <a:ea typeface="Arial"/>
              </a:rPr>
              <a:t>Publish the invitation</a:t>
            </a:r>
            <a:endParaRPr lang="en-US"/>
          </a:p>
        </p:txBody>
      </p:sp>
      <p:sp>
        <p:nvSpPr>
          <p:cNvPr id="23" name="next-foot"/>
          <p:cNvSpPr txBox="1"/>
          <p:nvPr/>
        </p:nvSpPr>
        <p:spPr>
          <a:xfrm xmlns:a="http://schemas.openxmlformats.org/drawingml/2006/main">
            <a:off x="10668000" y="56007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>
                <a:solidFill>
                  <a:srgbClr val="77726B"/>
                </a:solidFill>
                <a:latin typeface="Arial"/>
                <a:ea typeface="Arial"/>
              </a:rPr>
              <a:t>Owner · reviewer · date</a:t>
            </a:r>
            <a:endParaRPr lang="en-US"/>
          </a:p>
        </p:txBody>
      </p:sp>
      <p:sp>
        <p:nvSpPr>
          <p:cNvPr id="24" name="source"/>
          <p:cNvSpPr txBox="1"/>
          <p:nvPr/>
        </p:nvSpPr>
        <p:spPr>
          <a:xfrm xmlns:a="http://schemas.openxmlformats.org/drawingml/2006/main">
            <a:off x="914400" y="7829550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>
                <a:solidFill>
                  <a:srgbClr val="77726B"/>
                </a:solidFill>
                <a:latin typeface="Arial"/>
                <a:ea typeface="Arial"/>
              </a:rPr>
              <a:t>OfficeKit original clean-room calibration · reference deck is editable and inspectable</a:t>
            </a:r>
            <a:endParaRPr lang="en-US"/>
          </a:p>
        </p:txBody>
      </p:sp>
      <p:sp>
        <p:nvSpPr>
          <p:cNvPr id="25" name="page-number"/>
          <p:cNvSpPr txBox="1"/>
          <p:nvPr/>
        </p:nvSpPr>
        <p:spPr>
          <a:xfrm xmlns:a="http://schemas.openxmlformats.org/drawingml/2006/main">
            <a:off x="13335000" y="78295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/>
            <a:r>
              <a:rPr lang="en-US" sz="1050">
                <a:solidFill>
                  <a:srgbClr val="77726B"/>
                </a:solidFill>
                <a:latin typeface="Arial"/>
                <a:ea typeface="Arial"/>
              </a:rPr>
              <a:t>6 / 6</a:t>
            </a:r>
            <a:endParaRPr lang="en-US"/>
          </a:p>
        </p:txBody>
      </p:sp>
    </p:spTree>
  </p:cSld>
  <p:clrMapOvr>
    <a:masterClrMapping xmlns:a="http://schemas.openxmlformats.org/drawingml/2006/main"/>
  </p:clrMapOvr>
</p:sld>
</file>