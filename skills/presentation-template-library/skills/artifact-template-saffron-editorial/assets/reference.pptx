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png" ContentType="image/png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charts/chart1.xml" ContentType="application/vnd.openxmlformats-officedocument.drawingml.chart+xml"/>
  <Override PartName="/ppt/slides/charts/chart2.xml" ContentType="application/vnd.openxmlformats-officedocument.drawingml.chart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6b3d4d4f03c6455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IdMaster1"/>
  </p:sldMasterIdLst>
  <p:sldIdLst>
    <p:sldId xmlns:r="http://schemas.openxmlformats.org/officeDocument/2006/relationships" id="256" r:id="rIdSlide1"/>
    <p:sldId xmlns:r="http://schemas.openxmlformats.org/officeDocument/2006/relationships" id="257" r:id="rIdSlide2"/>
    <p:sldId xmlns:r="http://schemas.openxmlformats.org/officeDocument/2006/relationships" id="258" r:id="rIdSlide3"/>
    <p:sldId xmlns:r="http://schemas.openxmlformats.org/officeDocument/2006/relationships" id="259" r:id="rIdSlide4"/>
    <p:sldId xmlns:r="http://schemas.openxmlformats.org/officeDocument/2006/relationships" id="260" r:id="rIdSlide5"/>
    <p:sldId xmlns:r="http://schemas.openxmlformats.org/officeDocument/2006/relationships" id="261" r:id="rIdSlide6"/>
  </p:sldIdLst>
  <p:sldSz cx="15240000" cy="8572500"/>
  <p:notesSz cx="6858000" cy="9144000"/>
  <p:defaultTextStyle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Relationship Type="http://schemas.openxmlformats.org/officeDocument/2006/relationships/slide" Target="/ppt/slides/slide1.xml" Id="rIdSlide1" /><Relationship Type="http://schemas.openxmlformats.org/officeDocument/2006/relationships/slide" Target="/ppt/slides/slide2.xml" Id="rIdSlide2" /><Relationship Type="http://schemas.openxmlformats.org/officeDocument/2006/relationships/slide" Target="/ppt/slides/slide3.xml" Id="rIdSlide3" /><Relationship Type="http://schemas.openxmlformats.org/officeDocument/2006/relationships/slide" Target="/ppt/slides/slide4.xml" Id="rIdSlide4" /><Relationship Type="http://schemas.openxmlformats.org/officeDocument/2006/relationships/slide" Target="/ppt/slides/slide5.xml" Id="rIdSlide5" /><Relationship Type="http://schemas.openxmlformats.org/officeDocument/2006/relationships/slide" Target="/ppt/slides/slide6.xml" Id="rIdSlide6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/Relationships>
</file>

<file path=ppt/slideLayouts/slideLayout1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IdTheme1" /><Relationship Type="http://schemas.openxmlformats.org/officeDocument/2006/relationships/slideLayout" Target="/ppt/slideLayouts/slideLayout1.xml" Id="rIdLayout1" /></Relationships>
</file>

<file path=ppt/slideMasters/slideMaster1.xml><?xml version="1.0" encoding="utf-8"?>
<p:sldMaster xmlns:p="http://schemas.openxmlformats.org/presentationml/2006/main">
  <p:cSld name="Default Master">
    <p:bg>
      <p:bgPr>
        <a:solidFill xmlns:a="http://schemas.openxmlformats.org/drawingml/2006/main">
          <a:srgbClr val="FFFFFF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Layout1"/>
  </p:sldLayoutIdLst>
  <p:txStyles>
    <p:titleStyle/>
    <p:bodyStyle/>
    <p:otherStyle/>
  </p:txStyles>
</p:sldMaster>
</file>

<file path=ppt/slideMasters/theme/theme1.xml><?xml version="1.0" encoding="utf-8"?>
<a:theme xmlns:a="http://schemas.openxmlformats.org/drawingml/2006/main" name="Office Clean Room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.png" Id="rIdOfficeKitImage6f80b7c05bd357c7_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chart" Target="/ppt/slides/charts/chart1.xml" Id="Rb2f17e266b5042c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.png" Id="rIdOfficeKitImage6f80b7c05bd357c7_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chart" Target="/ppt/slides/charts/chart2.xml" Id="R70db6ab85a84418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charts/chart1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Observed signal by cohort</a:t>
            </a:r>
          </a:p>
        </c:rich>
      </c:tx>
      <c:layout/>
    </c:title>
    <c:plotArea>
      <c:layout/>
      <c:barChart>
        <c:barDir val="col"/>
        <c:grouping val="clustered"/>
        <c:ser>
          <c:idx val="0"/>
          <c:order val="0"/>
          <c:tx>
            <c:v>Observed</c:v>
          </c:tx>
          <c:spPr>
            <a:solidFill>
              <a:srgbClr val="E4B91E"/>
            </a:solidFill>
          </c:spPr>
          <c:cat>
            <c:strLit>
              <c:ptCount val="5"/>
              <c:pt idx="0">
                <c:v>Baseline</c:v>
              </c:pt>
              <c:pt idx="1">
                <c:v>Phase 1</c:v>
              </c:pt>
              <c:pt idx="2">
                <c:v>Phase 2</c:v>
              </c:pt>
              <c:pt idx="3">
                <c:v>Phase 3</c:v>
              </c:pt>
              <c:pt idx="4">
                <c:v>Close</c:v>
              </c:pt>
            </c:strLit>
          </c:cat>
          <c:val>
            <c:numLit>
              <c:formatCode>General</c:formatCode>
              <c:ptCount val="5"/>
              <c:pt idx="0">
                <c:v>42</c:v>
              </c:pt>
              <c:pt idx="1">
                <c:v>51</c:v>
              </c:pt>
              <c:pt idx="2">
                <c:v>58</c:v>
              </c:pt>
              <c:pt idx="3">
                <c:v>64</c:v>
              </c:pt>
              <c:pt idx="4">
                <c:v>68</c:v>
              </c:pt>
            </c:numLit>
          </c:val>
        </c:ser>
        <c:ser>
          <c:idx val="1"/>
          <c:order val="1"/>
          <c:tx>
            <c:v>Reference</c:v>
          </c:tx>
          <c:spPr>
            <a:solidFill>
              <a:srgbClr val="77726B"/>
            </a:solidFill>
          </c:spPr>
          <c:cat>
            <c:strLit>
              <c:ptCount val="5"/>
              <c:pt idx="0">
                <c:v>Baseline</c:v>
              </c:pt>
              <c:pt idx="1">
                <c:v>Phase 1</c:v>
              </c:pt>
              <c:pt idx="2">
                <c:v>Phase 2</c:v>
              </c:pt>
              <c:pt idx="3">
                <c:v>Phase 3</c:v>
              </c:pt>
              <c:pt idx="4">
                <c:v>Close</c:v>
              </c:pt>
            </c:strLit>
          </c:cat>
          <c:val>
            <c:numLit>
              <c:formatCode>General</c:formatCode>
              <c:ptCount val="5"/>
              <c:pt idx="0">
                <c:v>40</c:v>
              </c:pt>
              <c:pt idx="1">
                <c:v>43</c:v>
              </c:pt>
              <c:pt idx="2">
                <c:v>45</c:v>
              </c:pt>
              <c:pt idx="3">
                <c:v>47</c:v>
              </c:pt>
              <c:pt idx="4">
                <c:v>48</c:v>
              </c:pt>
            </c:numLit>
          </c:val>
        </c:ser>
        <c:axId val="1"/>
        <c:axId val="2"/>
      </c:bar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legend>
      <c:legendPos val="r"/>
      <c:layout/>
    </c:legend>
    <c:plotVisOnly val="1"/>
  </c:chart>
</c:chartSpace>
</file>

<file path=ppt/slides/charts/chart2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Signal carried by the evidence</a:t>
            </a:r>
          </a:p>
        </c:rich>
      </c:tx>
      <c:layout/>
    </c:title>
    <c:plotArea>
      <c:layout/>
      <c:lineChart>
        <c:grouping val="standard"/>
        <c:ser>
          <c:idx val="0"/>
          <c:order val="0"/>
          <c:tx>
            <c:v>Observed</c:v>
          </c:tx>
          <c:spPr>
            <a:solidFill>
              <a:srgbClr val="E4B91E"/>
            </a:solidFill>
          </c:spPr>
          <c:cat>
            <c:strLit>
              <c:ptCount val="5"/>
              <c:pt idx="0">
                <c:v>A</c:v>
              </c:pt>
              <c:pt idx="1">
                <c:v>B</c:v>
              </c:pt>
              <c:pt idx="2">
                <c:v>C</c:v>
              </c:pt>
              <c:pt idx="3">
                <c:v>D</c:v>
              </c:pt>
              <c:pt idx="4">
                <c:v>E</c:v>
              </c:pt>
            </c:strLit>
          </c:cat>
          <c:val>
            <c:numLit>
              <c:formatCode>General</c:formatCode>
              <c:ptCount val="5"/>
              <c:pt idx="0">
                <c:v>38</c:v>
              </c:pt>
              <c:pt idx="1">
                <c:v>46</c:v>
              </c:pt>
              <c:pt idx="2">
                <c:v>43</c:v>
              </c:pt>
              <c:pt idx="3">
                <c:v>58</c:v>
              </c:pt>
              <c:pt idx="4">
                <c:v>68</c:v>
              </c:pt>
            </c:numLit>
          </c:val>
        </c:ser>
        <c:ser>
          <c:idx val="1"/>
          <c:order val="1"/>
          <c:tx>
            <c:v>Reference</c:v>
          </c:tx>
          <c:spPr>
            <a:solidFill>
              <a:srgbClr val="77726B"/>
            </a:solidFill>
          </c:spPr>
          <c:cat>
            <c:strLit>
              <c:ptCount val="5"/>
              <c:pt idx="0">
                <c:v>A</c:v>
              </c:pt>
              <c:pt idx="1">
                <c:v>B</c:v>
              </c:pt>
              <c:pt idx="2">
                <c:v>C</c:v>
              </c:pt>
              <c:pt idx="3">
                <c:v>D</c:v>
              </c:pt>
              <c:pt idx="4">
                <c:v>E</c:v>
              </c:pt>
            </c:strLit>
          </c:cat>
          <c:val>
            <c:numLit>
              <c:formatCode>General</c:formatCode>
              <c:ptCount val="5"/>
              <c:pt idx="0">
                <c:v>32</c:v>
              </c:pt>
              <c:pt idx="1">
                <c:v>36</c:v>
              </c:pt>
              <c:pt idx="2">
                <c:v>40</c:v>
              </c:pt>
              <c:pt idx="3">
                <c:v>44</c:v>
              </c:pt>
              <c:pt idx="4">
                <c:v>49</c:v>
              </c:pt>
            </c:numLit>
          </c:val>
        </c:ser>
        <c:axId val="1"/>
        <c:axId val="2"/>
      </c:line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plotVisOnly val="1"/>
  </c:chart>
</c:chartSpace>
</file>

<file path=ppt/slides/slide1.xml><?xml version="1.0" encoding="utf-8"?>
<p:sld xmlns:p="http://schemas.openxmlformats.org/presentationml/2006/main">
  <p:cSld name="Opening claim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6DF"/>
          </a:solidFill>
          <a:ln xmlns:a="http://schemas.openxmlformats.org/drawingml/2006/main" w="0">
            <a:solidFill>
              <a:srgbClr val="E9E6D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4B91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eyebrow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E4B91E"/>
                </a:solidFill>
                <a:latin typeface="Arial"/>
                <a:ea typeface="Arial"/>
              </a:rPr>
              <a:t>PROMOTION · OFFICEKIT CALIBRATION</a:t>
            </a:r>
            <a:endParaRPr lang="en-US"/>
          </a:p>
        </p:txBody>
      </p:sp>
      <p:sp>
        <p:nvSpPr>
          <p:cNvPr id="5" name="cover-title"/>
          <p:cNvSpPr txBox="1"/>
          <p:nvPr/>
        </p:nvSpPr>
        <p:spPr>
          <a:xfrm xmlns:a="http://schemas.openxmlformats.org/drawingml/2006/main">
            <a:off x="914400" y="1571625"/>
            <a:ext cx="8382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111111"/>
                </a:solidFill>
                <a:latin typeface="Arial"/>
                <a:ea typeface="Arial"/>
              </a:rPr>
              <a:t>Saffron Editorial: a claim worth testing</a:t>
            </a:r>
            <a:endParaRPr lang="en-US"/>
          </a:p>
        </p:txBody>
      </p:sp>
      <p:sp>
        <p:nvSpPr>
          <p:cNvPr id="6" name="cover-subtitle"/>
          <p:cNvSpPr txBox="1"/>
          <p:nvPr/>
        </p:nvSpPr>
        <p:spPr>
          <a:xfrm xmlns:a="http://schemas.openxmlformats.org/drawingml/2006/main">
            <a:off x="952500" y="285750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>
                <a:solidFill>
                  <a:srgbClr val="E4B91E"/>
                </a:solidFill>
                <a:latin typeface="Arial"/>
                <a:ea typeface="Arial"/>
              </a:rPr>
              <a:t>A clean-room reference for evidence, direction, and a decision.</a:t>
            </a:r>
            <a:endParaRPr lang="en-US"/>
          </a:p>
        </p:txBody>
      </p:sp>
      <p:sp>
        <p:nvSpPr>
          <p:cNvPr id="7" name="cover-rule"/>
          <p:cNvSpPr/>
          <p:nvPr/>
        </p:nvSpPr>
        <p:spPr>
          <a:xfrm xmlns:a="http://schemas.openxmlformats.org/drawingml/2006/main">
            <a:off x="914400" y="3524250"/>
            <a:ext cx="7658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7726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cover-basis"/>
          <p:cNvSpPr txBox="1"/>
          <p:nvPr/>
        </p:nvSpPr>
        <p:spPr>
          <a:xfrm xmlns:a="http://schemas.openxmlformats.org/drawingml/2006/main">
            <a:off x="952500" y="3762375"/>
            <a:ext cx="781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11111"/>
                </a:solidFill>
                <a:latin typeface="Arial"/>
                <a:ea typeface="Arial"/>
              </a:rPr>
              <a:t>One visual language · four page roles · native editable objects</a:t>
            </a:r>
            <a:endParaRPr lang="en-US"/>
          </a:p>
        </p:txBody>
      </p:sp>
      <p:sp>
        <p:nvSpPr>
          <p:cNvPr id="9" name="cover-thesis"/>
          <p:cNvSpPr txBox="1"/>
          <p:nvPr/>
        </p:nvSpPr>
        <p:spPr>
          <a:xfrm xmlns:a="http://schemas.openxmlformats.org/drawingml/2006/main">
            <a:off x="952500" y="4810125"/>
            <a:ext cx="666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11111"/>
                </a:solidFill>
                <a:latin typeface="Arial"/>
                <a:ea typeface="Arial"/>
              </a:rPr>
              <a:t>A proposition earns attention when it gives a next move.</a:t>
            </a:r>
            <a:endParaRPr lang="en-US"/>
          </a:p>
        </p:txBody>
      </p:sp>
      <p:sp>
        <p:nvSpPr>
          <p:cNvPr id="10" name="cover-source"/>
          <p:cNvSpPr txBox="1"/>
          <p:nvPr/>
        </p:nvSpPr>
        <p:spPr>
          <a:xfrm xmlns:a="http://schemas.openxmlformats.org/drawingml/2006/main">
            <a:off x="952500" y="7315200"/>
            <a:ext cx="904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77726B"/>
                </a:solidFill>
                <a:latin typeface="Arial"/>
                <a:ea typeface="Arial"/>
              </a:rPr>
              <a:t>OfficeKit original clean-room calibration · fictional content · 2026-08-29</a:t>
            </a:r>
            <a:endParaRPr lang="en-US"/>
          </a:p>
        </p:txBody>
      </p:sp>
      <p:sp>
        <p:nvSpPr>
          <p:cNvPr id="11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77726B"/>
                </a:solidFill>
                <a:latin typeface="Arial"/>
                <a:ea typeface="Arial"/>
              </a:rPr>
              <a:t>1 / 6</a:t>
            </a:r>
            <a:endParaRPr lang="en-US"/>
          </a:p>
        </p:txBody>
      </p:sp>
      <p:sp>
        <p:nvSpPr>
          <p:cNvPr id="12" name="anchor-shape"/>
          <p:cNvSpPr/>
          <p:nvPr/>
        </p:nvSpPr>
        <p:spPr>
          <a:xfrm xmlns:a="http://schemas.openxmlformats.org/drawingml/2006/main">
            <a:off x="11430000" y="2000250"/>
            <a:ext cx="209550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B91E"/>
          </a:solidFill>
          <a:ln xmlns:a="http://schemas.openxmlformats.org/drawingml/2006/main" w="0">
            <a:solidFill>
              <a:srgbClr val="E4B91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anchor-shape-two"/>
          <p:cNvSpPr/>
          <p:nvPr/>
        </p:nvSpPr>
        <p:spPr>
          <a:xfrm xmlns:a="http://schemas.openxmlformats.org/drawingml/2006/main">
            <a:off x="12096750" y="2743200"/>
            <a:ext cx="20955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4055"/>
          </a:solidFill>
          <a:ln xmlns:a="http://schemas.openxmlformats.org/drawingml/2006/main" w="0">
            <a:solidFill>
              <a:srgbClr val="D6405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2.xml><?xml version="1.0" encoding="utf-8"?>
<p:sld xmlns:p="http://schemas.openxmlformats.org/presentationml/2006/main">
  <p:cSld name="Argument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6DF"/>
          </a:solidFill>
          <a:ln xmlns:a="http://schemas.openxmlformats.org/drawingml/2006/main" w="0">
            <a:solidFill>
              <a:srgbClr val="E9E6D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argument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4B91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SAFFRON EDITORIAL · ARGUMENT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E4B91E"/>
                </a:solidFill>
                <a:latin typeface="Arial"/>
                <a:ea typeface="Arial"/>
              </a:rPr>
              <a:t>SAFFRON EDITORIAL · ARGUMENT</a:t>
            </a:r>
            <a:endParaRPr lang="en-US"/>
          </a:p>
        </p:txBody>
      </p:sp>
      <p:sp>
        <p:nvSpPr>
          <p:cNvPr id="5" name="argument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11111"/>
                </a:solidFill>
                <a:latin typeface="Arial"/>
                <a:ea typeface="Arial"/>
              </a:rPr>
              <a:t>The proposition is the page's visual center</a:t>
            </a:r>
            <a:endParaRPr lang="en-US"/>
          </a:p>
        </p:txBody>
      </p:sp>
      <p:sp>
        <p:nvSpPr>
          <p:cNvPr id="6" name="argument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77726B"/>
                </a:solidFill>
                <a:latin typeface="Arial"/>
                <a:ea typeface="Arial"/>
              </a:rPr>
              <a:t>Scale, crop, and color invite attention without hiding the evidence.</a:t>
            </a:r>
            <a:endParaRPr lang="en-US"/>
          </a:p>
        </p:txBody>
      </p:sp>
      <p:sp>
        <p:nvSpPr>
          <p:cNvPr id="7" name="argument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7726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promotion-kicker"/>
          <p:cNvSpPr txBox="1"/>
          <p:nvPr/>
        </p:nvSpPr>
        <p:spPr>
          <a:xfrm xmlns:a="http://schemas.openxmlformats.org/drawingml/2006/main">
            <a:off x="1104900" y="3352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E4B91E"/>
                </a:solidFill>
                <a:latin typeface="Arial"/>
                <a:ea typeface="Arial"/>
              </a:rPr>
              <a:t>ONE PROPOSITION</a:t>
            </a:r>
            <a:endParaRPr lang="en-US"/>
          </a:p>
        </p:txBody>
      </p:sp>
      <p:sp>
        <p:nvSpPr>
          <p:cNvPr id="9" name="promotion-headline"/>
          <p:cNvSpPr txBox="1"/>
          <p:nvPr/>
        </p:nvSpPr>
        <p:spPr>
          <a:xfrm xmlns:a="http://schemas.openxmlformats.org/drawingml/2006/main">
            <a:off x="1104900" y="3790950"/>
            <a:ext cx="6477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625" b="1">
                <a:solidFill>
                  <a:srgbClr val="111111"/>
                </a:solidFill>
                <a:latin typeface="Arial"/>
                <a:ea typeface="Arial"/>
              </a:rPr>
              <a:t>Make the next action visible.</a:t>
            </a:r>
            <a:endParaRPr lang="en-US"/>
          </a:p>
        </p:txBody>
      </p:sp>
      <p:sp>
        <p:nvSpPr>
          <p:cNvPr id="10" name="promotion-body"/>
          <p:cNvSpPr txBox="1"/>
          <p:nvPr/>
        </p:nvSpPr>
        <p:spPr>
          <a:xfrm xmlns:a="http://schemas.openxmlformats.org/drawingml/2006/main">
            <a:off x="1104900" y="4762500"/>
            <a:ext cx="619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75">
                <a:solidFill>
                  <a:srgbClr val="111111"/>
                </a:solidFill>
                <a:latin typeface="Arial"/>
                <a:ea typeface="Arial"/>
              </a:rPr>
              <a:t>A clear invitation earns attention when evidence and access arrive together.</a:t>
            </a:r>
            <a:endParaRPr lang="en-US"/>
          </a:p>
        </p:txBody>
      </p:sp>
      <p:pic>
        <p:nvPicPr>
          <p:cNvPr id="11" name="promotion-hero-frame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6f80b7c05bd357c7_1"/>
          <a:srcRect xmlns:a="http://schemas.openxmlformats.org/drawingml/2006/main" l="6250" t="0" r="6250" b="0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9525000" y="3143250"/>
            <a:ext cx="4000500" cy="2571750"/>
          </a:xfrm>
          <a:prstGeom xmlns:a="http://schemas.openxmlformats.org/drawingml/2006/main" prst="rect">
            <a:avLst/>
          </a:prstGeom>
        </p:spPr>
      </p:pic>
      <p:sp>
        <p:nvSpPr>
          <p:cNvPr id="12" name="promotion-image-rule"/>
          <p:cNvSpPr/>
          <p:nvPr/>
        </p:nvSpPr>
        <p:spPr>
          <a:xfrm xmlns:a="http://schemas.openxmlformats.org/drawingml/2006/main">
            <a:off x="9525000" y="5905500"/>
            <a:ext cx="4000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4B91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promotion-image-label"/>
          <p:cNvSpPr txBox="1"/>
          <p:nvPr/>
        </p:nvSpPr>
        <p:spPr>
          <a:xfrm xmlns:a="http://schemas.openxmlformats.org/drawingml/2006/main">
            <a:off x="9525000" y="61531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E4B91E"/>
                </a:solidFill>
                <a:latin typeface="Arial"/>
                <a:ea typeface="Arial"/>
              </a:rPr>
              <a:t>INVITE · PROVE · MOVE</a:t>
            </a:r>
            <a:endParaRPr lang="en-US"/>
          </a:p>
        </p:txBody>
      </p:sp>
      <p:sp>
        <p:nvSpPr>
          <p:cNvPr id="14" name="source"/>
          <p:cNvSpPr txBox="1"/>
          <p:nvPr/>
        </p:nvSpPr>
        <p:spPr>
          <a:xfrm xmlns:a="http://schemas.openxmlformats.org/drawingml/2006/main">
            <a:off x="914400" y="781050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77726B"/>
                </a:solidFill>
                <a:latin typeface="Arial"/>
                <a:ea typeface="Arial"/>
              </a:rPr>
              <a:t>Source: illustrative calibration brief · every claim is fictional and bounded</a:t>
            </a:r>
            <a:endParaRPr lang="en-US"/>
          </a:p>
        </p:txBody>
      </p:sp>
      <p:sp>
        <p:nvSpPr>
          <p:cNvPr id="15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77726B"/>
                </a:solidFill>
                <a:latin typeface="Arial"/>
                <a:ea typeface="Arial"/>
              </a:rPr>
              <a:t>2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 name="Evidenc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6DF"/>
          </a:solidFill>
          <a:ln xmlns:a="http://schemas.openxmlformats.org/drawingml/2006/main" w="0">
            <a:solidFill>
              <a:srgbClr val="E9E6D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evidenc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4B91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SAFFRON EDITORIAL · EVIDENC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E4B91E"/>
                </a:solidFill>
                <a:latin typeface="Arial"/>
                <a:ea typeface="Arial"/>
              </a:rPr>
              <a:t>SAFFRON EDITORIAL · EVIDENCE</a:t>
            </a:r>
            <a:endParaRPr lang="en-US"/>
          </a:p>
        </p:txBody>
      </p:sp>
      <p:sp>
        <p:nvSpPr>
          <p:cNvPr id="5" name="evidence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11111"/>
                </a:solidFill>
                <a:latin typeface="Arial"/>
                <a:ea typeface="Arial"/>
              </a:rPr>
              <a:t>The signal grows when the invitation stays measurable</a:t>
            </a:r>
            <a:endParaRPr lang="en-US"/>
          </a:p>
        </p:txBody>
      </p:sp>
      <p:sp>
        <p:nvSpPr>
          <p:cNvPr id="6" name="evidence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77726B"/>
                </a:solidFill>
                <a:latin typeface="Arial"/>
                <a:ea typeface="Arial"/>
              </a:rPr>
              <a:t>Illustrative reach and response · source and measurement convention remain attached.</a:t>
            </a:r>
            <a:endParaRPr lang="en-US"/>
          </a:p>
        </p:txBody>
      </p:sp>
      <p:sp>
        <p:nvSpPr>
          <p:cNvPr id="7" name="evidenc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7726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graphicFrame>
        <p:nvGraphicFramePr>
          <p:cNvPr id="8" name="evidence-chart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1047750" y="3048000"/>
          <a:ext xmlns:a="http://schemas.openxmlformats.org/drawingml/2006/main" cx="7905750" cy="3000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2f17e266b5042c5"/>
          </a:graphicData>
        </a:graphic>
      </p:graphicFrame>
      <p:sp>
        <p:nvSpPr>
          <p:cNvPr id="9" name="metric"/>
          <p:cNvSpPr txBox="1"/>
          <p:nvPr/>
        </p:nvSpPr>
        <p:spPr>
          <a:xfrm xmlns:a="http://schemas.openxmlformats.org/drawingml/2006/main">
            <a:off x="9906000" y="3333750"/>
            <a:ext cx="2667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4800" b="1">
                <a:solidFill>
                  <a:srgbClr val="E4B91E"/>
                </a:solidFill>
                <a:latin typeface="Arial"/>
                <a:ea typeface="Arial"/>
              </a:rPr>
              <a:t>68</a:t>
            </a:r>
            <a:endParaRPr lang="en-US"/>
          </a:p>
        </p:txBody>
      </p:sp>
      <p:sp>
        <p:nvSpPr>
          <p:cNvPr id="10" name="metric-label"/>
          <p:cNvSpPr txBox="1"/>
          <p:nvPr/>
        </p:nvSpPr>
        <p:spPr>
          <a:xfrm xmlns:a="http://schemas.openxmlformats.org/drawingml/2006/main">
            <a:off x="9906000" y="4143375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77726B"/>
                </a:solidFill>
                <a:latin typeface="Arial"/>
                <a:ea typeface="Arial"/>
              </a:rPr>
              <a:t>qualified response · campaign close</a:t>
            </a:r>
            <a:endParaRPr lang="en-US"/>
          </a:p>
        </p:txBody>
      </p:sp>
      <p:sp>
        <p:nvSpPr>
          <p:cNvPr id="11" name="rail-rule"/>
          <p:cNvSpPr/>
          <p:nvPr/>
        </p:nvSpPr>
        <p:spPr>
          <a:xfrm xmlns:a="http://schemas.openxmlformats.org/drawingml/2006/main">
            <a:off x="9906000" y="4810125"/>
            <a:ext cx="37623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7726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read-through"/>
          <p:cNvSpPr txBox="1"/>
          <p:nvPr/>
        </p:nvSpPr>
        <p:spPr>
          <a:xfrm xmlns:a="http://schemas.openxmlformats.org/drawingml/2006/main">
            <a:off x="9906000" y="5143500"/>
            <a:ext cx="342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11111"/>
                </a:solidFill>
                <a:latin typeface="Arial"/>
                <a:ea typeface="Arial"/>
              </a:rPr>
              <a:t>Reach is useful only when the audience can see and take the next step.</a:t>
            </a:r>
            <a:endParaRPr lang="en-US"/>
          </a:p>
        </p:txBody>
      </p:sp>
      <p:sp>
        <p:nvSpPr>
          <p:cNvPr id="13" name="evidence-band"/>
          <p:cNvSpPr/>
          <p:nvPr/>
        </p:nvSpPr>
        <p:spPr>
          <a:xfrm xmlns:a="http://schemas.openxmlformats.org/drawingml/2006/main">
            <a:off x="914400" y="6877050"/>
            <a:ext cx="13411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evidence-band-text"/>
          <p:cNvSpPr txBox="1"/>
          <p:nvPr/>
        </p:nvSpPr>
        <p:spPr>
          <a:xfrm xmlns:a="http://schemas.openxmlformats.org/drawingml/2006/main">
            <a:off x="1143000" y="7058025"/>
            <a:ext cx="1238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111111"/>
                </a:solidFill>
                <a:latin typeface="Arial"/>
                <a:ea typeface="Arial"/>
              </a:rPr>
              <a:t>EVIDENCE  ·  Keep the unit, time window, and limitation adjacent to the number.</a:t>
            </a:r>
            <a:endParaRPr lang="en-US"/>
          </a:p>
        </p:txBody>
      </p:sp>
      <p:sp>
        <p:nvSpPr>
          <p:cNvPr id="15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77726B"/>
                </a:solidFill>
                <a:latin typeface="Arial"/>
                <a:ea typeface="Arial"/>
              </a:rPr>
              <a:t>Source: illustrative calibration brief · values are fictional</a:t>
            </a:r>
            <a:endParaRPr lang="en-US"/>
          </a:p>
        </p:txBody>
      </p:sp>
      <p:sp>
        <p:nvSpPr>
          <p:cNvPr id="16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77726B"/>
                </a:solidFill>
                <a:latin typeface="Arial"/>
                <a:ea typeface="Arial"/>
              </a:rPr>
              <a:t>3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4.xml><?xml version="1.0" encoding="utf-8"?>
<p:sld xmlns:p="http://schemas.openxmlformats.org/presentationml/2006/main">
  <p:cSld name="Detail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6DF"/>
          </a:solidFill>
          <a:ln xmlns:a="http://schemas.openxmlformats.org/drawingml/2006/main" w="0">
            <a:solidFill>
              <a:srgbClr val="E9E6D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detai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4B91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SAFFRON EDITORIAL · DETAIL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E4B91E"/>
                </a:solidFill>
                <a:latin typeface="Arial"/>
                <a:ea typeface="Arial"/>
              </a:rPr>
              <a:t>SAFFRON EDITORIAL · DETAIL</a:t>
            </a:r>
            <a:endParaRPr lang="en-US"/>
          </a:p>
        </p:txBody>
      </p:sp>
      <p:sp>
        <p:nvSpPr>
          <p:cNvPr id="5" name="detail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11111"/>
                </a:solidFill>
                <a:latin typeface="Arial"/>
                <a:ea typeface="Arial"/>
              </a:rPr>
              <a:t>The same idea can hold several views</a:t>
            </a:r>
            <a:endParaRPr lang="en-US"/>
          </a:p>
        </p:txBody>
      </p:sp>
      <p:sp>
        <p:nvSpPr>
          <p:cNvPr id="6" name="detail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77726B"/>
                </a:solidFill>
                <a:latin typeface="Arial"/>
                <a:ea typeface="Arial"/>
              </a:rPr>
              <a:t>Unequal image frames · visual variety without decorative filler.</a:t>
            </a:r>
            <a:endParaRPr lang="en-US"/>
          </a:p>
        </p:txBody>
      </p:sp>
      <p:sp>
        <p:nvSpPr>
          <p:cNvPr id="7" name="detai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7726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pic>
        <p:nvPicPr>
          <p:cNvPr id="8" name="image-evidence-0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6f80b7c05bd357c7_1"/>
          <a:srcRect xmlns:a="http://schemas.openxmlformats.org/drawingml/2006/main" l="13438" t="0" r="13438" b="0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990600" y="3162300"/>
            <a:ext cx="3714750" cy="2857500"/>
          </a:xfrm>
          <a:prstGeom xmlns:a="http://schemas.openxmlformats.org/drawingml/2006/main" prst="rect">
            <a:avLst/>
          </a:prstGeom>
        </p:spPr>
      </p:pic>
      <p:pic>
        <p:nvPicPr>
          <p:cNvPr id="9" name="image-evidence-1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6f80b7c05bd357c7_1"/>
          <a:srcRect xmlns:a="http://schemas.openxmlformats.org/drawingml/2006/main" l="0" t="18091" r="0" b="18091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4895850" y="3162300"/>
            <a:ext cx="3714750" cy="1333500"/>
          </a:xfrm>
          <a:prstGeom xmlns:a="http://schemas.openxmlformats.org/drawingml/2006/main" prst="rect">
            <a:avLst/>
          </a:prstGeom>
        </p:spPr>
      </p:pic>
      <p:pic>
        <p:nvPicPr>
          <p:cNvPr id="10" name="image-evidence-2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6f80b7c05bd357c7_1"/>
          <a:srcRect xmlns:a="http://schemas.openxmlformats.org/drawingml/2006/main" l="0" t="18091" r="0" b="18091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4895850" y="4686300"/>
            <a:ext cx="3714750" cy="1333500"/>
          </a:xfrm>
          <a:prstGeom xmlns:a="http://schemas.openxmlformats.org/drawingml/2006/main" prst="rect">
            <a:avLst/>
          </a:prstGeom>
        </p:spPr>
      </p:pic>
      <p:sp>
        <p:nvSpPr>
          <p:cNvPr id="11" name="image-matrix-label"/>
          <p:cNvSpPr txBox="1"/>
          <p:nvPr/>
        </p:nvSpPr>
        <p:spPr>
          <a:xfrm xmlns:a="http://schemas.openxmlformats.org/drawingml/2006/main">
            <a:off x="9620250" y="33147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E4B91E"/>
                </a:solidFill>
                <a:latin typeface="Arial"/>
                <a:ea typeface="Arial"/>
              </a:rPr>
              <a:t>IMAGE MATRIX</a:t>
            </a:r>
            <a:endParaRPr lang="en-US"/>
          </a:p>
        </p:txBody>
      </p:sp>
      <p:sp>
        <p:nvSpPr>
          <p:cNvPr id="12" name="image-matrix-title"/>
          <p:cNvSpPr txBox="1"/>
          <p:nvPr/>
        </p:nvSpPr>
        <p:spPr>
          <a:xfrm xmlns:a="http://schemas.openxmlformats.org/drawingml/2006/main">
            <a:off x="9620250" y="3790950"/>
            <a:ext cx="3714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111111"/>
                </a:solidFill>
                <a:latin typeface="Arial"/>
                <a:ea typeface="Arial"/>
              </a:rPr>
              <a:t>One subject, three ways to notice it.</a:t>
            </a:r>
            <a:endParaRPr lang="en-US"/>
          </a:p>
        </p:txBody>
      </p:sp>
      <p:sp>
        <p:nvSpPr>
          <p:cNvPr id="13" name="image-matrix-body"/>
          <p:cNvSpPr txBox="1"/>
          <p:nvPr/>
        </p:nvSpPr>
        <p:spPr>
          <a:xfrm xmlns:a="http://schemas.openxmlformats.org/drawingml/2006/main">
            <a:off x="9620250" y="4953000"/>
            <a:ext cx="3524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77726B"/>
                </a:solidFill>
                <a:latin typeface="Arial"/>
                <a:ea typeface="Arial"/>
              </a:rPr>
              <a:t>Use unequal frames to show facets of one idea. The crop carries the mood; the label carries the claim.</a:t>
            </a:r>
            <a:endParaRPr lang="en-US"/>
          </a:p>
        </p:txBody>
      </p:sp>
      <p:sp>
        <p:nvSpPr>
          <p:cNvPr id="14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77726B"/>
                </a:solidFill>
                <a:latin typeface="Arial"/>
                <a:ea typeface="Arial"/>
              </a:rPr>
              <a:t>Source: illustrative calibration brief · labels and values are fictional</a:t>
            </a:r>
            <a:endParaRPr lang="en-US"/>
          </a:p>
        </p:txBody>
      </p:sp>
      <p:sp>
        <p:nvSpPr>
          <p:cNvPr id="15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77726B"/>
                </a:solidFill>
                <a:latin typeface="Arial"/>
                <a:ea typeface="Arial"/>
              </a:rPr>
              <a:t>4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5.xml><?xml version="1.0" encoding="utf-8"?>
<p:sld xmlns:p="http://schemas.openxmlformats.org/presentationml/2006/main">
  <p:cSld name="Visual carrier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6DF"/>
          </a:solidFill>
          <a:ln xmlns:a="http://schemas.openxmlformats.org/drawingml/2006/main" w="0">
            <a:solidFill>
              <a:srgbClr val="E9E6D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visua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4B91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SAFFRON EDITORIAL · VISUAL CARRIER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E4B91E"/>
                </a:solidFill>
                <a:latin typeface="Arial"/>
                <a:ea typeface="Arial"/>
              </a:rPr>
              <a:t>SAFFRON EDITORIAL · VISUAL CARRIER</a:t>
            </a:r>
            <a:endParaRPr lang="en-US"/>
          </a:p>
        </p:txBody>
      </p:sp>
      <p:sp>
        <p:nvSpPr>
          <p:cNvPr id="5" name="visual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11111"/>
                </a:solidFill>
                <a:latin typeface="Arial"/>
                <a:ea typeface="Arial"/>
              </a:rPr>
              <a:t>Let the subject do the work</a:t>
            </a:r>
            <a:endParaRPr lang="en-US"/>
          </a:p>
        </p:txBody>
      </p:sp>
      <p:sp>
        <p:nvSpPr>
          <p:cNvPr id="6" name="visual-body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77726B"/>
                </a:solidFill>
                <a:latin typeface="Arial"/>
                <a:ea typeface="Arial"/>
              </a:rPr>
              <a:t>A strong crop gives the proposition a place to live.</a:t>
            </a:r>
            <a:endParaRPr lang="en-US"/>
          </a:p>
        </p:txBody>
      </p:sp>
      <p:sp>
        <p:nvSpPr>
          <p:cNvPr id="7" name="visua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7726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graphicFrame>
        <p:nvGraphicFramePr>
          <p:cNvPr id="8" name="visual-field-chart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914400" y="3028950"/>
          <a:ext xmlns:a="http://schemas.openxmlformats.org/drawingml/2006/main" cx="7429500" cy="36957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0db6ab85a844183"/>
          </a:graphicData>
        </a:graphic>
      </p:graphicFrame>
      <p:sp>
        <p:nvSpPr>
          <p:cNvPr id="9" name="visual-note"/>
          <p:cNvSpPr/>
          <p:nvPr/>
        </p:nvSpPr>
        <p:spPr>
          <a:xfrm xmlns:a="http://schemas.openxmlformats.org/drawingml/2006/main">
            <a:off x="8858250" y="3333750"/>
            <a:ext cx="47625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77726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visual-note-label"/>
          <p:cNvSpPr txBox="1"/>
          <p:nvPr/>
        </p:nvSpPr>
        <p:spPr>
          <a:xfrm xmlns:a="http://schemas.openxmlformats.org/drawingml/2006/main">
            <a:off x="9239250" y="36957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E4B91E"/>
                </a:solidFill>
                <a:latin typeface="Arial"/>
                <a:ea typeface="Arial"/>
              </a:rPr>
              <a:t>CARRIER</a:t>
            </a:r>
            <a:endParaRPr lang="en-US"/>
          </a:p>
        </p:txBody>
      </p:sp>
      <p:sp>
        <p:nvSpPr>
          <p:cNvPr id="11" name="visual-note-text"/>
          <p:cNvSpPr txBox="1"/>
          <p:nvPr/>
        </p:nvSpPr>
        <p:spPr>
          <a:xfrm xmlns:a="http://schemas.openxmlformats.org/drawingml/2006/main">
            <a:off x="9239250" y="4171950"/>
            <a:ext cx="4000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111111"/>
                </a:solidFill>
                <a:latin typeface="Arial"/>
                <a:ea typeface="Arial"/>
              </a:rPr>
              <a:t>Subject before slogan</a:t>
            </a:r>
            <a:endParaRPr lang="en-US"/>
          </a:p>
        </p:txBody>
      </p:sp>
      <p:sp>
        <p:nvSpPr>
          <p:cNvPr id="12" name="visual-note-foot"/>
          <p:cNvSpPr txBox="1"/>
          <p:nvPr/>
        </p:nvSpPr>
        <p:spPr>
          <a:xfrm xmlns:a="http://schemas.openxmlformats.org/drawingml/2006/main">
            <a:off x="9239250" y="5219700"/>
            <a:ext cx="400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77726B"/>
                </a:solidFill>
                <a:latin typeface="Arial"/>
                <a:ea typeface="Arial"/>
              </a:rPr>
              <a:t>Crop, contrast and source role are reviewed before delivery.</a:t>
            </a:r>
            <a:endParaRPr lang="en-US"/>
          </a:p>
        </p:txBody>
      </p:sp>
      <p:sp>
        <p:nvSpPr>
          <p:cNvPr id="13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77726B"/>
                </a:solidFill>
                <a:latin typeface="Arial"/>
                <a:ea typeface="Arial"/>
              </a:rPr>
              <a:t>OfficeKit original clean-room visual field · fictional content</a:t>
            </a:r>
            <a:endParaRPr lang="en-US"/>
          </a:p>
        </p:txBody>
      </p:sp>
      <p:sp>
        <p:nvSpPr>
          <p:cNvPr id="14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77726B"/>
                </a:solidFill>
                <a:latin typeface="Arial"/>
                <a:ea typeface="Arial"/>
              </a:rPr>
              <a:t>5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6.xml><?xml version="1.0" encoding="utf-8"?>
<p:sld xmlns:p="http://schemas.openxmlformats.org/presentationml/2006/main">
  <p:cSld name="Decision clos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6DF"/>
          </a:solidFill>
          <a:ln xmlns:a="http://schemas.openxmlformats.org/drawingml/2006/main" w="0">
            <a:solidFill>
              <a:srgbClr val="E9E6D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clos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4B91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SAFFRON EDITORIAL · CLOS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E4B91E"/>
                </a:solidFill>
                <a:latin typeface="Arial"/>
                <a:ea typeface="Arial"/>
              </a:rPr>
              <a:t>SAFFRON EDITORIAL · CLOSE</a:t>
            </a:r>
            <a:endParaRPr lang="en-US"/>
          </a:p>
        </p:txBody>
      </p:sp>
      <p:sp>
        <p:nvSpPr>
          <p:cNvPr id="5" name="close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11111"/>
                </a:solidFill>
                <a:latin typeface="Arial"/>
                <a:ea typeface="Arial"/>
              </a:rPr>
              <a:t>Turn the shared invitation into an action plan</a:t>
            </a:r>
            <a:endParaRPr lang="en-US"/>
          </a:p>
        </p:txBody>
      </p:sp>
      <p:sp>
        <p:nvSpPr>
          <p:cNvPr id="6" name="close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77726B"/>
                </a:solidFill>
                <a:latin typeface="Arial"/>
                <a:ea typeface="Arial"/>
              </a:rPr>
              <a:t>A reference page must leave the reader with a bounded next move.</a:t>
            </a:r>
            <a:endParaRPr lang="en-US"/>
          </a:p>
        </p:txBody>
      </p:sp>
      <p:sp>
        <p:nvSpPr>
          <p:cNvPr id="7" name="clos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7726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close-number-0"/>
          <p:cNvSpPr txBox="1"/>
          <p:nvPr/>
        </p:nvSpPr>
        <p:spPr>
          <a:xfrm xmlns:a="http://schemas.openxmlformats.org/drawingml/2006/main">
            <a:off x="1104900" y="32194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E4B91E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9" name="close-row-rule-0"/>
          <p:cNvSpPr/>
          <p:nvPr/>
        </p:nvSpPr>
        <p:spPr>
          <a:xfrm xmlns:a="http://schemas.openxmlformats.org/drawingml/2006/main">
            <a:off x="2000250" y="33718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77726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close-label-0"/>
          <p:cNvSpPr txBox="1"/>
          <p:nvPr/>
        </p:nvSpPr>
        <p:spPr>
          <a:xfrm xmlns:a="http://schemas.openxmlformats.org/drawingml/2006/main">
            <a:off x="2114550" y="31813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11111"/>
                </a:solidFill>
                <a:latin typeface="Arial"/>
                <a:ea typeface="Arial"/>
              </a:rPr>
              <a:t>Promise</a:t>
            </a:r>
            <a:endParaRPr lang="en-US"/>
          </a:p>
        </p:txBody>
      </p:sp>
      <p:sp>
        <p:nvSpPr>
          <p:cNvPr id="11" name="close-text-0"/>
          <p:cNvSpPr txBox="1"/>
          <p:nvPr/>
        </p:nvSpPr>
        <p:spPr>
          <a:xfrm xmlns:a="http://schemas.openxmlformats.org/drawingml/2006/main">
            <a:off x="4495800" y="32194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11111"/>
                </a:solidFill>
                <a:latin typeface="Arial"/>
                <a:ea typeface="Arial"/>
              </a:rPr>
              <a:t>The proposition is legible.</a:t>
            </a:r>
            <a:endParaRPr lang="en-US"/>
          </a:p>
        </p:txBody>
      </p:sp>
      <p:sp>
        <p:nvSpPr>
          <p:cNvPr id="12" name="close-number-1"/>
          <p:cNvSpPr txBox="1"/>
          <p:nvPr/>
        </p:nvSpPr>
        <p:spPr>
          <a:xfrm xmlns:a="http://schemas.openxmlformats.org/drawingml/2006/main">
            <a:off x="1104900" y="426720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11111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13" name="close-row-rule-1"/>
          <p:cNvSpPr/>
          <p:nvPr/>
        </p:nvSpPr>
        <p:spPr>
          <a:xfrm xmlns:a="http://schemas.openxmlformats.org/drawingml/2006/main">
            <a:off x="2000250" y="44196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77726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close-label-1"/>
          <p:cNvSpPr txBox="1"/>
          <p:nvPr/>
        </p:nvSpPr>
        <p:spPr>
          <a:xfrm xmlns:a="http://schemas.openxmlformats.org/drawingml/2006/main">
            <a:off x="2114550" y="42291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11111"/>
                </a:solidFill>
                <a:latin typeface="Arial"/>
                <a:ea typeface="Arial"/>
              </a:rPr>
              <a:t>Proof</a:t>
            </a:r>
            <a:endParaRPr lang="en-US"/>
          </a:p>
        </p:txBody>
      </p:sp>
      <p:sp>
        <p:nvSpPr>
          <p:cNvPr id="15" name="close-text-1"/>
          <p:cNvSpPr txBox="1"/>
          <p:nvPr/>
        </p:nvSpPr>
        <p:spPr>
          <a:xfrm xmlns:a="http://schemas.openxmlformats.org/drawingml/2006/main">
            <a:off x="4495800" y="426720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11111"/>
                </a:solidFill>
                <a:latin typeface="Arial"/>
                <a:ea typeface="Arial"/>
              </a:rPr>
              <a:t>The response is measurable.</a:t>
            </a:r>
            <a:endParaRPr lang="en-US"/>
          </a:p>
        </p:txBody>
      </p:sp>
      <p:sp>
        <p:nvSpPr>
          <p:cNvPr id="16" name="close-number-2"/>
          <p:cNvSpPr txBox="1"/>
          <p:nvPr/>
        </p:nvSpPr>
        <p:spPr>
          <a:xfrm xmlns:a="http://schemas.openxmlformats.org/drawingml/2006/main">
            <a:off x="1104900" y="53149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E4B91E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17" name="close-row-rule-2"/>
          <p:cNvSpPr/>
          <p:nvPr/>
        </p:nvSpPr>
        <p:spPr>
          <a:xfrm xmlns:a="http://schemas.openxmlformats.org/drawingml/2006/main">
            <a:off x="2000250" y="54673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E4B91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close-label-2"/>
          <p:cNvSpPr txBox="1"/>
          <p:nvPr/>
        </p:nvSpPr>
        <p:spPr>
          <a:xfrm xmlns:a="http://schemas.openxmlformats.org/drawingml/2006/main">
            <a:off x="2114550" y="52768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11111"/>
                </a:solidFill>
                <a:latin typeface="Arial"/>
                <a:ea typeface="Arial"/>
              </a:rPr>
              <a:t>Move</a:t>
            </a:r>
            <a:endParaRPr lang="en-US"/>
          </a:p>
        </p:txBody>
      </p:sp>
      <p:sp>
        <p:nvSpPr>
          <p:cNvPr id="19" name="close-text-2"/>
          <p:cNvSpPr txBox="1"/>
          <p:nvPr/>
        </p:nvSpPr>
        <p:spPr>
          <a:xfrm xmlns:a="http://schemas.openxmlformats.org/drawingml/2006/main">
            <a:off x="4495800" y="53149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11111"/>
                </a:solidFill>
                <a:latin typeface="Arial"/>
                <a:ea typeface="Arial"/>
              </a:rPr>
              <a:t>Give the audience one action.</a:t>
            </a:r>
            <a:endParaRPr lang="en-US"/>
          </a:p>
        </p:txBody>
      </p:sp>
      <p:sp>
        <p:nvSpPr>
          <p:cNvPr id="20" name="next-rule"/>
          <p:cNvSpPr/>
          <p:nvPr/>
        </p:nvSpPr>
        <p:spPr>
          <a:xfrm xmlns:a="http://schemas.openxmlformats.org/drawingml/2006/main">
            <a:off x="10668000" y="3714750"/>
            <a:ext cx="3048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4B91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next-label"/>
          <p:cNvSpPr txBox="1"/>
          <p:nvPr/>
        </p:nvSpPr>
        <p:spPr>
          <a:xfrm xmlns:a="http://schemas.openxmlformats.org/drawingml/2006/main">
            <a:off x="10668000" y="40386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E4B91E"/>
                </a:solidFill>
                <a:latin typeface="Arial"/>
                <a:ea typeface="Arial"/>
              </a:rPr>
              <a:t>NEXT MOVE</a:t>
            </a:r>
            <a:endParaRPr lang="en-US"/>
          </a:p>
        </p:txBody>
      </p:sp>
      <p:sp>
        <p:nvSpPr>
          <p:cNvPr id="22" name="next-text"/>
          <p:cNvSpPr txBox="1"/>
          <p:nvPr/>
        </p:nvSpPr>
        <p:spPr>
          <a:xfrm xmlns:a="http://schemas.openxmlformats.org/drawingml/2006/main">
            <a:off x="10668000" y="4514850"/>
            <a:ext cx="3048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75" b="1">
                <a:solidFill>
                  <a:srgbClr val="111111"/>
                </a:solidFill>
                <a:latin typeface="Arial"/>
                <a:ea typeface="Arial"/>
              </a:rPr>
              <a:t>Publish the invitation</a:t>
            </a:r>
            <a:endParaRPr lang="en-US"/>
          </a:p>
        </p:txBody>
      </p:sp>
      <p:sp>
        <p:nvSpPr>
          <p:cNvPr id="23" name="next-foot"/>
          <p:cNvSpPr txBox="1"/>
          <p:nvPr/>
        </p:nvSpPr>
        <p:spPr>
          <a:xfrm xmlns:a="http://schemas.openxmlformats.org/drawingml/2006/main">
            <a:off x="10668000" y="56007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77726B"/>
                </a:solidFill>
                <a:latin typeface="Arial"/>
                <a:ea typeface="Arial"/>
              </a:rPr>
              <a:t>Owner · reviewer · date</a:t>
            </a:r>
            <a:endParaRPr lang="en-US"/>
          </a:p>
        </p:txBody>
      </p:sp>
      <p:sp>
        <p:nvSpPr>
          <p:cNvPr id="24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77726B"/>
                </a:solidFill>
                <a:latin typeface="Arial"/>
                <a:ea typeface="Arial"/>
              </a:rPr>
              <a:t>OfficeKit original clean-room calibration · reference deck is editable and inspectable</a:t>
            </a:r>
            <a:endParaRPr lang="en-US"/>
          </a:p>
        </p:txBody>
      </p:sp>
      <p:sp>
        <p:nvSpPr>
          <p:cNvPr id="25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77726B"/>
                </a:solidFill>
                <a:latin typeface="Arial"/>
                <a:ea typeface="Arial"/>
              </a:rPr>
              <a:t>6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