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0a1658ac67e40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620c6c0ed93947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png" Id="rIdOfficeKitImage6f80b7c05bd357c7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2.xml" Id="Ra316fbadf5ee449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Signal carried by the evidence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Observed</c:v>
          </c:tx>
          <c:spPr>
            <a:solidFill>
              <a:srgbClr val="E4B91E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77726B"/>
            </a:solidFill>
          </c:spPr>
          <c:cat>
            <c:strLit>
              <c:ptCount val="5"/>
              <c:pt idx="0">
                <c:v>A</c:v>
              </c:pt>
              <c:pt idx="1">
                <c:v>B</c:v>
              </c:pt>
              <c:pt idx="2">
                <c:v>C</c:v>
              </c:pt>
              <c:pt idx="3">
                <c:v>D</c:v>
              </c:pt>
              <c:pt idx="4">
                <c:v>E</c:v>
              </c:pt>
            </c:strLit>
          </c:cat>
          <c:val>
            <c:numLit>
              <c:formatCode>General</c:formatCode>
              <c:ptCount val="5"/>
              <c:pt idx="0">
                <c:v>32</c:v>
              </c:pt>
              <c:pt idx="1">
                <c:v>36</c:v>
              </c:pt>
              <c:pt idx="2">
                <c:v>40</c:v>
              </c:pt>
              <c:pt idx="3">
                <c:v>44</c:v>
              </c:pt>
              <c:pt idx="4">
                <c:v>49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PROMOTION · OFFICEKIT CALIBRATION</a:t>
            </a:r>
            <a:endParaRPr lang="en-US"/>
          </a:p>
        </p:txBody>
      </p:sp>
      <p:sp>
        <p:nvSpPr>
          <p:cNvPr id="5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11111"/>
                </a:solidFill>
                <a:latin typeface="Arial"/>
                <a:ea typeface="Arial"/>
              </a:rPr>
              <a:t>Saffron Editorial: a claim worth testing</a:t>
            </a:r>
            <a:endParaRPr lang="en-US"/>
          </a:p>
        </p:txBody>
      </p:sp>
      <p:sp>
        <p:nvSpPr>
          <p:cNvPr id="6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E4B91E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7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9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A proposition earns attention when it gives a next move.</a:t>
            </a:r>
            <a:endParaRPr lang="en-US"/>
          </a:p>
        </p:txBody>
      </p:sp>
      <p:sp>
        <p:nvSpPr>
          <p:cNvPr id="10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1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2" name="anchor-shape"/>
          <p:cNvSpPr/>
          <p:nvPr/>
        </p:nvSpPr>
        <p:spPr>
          <a:xfrm xmlns:a="http://schemas.openxmlformats.org/drawingml/2006/main">
            <a:off x="11430000" y="2000250"/>
            <a:ext cx="2095500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B91E"/>
          </a:solidFill>
          <a:ln xmlns:a="http://schemas.openxmlformats.org/drawingml/2006/main" w="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anchor-shape-two"/>
          <p:cNvSpPr/>
          <p:nvPr/>
        </p:nvSpPr>
        <p:spPr>
          <a:xfrm xmlns:a="http://schemas.openxmlformats.org/drawingml/2006/main">
            <a:off x="12096750" y="2743200"/>
            <a:ext cx="20955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4055"/>
          </a:solidFill>
          <a:ln xmlns:a="http://schemas.openxmlformats.org/drawingml/2006/main" w="0">
            <a:solidFill>
              <a:srgbClr val="D640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proposition is the page's visual 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11111"/>
                </a:solidFill>
                <a:latin typeface="Arial"/>
                <a:ea typeface="Arial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11111"/>
                </a:solidFill>
                <a:latin typeface="Arial"/>
                <a:ea typeface="Arial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6250" t="0" r="6250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E4B91E"/>
                </a:solidFill>
                <a:latin typeface="Arial"/>
                <a:ea typeface="Arial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signal grows when the invitation 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20c6c0ed9394796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E4B91E"/>
                </a:solidFill>
                <a:latin typeface="Arial"/>
                <a:ea typeface="Arial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Reach is useful only when the audience can see and take the 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11111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8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13438" t="0" r="13438" b="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857500"/>
          </a:xfrm>
          <a:prstGeom xmlns:a="http://schemas.openxmlformats.org/drawingml/2006/main" prst="rect">
            <a:avLst/>
          </a:prstGeom>
        </p:spPr>
      </p:pic>
      <p:pic>
        <p:nvPicPr>
          <p:cNvPr id="9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3714750" cy="1333500"/>
          </a:xfrm>
          <a:prstGeom xmlns:a="http://schemas.openxmlformats.org/drawingml/2006/main" prst="rect">
            <a:avLst/>
          </a:prstGeom>
        </p:spPr>
      </p:pic>
      <p:pic>
        <p:nvPicPr>
          <p:cNvPr id="10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f80b7c05bd357c7_1"/>
          <a:srcRect xmlns:a="http://schemas.openxmlformats.org/drawingml/2006/main" l="0" t="18091" r="0" b="1809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86300"/>
            <a:ext cx="3714750" cy="1333500"/>
          </a:xfrm>
          <a:prstGeom xmlns:a="http://schemas.openxmlformats.org/drawingml/2006/main" prst="rect">
            <a:avLst/>
          </a:prstGeom>
        </p:spPr>
      </p:pic>
      <p:sp>
        <p:nvSpPr>
          <p:cNvPr id="11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IMAGE MATRIX</a:t>
            </a:r>
            <a:endParaRPr lang="en-US"/>
          </a:p>
        </p:txBody>
      </p:sp>
      <p:sp>
        <p:nvSpPr>
          <p:cNvPr id="12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One subject, three ways to notice it.</a:t>
            </a:r>
            <a:endParaRPr lang="en-US"/>
          </a:p>
        </p:txBody>
      </p:sp>
      <p:sp>
        <p:nvSpPr>
          <p:cNvPr id="13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7726B"/>
                </a:solidFill>
                <a:latin typeface="Arial"/>
                <a:ea typeface="Arial"/>
              </a:rPr>
              <a:t>Use unequal frames to show facets of one idea. The crop carries the mood; the label carries the claim.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Let the subject do the work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strong crop gives the proposition a place to live.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visual-field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14400" y="3028950"/>
          <a:ext xmlns:a="http://schemas.openxmlformats.org/drawingml/2006/main" cx="7429500" cy="3695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316fbadf5ee449e"/>
          </a:graphicData>
        </a:graphic>
      </p:graphicFrame>
      <p:sp>
        <p:nvSpPr>
          <p:cNvPr id="9" name="visual-note"/>
          <p:cNvSpPr/>
          <p:nvPr/>
        </p:nvSpPr>
        <p:spPr>
          <a:xfrm xmlns:a="http://schemas.openxmlformats.org/drawingml/2006/main">
            <a:off x="8858250" y="3333750"/>
            <a:ext cx="4762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visual-note-label"/>
          <p:cNvSpPr txBox="1"/>
          <p:nvPr/>
        </p:nvSpPr>
        <p:spPr>
          <a:xfrm xmlns:a="http://schemas.openxmlformats.org/drawingml/2006/main">
            <a:off x="9239250" y="36957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CARRIER</a:t>
            </a:r>
            <a:endParaRPr lang="en-US"/>
          </a:p>
        </p:txBody>
      </p:sp>
      <p:sp>
        <p:nvSpPr>
          <p:cNvPr id="11" name="visual-note-text"/>
          <p:cNvSpPr txBox="1"/>
          <p:nvPr/>
        </p:nvSpPr>
        <p:spPr>
          <a:xfrm xmlns:a="http://schemas.openxmlformats.org/drawingml/2006/main">
            <a:off x="9239250" y="4171950"/>
            <a:ext cx="4000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11111"/>
                </a:solidFill>
                <a:latin typeface="Arial"/>
                <a:ea typeface="Arial"/>
              </a:rPr>
              <a:t>Subject before slogan</a:t>
            </a:r>
            <a:endParaRPr lang="en-US"/>
          </a:p>
        </p:txBody>
      </p:sp>
      <p:sp>
        <p:nvSpPr>
          <p:cNvPr id="12" name="visual-note-foot"/>
          <p:cNvSpPr txBox="1"/>
          <p:nvPr/>
        </p:nvSpPr>
        <p:spPr>
          <a:xfrm xmlns:a="http://schemas.openxmlformats.org/drawingml/2006/main">
            <a:off x="9239250" y="52197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7726B"/>
                </a:solidFill>
                <a:latin typeface="Arial"/>
                <a:ea typeface="Arial"/>
              </a:rPr>
              <a:t>Crop, contrast and source role are reviewed before delivery.</a:t>
            </a:r>
            <a:endParaRPr lang="en-US"/>
          </a:p>
        </p:txBody>
      </p:sp>
      <p:sp>
        <p:nvSpPr>
          <p:cNvPr id="13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4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6DF"/>
          </a:solidFill>
          <a:ln xmlns:a="http://schemas.openxmlformats.org/drawingml/2006/main" w="0">
            <a:solidFill>
              <a:srgbClr val="E9E6D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AFFRON EDITORIAL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E4B91E"/>
                </a:solidFill>
                <a:latin typeface="Arial"/>
                <a:ea typeface="Arial"/>
              </a:rPr>
              <a:t>SAFFRON EDITORIAL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11111"/>
                </a:solidFill>
                <a:latin typeface="Arial"/>
                <a:ea typeface="Arial"/>
              </a:rPr>
              <a:t>Turn the shared invitation into an 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77726B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11111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7726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E4B91E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11111"/>
                </a:solidFill>
                <a:latin typeface="Arial"/>
                <a:ea typeface="Arial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11111"/>
                </a:solidFill>
                <a:latin typeface="Arial"/>
                <a:ea typeface="Arial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4B91E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E4B91E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11111"/>
                </a:solidFill>
                <a:latin typeface="Arial"/>
                <a:ea typeface="Arial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7726B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7726B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