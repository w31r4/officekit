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0342da555b045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930dcb9c6b9595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977612ad933c986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35d943dc999c7d05_1" /><Relationship Type="http://schemas.openxmlformats.org/officeDocument/2006/relationships/image" Target="/ppt/media/image4.jpg" Id="rIdOfficeKitImagea68aebf613832e5f_1" /><Relationship Type="http://schemas.openxmlformats.org/officeDocument/2006/relationships/image" Target="/ppt/media/image5.jpg" Id="rIdOfficeKitImagec49ddd99c59beda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84ff976f39aab728_1" /></Relationships>
</file>

<file path=ppt/slides/slide1.xml><?xml version="1.0" encoding="utf-8"?>
<p:sld xmlns:p="http://schemas.openxmlformats.org/presentationml/2006/main">
  <p:cSld name="Opening proposition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ilk-cover-paper"/>
          <p:cNvSpPr/>
          <p:nvPr/>
        </p:nvSpPr>
        <p:spPr>
          <a:xfrm xmlns:a="http://schemas.openxmlformats.org/drawingml/2006/main">
            <a:off x="0" y="0"/>
            <a:ext cx="9048750" cy="670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ilk-cover-eyebrow"/>
          <p:cNvSpPr txBox="1"/>
          <p:nvPr/>
        </p:nvSpPr>
        <p:spPr>
          <a:xfrm xmlns:a="http://schemas.openxmlformats.org/drawingml/2006/main">
            <a:off x="990600" y="8382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64055"/>
                </a:solidFill>
                <a:latin typeface="Arial"/>
                <a:ea typeface="Arial"/>
              </a:rPr>
              <a:t>2026  ·  FIELD NOTE  · 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90600" y="1657350"/>
            <a:ext cx="7334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11111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silk-cover-subtitle"/>
          <p:cNvSpPr txBox="1"/>
          <p:nvPr/>
        </p:nvSpPr>
        <p:spPr>
          <a:xfrm xmlns:a="http://schemas.openxmlformats.org/drawingml/2006/main">
            <a:off x="1028700" y="33337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An editorial reference for evidence, identity, and measured activation.</a:t>
            </a:r>
            <a:endParaRPr lang="en-US"/>
          </a:p>
        </p:txBody>
      </p:sp>
      <p:sp>
        <p:nvSpPr>
          <p:cNvPr id="6" name="silk-cover-rule"/>
          <p:cNvSpPr/>
          <p:nvPr/>
        </p:nvSpPr>
        <p:spPr>
          <a:xfrm xmlns:a="http://schemas.openxmlformats.org/drawingml/2006/main">
            <a:off x="1028700" y="4057650"/>
            <a:ext cx="683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silk-cover-basis"/>
          <p:cNvSpPr txBox="1"/>
          <p:nvPr/>
        </p:nvSpPr>
        <p:spPr>
          <a:xfrm xmlns:a="http://schemas.openxmlformats.org/drawingml/2006/main">
            <a:off x="1028700" y="43053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One visual language · six page roles · native editable content</a:t>
            </a:r>
            <a:endParaRPr lang="en-US"/>
          </a:p>
        </p:txBody>
      </p:sp>
      <p:sp>
        <p:nvSpPr>
          <p:cNvPr id="8" name="silk-cover-band"/>
          <p:cNvSpPr/>
          <p:nvPr/>
        </p:nvSpPr>
        <p:spPr>
          <a:xfrm xmlns:a="http://schemas.openxmlformats.org/drawingml/2006/main">
            <a:off x="0" y="6705600"/>
            <a:ext cx="15240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silk-cover-band-text"/>
          <p:cNvSpPr txBox="1"/>
          <p:nvPr/>
        </p:nvSpPr>
        <p:spPr>
          <a:xfrm xmlns:a="http://schemas.openxmlformats.org/drawingml/2006/main">
            <a:off x="1028700" y="706755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E9E6DF"/>
                </a:solidFill>
                <a:latin typeface="Arial"/>
                <a:ea typeface="Arial"/>
              </a:rPr>
              <a:t>FIELD NOTE  ·  A visual idea is useful when the evidence can travel with it.</a:t>
            </a:r>
            <a:endParaRPr lang="en-US"/>
          </a:p>
        </p:txBody>
      </p:sp>
      <p:sp>
        <p:nvSpPr>
          <p:cNvPr id="10" name="silk-cover-signal"/>
          <p:cNvSpPr/>
          <p:nvPr/>
        </p:nvSpPr>
        <p:spPr>
          <a:xfrm xmlns:a="http://schemas.openxmlformats.org/drawingml/2006/main">
            <a:off x="12668250" y="6705600"/>
            <a:ext cx="165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silk-cover-signal-text"/>
          <p:cNvSpPr txBox="1"/>
          <p:nvPr/>
        </p:nvSpPr>
        <p:spPr>
          <a:xfrm xmlns:a="http://schemas.openxmlformats.org/drawingml/2006/main">
            <a:off x="12877800" y="70866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01  /  06</a:t>
            </a:r>
            <a:endParaRPr lang="en-US"/>
          </a:p>
        </p:txBody>
      </p:sp>
      <p:sp>
        <p:nvSpPr>
          <p:cNvPr id="12" name="silk-cover-source"/>
          <p:cNvSpPr txBox="1"/>
          <p:nvPr/>
        </p:nvSpPr>
        <p:spPr>
          <a:xfrm xmlns:a="http://schemas.openxmlformats.org/drawingml/2006/main">
            <a:off x="1028700" y="79629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ilk-index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ilk-meta"/>
          <p:cNvSpPr txBox="1"/>
          <p:nvPr/>
        </p:nvSpPr>
        <p:spPr>
          <a:xfrm xmlns:a="http://schemas.openxmlformats.org/drawingml/2006/main">
            <a:off x="9906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SAFFRON EDITORIAL  ·  CHAPTER INDEX</a:t>
            </a:r>
            <a:endParaRPr lang="en-US"/>
          </a:p>
        </p:txBody>
      </p:sp>
      <p:sp>
        <p:nvSpPr>
          <p:cNvPr id="4" name="silk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02 / 06</a:t>
            </a:r>
            <a:endParaRPr lang="en-US"/>
          </a:p>
        </p:txBody>
      </p:sp>
      <p:sp>
        <p:nvSpPr>
          <p:cNvPr id="5" name="silk-tab"/>
          <p:cNvSpPr/>
          <p:nvPr/>
        </p:nvSpPr>
        <p:spPr>
          <a:xfrm xmlns:a="http://schemas.openxmlformats.org/drawingml/2006/main">
            <a:off x="914400" y="9906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ilk-tab-label"/>
          <p:cNvSpPr txBox="1"/>
          <p:nvPr/>
        </p:nvSpPr>
        <p:spPr>
          <a:xfrm xmlns:a="http://schemas.openxmlformats.org/drawingml/2006/main">
            <a:off x="1028700" y="1057275"/>
            <a:ext cx="15811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FFFFFF"/>
                </a:solidFill>
                <a:latin typeface="Arial"/>
                <a:ea typeface="Arial"/>
              </a:rPr>
              <a:t>CONTENTS · SIX SHIFTS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90600" y="1581150"/>
            <a:ext cx="1143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 campaign becomes memorable when each chapter changes the question.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1028700" y="23622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Six beats · each one carries a proposition, a proof, and a direction.</a:t>
            </a:r>
            <a:endParaRPr lang="en-US"/>
          </a:p>
        </p:txBody>
      </p:sp>
      <p:sp>
        <p:nvSpPr>
          <p:cNvPr id="9" name="silk-index-block-0"/>
          <p:cNvSpPr/>
          <p:nvPr/>
        </p:nvSpPr>
        <p:spPr>
          <a:xfrm xmlns:a="http://schemas.openxmlformats.org/drawingml/2006/main">
            <a:off x="1028700" y="3219450"/>
            <a:ext cx="4000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DBE"/>
          </a:solidFill>
          <a:ln xmlns:a="http://schemas.openxmlformats.org/drawingml/2006/main" w="0">
            <a:solidFill>
              <a:srgbClr val="E2FDB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ilk-index-number-0"/>
          <p:cNvSpPr txBox="1"/>
          <p:nvPr/>
        </p:nvSpPr>
        <p:spPr>
          <a:xfrm xmlns:a="http://schemas.openxmlformats.org/drawingml/2006/main">
            <a:off x="1238250" y="33909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silk-index-label-0"/>
          <p:cNvSpPr txBox="1"/>
          <p:nvPr/>
        </p:nvSpPr>
        <p:spPr>
          <a:xfrm xmlns:a="http://schemas.openxmlformats.org/drawingml/2006/main">
            <a:off x="1847850" y="33718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silk-index-text-0"/>
          <p:cNvSpPr txBox="1"/>
          <p:nvPr/>
        </p:nvSpPr>
        <p:spPr>
          <a:xfrm xmlns:a="http://schemas.openxmlformats.org/drawingml/2006/main">
            <a:off x="1238250" y="38100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111111"/>
                </a:solidFill>
                <a:latin typeface="Arial"/>
                <a:ea typeface="Arial"/>
              </a:rPr>
              <a:t>Name the audience tension.</a:t>
            </a:r>
            <a:endParaRPr lang="en-US"/>
          </a:p>
        </p:txBody>
      </p:sp>
      <p:sp>
        <p:nvSpPr>
          <p:cNvPr id="13" name="silk-index-block-1"/>
          <p:cNvSpPr/>
          <p:nvPr/>
        </p:nvSpPr>
        <p:spPr>
          <a:xfrm xmlns:a="http://schemas.openxmlformats.org/drawingml/2006/main">
            <a:off x="5391150" y="3219450"/>
            <a:ext cx="4000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B3A7"/>
          </a:solidFill>
          <a:ln xmlns:a="http://schemas.openxmlformats.org/drawingml/2006/main" w="0">
            <a:solidFill>
              <a:srgbClr val="F9B3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ilk-index-number-1"/>
          <p:cNvSpPr txBox="1"/>
          <p:nvPr/>
        </p:nvSpPr>
        <p:spPr>
          <a:xfrm xmlns:a="http://schemas.openxmlformats.org/drawingml/2006/main">
            <a:off x="5600700" y="33909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silk-index-label-1"/>
          <p:cNvSpPr txBox="1"/>
          <p:nvPr/>
        </p:nvSpPr>
        <p:spPr>
          <a:xfrm xmlns:a="http://schemas.openxmlformats.org/drawingml/2006/main">
            <a:off x="6210300" y="33718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Context</a:t>
            </a:r>
            <a:endParaRPr lang="en-US"/>
          </a:p>
        </p:txBody>
      </p:sp>
      <p:sp>
        <p:nvSpPr>
          <p:cNvPr id="16" name="silk-index-text-1"/>
          <p:cNvSpPr txBox="1"/>
          <p:nvPr/>
        </p:nvSpPr>
        <p:spPr>
          <a:xfrm xmlns:a="http://schemas.openxmlformats.org/drawingml/2006/main">
            <a:off x="5600700" y="38100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111111"/>
                </a:solidFill>
                <a:latin typeface="Arial"/>
                <a:ea typeface="Arial"/>
              </a:rPr>
              <a:t>Show where the pattern lives.</a:t>
            </a:r>
            <a:endParaRPr lang="en-US"/>
          </a:p>
        </p:txBody>
      </p:sp>
      <p:sp>
        <p:nvSpPr>
          <p:cNvPr id="17" name="silk-index-block-2"/>
          <p:cNvSpPr/>
          <p:nvPr/>
        </p:nvSpPr>
        <p:spPr>
          <a:xfrm xmlns:a="http://schemas.openxmlformats.org/drawingml/2006/main">
            <a:off x="9753600" y="3219450"/>
            <a:ext cx="4000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8EBE"/>
          </a:solidFill>
          <a:ln xmlns:a="http://schemas.openxmlformats.org/drawingml/2006/main" w="0">
            <a:solidFill>
              <a:srgbClr val="6E8EB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ilk-index-number-2"/>
          <p:cNvSpPr txBox="1"/>
          <p:nvPr/>
        </p:nvSpPr>
        <p:spPr>
          <a:xfrm xmlns:a="http://schemas.openxmlformats.org/drawingml/2006/main">
            <a:off x="9963150" y="33909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FFFF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silk-index-label-2"/>
          <p:cNvSpPr txBox="1"/>
          <p:nvPr/>
        </p:nvSpPr>
        <p:spPr>
          <a:xfrm xmlns:a="http://schemas.openxmlformats.org/drawingml/2006/main">
            <a:off x="10572750" y="33718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0" name="silk-index-text-2"/>
          <p:cNvSpPr txBox="1"/>
          <p:nvPr/>
        </p:nvSpPr>
        <p:spPr>
          <a:xfrm xmlns:a="http://schemas.openxmlformats.org/drawingml/2006/main">
            <a:off x="9963150" y="38100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Make the proposition concrete.</a:t>
            </a:r>
            <a:endParaRPr lang="en-US"/>
          </a:p>
        </p:txBody>
      </p:sp>
      <p:sp>
        <p:nvSpPr>
          <p:cNvPr id="21" name="silk-index-block-3"/>
          <p:cNvSpPr/>
          <p:nvPr/>
        </p:nvSpPr>
        <p:spPr>
          <a:xfrm xmlns:a="http://schemas.openxmlformats.org/drawingml/2006/main">
            <a:off x="1028700" y="4667250"/>
            <a:ext cx="4000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055"/>
          </a:solidFill>
          <a:ln xmlns:a="http://schemas.openxmlformats.org/drawingml/2006/main" w="0">
            <a:solidFill>
              <a:srgbClr val="D640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silk-index-number-3"/>
          <p:cNvSpPr txBox="1"/>
          <p:nvPr/>
        </p:nvSpPr>
        <p:spPr>
          <a:xfrm xmlns:a="http://schemas.openxmlformats.org/drawingml/2006/main">
            <a:off x="1238250" y="48387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silk-index-label-3"/>
          <p:cNvSpPr txBox="1"/>
          <p:nvPr/>
        </p:nvSpPr>
        <p:spPr>
          <a:xfrm xmlns:a="http://schemas.openxmlformats.org/drawingml/2006/main">
            <a:off x="1847850" y="48196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FFFFF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24" name="silk-index-text-3"/>
          <p:cNvSpPr txBox="1"/>
          <p:nvPr/>
        </p:nvSpPr>
        <p:spPr>
          <a:xfrm xmlns:a="http://schemas.openxmlformats.org/drawingml/2006/main">
            <a:off x="1238250" y="52578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Attach a measure to the claim.</a:t>
            </a:r>
            <a:endParaRPr lang="en-US"/>
          </a:p>
        </p:txBody>
      </p:sp>
      <p:sp>
        <p:nvSpPr>
          <p:cNvPr id="25" name="silk-index-block-4"/>
          <p:cNvSpPr/>
          <p:nvPr/>
        </p:nvSpPr>
        <p:spPr>
          <a:xfrm xmlns:a="http://schemas.openxmlformats.org/drawingml/2006/main">
            <a:off x="5391150" y="4667250"/>
            <a:ext cx="4000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BBBD"/>
          </a:solidFill>
          <a:ln xmlns:a="http://schemas.openxmlformats.org/drawingml/2006/main" w="0">
            <a:solidFill>
              <a:srgbClr val="99BBB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silk-index-number-4"/>
          <p:cNvSpPr txBox="1"/>
          <p:nvPr/>
        </p:nvSpPr>
        <p:spPr>
          <a:xfrm xmlns:a="http://schemas.openxmlformats.org/drawingml/2006/main">
            <a:off x="5600700" y="48387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27" name="silk-index-label-4"/>
          <p:cNvSpPr txBox="1"/>
          <p:nvPr/>
        </p:nvSpPr>
        <p:spPr>
          <a:xfrm xmlns:a="http://schemas.openxmlformats.org/drawingml/2006/main">
            <a:off x="6210300" y="48196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System</a:t>
            </a:r>
            <a:endParaRPr lang="en-US"/>
          </a:p>
        </p:txBody>
      </p:sp>
      <p:sp>
        <p:nvSpPr>
          <p:cNvPr id="28" name="silk-index-text-4"/>
          <p:cNvSpPr txBox="1"/>
          <p:nvPr/>
        </p:nvSpPr>
        <p:spPr>
          <a:xfrm xmlns:a="http://schemas.openxmlformats.org/drawingml/2006/main">
            <a:off x="5600700" y="52578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111111"/>
                </a:solidFill>
                <a:latin typeface="Arial"/>
                <a:ea typeface="Arial"/>
              </a:rPr>
              <a:t>Turn one idea into repeatable moves.</a:t>
            </a:r>
            <a:endParaRPr lang="en-US"/>
          </a:p>
        </p:txBody>
      </p:sp>
      <p:sp>
        <p:nvSpPr>
          <p:cNvPr id="29" name="silk-index-block-5"/>
          <p:cNvSpPr/>
          <p:nvPr/>
        </p:nvSpPr>
        <p:spPr>
          <a:xfrm xmlns:a="http://schemas.openxmlformats.org/drawingml/2006/main">
            <a:off x="9753600" y="4667250"/>
            <a:ext cx="4000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silk-index-number-5"/>
          <p:cNvSpPr txBox="1"/>
          <p:nvPr/>
        </p:nvSpPr>
        <p:spPr>
          <a:xfrm xmlns:a="http://schemas.openxmlformats.org/drawingml/2006/main">
            <a:off x="9963150" y="48387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06</a:t>
            </a:r>
            <a:endParaRPr lang="en-US"/>
          </a:p>
        </p:txBody>
      </p:sp>
      <p:sp>
        <p:nvSpPr>
          <p:cNvPr id="31" name="silk-index-label-5"/>
          <p:cNvSpPr txBox="1"/>
          <p:nvPr/>
        </p:nvSpPr>
        <p:spPr>
          <a:xfrm xmlns:a="http://schemas.openxmlformats.org/drawingml/2006/main">
            <a:off x="10572750" y="48196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32" name="silk-index-text-5"/>
          <p:cNvSpPr txBox="1"/>
          <p:nvPr/>
        </p:nvSpPr>
        <p:spPr>
          <a:xfrm xmlns:a="http://schemas.openxmlformats.org/drawingml/2006/main">
            <a:off x="9963150" y="52578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33" name="silk-index-source"/>
          <p:cNvSpPr txBox="1"/>
          <p:nvPr/>
        </p:nvSpPr>
        <p:spPr>
          <a:xfrm xmlns:a="http://schemas.openxmlformats.org/drawingml/2006/main">
            <a:off x="1028700" y="7962900"/>
            <a:ext cx="1123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chapter colors are a visual index, not data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ilk-evidence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ilk-meta"/>
          <p:cNvSpPr txBox="1"/>
          <p:nvPr/>
        </p:nvSpPr>
        <p:spPr>
          <a:xfrm xmlns:a="http://schemas.openxmlformats.org/drawingml/2006/main">
            <a:off x="9906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SAFFRON EDITORIAL  ·  MARKET BASE</a:t>
            </a:r>
            <a:endParaRPr lang="en-US"/>
          </a:p>
        </p:txBody>
      </p:sp>
      <p:sp>
        <p:nvSpPr>
          <p:cNvPr id="4" name="silk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03 / 06</a:t>
            </a:r>
            <a:endParaRPr lang="en-US"/>
          </a:p>
        </p:txBody>
      </p:sp>
      <p:sp>
        <p:nvSpPr>
          <p:cNvPr id="5" name="silk-tab"/>
          <p:cNvSpPr/>
          <p:nvPr/>
        </p:nvSpPr>
        <p:spPr>
          <a:xfrm xmlns:a="http://schemas.openxmlformats.org/drawingml/2006/main">
            <a:off x="914400" y="9906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ilk-tab-label"/>
          <p:cNvSpPr txBox="1"/>
          <p:nvPr/>
        </p:nvSpPr>
        <p:spPr>
          <a:xfrm xmlns:a="http://schemas.openxmlformats.org/drawingml/2006/main">
            <a:off x="1028700" y="1057275"/>
            <a:ext cx="15811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FFFFFF"/>
                </a:solidFill>
                <a:latin typeface="Arial"/>
                <a:ea typeface="Arial"/>
              </a:rPr>
              <a:t>MARKET BASE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90600" y="1581150"/>
            <a:ext cx="1171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is useful only when the audience can see the behavior behind it.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1028700" y="23622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Illustrative cohort read · every number carries a unit, period, and measurement note.</a:t>
            </a:r>
            <a:endParaRPr lang="en-US"/>
          </a:p>
        </p:txBody>
      </p:sp>
      <p:sp>
        <p:nvSpPr>
          <p:cNvPr id="9" name="silk-evidence-metric"/>
          <p:cNvSpPr txBox="1"/>
          <p:nvPr/>
        </p:nvSpPr>
        <p:spPr>
          <a:xfrm xmlns:a="http://schemas.openxmlformats.org/drawingml/2006/main">
            <a:off x="1066800" y="33337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111111"/>
                </a:solidFill>
                <a:latin typeface="Arial"/>
                <a:ea typeface="Arial"/>
              </a:rPr>
              <a:t>31%</a:t>
            </a:r>
            <a:endParaRPr lang="en-US"/>
          </a:p>
        </p:txBody>
      </p:sp>
      <p:sp>
        <p:nvSpPr>
          <p:cNvPr id="10" name="silk-evidence-metric-label"/>
          <p:cNvSpPr txBox="1"/>
          <p:nvPr/>
        </p:nvSpPr>
        <p:spPr>
          <a:xfrm xmlns:a="http://schemas.openxmlformats.org/drawingml/2006/main">
            <a:off x="1104900" y="41719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repeat visits become the growth signal</a:t>
            </a:r>
            <a:endParaRPr lang="en-US"/>
          </a:p>
        </p:txBody>
      </p:sp>
      <p:sp>
        <p:nvSpPr>
          <p:cNvPr id="11" name="silk-evidence-rule-0"/>
          <p:cNvSpPr/>
          <p:nvPr/>
        </p:nvSpPr>
        <p:spPr>
          <a:xfrm xmlns:a="http://schemas.openxmlformats.org/drawingml/2006/main">
            <a:off x="1104900" y="4991100"/>
            <a:ext cx="689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silk-evidence-row-label-0"/>
          <p:cNvSpPr txBox="1"/>
          <p:nvPr/>
        </p:nvSpPr>
        <p:spPr>
          <a:xfrm xmlns:a="http://schemas.openxmlformats.org/drawingml/2006/main">
            <a:off x="1104900" y="51054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E4B91E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13" name="silk-evidence-row-value-0"/>
          <p:cNvSpPr txBox="1"/>
          <p:nvPr/>
        </p:nvSpPr>
        <p:spPr>
          <a:xfrm xmlns:a="http://schemas.openxmlformats.org/drawingml/2006/main">
            <a:off x="2343150" y="50673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11111"/>
                </a:solidFill>
                <a:latin typeface="Arial"/>
                <a:ea typeface="Arial"/>
              </a:rPr>
              <a:t>46,000</a:t>
            </a:r>
            <a:endParaRPr lang="en-US"/>
          </a:p>
        </p:txBody>
      </p:sp>
      <p:sp>
        <p:nvSpPr>
          <p:cNvPr id="14" name="silk-evidence-row-text-0"/>
          <p:cNvSpPr txBox="1"/>
          <p:nvPr/>
        </p:nvSpPr>
        <p:spPr>
          <a:xfrm xmlns:a="http://schemas.openxmlformats.org/drawingml/2006/main">
            <a:off x="4210050" y="51054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paired visits in the measured window</a:t>
            </a:r>
            <a:endParaRPr lang="en-US"/>
          </a:p>
        </p:txBody>
      </p:sp>
      <p:sp>
        <p:nvSpPr>
          <p:cNvPr id="15" name="silk-evidence-rule-1"/>
          <p:cNvSpPr/>
          <p:nvPr/>
        </p:nvSpPr>
        <p:spPr>
          <a:xfrm xmlns:a="http://schemas.openxmlformats.org/drawingml/2006/main">
            <a:off x="1104900" y="5657850"/>
            <a:ext cx="689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silk-evidence-row-label-1"/>
          <p:cNvSpPr txBox="1"/>
          <p:nvPr/>
        </p:nvSpPr>
        <p:spPr>
          <a:xfrm xmlns:a="http://schemas.openxmlformats.org/drawingml/2006/main">
            <a:off x="1104900" y="57721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D64055"/>
                </a:solidFill>
                <a:latin typeface="Arial"/>
                <a:ea typeface="Arial"/>
              </a:rPr>
              <a:t>TIME</a:t>
            </a:r>
            <a:endParaRPr lang="en-US"/>
          </a:p>
        </p:txBody>
      </p:sp>
      <p:sp>
        <p:nvSpPr>
          <p:cNvPr id="17" name="silk-evidence-row-value-1"/>
          <p:cNvSpPr txBox="1"/>
          <p:nvPr/>
        </p:nvSpPr>
        <p:spPr>
          <a:xfrm xmlns:a="http://schemas.openxmlformats.org/drawingml/2006/main">
            <a:off x="2343150" y="5734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11111"/>
                </a:solidFill>
                <a:latin typeface="Arial"/>
                <a:ea typeface="Arial"/>
              </a:rPr>
              <a:t>24%</a:t>
            </a:r>
            <a:endParaRPr lang="en-US"/>
          </a:p>
        </p:txBody>
      </p:sp>
      <p:sp>
        <p:nvSpPr>
          <p:cNvPr id="18" name="silk-evidence-row-text-1"/>
          <p:cNvSpPr txBox="1"/>
          <p:nvPr/>
        </p:nvSpPr>
        <p:spPr>
          <a:xfrm xmlns:a="http://schemas.openxmlformats.org/drawingml/2006/main">
            <a:off x="4210050" y="5772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of visits land after the first encounter</a:t>
            </a:r>
            <a:endParaRPr lang="en-US"/>
          </a:p>
        </p:txBody>
      </p:sp>
      <p:sp>
        <p:nvSpPr>
          <p:cNvPr id="19" name="silk-evidence-rule-2"/>
          <p:cNvSpPr/>
          <p:nvPr/>
        </p:nvSpPr>
        <p:spPr>
          <a:xfrm xmlns:a="http://schemas.openxmlformats.org/drawingml/2006/main">
            <a:off x="1104900" y="6324600"/>
            <a:ext cx="689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silk-evidence-row-label-2"/>
          <p:cNvSpPr txBox="1"/>
          <p:nvPr/>
        </p:nvSpPr>
        <p:spPr>
          <a:xfrm xmlns:a="http://schemas.openxmlformats.org/drawingml/2006/main">
            <a:off x="1104900" y="64389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99BBBD"/>
                </a:solidFill>
                <a:latin typeface="Arial"/>
                <a:ea typeface="Arial"/>
              </a:rPr>
              <a:t>SPEND</a:t>
            </a:r>
            <a:endParaRPr lang="en-US"/>
          </a:p>
        </p:txBody>
      </p:sp>
      <p:sp>
        <p:nvSpPr>
          <p:cNvPr id="21" name="silk-evidence-row-value-2"/>
          <p:cNvSpPr txBox="1"/>
          <p:nvPr/>
        </p:nvSpPr>
        <p:spPr>
          <a:xfrm xmlns:a="http://schemas.openxmlformats.org/drawingml/2006/main">
            <a:off x="2343150" y="64008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11111"/>
                </a:solidFill>
                <a:latin typeface="Arial"/>
                <a:ea typeface="Arial"/>
              </a:rPr>
              <a:t>91 min</a:t>
            </a:r>
            <a:endParaRPr lang="en-US"/>
          </a:p>
        </p:txBody>
      </p:sp>
      <p:sp>
        <p:nvSpPr>
          <p:cNvPr id="22" name="silk-evidence-row-text-2"/>
          <p:cNvSpPr txBox="1"/>
          <p:nvPr/>
        </p:nvSpPr>
        <p:spPr>
          <a:xfrm xmlns:a="http://schemas.openxmlformats.org/drawingml/2006/main">
            <a:off x="4210050" y="64389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median dwell time for returning visitors</a:t>
            </a:r>
            <a:endParaRPr lang="en-US"/>
          </a:p>
        </p:txBody>
      </p:sp>
      <p:pic>
        <p:nvPicPr>
          <p:cNvPr id="23" name="silk-evidence-photo" descr="Documentary image carrying the market context"/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24640" r="0" b="2464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620250" y="3124200"/>
            <a:ext cx="3848100" cy="3467100"/>
          </a:xfrm>
          <a:prstGeom xmlns:a="http://schemas.openxmlformats.org/drawingml/2006/main" prst="rect">
            <a:avLst/>
          </a:prstGeom>
        </p:spPr>
      </p:pic>
      <p:sp>
        <p:nvSpPr>
          <p:cNvPr id="24" name="silk-evidence-photo-caption"/>
          <p:cNvSpPr/>
          <p:nvPr/>
        </p:nvSpPr>
        <p:spPr>
          <a:xfrm xmlns:a="http://schemas.openxmlformats.org/drawingml/2006/main">
            <a:off x="9620250" y="6667500"/>
            <a:ext cx="384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silk-evidence-photo-caption-text"/>
          <p:cNvSpPr txBox="1"/>
          <p:nvPr/>
        </p:nvSpPr>
        <p:spPr>
          <a:xfrm xmlns:a="http://schemas.openxmlformats.org/drawingml/2006/main">
            <a:off x="9810750" y="68008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 b="1">
                <a:solidFill>
                  <a:srgbClr val="E9E6DF"/>
                </a:solidFill>
                <a:latin typeface="Arial"/>
                <a:ea typeface="Arial"/>
              </a:rPr>
              <a:t>ONE FRAME · THREE BEHAVIORS</a:t>
            </a:r>
            <a:endParaRPr lang="en-US"/>
          </a:p>
        </p:txBody>
      </p:sp>
      <p:sp>
        <p:nvSpPr>
          <p:cNvPr id="26" name="silk-evidence-source"/>
          <p:cNvSpPr txBox="1"/>
          <p:nvPr/>
        </p:nvSpPr>
        <p:spPr>
          <a:xfrm xmlns:a="http://schemas.openxmlformats.org/drawingml/2006/main">
            <a:off x="1028700" y="79629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ilk-detail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ilk-meta"/>
          <p:cNvSpPr txBox="1"/>
          <p:nvPr/>
        </p:nvSpPr>
        <p:spPr>
          <a:xfrm xmlns:a="http://schemas.openxmlformats.org/drawingml/2006/main">
            <a:off x="9906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SAFFRON EDITORIAL  ·  TIME-BLOCK ECONOMICS</a:t>
            </a:r>
            <a:endParaRPr lang="en-US"/>
          </a:p>
        </p:txBody>
      </p:sp>
      <p:sp>
        <p:nvSpPr>
          <p:cNvPr id="4" name="silk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04 / 06</a:t>
            </a:r>
            <a:endParaRPr lang="en-US"/>
          </a:p>
        </p:txBody>
      </p:sp>
      <p:sp>
        <p:nvSpPr>
          <p:cNvPr id="5" name="silk-tab"/>
          <p:cNvSpPr/>
          <p:nvPr/>
        </p:nvSpPr>
        <p:spPr>
          <a:xfrm xmlns:a="http://schemas.openxmlformats.org/drawingml/2006/main">
            <a:off x="914400" y="9906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ilk-tab-label"/>
          <p:cNvSpPr txBox="1"/>
          <p:nvPr/>
        </p:nvSpPr>
        <p:spPr>
          <a:xfrm xmlns:a="http://schemas.openxmlformats.org/drawingml/2006/main">
            <a:off x="1028700" y="1057275"/>
            <a:ext cx="15811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FFFFFF"/>
                </a:solidFill>
                <a:latin typeface="Arial"/>
                <a:ea typeface="Arial"/>
              </a:rPr>
              <a:t>TIME-BLOCK ECONOMICS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90600" y="1581150"/>
            <a:ext cx="1181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 measured rhythm turns one proposition into repeatable behavior.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1028700" y="23622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Four moments · the same unit · one comparison rule.</a:t>
            </a:r>
            <a:endParaRPr lang="en-US"/>
          </a:p>
        </p:txBody>
      </p:sp>
      <p:sp>
        <p:nvSpPr>
          <p:cNvPr id="9" name="silk-time-cell-0"/>
          <p:cNvSpPr/>
          <p:nvPr/>
        </p:nvSpPr>
        <p:spPr>
          <a:xfrm xmlns:a="http://schemas.openxmlformats.org/drawingml/2006/main">
            <a:off x="1028700" y="3543300"/>
            <a:ext cx="1943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ilk-time-label-0"/>
          <p:cNvSpPr txBox="1"/>
          <p:nvPr/>
        </p:nvSpPr>
        <p:spPr>
          <a:xfrm xmlns:a="http://schemas.openxmlformats.org/drawingml/2006/main">
            <a:off x="1219200" y="37338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AM</a:t>
            </a:r>
            <a:endParaRPr lang="en-US"/>
          </a:p>
        </p:txBody>
      </p:sp>
      <p:sp>
        <p:nvSpPr>
          <p:cNvPr id="11" name="silk-time-value-0"/>
          <p:cNvSpPr txBox="1"/>
          <p:nvPr/>
        </p:nvSpPr>
        <p:spPr>
          <a:xfrm xmlns:a="http://schemas.openxmlformats.org/drawingml/2006/main">
            <a:off x="1219200" y="4114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Arial"/>
                <a:ea typeface="Arial"/>
              </a:rPr>
              <a:t>19%</a:t>
            </a:r>
            <a:endParaRPr lang="en-US"/>
          </a:p>
        </p:txBody>
      </p:sp>
      <p:sp>
        <p:nvSpPr>
          <p:cNvPr id="12" name="silk-time-text-0"/>
          <p:cNvSpPr txBox="1"/>
          <p:nvPr/>
        </p:nvSpPr>
        <p:spPr>
          <a:xfrm xmlns:a="http://schemas.openxmlformats.org/drawingml/2006/main">
            <a:off x="1219200" y="47053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11111"/>
                </a:solidFill>
                <a:latin typeface="Arial"/>
                <a:ea typeface="Arial"/>
              </a:rPr>
              <a:t>first-use rate</a:t>
            </a:r>
            <a:endParaRPr lang="en-US"/>
          </a:p>
        </p:txBody>
      </p:sp>
      <p:sp>
        <p:nvSpPr>
          <p:cNvPr id="13" name="silk-time-cell-1"/>
          <p:cNvSpPr/>
          <p:nvPr/>
        </p:nvSpPr>
        <p:spPr>
          <a:xfrm xmlns:a="http://schemas.openxmlformats.org/drawingml/2006/main">
            <a:off x="3181350" y="3543300"/>
            <a:ext cx="1943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7E7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ilk-time-label-1"/>
          <p:cNvSpPr txBox="1"/>
          <p:nvPr/>
        </p:nvSpPr>
        <p:spPr>
          <a:xfrm xmlns:a="http://schemas.openxmlformats.org/drawingml/2006/main">
            <a:off x="3371850" y="37338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DAY</a:t>
            </a:r>
            <a:endParaRPr lang="en-US"/>
          </a:p>
        </p:txBody>
      </p:sp>
      <p:sp>
        <p:nvSpPr>
          <p:cNvPr id="15" name="silk-time-value-1"/>
          <p:cNvSpPr txBox="1"/>
          <p:nvPr/>
        </p:nvSpPr>
        <p:spPr>
          <a:xfrm xmlns:a="http://schemas.openxmlformats.org/drawingml/2006/main">
            <a:off x="3371850" y="4114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Arial"/>
                <a:ea typeface="Arial"/>
              </a:rPr>
              <a:t>64%</a:t>
            </a:r>
            <a:endParaRPr lang="en-US"/>
          </a:p>
        </p:txBody>
      </p:sp>
      <p:sp>
        <p:nvSpPr>
          <p:cNvPr id="16" name="silk-time-text-1"/>
          <p:cNvSpPr txBox="1"/>
          <p:nvPr/>
        </p:nvSpPr>
        <p:spPr>
          <a:xfrm xmlns:a="http://schemas.openxmlformats.org/drawingml/2006/main">
            <a:off x="3371850" y="47053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11111"/>
                </a:solidFill>
                <a:latin typeface="Arial"/>
                <a:ea typeface="Arial"/>
              </a:rPr>
              <a:t>midday repeat</a:t>
            </a:r>
            <a:endParaRPr lang="en-US"/>
          </a:p>
        </p:txBody>
      </p:sp>
      <p:sp>
        <p:nvSpPr>
          <p:cNvPr id="17" name="silk-time-cell-2"/>
          <p:cNvSpPr/>
          <p:nvPr/>
        </p:nvSpPr>
        <p:spPr>
          <a:xfrm xmlns:a="http://schemas.openxmlformats.org/drawingml/2006/main">
            <a:off x="5334000" y="3543300"/>
            <a:ext cx="1943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B3A7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ilk-time-label-2"/>
          <p:cNvSpPr txBox="1"/>
          <p:nvPr/>
        </p:nvSpPr>
        <p:spPr>
          <a:xfrm xmlns:a="http://schemas.openxmlformats.org/drawingml/2006/main">
            <a:off x="5524500" y="37338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EVE</a:t>
            </a:r>
            <a:endParaRPr lang="en-US"/>
          </a:p>
        </p:txBody>
      </p:sp>
      <p:sp>
        <p:nvSpPr>
          <p:cNvPr id="19" name="silk-time-value-2"/>
          <p:cNvSpPr txBox="1"/>
          <p:nvPr/>
        </p:nvSpPr>
        <p:spPr>
          <a:xfrm xmlns:a="http://schemas.openxmlformats.org/drawingml/2006/main">
            <a:off x="5524500" y="4114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Arial"/>
                <a:ea typeface="Arial"/>
              </a:rPr>
              <a:t>47%</a:t>
            </a:r>
            <a:endParaRPr lang="en-US"/>
          </a:p>
        </p:txBody>
      </p:sp>
      <p:sp>
        <p:nvSpPr>
          <p:cNvPr id="20" name="silk-time-text-2"/>
          <p:cNvSpPr txBox="1"/>
          <p:nvPr/>
        </p:nvSpPr>
        <p:spPr>
          <a:xfrm xmlns:a="http://schemas.openxmlformats.org/drawingml/2006/main">
            <a:off x="5524500" y="47053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11111"/>
                </a:solidFill>
                <a:latin typeface="Arial"/>
                <a:ea typeface="Arial"/>
              </a:rPr>
              <a:t>return window</a:t>
            </a:r>
            <a:endParaRPr lang="en-US"/>
          </a:p>
        </p:txBody>
      </p:sp>
      <p:sp>
        <p:nvSpPr>
          <p:cNvPr id="21" name="silk-time-cell-3"/>
          <p:cNvSpPr/>
          <p:nvPr/>
        </p:nvSpPr>
        <p:spPr>
          <a:xfrm xmlns:a="http://schemas.openxmlformats.org/drawingml/2006/main">
            <a:off x="7486650" y="3543300"/>
            <a:ext cx="1943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silk-time-label-3"/>
          <p:cNvSpPr txBox="1"/>
          <p:nvPr/>
        </p:nvSpPr>
        <p:spPr>
          <a:xfrm xmlns:a="http://schemas.openxmlformats.org/drawingml/2006/main">
            <a:off x="7677150" y="37338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NIGHT</a:t>
            </a:r>
            <a:endParaRPr lang="en-US"/>
          </a:p>
        </p:txBody>
      </p:sp>
      <p:sp>
        <p:nvSpPr>
          <p:cNvPr id="23" name="silk-time-value-3"/>
          <p:cNvSpPr txBox="1"/>
          <p:nvPr/>
        </p:nvSpPr>
        <p:spPr>
          <a:xfrm xmlns:a="http://schemas.openxmlformats.org/drawingml/2006/main">
            <a:off x="7677150" y="4114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Arial"/>
                <a:ea typeface="Arial"/>
              </a:rPr>
              <a:t>38%</a:t>
            </a:r>
            <a:endParaRPr lang="en-US"/>
          </a:p>
        </p:txBody>
      </p:sp>
      <p:sp>
        <p:nvSpPr>
          <p:cNvPr id="24" name="silk-time-text-3"/>
          <p:cNvSpPr txBox="1"/>
          <p:nvPr/>
        </p:nvSpPr>
        <p:spPr>
          <a:xfrm xmlns:a="http://schemas.openxmlformats.org/drawingml/2006/main">
            <a:off x="7677150" y="47053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11111"/>
                </a:solidFill>
                <a:latin typeface="Arial"/>
                <a:ea typeface="Arial"/>
              </a:rPr>
              <a:t>highest margin</a:t>
            </a:r>
            <a:endParaRPr lang="en-US"/>
          </a:p>
        </p:txBody>
      </p:sp>
      <p:sp>
        <p:nvSpPr>
          <p:cNvPr id="25" name="silk-time-axis"/>
          <p:cNvSpPr/>
          <p:nvPr/>
        </p:nvSpPr>
        <p:spPr>
          <a:xfrm xmlns:a="http://schemas.openxmlformats.org/drawingml/2006/main">
            <a:off x="1200150" y="5734050"/>
            <a:ext cx="836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silk-time-tick-0"/>
          <p:cNvSpPr/>
          <p:nvPr/>
        </p:nvSpPr>
        <p:spPr>
          <a:xfrm xmlns:a="http://schemas.openxmlformats.org/drawingml/2006/main">
            <a:off x="1200150" y="565785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silk-time-tick-label-0"/>
          <p:cNvSpPr txBox="1"/>
          <p:nvPr/>
        </p:nvSpPr>
        <p:spPr>
          <a:xfrm xmlns:a="http://schemas.openxmlformats.org/drawingml/2006/main">
            <a:off x="952500" y="594360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>
                <a:solidFill>
                  <a:srgbClr val="77726B"/>
                </a:solidFill>
                <a:latin typeface="Arial"/>
                <a:ea typeface="Arial"/>
              </a:rPr>
              <a:t>07:00</a:t>
            </a:r>
            <a:endParaRPr lang="en-US"/>
          </a:p>
        </p:txBody>
      </p:sp>
      <p:sp>
        <p:nvSpPr>
          <p:cNvPr id="28" name="silk-time-tick-1"/>
          <p:cNvSpPr/>
          <p:nvPr/>
        </p:nvSpPr>
        <p:spPr>
          <a:xfrm xmlns:a="http://schemas.openxmlformats.org/drawingml/2006/main">
            <a:off x="3886200" y="565785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silk-time-tick-label-1"/>
          <p:cNvSpPr txBox="1"/>
          <p:nvPr/>
        </p:nvSpPr>
        <p:spPr>
          <a:xfrm xmlns:a="http://schemas.openxmlformats.org/drawingml/2006/main">
            <a:off x="3638550" y="594360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>
                <a:solidFill>
                  <a:srgbClr val="77726B"/>
                </a:solidFill>
                <a:latin typeface="Arial"/>
                <a:ea typeface="Arial"/>
              </a:rPr>
              <a:t>10:00</a:t>
            </a:r>
            <a:endParaRPr lang="en-US"/>
          </a:p>
        </p:txBody>
      </p:sp>
      <p:sp>
        <p:nvSpPr>
          <p:cNvPr id="30" name="silk-time-tick-2"/>
          <p:cNvSpPr/>
          <p:nvPr/>
        </p:nvSpPr>
        <p:spPr>
          <a:xfrm xmlns:a="http://schemas.openxmlformats.org/drawingml/2006/main">
            <a:off x="6572250" y="565785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silk-time-tick-label-2"/>
          <p:cNvSpPr txBox="1"/>
          <p:nvPr/>
        </p:nvSpPr>
        <p:spPr>
          <a:xfrm xmlns:a="http://schemas.openxmlformats.org/drawingml/2006/main">
            <a:off x="6324600" y="594360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>
                <a:solidFill>
                  <a:srgbClr val="77726B"/>
                </a:solidFill>
                <a:latin typeface="Arial"/>
                <a:ea typeface="Arial"/>
              </a:rPr>
              <a:t>17:00</a:t>
            </a:r>
            <a:endParaRPr lang="en-US"/>
          </a:p>
        </p:txBody>
      </p:sp>
      <p:sp>
        <p:nvSpPr>
          <p:cNvPr id="32" name="silk-time-tick-3"/>
          <p:cNvSpPr/>
          <p:nvPr/>
        </p:nvSpPr>
        <p:spPr>
          <a:xfrm xmlns:a="http://schemas.openxmlformats.org/drawingml/2006/main">
            <a:off x="9258300" y="5657850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silk-time-tick-label-3"/>
          <p:cNvSpPr txBox="1"/>
          <p:nvPr/>
        </p:nvSpPr>
        <p:spPr>
          <a:xfrm xmlns:a="http://schemas.openxmlformats.org/drawingml/2006/main">
            <a:off x="9010650" y="594360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>
                <a:solidFill>
                  <a:srgbClr val="77726B"/>
                </a:solidFill>
                <a:latin typeface="Arial"/>
                <a:ea typeface="Arial"/>
              </a:rPr>
              <a:t>20:00</a:t>
            </a:r>
            <a:endParaRPr lang="en-US"/>
          </a:p>
        </p:txBody>
      </p:sp>
      <p:sp>
        <p:nvSpPr>
          <p:cNvPr id="34" name="silk-time-insight"/>
          <p:cNvSpPr/>
          <p:nvPr/>
        </p:nvSpPr>
        <p:spPr>
          <a:xfrm xmlns:a="http://schemas.openxmlformats.org/drawingml/2006/main">
            <a:off x="10363200" y="3524250"/>
            <a:ext cx="3333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silk-time-insight-label"/>
          <p:cNvSpPr txBox="1"/>
          <p:nvPr/>
        </p:nvSpPr>
        <p:spPr>
          <a:xfrm xmlns:a="http://schemas.openxmlformats.org/drawingml/2006/main">
            <a:off x="10668000" y="384810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E4B91E"/>
                </a:solidFill>
                <a:latin typeface="Arial"/>
                <a:ea typeface="Arial"/>
              </a:rPr>
              <a:t>INSIGHT</a:t>
            </a:r>
            <a:endParaRPr lang="en-US"/>
          </a:p>
        </p:txBody>
      </p:sp>
      <p:sp>
        <p:nvSpPr>
          <p:cNvPr id="36" name="silk-time-insight-value"/>
          <p:cNvSpPr txBox="1"/>
          <p:nvPr/>
        </p:nvSpPr>
        <p:spPr>
          <a:xfrm xmlns:a="http://schemas.openxmlformats.org/drawingml/2006/main">
            <a:off x="10668000" y="42862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200" b="1">
                <a:solidFill>
                  <a:srgbClr val="E9E6DF"/>
                </a:solidFill>
                <a:latin typeface="Arial"/>
                <a:ea typeface="Arial"/>
              </a:rPr>
              <a:t>52%</a:t>
            </a:r>
            <a:endParaRPr lang="en-US"/>
          </a:p>
        </p:txBody>
      </p:sp>
      <p:sp>
        <p:nvSpPr>
          <p:cNvPr id="37" name="silk-time-insight-text"/>
          <p:cNvSpPr txBox="1"/>
          <p:nvPr/>
        </p:nvSpPr>
        <p:spPr>
          <a:xfrm xmlns:a="http://schemas.openxmlformats.org/drawingml/2006/main">
            <a:off x="10668000" y="5162550"/>
            <a:ext cx="2571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E9E6DF"/>
                </a:solidFill>
                <a:latin typeface="Arial"/>
                <a:ea typeface="Arial"/>
              </a:rPr>
              <a:t>median repeat share</a:t>
            </a:r>
            <a:endParaRPr lang="en-US"/>
          </a:p>
          <a:p xmlns:a="http://schemas.openxmlformats.org/drawingml/2006/main">
            <a:r>
              <a:rPr lang="en-US" sz="1275">
                <a:solidFill>
                  <a:srgbClr val="E9E6DF"/>
                </a:solidFill>
                <a:latin typeface="Arial"/>
                <a:ea typeface="Arial"/>
              </a:rPr>
              <a:t>when the proposition</a:t>
            </a:r>
            <a:endParaRPr lang="en-US"/>
          </a:p>
          <a:p xmlns:a="http://schemas.openxmlformats.org/drawingml/2006/main">
            <a:r>
              <a:rPr lang="en-US" sz="1275">
                <a:solidFill>
                  <a:srgbClr val="E9E6DF"/>
                </a:solidFill>
                <a:latin typeface="Arial"/>
                <a:ea typeface="Arial"/>
              </a:rPr>
              <a:t>arrives after dark</a:t>
            </a:r>
            <a:endParaRPr lang="en-US"/>
          </a:p>
        </p:txBody>
      </p:sp>
      <p:sp>
        <p:nvSpPr>
          <p:cNvPr id="38" name="silk-time-source"/>
          <p:cNvSpPr txBox="1"/>
          <p:nvPr/>
        </p:nvSpPr>
        <p:spPr>
          <a:xfrm xmlns:a="http://schemas.openxmlformats.org/drawingml/2006/main">
            <a:off x="1028700" y="79629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ilk-gallery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ilk-meta"/>
          <p:cNvSpPr txBox="1"/>
          <p:nvPr/>
        </p:nvSpPr>
        <p:spPr>
          <a:xfrm xmlns:a="http://schemas.openxmlformats.org/drawingml/2006/main">
            <a:off x="9906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SAFFRON EDITORIAL  ·  CASE BOOK</a:t>
            </a:r>
            <a:endParaRPr lang="en-US"/>
          </a:p>
        </p:txBody>
      </p:sp>
      <p:sp>
        <p:nvSpPr>
          <p:cNvPr id="4" name="silk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05 / 06</a:t>
            </a:r>
            <a:endParaRPr lang="en-US"/>
          </a:p>
        </p:txBody>
      </p:sp>
      <p:sp>
        <p:nvSpPr>
          <p:cNvPr id="5" name="silk-tab"/>
          <p:cNvSpPr/>
          <p:nvPr/>
        </p:nvSpPr>
        <p:spPr>
          <a:xfrm xmlns:a="http://schemas.openxmlformats.org/drawingml/2006/main">
            <a:off x="914400" y="9906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ilk-tab-label"/>
          <p:cNvSpPr txBox="1"/>
          <p:nvPr/>
        </p:nvSpPr>
        <p:spPr>
          <a:xfrm xmlns:a="http://schemas.openxmlformats.org/drawingml/2006/main">
            <a:off x="1028700" y="1057275"/>
            <a:ext cx="15811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FFFFFF"/>
                </a:solidFill>
                <a:latin typeface="Arial"/>
                <a:ea typeface="Arial"/>
              </a:rPr>
              <a:t>CASE BOOK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90600" y="15811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Arial"/>
                <a:ea typeface="Arial"/>
              </a:rPr>
              <a:t>Three spaces, one repeatable proposition.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1028700" y="23622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Like-for-like cases make the creative system legible without flattening the context.</a:t>
            </a:r>
            <a:endParaRPr lang="en-US"/>
          </a:p>
        </p:txBody>
      </p:sp>
      <p:pic>
        <p:nvPicPr>
          <p:cNvPr id="9" name="silk-case-photo-0" descr="NORTH ISLE documentary case image"/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5063" r="0" b="3506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28700" y="3314700"/>
            <a:ext cx="3981450" cy="2114550"/>
          </a:xfrm>
          <a:prstGeom xmlns:a="http://schemas.openxmlformats.org/drawingml/2006/main" prst="rect">
            <a:avLst/>
          </a:prstGeom>
        </p:spPr>
      </p:pic>
      <p:sp>
        <p:nvSpPr>
          <p:cNvPr id="10" name="silk-case-band-0"/>
          <p:cNvSpPr/>
          <p:nvPr/>
        </p:nvSpPr>
        <p:spPr>
          <a:xfrm xmlns:a="http://schemas.openxmlformats.org/drawingml/2006/main">
            <a:off x="1028700" y="5429250"/>
            <a:ext cx="3981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silk-case-tag-0"/>
          <p:cNvSpPr txBox="1"/>
          <p:nvPr/>
        </p:nvSpPr>
        <p:spPr>
          <a:xfrm xmlns:a="http://schemas.openxmlformats.org/drawingml/2006/main">
            <a:off x="1200150" y="55530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825" b="1">
                <a:solidFill>
                  <a:srgbClr val="202124"/>
                </a:solidFill>
                <a:latin typeface="Arial"/>
                <a:ea typeface="Arial"/>
              </a:rPr>
              <a:t>24/7 STUDY</a:t>
            </a:r>
            <a:endParaRPr lang="en-US"/>
          </a:p>
        </p:txBody>
      </p:sp>
      <p:sp>
        <p:nvSpPr>
          <p:cNvPr id="12" name="silk-case-label-0"/>
          <p:cNvSpPr txBox="1"/>
          <p:nvPr/>
        </p:nvSpPr>
        <p:spPr>
          <a:xfrm xmlns:a="http://schemas.openxmlformats.org/drawingml/2006/main">
            <a:off x="1028700" y="6115050"/>
            <a:ext cx="398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11111"/>
                </a:solidFill>
                <a:latin typeface="Arial"/>
                <a:ea typeface="Arial"/>
              </a:rPr>
              <a:t>NORTH ISLE</a:t>
            </a:r>
            <a:endParaRPr lang="en-US"/>
          </a:p>
        </p:txBody>
      </p:sp>
      <p:sp>
        <p:nvSpPr>
          <p:cNvPr id="13" name="silk-case-text-0"/>
          <p:cNvSpPr txBox="1"/>
          <p:nvPr/>
        </p:nvSpPr>
        <p:spPr>
          <a:xfrm xmlns:a="http://schemas.openxmlformats.org/drawingml/2006/main">
            <a:off x="1028700" y="6419850"/>
            <a:ext cx="3848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Small interventions create a reason to return.</a:t>
            </a:r>
            <a:endParaRPr lang="en-US"/>
          </a:p>
        </p:txBody>
      </p:sp>
      <p:pic>
        <p:nvPicPr>
          <p:cNvPr id="14" name="silk-case-photo-1" descr="ROOFTOP FARM documentary case image"/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35063" r="0" b="3506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429250" y="3314700"/>
            <a:ext cx="3981450" cy="2114550"/>
          </a:xfrm>
          <a:prstGeom xmlns:a="http://schemas.openxmlformats.org/drawingml/2006/main" prst="rect">
            <a:avLst/>
          </a:prstGeom>
        </p:spPr>
      </p:pic>
      <p:sp>
        <p:nvSpPr>
          <p:cNvPr id="15" name="silk-case-band-1"/>
          <p:cNvSpPr/>
          <p:nvPr/>
        </p:nvSpPr>
        <p:spPr>
          <a:xfrm xmlns:a="http://schemas.openxmlformats.org/drawingml/2006/main">
            <a:off x="5429250" y="5429250"/>
            <a:ext cx="3981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silk-case-tag-1"/>
          <p:cNvSpPr txBox="1"/>
          <p:nvPr/>
        </p:nvSpPr>
        <p:spPr>
          <a:xfrm xmlns:a="http://schemas.openxmlformats.org/drawingml/2006/main">
            <a:off x="5600700" y="55530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825" b="1">
                <a:solidFill>
                  <a:srgbClr val="202124"/>
                </a:solidFill>
                <a:latin typeface="Arial"/>
                <a:ea typeface="Arial"/>
              </a:rPr>
              <a:t>ROOF LOUNGE</a:t>
            </a:r>
            <a:endParaRPr lang="en-US"/>
          </a:p>
        </p:txBody>
      </p:sp>
      <p:sp>
        <p:nvSpPr>
          <p:cNvPr id="17" name="silk-case-label-1"/>
          <p:cNvSpPr txBox="1"/>
          <p:nvPr/>
        </p:nvSpPr>
        <p:spPr>
          <a:xfrm xmlns:a="http://schemas.openxmlformats.org/drawingml/2006/main">
            <a:off x="5429250" y="6115050"/>
            <a:ext cx="398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11111"/>
                </a:solidFill>
                <a:latin typeface="Arial"/>
                <a:ea typeface="Arial"/>
              </a:rPr>
              <a:t>ROOFTOP FARM</a:t>
            </a:r>
            <a:endParaRPr lang="en-US"/>
          </a:p>
        </p:txBody>
      </p:sp>
      <p:sp>
        <p:nvSpPr>
          <p:cNvPr id="18" name="silk-case-text-1"/>
          <p:cNvSpPr txBox="1"/>
          <p:nvPr/>
        </p:nvSpPr>
        <p:spPr>
          <a:xfrm xmlns:a="http://schemas.openxmlformats.org/drawingml/2006/main">
            <a:off x="5429250" y="6419850"/>
            <a:ext cx="3848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The same ritual holds in a different setting.</a:t>
            </a:r>
            <a:endParaRPr lang="en-US"/>
          </a:p>
        </p:txBody>
      </p:sp>
      <p:pic>
        <p:nvPicPr>
          <p:cNvPr id="19" name="silk-case-photo-2" descr="MIDNIGHT MUSEUM documentary case image"/>
          <p:cNvPicPr/>
          <p:nvPr/>
        </p:nvPicPr>
        <p:blipFill>
          <a:blip xmlns:r="http://schemas.openxmlformats.org/officeDocument/2006/relationships" xmlns:a="http://schemas.openxmlformats.org/drawingml/2006/main" r:embed="rIdOfficeKitImagec49ddd99c59beda0_1"/>
          <a:srcRect xmlns:a="http://schemas.openxmlformats.org/drawingml/2006/main" l="0" t="35063" r="0" b="3506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829800" y="3314700"/>
            <a:ext cx="3981450" cy="2114550"/>
          </a:xfrm>
          <a:prstGeom xmlns:a="http://schemas.openxmlformats.org/drawingml/2006/main" prst="rect">
            <a:avLst/>
          </a:prstGeom>
        </p:spPr>
      </p:pic>
      <p:sp>
        <p:nvSpPr>
          <p:cNvPr id="20" name="silk-case-band-2"/>
          <p:cNvSpPr/>
          <p:nvPr/>
        </p:nvSpPr>
        <p:spPr>
          <a:xfrm xmlns:a="http://schemas.openxmlformats.org/drawingml/2006/main">
            <a:off x="9829800" y="5429250"/>
            <a:ext cx="3981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silk-case-tag-2"/>
          <p:cNvSpPr txBox="1"/>
          <p:nvPr/>
        </p:nvSpPr>
        <p:spPr>
          <a:xfrm xmlns:a="http://schemas.openxmlformats.org/drawingml/2006/main">
            <a:off x="10001250" y="55530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825" b="1">
                <a:solidFill>
                  <a:srgbClr val="FFFFFF"/>
                </a:solidFill>
                <a:latin typeface="Arial"/>
                <a:ea typeface="Arial"/>
              </a:rPr>
              <a:t>NIGHT GALLERY</a:t>
            </a:r>
            <a:endParaRPr lang="en-US"/>
          </a:p>
        </p:txBody>
      </p:sp>
      <p:sp>
        <p:nvSpPr>
          <p:cNvPr id="22" name="silk-case-label-2"/>
          <p:cNvSpPr txBox="1"/>
          <p:nvPr/>
        </p:nvSpPr>
        <p:spPr>
          <a:xfrm xmlns:a="http://schemas.openxmlformats.org/drawingml/2006/main">
            <a:off x="9829800" y="6115050"/>
            <a:ext cx="398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11111"/>
                </a:solidFill>
                <a:latin typeface="Arial"/>
                <a:ea typeface="Arial"/>
              </a:rPr>
              <a:t>MIDNIGHT MUSEUM</a:t>
            </a:r>
            <a:endParaRPr lang="en-US"/>
          </a:p>
        </p:txBody>
      </p:sp>
      <p:sp>
        <p:nvSpPr>
          <p:cNvPr id="23" name="silk-case-text-2"/>
          <p:cNvSpPr txBox="1"/>
          <p:nvPr/>
        </p:nvSpPr>
        <p:spPr>
          <a:xfrm xmlns:a="http://schemas.openxmlformats.org/drawingml/2006/main">
            <a:off x="9829800" y="6419850"/>
            <a:ext cx="3848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The proposition survives a new audience cue.</a:t>
            </a:r>
            <a:endParaRPr lang="en-US"/>
          </a:p>
        </p:txBody>
      </p:sp>
      <p:sp>
        <p:nvSpPr>
          <p:cNvPr id="24" name="silk-gallery-rule"/>
          <p:cNvSpPr/>
          <p:nvPr/>
        </p:nvSpPr>
        <p:spPr>
          <a:xfrm xmlns:a="http://schemas.openxmlformats.org/drawingml/2006/main">
            <a:off x="1028700" y="7334250"/>
            <a:ext cx="1261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silk-gallery-note"/>
          <p:cNvSpPr txBox="1"/>
          <p:nvPr/>
        </p:nvSpPr>
        <p:spPr>
          <a:xfrm xmlns:a="http://schemas.openxmlformats.org/drawingml/2006/main">
            <a:off x="1028700" y="75247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11111"/>
                </a:solidFill>
                <a:latin typeface="Arial"/>
                <a:ea typeface="Arial"/>
              </a:rPr>
              <a:t>The image carries context; the caption carries the comparable field.</a:t>
            </a:r>
            <a:endParaRPr lang="en-US"/>
          </a:p>
        </p:txBody>
      </p:sp>
      <p:sp>
        <p:nvSpPr>
          <p:cNvPr id="26" name="silk-gallery-source"/>
          <p:cNvSpPr txBox="1"/>
          <p:nvPr/>
        </p:nvSpPr>
        <p:spPr>
          <a:xfrm xmlns:a="http://schemas.openxmlformats.org/drawingml/2006/main">
            <a:off x="1028700" y="79629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Source: illustrative calibration brief · cases are fictional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ilk-close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ilk-meta"/>
          <p:cNvSpPr txBox="1"/>
          <p:nvPr/>
        </p:nvSpPr>
        <p:spPr>
          <a:xfrm xmlns:a="http://schemas.openxmlformats.org/drawingml/2006/main">
            <a:off x="9906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77726B"/>
                </a:solidFill>
                <a:latin typeface="Arial"/>
                <a:ea typeface="Arial"/>
              </a:rPr>
              <a:t>SAFFRON EDITORIAL  ·  NEXT MOVES</a:t>
            </a:r>
            <a:endParaRPr lang="en-US"/>
          </a:p>
        </p:txBody>
      </p:sp>
      <p:sp>
        <p:nvSpPr>
          <p:cNvPr id="4" name="silk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06 / 06</a:t>
            </a:r>
            <a:endParaRPr lang="en-US"/>
          </a:p>
        </p:txBody>
      </p:sp>
      <p:sp>
        <p:nvSpPr>
          <p:cNvPr id="5" name="silk-tab"/>
          <p:cNvSpPr/>
          <p:nvPr/>
        </p:nvSpPr>
        <p:spPr>
          <a:xfrm xmlns:a="http://schemas.openxmlformats.org/drawingml/2006/main">
            <a:off x="914400" y="9906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ilk-tab-label"/>
          <p:cNvSpPr txBox="1"/>
          <p:nvPr/>
        </p:nvSpPr>
        <p:spPr>
          <a:xfrm xmlns:a="http://schemas.openxmlformats.org/drawingml/2006/main">
            <a:off x="1028700" y="1057275"/>
            <a:ext cx="15811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202124"/>
                </a:solidFill>
                <a:latin typeface="Arial"/>
                <a:ea typeface="Arial"/>
              </a:rPr>
              <a:t>ACTION · NEXT MOVES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90600" y="165735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E9E6DF"/>
                </a:solidFill>
                <a:latin typeface="Arial"/>
                <a:ea typeface="Arial"/>
              </a:rPr>
              <a:t>Make the invitation impossible to miss.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1028700" y="31051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>
                <a:solidFill>
                  <a:srgbClr val="E9E6DF"/>
                </a:solidFill>
                <a:latin typeface="Arial"/>
                <a:ea typeface="Arial"/>
              </a:rPr>
              <a:t>The close is a decision surface: promise, proof, and one move.</a:t>
            </a:r>
            <a:endParaRPr lang="en-US"/>
          </a:p>
        </p:txBody>
      </p:sp>
      <p:sp>
        <p:nvSpPr>
          <p:cNvPr id="9" name="silk-close-number-0"/>
          <p:cNvSpPr txBox="1"/>
          <p:nvPr/>
        </p:nvSpPr>
        <p:spPr>
          <a:xfrm xmlns:a="http://schemas.openxmlformats.org/drawingml/2006/main">
            <a:off x="1066800" y="43434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silk-close-label-0"/>
          <p:cNvSpPr txBox="1"/>
          <p:nvPr/>
        </p:nvSpPr>
        <p:spPr>
          <a:xfrm xmlns:a="http://schemas.openxmlformats.org/drawingml/2006/main">
            <a:off x="1809750" y="434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9E6DF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silk-close-rule-0"/>
          <p:cNvSpPr/>
          <p:nvPr/>
        </p:nvSpPr>
        <p:spPr>
          <a:xfrm xmlns:a="http://schemas.openxmlformats.org/drawingml/2006/main">
            <a:off x="3429000" y="4467225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silk-close-text-0"/>
          <p:cNvSpPr txBox="1"/>
          <p:nvPr/>
        </p:nvSpPr>
        <p:spPr>
          <a:xfrm xmlns:a="http://schemas.openxmlformats.org/drawingml/2006/main">
            <a:off x="8001000" y="43434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E9E6DF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silk-close-number-1"/>
          <p:cNvSpPr txBox="1"/>
          <p:nvPr/>
        </p:nvSpPr>
        <p:spPr>
          <a:xfrm xmlns:a="http://schemas.openxmlformats.org/drawingml/2006/main">
            <a:off x="1066800" y="50863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9BBBD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silk-close-label-1"/>
          <p:cNvSpPr txBox="1"/>
          <p:nvPr/>
        </p:nvSpPr>
        <p:spPr>
          <a:xfrm xmlns:a="http://schemas.openxmlformats.org/drawingml/2006/main">
            <a:off x="1809750" y="50863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9E6DF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silk-close-rule-1"/>
          <p:cNvSpPr/>
          <p:nvPr/>
        </p:nvSpPr>
        <p:spPr>
          <a:xfrm xmlns:a="http://schemas.openxmlformats.org/drawingml/2006/main">
            <a:off x="3429000" y="5210175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silk-close-text-1"/>
          <p:cNvSpPr txBox="1"/>
          <p:nvPr/>
        </p:nvSpPr>
        <p:spPr>
          <a:xfrm xmlns:a="http://schemas.openxmlformats.org/drawingml/2006/main">
            <a:off x="8001000" y="50863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E9E6DF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silk-close-number-2"/>
          <p:cNvSpPr txBox="1"/>
          <p:nvPr/>
        </p:nvSpPr>
        <p:spPr>
          <a:xfrm xmlns:a="http://schemas.openxmlformats.org/drawingml/2006/main">
            <a:off x="1066800" y="58293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6405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silk-close-label-2"/>
          <p:cNvSpPr txBox="1"/>
          <p:nvPr/>
        </p:nvSpPr>
        <p:spPr>
          <a:xfrm xmlns:a="http://schemas.openxmlformats.org/drawingml/2006/main">
            <a:off x="1809750" y="5829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9E6DF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silk-close-rule-2"/>
          <p:cNvSpPr/>
          <p:nvPr/>
        </p:nvSpPr>
        <p:spPr>
          <a:xfrm xmlns:a="http://schemas.openxmlformats.org/drawingml/2006/main">
            <a:off x="3429000" y="5953125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silk-close-text-2"/>
          <p:cNvSpPr txBox="1"/>
          <p:nvPr/>
        </p:nvSpPr>
        <p:spPr>
          <a:xfrm xmlns:a="http://schemas.openxmlformats.org/drawingml/2006/main">
            <a:off x="8001000" y="58293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E9E6DF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pic>
        <p:nvPicPr>
          <p:cNvPr id="21" name="silk-close-photo" descr="Documentary image for the closing action"/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4296" r="0" b="3429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572750" y="1524000"/>
            <a:ext cx="3752850" cy="2095500"/>
          </a:xfrm>
          <a:prstGeom xmlns:a="http://schemas.openxmlformats.org/drawingml/2006/main" prst="rect">
            <a:avLst/>
          </a:prstGeom>
        </p:spPr>
      </p:pic>
      <p:sp>
        <p:nvSpPr>
          <p:cNvPr id="22" name="silk-close-signal"/>
          <p:cNvSpPr/>
          <p:nvPr/>
        </p:nvSpPr>
        <p:spPr>
          <a:xfrm xmlns:a="http://schemas.openxmlformats.org/drawingml/2006/main">
            <a:off x="10572750" y="3943350"/>
            <a:ext cx="37528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silk-close-signal-label"/>
          <p:cNvSpPr txBox="1"/>
          <p:nvPr/>
        </p:nvSpPr>
        <p:spPr>
          <a:xfrm xmlns:a="http://schemas.openxmlformats.org/drawingml/2006/main">
            <a:off x="10877550" y="42672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202124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4" name="silk-close-signal-text"/>
          <p:cNvSpPr txBox="1"/>
          <p:nvPr/>
        </p:nvSpPr>
        <p:spPr>
          <a:xfrm xmlns:a="http://schemas.openxmlformats.org/drawingml/2006/main">
            <a:off x="10877550" y="466725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124"/>
                </a:solidFill>
                <a:latin typeface="Arial"/>
                <a:ea typeface="Arial"/>
              </a:rPr>
              <a:t>Publish the invitation.</a:t>
            </a:r>
            <a:endParaRPr lang="en-US"/>
          </a:p>
        </p:txBody>
      </p:sp>
      <p:sp>
        <p:nvSpPr>
          <p:cNvPr id="25" name="silk-close-source"/>
          <p:cNvSpPr txBox="1"/>
          <p:nvPr/>
        </p:nvSpPr>
        <p:spPr>
          <a:xfrm xmlns:a="http://schemas.openxmlformats.org/drawingml/2006/main">
            <a:off x="1028700" y="7962900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