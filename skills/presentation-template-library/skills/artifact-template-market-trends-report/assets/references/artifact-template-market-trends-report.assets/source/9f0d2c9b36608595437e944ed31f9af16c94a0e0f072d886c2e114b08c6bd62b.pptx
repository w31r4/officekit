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394" r:id="rId2"/>
    <p:sldId id="378" r:id="rId3"/>
    <p:sldId id="314" r:id="rId4"/>
    <p:sldId id="350" r:id="rId5"/>
    <p:sldId id="376" r:id="rId6"/>
    <p:sldId id="324" r:id="rId7"/>
  </p:sldIdLst>
  <p:sldSz cx="12192000" cy="6858000"/>
  <p:notesSz cx="6858000" cy="9144000"/>
  <p:embeddedFontLst>
    <p:embeddedFont>
      <p:font typeface="Lora" pitchFamily="2" charset="77"/>
      <p:regular r:id="rId9"/>
      <p:bold r:id="rId10"/>
      <p:italic r:id="rId11"/>
      <p:boldItalic r:id="rId12"/>
    </p:embeddedFont>
    <p:embeddedFont>
      <p:font typeface="Office Sans" panose="020B0004030202060203" pitchFamily="34" charset="77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9"/>
    <a:srgbClr val="FF4305"/>
    <a:srgbClr val="FF4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/>
    <p:restoredTop sz="94658"/>
  </p:normalViewPr>
  <p:slideViewPr>
    <p:cSldViewPr snapToGrid="0">
      <p:cViewPr>
        <p:scale>
          <a:sx n="111" d="100"/>
          <a:sy n="111" d="100"/>
        </p:scale>
        <p:origin x="816" y="29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079" y="2031642"/>
            <a:ext cx="11063842" cy="2491490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latin typeface="Lora" pitchFamily="2" charset="77"/>
              </a:rPr>
              <a:t>Market Industry</a:t>
            </a:r>
            <a:br>
              <a:rPr lang="en-US" sz="7200" dirty="0">
                <a:latin typeface="Lora" pitchFamily="2" charset="77"/>
              </a:rPr>
            </a:br>
            <a:r>
              <a:rPr lang="en-US" sz="7200" dirty="0">
                <a:latin typeface="Lora" pitchFamily="2" charset="77"/>
              </a:rPr>
              <a:t>Trends Report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999" y="5045149"/>
            <a:ext cx="7394002" cy="794439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Signals, shifts, and strategic implications for 2025 to 2026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3244850" y="1352742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F470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 Report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chemeClr val="bg1">
                    <a:lumMod val="65000"/>
                    <a:lumOff val="35000"/>
                  </a:schemeClr>
                </a:solidFill>
                <a:sym typeface="Office Sans"/>
              </a:rPr>
              <a:pPr/>
              <a:t>2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0202" y="1553822"/>
            <a:ext cx="9031596" cy="1262107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lang="en-US" sz="3600" dirty="0"/>
              <a:t>The market is entering a </a:t>
            </a:r>
            <a:br>
              <a:rPr lang="en-US" sz="3600" dirty="0"/>
            </a:br>
            <a:r>
              <a:rPr lang="en-US" sz="3600" dirty="0">
                <a:solidFill>
                  <a:srgbClr val="FF4204"/>
                </a:solidFill>
              </a:rPr>
              <a:t>new phase of change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147257" y="3329711"/>
            <a:ext cx="7897486" cy="2616365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The [market/category] is moving from [previous state] toward</a:t>
            </a:r>
            <a:b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[emerging state]. What was once driven primarily by [legacy factor] is increasingly shaped by [driver one], [driver two], and [driver three].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This transition is creating new opportunities—but it is also raising expectations for speed, differentiation, and execution.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 txBox="1">
            <a:spLocks/>
          </p:cNvSpPr>
          <p:nvPr/>
        </p:nvSpPr>
        <p:spPr>
          <a:xfrm>
            <a:off x="3244850" y="1001877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Thesis Statement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ffice Sans"/>
              </a:rPr>
              <a:pPr/>
              <a:t>3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531203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Four signals define the market today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Momentum is building across the market, but progress remains uneven. Organizations are increasing investment, customers are reconsidering established choices, and new competitors are changing the basis of advantage.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 txBox="1">
            <a:spLocks/>
          </p:cNvSpPr>
          <p:nvPr/>
        </p:nvSpPr>
        <p:spPr>
          <a:xfrm>
            <a:off x="460256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 txBox="1">
            <a:spLocks/>
          </p:cNvSpPr>
          <p:nvPr/>
        </p:nvSpPr>
        <p:spPr>
          <a:xfrm>
            <a:off x="460256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expect [trend] to accelerate during the next [time period].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 txBox="1">
            <a:spLocks/>
          </p:cNvSpPr>
          <p:nvPr/>
        </p:nvSpPr>
        <p:spPr>
          <a:xfrm>
            <a:off x="4106280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 txBox="1">
            <a:spLocks/>
          </p:cNvSpPr>
          <p:nvPr/>
        </p:nvSpPr>
        <p:spPr>
          <a:xfrm>
            <a:off x="4106280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have increased investment </a:t>
            </a:r>
            <a:b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in [capability or category].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 txBox="1">
            <a:spLocks/>
          </p:cNvSpPr>
          <p:nvPr/>
        </p:nvSpPr>
        <p:spPr>
          <a:xfrm>
            <a:off x="7752304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 txBox="1">
            <a:spLocks/>
          </p:cNvSpPr>
          <p:nvPr/>
        </p:nvSpPr>
        <p:spPr>
          <a:xfrm>
            <a:off x="7752304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identify [barrier] as the main constraint on progress.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ffice Sans"/>
              </a:rPr>
              <a:pPr/>
              <a:t>4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372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 txBox="1">
            <a:spLocks/>
          </p:cNvSpPr>
          <p:nvPr/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</a:t>
            </a:r>
            <a:b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 adipiscing elit </a:t>
            </a:r>
            <a:endParaRPr lang="en-US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Nam non ante quis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ffice Sans"/>
              </a:rPr>
              <a:pPr/>
              <a:t>5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Nam non ante quis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ffice Sans"/>
              </a:rPr>
              <a:pPr/>
              <a:t>6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dirty="0">
              <a:solidFill>
                <a:srgbClr val="FF4709"/>
              </a:solidFill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800" dirty="0"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800" dirty="0">
              <a:solidFill>
                <a:schemeClr val="bg1">
                  <a:lumMod val="65000"/>
                  <a:lumOff val="35000"/>
                </a:schemeClr>
              </a:solidFill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Office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</TotalTime>
  <Words>521</Words>
  <Application>Microsoft Macintosh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Lora</vt:lpstr>
      <vt:lpstr>Office Sans</vt:lpstr>
      <vt:lpstr>Aptos</vt:lpstr>
      <vt:lpstr>Roboto</vt:lpstr>
      <vt:lpstr>Helvetica Neue</vt:lpstr>
      <vt:lpstr>Default Office Theme</vt:lpstr>
      <vt:lpstr>Market Industry Trends Report</vt:lpstr>
      <vt:lpstr>The market is entering a  new phase of change</vt:lpstr>
      <vt:lpstr>Four signals define the market today</vt:lpstr>
      <vt:lpstr>Half text, half image slide</vt:lpstr>
      <vt:lpstr>One column layout with checklist </vt:lpstr>
      <vt:lpstr>Three column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