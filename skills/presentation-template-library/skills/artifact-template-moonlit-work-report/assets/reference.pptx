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d622caf52ad48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33b8c33a8fc3d613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b7d7d39d00e5a7e4_1" /><Relationship Type="http://schemas.openxmlformats.org/officeDocument/2006/relationships/image" Target="/ppt/media/image3.jpg" Id="rIdOfficeKitImageaeb6f74d36d260d0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8fbc298f8d1b7a3c_1" /><Relationship Type="http://schemas.openxmlformats.org/officeDocument/2006/relationships/image" Target="/ppt/media/image5.jpg" Id="rIdOfficeKitImagec237998db8bee20d_1" /><Relationship Type="http://schemas.openxmlformats.org/officeDocument/2006/relationships/chart" Target="/ppt/slides/charts/chart1.xml" Id="R58a8bce28ad34aab" /><Relationship Type="http://schemas.openxmlformats.org/officeDocument/2006/relationships/chart" Target="/ppt/slides/charts/chart2.xml" Id="R041090ee63a74a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6.jpg" Id="rIdOfficeKitImage2930549abca3ae00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7.jpg" Id="rIdOfficeKitImage6af8c9b5dff6e3a3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8.jpg" Id="rIdOfficeKitImage7650495d0c3b8602_1" /><Relationship Type="http://schemas.openxmlformats.org/officeDocument/2006/relationships/image" Target="/ppt/media/image9.jpg" Id="rIdOfficeKitImagee4bd683f73b7a543_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8B6BE8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3959C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4E9B74"/>
            </a:solidFill>
            <a:ln w="38100">
              <a:solidFill>
                <a:srgbClr val="4E9B74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33b8c33a8fc3d613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B6BE8"/>
                </a:solidFill>
                <a:latin typeface="Arial"/>
                <a:ea typeface="Arial"/>
              </a:rPr>
              <a:t>WORK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D2330"/>
                </a:solidFill>
                <a:latin typeface="Arial"/>
                <a:ea typeface="Arial"/>
              </a:rPr>
              <a:t>Moonlit Work Report: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8B6BE8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395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D2330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D2330"/>
                </a:solidFill>
                <a:latin typeface="Arial"/>
                <a:ea typeface="Arial"/>
              </a:rPr>
              <a:t>A visible operating signal creates a shared next action.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3959C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3959C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E8"/>
          </a:solidFill>
          <a:ln xmlns:a="http://schemas.openxmlformats.org/drawingml/2006/main" w="127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E8"/>
          </a:solidFill>
          <a:ln xmlns:a="http://schemas.openxmlformats.org/drawingml/2006/main" w="127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E8"/>
          </a:solidFill>
          <a:ln xmlns:a="http://schemas.openxmlformats.org/drawingml/2006/main" w="127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E8"/>
          </a:solidFill>
          <a:ln xmlns:a="http://schemas.openxmlformats.org/drawingml/2006/main" w="127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E8"/>
          </a:solidFill>
          <a:ln xmlns:a="http://schemas.openxmlformats.org/drawingml/2006/main" w="127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E8"/>
          </a:solidFill>
          <a:ln xmlns:a="http://schemas.openxmlformats.org/drawingml/2006/main" w="127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1D23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bg>
      <p:bgPr>
        <a:blipFill xmlns:a="http://schemas.openxmlformats.org/drawingml/2006/main">
          <a:blip xmlns:r="http://schemas.openxmlformats.org/officeDocument/2006/relationships" r:embed="rIdOfficeKitImageb7d7d39d00e5a7e4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rgument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argument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aeb6f74d36d260d0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argument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330">
              <a:alpha val="62000"/>
            </a:srgbClr>
          </a:solidFill>
          <a:ln xmlns:a="http://schemas.openxmlformats.org/drawingml/2006/main" w="0">
            <a:solidFill>
              <a:srgbClr val="1D23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argument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MOONLIT WORK REPORT · ARGUMENT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8B6BE8"/>
                </a:solidFill>
                <a:latin typeface="Arial"/>
                <a:ea typeface="Arial"/>
              </a:rPr>
              <a:t>MOONLIT WORK REPORT · ARGUMENT</a:t>
            </a:r>
            <a:endParaRPr lang="en-US"/>
          </a:p>
        </p:txBody>
      </p:sp>
      <p:sp>
        <p:nvSpPr>
          <p:cNvPr id="7" name="argument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constraint owns the page</a:t>
            </a:r>
            <a:endParaRPr lang="en-US"/>
          </a:p>
        </p:txBody>
      </p:sp>
      <p:sp>
        <p:nvSpPr>
          <p:cNvPr id="8" name="argument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Status, cause, owner and date stay together.</a:t>
            </a:r>
            <a:endParaRPr lang="en-US"/>
          </a:p>
        </p:txBody>
      </p:sp>
      <p:sp>
        <p:nvSpPr>
          <p:cNvPr id="9" name="work-status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B6BE8"/>
                </a:solidFill>
                <a:latin typeface="Arial"/>
                <a:ea typeface="Arial"/>
              </a:rPr>
              <a:t>OPERATING SIGNAL</a:t>
            </a:r>
            <a:endParaRPr lang="en-US"/>
          </a:p>
        </p:txBody>
      </p:sp>
      <p:sp>
        <p:nvSpPr>
          <p:cNvPr id="10" name="work-headline"/>
          <p:cNvSpPr txBox="1"/>
          <p:nvPr/>
        </p:nvSpPr>
        <p:spPr>
          <a:xfrm xmlns:a="http://schemas.openxmlformats.org/drawingml/2006/main">
            <a:off x="1104900" y="37909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1D2330"/>
                </a:solidFill>
                <a:latin typeface="Arial"/>
                <a:ea typeface="Arial"/>
              </a:rPr>
              <a:t>The queue is healthy; the handoff is not.</a:t>
            </a:r>
            <a:endParaRPr lang="en-US"/>
          </a:p>
        </p:txBody>
      </p:sp>
      <p:sp>
        <p:nvSpPr>
          <p:cNvPr id="11" name="work-body"/>
          <p:cNvSpPr txBox="1"/>
          <p:nvPr/>
        </p:nvSpPr>
        <p:spPr>
          <a:xfrm xmlns:a="http://schemas.openxmlformats.org/drawingml/2006/main">
            <a:off x="1104900" y="4762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1D2330"/>
                </a:solidFill>
                <a:latin typeface="Arial"/>
                <a:ea typeface="Arial"/>
              </a:rPr>
              <a:t>Three visible signals point to one owner and one date.</a:t>
            </a:r>
            <a:endParaRPr lang="en-US"/>
          </a:p>
        </p:txBody>
      </p:sp>
      <p:sp>
        <p:nvSpPr>
          <p:cNvPr id="12" name="work-rail"/>
          <p:cNvSpPr/>
          <p:nvPr/>
        </p:nvSpPr>
        <p:spPr>
          <a:xfrm xmlns:a="http://schemas.openxmlformats.org/drawingml/2006/main">
            <a:off x="10001250" y="3333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395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work-num-0"/>
          <p:cNvSpPr txBox="1"/>
          <p:nvPr/>
        </p:nvSpPr>
        <p:spPr>
          <a:xfrm xmlns:a="http://schemas.openxmlformats.org/drawingml/2006/main">
            <a:off x="10477500" y="3448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8B6BE8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4" name="work-label-0"/>
          <p:cNvSpPr txBox="1"/>
          <p:nvPr/>
        </p:nvSpPr>
        <p:spPr>
          <a:xfrm xmlns:a="http://schemas.openxmlformats.org/drawingml/2006/main">
            <a:off x="11144250" y="3448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1D2330"/>
                </a:solidFill>
                <a:latin typeface="Arial"/>
                <a:ea typeface="Arial"/>
              </a:rPr>
              <a:t>Queue</a:t>
            </a:r>
            <a:endParaRPr lang="en-US"/>
          </a:p>
        </p:txBody>
      </p:sp>
      <p:sp>
        <p:nvSpPr>
          <p:cNvPr id="15" name="work-text-0"/>
          <p:cNvSpPr txBox="1"/>
          <p:nvPr/>
        </p:nvSpPr>
        <p:spPr>
          <a:xfrm xmlns:a="http://schemas.openxmlformats.org/drawingml/2006/main">
            <a:off x="12668250" y="3448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3959C"/>
                </a:solidFill>
                <a:latin typeface="Arial"/>
                <a:ea typeface="Arial"/>
              </a:rPr>
              <a:t>On target</a:t>
            </a:r>
            <a:endParaRPr lang="en-US"/>
          </a:p>
        </p:txBody>
      </p:sp>
      <p:sp>
        <p:nvSpPr>
          <p:cNvPr id="16" name="work-num-1"/>
          <p:cNvSpPr txBox="1"/>
          <p:nvPr/>
        </p:nvSpPr>
        <p:spPr>
          <a:xfrm xmlns:a="http://schemas.openxmlformats.org/drawingml/2006/main">
            <a:off x="10477500" y="4229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8B6BE8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7" name="work-label-1"/>
          <p:cNvSpPr txBox="1"/>
          <p:nvPr/>
        </p:nvSpPr>
        <p:spPr>
          <a:xfrm xmlns:a="http://schemas.openxmlformats.org/drawingml/2006/main">
            <a:off x="11144250" y="4229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1D2330"/>
                </a:solidFill>
                <a:latin typeface="Arial"/>
                <a:ea typeface="Arial"/>
              </a:rPr>
              <a:t>Handoff</a:t>
            </a:r>
            <a:endParaRPr lang="en-US"/>
          </a:p>
        </p:txBody>
      </p:sp>
      <p:sp>
        <p:nvSpPr>
          <p:cNvPr id="18" name="work-text-1"/>
          <p:cNvSpPr txBox="1"/>
          <p:nvPr/>
        </p:nvSpPr>
        <p:spPr>
          <a:xfrm xmlns:a="http://schemas.openxmlformats.org/drawingml/2006/main">
            <a:off x="12668250" y="422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B6BE8"/>
                </a:solidFill>
                <a:latin typeface="Arial"/>
                <a:ea typeface="Arial"/>
              </a:rPr>
              <a:t>At risk</a:t>
            </a:r>
            <a:endParaRPr lang="en-US"/>
          </a:p>
        </p:txBody>
      </p:sp>
      <p:sp>
        <p:nvSpPr>
          <p:cNvPr id="19" name="work-num-2"/>
          <p:cNvSpPr txBox="1"/>
          <p:nvPr/>
        </p:nvSpPr>
        <p:spPr>
          <a:xfrm xmlns:a="http://schemas.openxmlformats.org/drawingml/2006/main">
            <a:off x="10477500" y="50101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8B6BE8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0" name="work-label-2"/>
          <p:cNvSpPr txBox="1"/>
          <p:nvPr/>
        </p:nvSpPr>
        <p:spPr>
          <a:xfrm xmlns:a="http://schemas.openxmlformats.org/drawingml/2006/main">
            <a:off x="1114425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1D2330"/>
                </a:solidFill>
                <a:latin typeface="Arial"/>
                <a:ea typeface="Arial"/>
              </a:rPr>
              <a:t>Owner</a:t>
            </a:r>
            <a:endParaRPr lang="en-US"/>
          </a:p>
        </p:txBody>
      </p:sp>
      <p:sp>
        <p:nvSpPr>
          <p:cNvPr id="21" name="work-text-2"/>
          <p:cNvSpPr txBox="1"/>
          <p:nvPr/>
        </p:nvSpPr>
        <p:spPr>
          <a:xfrm xmlns:a="http://schemas.openxmlformats.org/drawingml/2006/main">
            <a:off x="1266825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3959C"/>
                </a:solidFill>
                <a:latin typeface="Arial"/>
                <a:ea typeface="Arial"/>
              </a:rPr>
              <a:t>Named</a:t>
            </a:r>
            <a:endParaRPr lang="en-US"/>
          </a:p>
        </p:txBody>
      </p:sp>
      <p:sp>
        <p:nvSpPr>
          <p:cNvPr id="22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3959C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3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3959C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bg>
      <p:bgPr>
        <a:blipFill xmlns:a="http://schemas.openxmlformats.org/drawingml/2006/main">
          <a:blip xmlns:r="http://schemas.openxmlformats.org/officeDocument/2006/relationships" r:embed="rIdOfficeKitImage8fbc298f8d1b7a3c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evidence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evidenc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237998db8bee20d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evidenc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330">
              <a:alpha val="62000"/>
            </a:srgbClr>
          </a:solidFill>
          <a:ln xmlns:a="http://schemas.openxmlformats.org/drawingml/2006/main" w="0">
            <a:solidFill>
              <a:srgbClr val="1D23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videnc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MOONLIT WORK REPORT · EVIDENC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8B6BE8"/>
                </a:solidFill>
                <a:latin typeface="Arial"/>
                <a:ea typeface="Arial"/>
              </a:rPr>
              <a:t>MOONLIT WORK REPORT · EVIDENCE</a:t>
            </a:r>
            <a:endParaRPr lang="en-US"/>
          </a:p>
        </p:txBody>
      </p:sp>
      <p:sp>
        <p:nvSpPr>
          <p:cNvPr id="7" name="evidenc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Signal up; exception stays</a:t>
            </a:r>
            <a:endParaRPr lang="en-US"/>
          </a:p>
        </p:txBody>
      </p:sp>
      <p:sp>
        <p:nvSpPr>
          <p:cNvPr id="8" name="evidenc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Illustrative operations ledger · current state and exception share one frame.</a:t>
            </a:r>
            <a:endParaRPr lang="en-US"/>
          </a:p>
        </p:txBody>
      </p:sp>
      <p:sp>
        <p:nvSpPr>
          <p:cNvPr id="9" name="evidence-read-scrim"/>
          <p:cNvSpPr/>
          <p:nvPr/>
        </p:nvSpPr>
        <p:spPr>
          <a:xfrm xmlns:a="http://schemas.openxmlformats.org/drawingml/2006/main">
            <a:off x="9525000" y="28575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0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a8bce28ad34aab"/>
          </a:graphicData>
        </a:graphic>
      </p:graphicFrame>
      <p:graphicFrame>
        <p:nvGraphicFramePr>
          <p:cNvPr id="11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1090ee63a74a3f"/>
          </a:graphicData>
        </a:graphic>
      </p:graphicFrame>
      <p:sp>
        <p:nvSpPr>
          <p:cNvPr id="12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8B6BE8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14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1D2330"/>
                </a:solidFill>
                <a:latin typeface="Arial"/>
                <a:ea typeface="Arial"/>
              </a:rPr>
              <a:t>The signal earns its space.</a:t>
            </a:r>
            <a:endParaRPr lang="en-US"/>
          </a:p>
        </p:txBody>
      </p:sp>
      <p:sp>
        <p:nvSpPr>
          <p:cNvPr id="15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3959C"/>
                </a:solidFill>
                <a:latin typeface="Arial"/>
                <a:ea typeface="Arial"/>
              </a:rPr>
              <a:t>Every mark answers the page's question; remove anything that does not.</a:t>
            </a:r>
            <a:endParaRPr lang="en-US"/>
          </a:p>
        </p:txBody>
      </p:sp>
      <p:sp>
        <p:nvSpPr>
          <p:cNvPr id="16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D2330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8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3959C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9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3959C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detai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2930549abca3ae00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detai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330">
              <a:alpha val="62000"/>
            </a:srgbClr>
          </a:solidFill>
          <a:ln xmlns:a="http://schemas.openxmlformats.org/drawingml/2006/main" w="0">
            <a:solidFill>
              <a:srgbClr val="1D23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detai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MOONLIT WORK REPORT · DETAIL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8B6BE8"/>
                </a:solidFill>
                <a:latin typeface="Arial"/>
                <a:ea typeface="Arial"/>
              </a:rPr>
              <a:t>MOONLIT WORK REPORT · DETAIL</a:t>
            </a:r>
            <a:endParaRPr lang="en-US"/>
          </a:p>
        </p:txBody>
      </p:sp>
      <p:sp>
        <p:nvSpPr>
          <p:cNvPr id="7" name="detai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gap becomes useful when it has an owner</a:t>
            </a:r>
            <a:endParaRPr lang="en-US"/>
          </a:p>
        </p:txBody>
      </p:sp>
      <p:sp>
        <p:nvSpPr>
          <p:cNvPr id="8" name="detail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Target, current state and exception share a single operating frame.</a:t>
            </a:r>
            <a:endParaRPr lang="en-US"/>
          </a:p>
        </p:txBody>
      </p:sp>
      <p:sp>
        <p:nvSpPr>
          <p:cNvPr id="9" name="operating-label-0"/>
          <p:cNvSpPr txBox="1"/>
          <p:nvPr/>
        </p:nvSpPr>
        <p:spPr>
          <a:xfrm xmlns:a="http://schemas.openxmlformats.org/drawingml/2006/main">
            <a:off x="11049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3959C"/>
                </a:solidFill>
                <a:latin typeface="Arial"/>
                <a:ea typeface="Arial"/>
              </a:rPr>
              <a:t>NOW</a:t>
            </a:r>
            <a:endParaRPr lang="en-US"/>
          </a:p>
        </p:txBody>
      </p:sp>
      <p:sp>
        <p:nvSpPr>
          <p:cNvPr id="10" name="operating-bar-0"/>
          <p:cNvSpPr/>
          <p:nvPr/>
        </p:nvSpPr>
        <p:spPr>
          <a:xfrm xmlns:a="http://schemas.openxmlformats.org/drawingml/2006/main">
            <a:off x="11049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395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operating-fill-0"/>
          <p:cNvSpPr/>
          <p:nvPr/>
        </p:nvSpPr>
        <p:spPr>
          <a:xfrm xmlns:a="http://schemas.openxmlformats.org/drawingml/2006/main">
            <a:off x="1104900" y="384810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E8"/>
          </a:solidFill>
          <a:ln xmlns:a="http://schemas.openxmlformats.org/drawingml/2006/main" w="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operating-value-0"/>
          <p:cNvSpPr txBox="1"/>
          <p:nvPr/>
        </p:nvSpPr>
        <p:spPr>
          <a:xfrm xmlns:a="http://schemas.openxmlformats.org/drawingml/2006/main">
            <a:off x="11049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D2330"/>
                </a:solidFill>
                <a:latin typeface="Arial"/>
                <a:ea typeface="Arial"/>
              </a:rPr>
              <a:t>54%</a:t>
            </a:r>
            <a:endParaRPr lang="en-US"/>
          </a:p>
        </p:txBody>
      </p:sp>
      <p:sp>
        <p:nvSpPr>
          <p:cNvPr id="13" name="operating-label-1"/>
          <p:cNvSpPr txBox="1"/>
          <p:nvPr/>
        </p:nvSpPr>
        <p:spPr>
          <a:xfrm xmlns:a="http://schemas.openxmlformats.org/drawingml/2006/main">
            <a:off x="379095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3959C"/>
                </a:solidFill>
                <a:latin typeface="Arial"/>
                <a:ea typeface="Arial"/>
              </a:rPr>
              <a:t>TARGET</a:t>
            </a:r>
            <a:endParaRPr lang="en-US"/>
          </a:p>
        </p:txBody>
      </p:sp>
      <p:sp>
        <p:nvSpPr>
          <p:cNvPr id="14" name="operating-bar-1"/>
          <p:cNvSpPr/>
          <p:nvPr/>
        </p:nvSpPr>
        <p:spPr>
          <a:xfrm xmlns:a="http://schemas.openxmlformats.org/drawingml/2006/main">
            <a:off x="379095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395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operating-fill-1"/>
          <p:cNvSpPr/>
          <p:nvPr/>
        </p:nvSpPr>
        <p:spPr>
          <a:xfrm xmlns:a="http://schemas.openxmlformats.org/drawingml/2006/main">
            <a:off x="3790950" y="3848100"/>
            <a:ext cx="1590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B74"/>
          </a:solidFill>
          <a:ln xmlns:a="http://schemas.openxmlformats.org/drawingml/2006/main" w="0">
            <a:solidFill>
              <a:srgbClr val="4E9B7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operating-value-1"/>
          <p:cNvSpPr txBox="1"/>
          <p:nvPr/>
        </p:nvSpPr>
        <p:spPr>
          <a:xfrm xmlns:a="http://schemas.openxmlformats.org/drawingml/2006/main">
            <a:off x="379095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D2330"/>
                </a:solidFill>
                <a:latin typeface="Arial"/>
                <a:ea typeface="Arial"/>
              </a:rPr>
              <a:t>76%</a:t>
            </a:r>
            <a:endParaRPr lang="en-US"/>
          </a:p>
        </p:txBody>
      </p:sp>
      <p:sp>
        <p:nvSpPr>
          <p:cNvPr id="17" name="operating-label-2"/>
          <p:cNvSpPr txBox="1"/>
          <p:nvPr/>
        </p:nvSpPr>
        <p:spPr>
          <a:xfrm xmlns:a="http://schemas.openxmlformats.org/drawingml/2006/main">
            <a:off x="64770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3959C"/>
                </a:solidFill>
                <a:latin typeface="Arial"/>
                <a:ea typeface="Arial"/>
              </a:rPr>
              <a:t>GAP</a:t>
            </a:r>
            <a:endParaRPr lang="en-US"/>
          </a:p>
        </p:txBody>
      </p:sp>
      <p:sp>
        <p:nvSpPr>
          <p:cNvPr id="18" name="operating-bar-2"/>
          <p:cNvSpPr/>
          <p:nvPr/>
        </p:nvSpPr>
        <p:spPr>
          <a:xfrm xmlns:a="http://schemas.openxmlformats.org/drawingml/2006/main">
            <a:off x="64770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395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operating-fill-2"/>
          <p:cNvSpPr/>
          <p:nvPr/>
        </p:nvSpPr>
        <p:spPr>
          <a:xfrm xmlns:a="http://schemas.openxmlformats.org/drawingml/2006/main">
            <a:off x="6477000" y="38481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330"/>
          </a:solidFill>
          <a:ln xmlns:a="http://schemas.openxmlformats.org/drawingml/2006/main" w="0">
            <a:solidFill>
              <a:srgbClr val="1D23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operating-value-2"/>
          <p:cNvSpPr txBox="1"/>
          <p:nvPr/>
        </p:nvSpPr>
        <p:spPr>
          <a:xfrm xmlns:a="http://schemas.openxmlformats.org/drawingml/2006/main">
            <a:off x="64770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D2330"/>
                </a:solidFill>
                <a:latin typeface="Arial"/>
                <a:ea typeface="Arial"/>
              </a:rPr>
              <a:t>22%</a:t>
            </a:r>
            <a:endParaRPr lang="en-US"/>
          </a:p>
        </p:txBody>
      </p:sp>
      <p:sp>
        <p:nvSpPr>
          <p:cNvPr id="21" name="operating-axis"/>
          <p:cNvSpPr/>
          <p:nvPr/>
        </p:nvSpPr>
        <p:spPr>
          <a:xfrm xmlns:a="http://schemas.openxmlformats.org/drawingml/2006/main">
            <a:off x="1104900" y="533400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395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operating-read"/>
          <p:cNvSpPr txBox="1"/>
          <p:nvPr/>
        </p:nvSpPr>
        <p:spPr>
          <a:xfrm xmlns:a="http://schemas.openxmlformats.org/drawingml/2006/main">
            <a:off x="1104900" y="5657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D2330"/>
                </a:solidFill>
                <a:latin typeface="Arial"/>
                <a:ea typeface="Arial"/>
              </a:rPr>
              <a:t>Status is useful only when the next handoff is visible.</a:t>
            </a:r>
            <a:endParaRPr lang="en-US"/>
          </a:p>
        </p:txBody>
      </p:sp>
      <p:sp>
        <p:nvSpPr>
          <p:cNvPr id="23" name="operating-note-label"/>
          <p:cNvSpPr txBox="1"/>
          <p:nvPr/>
        </p:nvSpPr>
        <p:spPr>
          <a:xfrm xmlns:a="http://schemas.openxmlformats.org/drawingml/2006/main">
            <a:off x="10287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B6BE8"/>
                </a:solidFill>
                <a:latin typeface="Arial"/>
                <a:ea typeface="Arial"/>
              </a:rPr>
              <a:t>EXCEPTION</a:t>
            </a:r>
            <a:endParaRPr lang="en-US"/>
          </a:p>
        </p:txBody>
      </p:sp>
      <p:sp>
        <p:nvSpPr>
          <p:cNvPr id="24" name="operating-note"/>
          <p:cNvSpPr txBox="1"/>
          <p:nvPr/>
        </p:nvSpPr>
        <p:spPr>
          <a:xfrm xmlns:a="http://schemas.openxmlformats.org/drawingml/2006/main">
            <a:off x="10287000" y="38290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D2330"/>
                </a:solidFill>
                <a:latin typeface="Arial"/>
                <a:ea typeface="Arial"/>
              </a:rPr>
              <a:t>The gap is not a decoration; it is the work.</a:t>
            </a:r>
            <a:endParaRPr lang="en-US"/>
          </a:p>
        </p:txBody>
      </p:sp>
      <p:sp>
        <p:nvSpPr>
          <p:cNvPr id="25" name="operating-note-foot"/>
          <p:cNvSpPr txBox="1"/>
          <p:nvPr/>
        </p:nvSpPr>
        <p:spPr>
          <a:xfrm xmlns:a="http://schemas.openxmlformats.org/drawingml/2006/main">
            <a:off x="10287000" y="5010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3959C"/>
                </a:solidFill>
                <a:latin typeface="Arial"/>
                <a:ea typeface="Arial"/>
              </a:rPr>
              <a:t>A healthy page names the owner and the next date.</a:t>
            </a:r>
            <a:endParaRPr lang="en-US"/>
          </a:p>
        </p:txBody>
      </p:sp>
      <p:sp>
        <p:nvSpPr>
          <p:cNvPr id="2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3959C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2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3959C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bg>
      <p:bgPr>
        <a:blipFill xmlns:a="http://schemas.openxmlformats.org/drawingml/2006/main">
          <a:blip xmlns:r="http://schemas.openxmlformats.org/officeDocument/2006/relationships" r:embed="rIdOfficeKitImage6af8c9b5dff6e3a3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isual-scrim"/>
          <p:cNvSpPr/>
          <p:nvPr/>
        </p:nvSpPr>
        <p:spPr>
          <a:xfrm xmlns:a="http://schemas.openxmlformats.org/drawingml/2006/main">
            <a:off x="0" y="0"/>
            <a:ext cx="6858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eyebrow"/>
          <p:cNvSpPr txBox="1"/>
          <p:nvPr/>
        </p:nvSpPr>
        <p:spPr>
          <a:xfrm xmlns:a="http://schemas.openxmlformats.org/drawingml/2006/main">
            <a:off x="914400" y="895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B6BE8"/>
                </a:solidFill>
                <a:latin typeface="Arial"/>
                <a:ea typeface="Arial"/>
              </a:rPr>
              <a:t>MOONLIT WORK REPORT · VISUAL CARRIER</a:t>
            </a:r>
            <a:endParaRPr lang="en-US"/>
          </a:p>
        </p:txBody>
      </p:sp>
      <p:sp>
        <p:nvSpPr>
          <p:cNvPr id="4" name="visual-title"/>
          <p:cNvSpPr txBox="1"/>
          <p:nvPr/>
        </p:nvSpPr>
        <p:spPr>
          <a:xfrm xmlns:a="http://schemas.openxmlformats.org/drawingml/2006/main">
            <a:off x="914400" y="16383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300" b="1">
                <a:solidFill>
                  <a:srgbClr val="1D2330"/>
                </a:solidFill>
                <a:latin typeface="Arial"/>
                <a:ea typeface="Arial"/>
              </a:rPr>
              <a:t>Show the operating shape</a:t>
            </a:r>
            <a:endParaRPr lang="en-US"/>
          </a:p>
        </p:txBody>
      </p:sp>
      <p:sp>
        <p:nvSpPr>
          <p:cNvPr id="5" name="visual-body"/>
          <p:cNvSpPr txBox="1"/>
          <p:nvPr/>
        </p:nvSpPr>
        <p:spPr>
          <a:xfrm xmlns:a="http://schemas.openxmlformats.org/drawingml/2006/main">
            <a:off x="914400" y="32194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D2330"/>
                </a:solidFill>
                <a:latin typeface="Arial"/>
                <a:ea typeface="Arial"/>
              </a:rPr>
              <a:t>The image carries context; the page names the move.</a:t>
            </a:r>
            <a:endParaRPr lang="en-US"/>
          </a:p>
        </p:txBody>
      </p:sp>
      <p:sp>
        <p:nvSpPr>
          <p:cNvPr id="6" name="visual-rule"/>
          <p:cNvSpPr/>
          <p:nvPr/>
        </p:nvSpPr>
        <p:spPr>
          <a:xfrm xmlns:a="http://schemas.openxmlformats.org/drawingml/2006/main">
            <a:off x="914400" y="4476750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visual-label"/>
          <p:cNvSpPr txBox="1"/>
          <p:nvPr/>
        </p:nvSpPr>
        <p:spPr>
          <a:xfrm xmlns:a="http://schemas.openxmlformats.org/drawingml/2006/main">
            <a:off x="914400" y="4819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B6BE8"/>
                </a:solidFill>
                <a:latin typeface="Arial"/>
                <a:ea typeface="Arial"/>
              </a:rPr>
              <a:t>THE IMAGE IS EVIDENCE, NOT FILL</a:t>
            </a:r>
            <a:endParaRPr lang="en-US"/>
          </a:p>
        </p:txBody>
      </p:sp>
      <p:sp>
        <p:nvSpPr>
          <p:cNvPr id="8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3959C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9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3959C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bg>
      <p:bgPr>
        <a:blipFill xmlns:a="http://schemas.openxmlformats.org/drawingml/2006/main">
          <a:blip xmlns:r="http://schemas.openxmlformats.org/officeDocument/2006/relationships" r:embed="rIdOfficeKitImage7650495d0c3b8602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lose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clos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e4bd683f73b7a543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clos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330">
              <a:alpha val="62000"/>
            </a:srgbClr>
          </a:solidFill>
          <a:ln xmlns:a="http://schemas.openxmlformats.org/drawingml/2006/main" w="0">
            <a:solidFill>
              <a:srgbClr val="1D23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los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MOONLIT WORK REPORT · CLOS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8B6BE8"/>
                </a:solidFill>
                <a:latin typeface="Arial"/>
                <a:ea typeface="Arial"/>
              </a:rPr>
              <a:t>MOONLIT WORK REPORT · CLOSE</a:t>
            </a:r>
            <a:endParaRPr lang="en-US"/>
          </a:p>
        </p:txBody>
      </p:sp>
      <p:sp>
        <p:nvSpPr>
          <p:cNvPr id="7" name="clos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Name the owner and next date</a:t>
            </a:r>
            <a:endParaRPr lang="en-US"/>
          </a:p>
        </p:txBody>
      </p:sp>
      <p:sp>
        <p:nvSpPr>
          <p:cNvPr id="8" name="clos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8B6BE8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395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D2330"/>
                </a:solidFill>
                <a:latin typeface="Arial"/>
                <a:ea typeface="Arial"/>
              </a:rPr>
              <a:t>Status</a:t>
            </a:r>
            <a:endParaRPr lang="en-US"/>
          </a:p>
        </p:txBody>
      </p:sp>
      <p:sp>
        <p:nvSpPr>
          <p:cNvPr id="1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D2330"/>
                </a:solidFill>
                <a:latin typeface="Arial"/>
                <a:ea typeface="Arial"/>
              </a:rPr>
              <a:t>The queue is on target.</a:t>
            </a:r>
            <a:endParaRPr lang="en-US"/>
          </a:p>
        </p:txBody>
      </p:sp>
      <p:sp>
        <p:nvSpPr>
          <p:cNvPr id="1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D233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395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D2330"/>
                </a:solidFill>
                <a:latin typeface="Arial"/>
                <a:ea typeface="Arial"/>
              </a:rPr>
              <a:t>Exception</a:t>
            </a:r>
            <a:endParaRPr lang="en-US"/>
          </a:p>
        </p:txBody>
      </p:sp>
      <p:sp>
        <p:nvSpPr>
          <p:cNvPr id="1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D2330"/>
                </a:solidFill>
                <a:latin typeface="Arial"/>
                <a:ea typeface="Arial"/>
              </a:rPr>
              <a:t>The handoff is the constraint.</a:t>
            </a:r>
            <a:endParaRPr lang="en-US"/>
          </a:p>
        </p:txBody>
      </p:sp>
      <p:sp>
        <p:nvSpPr>
          <p:cNvPr id="1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8B6BE8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D2330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2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D2330"/>
                </a:solidFill>
                <a:latin typeface="Arial"/>
                <a:ea typeface="Arial"/>
              </a:rPr>
              <a:t>Name the owner today.</a:t>
            </a:r>
            <a:endParaRPr lang="en-US"/>
          </a:p>
        </p:txBody>
      </p:sp>
      <p:sp>
        <p:nvSpPr>
          <p:cNvPr id="2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E8"/>
          </a:solidFill>
          <a:ln xmlns:a="http://schemas.openxmlformats.org/drawingml/2006/main" w="0">
            <a:solidFill>
              <a:srgbClr val="8B6B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Assign the handoff</a:t>
            </a:r>
            <a:endParaRPr lang="en-US"/>
          </a:p>
        </p:txBody>
      </p:sp>
      <p:sp>
        <p:nvSpPr>
          <p:cNvPr id="2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3959C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3959C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