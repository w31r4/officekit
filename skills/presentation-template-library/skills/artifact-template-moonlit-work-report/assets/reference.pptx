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jpg" ContentType="image/jpeg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Masters/theme/theme1.xml" ContentType="application/vnd.openxmlformats-officedocument.theme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charts/chart1.xml" ContentType="application/vnd.openxmlformats-officedocument.drawingml.chart+xml"/>
  <Override PartName="/ppt/slides/charts/chart2.xml" ContentType="application/vnd.openxmlformats-officedocument.drawingml.chart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921803dec2814aa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IdMaster1"/>
  </p:sldMasterIdLst>
  <p:sldIdLst>
    <p:sldId xmlns:r="http://schemas.openxmlformats.org/officeDocument/2006/relationships" id="256" r:id="rIdSlide1"/>
    <p:sldId xmlns:r="http://schemas.openxmlformats.org/officeDocument/2006/relationships" id="257" r:id="rIdSlide2"/>
    <p:sldId xmlns:r="http://schemas.openxmlformats.org/officeDocument/2006/relationships" id="258" r:id="rIdSlide3"/>
    <p:sldId xmlns:r="http://schemas.openxmlformats.org/officeDocument/2006/relationships" id="259" r:id="rIdSlide4"/>
    <p:sldId xmlns:r="http://schemas.openxmlformats.org/officeDocument/2006/relationships" id="260" r:id="rIdSlide5"/>
    <p:sldId xmlns:r="http://schemas.openxmlformats.org/officeDocument/2006/relationships" id="261" r:id="rIdSlide6"/>
  </p:sldIdLst>
  <p:sldSz cx="15240000" cy="8572500"/>
  <p:notesSz cx="6858000" cy="9144000"/>
  <p:defaultTextStyle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Relationship Type="http://schemas.openxmlformats.org/officeDocument/2006/relationships/slide" Target="/ppt/slides/slide1.xml" Id="rIdSlide1" /><Relationship Type="http://schemas.openxmlformats.org/officeDocument/2006/relationships/slide" Target="/ppt/slides/slide2.xml" Id="rIdSlide2" /><Relationship Type="http://schemas.openxmlformats.org/officeDocument/2006/relationships/slide" Target="/ppt/slides/slide3.xml" Id="rIdSlide3" /><Relationship Type="http://schemas.openxmlformats.org/officeDocument/2006/relationships/slide" Target="/ppt/slides/slide4.xml" Id="rIdSlide4" /><Relationship Type="http://schemas.openxmlformats.org/officeDocument/2006/relationships/slide" Target="/ppt/slides/slide5.xml" Id="rIdSlide5" /><Relationship Type="http://schemas.openxmlformats.org/officeDocument/2006/relationships/slide" Target="/ppt/slides/slide6.xml" Id="rIdSlide6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/Relationships>
</file>

<file path=ppt/slideLayouts/slideLayout1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1.xml" Id="rIdTheme1" /><Relationship Type="http://schemas.openxmlformats.org/officeDocument/2006/relationships/slideLayout" Target="/ppt/slideLayouts/slideLayout1.xml" Id="rIdLayout1" /></Relationships>
</file>

<file path=ppt/slideMasters/slideMaster1.xml><?xml version="1.0" encoding="utf-8"?>
<p:sldMaster xmlns:p="http://schemas.openxmlformats.org/presentationml/2006/main">
  <p:cSld name="Default Master">
    <p:bg>
      <p:bgPr>
        <a:solidFill xmlns:a="http://schemas.openxmlformats.org/drawingml/2006/main">
          <a:srgbClr val="FFFFFF"/>
        </a:solidFill>
        <a:effectLst xmlns:a="http://schemas.openxmlformats.org/drawingml/2006/main"/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Layout1"/>
  </p:sldLayoutIdLst>
  <p:txStyles>
    <p:titleStyle/>
    <p:bodyStyle/>
    <p:otherStyle/>
  </p:txStyles>
</p:sldMaster>
</file>

<file path=ppt/slideMasters/theme/theme1.xml><?xml version="1.0" encoding="utf-8"?>
<a:theme xmlns:a="http://schemas.openxmlformats.org/drawingml/2006/main" name="Office Clean Room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.jpg" Id="rIdOfficeKitImage026be3a43029630d_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2.jpg" Id="rIdOfficeKitImaged71bfa074cda59bb_1" /><Relationship Type="http://schemas.openxmlformats.org/officeDocument/2006/relationships/image" Target="/ppt/media/image3.jpg" Id="rIdOfficeKitImage59ee3aa5202fd02f_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4.jpg" Id="rIdOfficeKitImage083106afebc7d419_1" /><Relationship Type="http://schemas.openxmlformats.org/officeDocument/2006/relationships/image" Target="/ppt/media/image5.jpg" Id="rIdOfficeKitImage56df3e49f11f0ff0_1" /><Relationship Type="http://schemas.openxmlformats.org/officeDocument/2006/relationships/chart" Target="/ppt/slides/charts/chart1.xml" Id="R4a5ea4ab2a1942d4" /><Relationship Type="http://schemas.openxmlformats.org/officeDocument/2006/relationships/chart" Target="/ppt/slides/charts/chart2.xml" Id="R2acc09127a7e480f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.jpg" Id="rIdOfficeKitImage026be3a43029630d_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2.jpg" Id="rIdOfficeKitImaged71bfa074cda59bb_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3.jpg" Id="rIdOfficeKitImage59ee3aa5202fd02f_1" /><Relationship Type="http://schemas.openxmlformats.org/officeDocument/2006/relationships/image" Target="/ppt/media/image4.jpg" Id="rIdOfficeKitImage083106afebc7d419_1" /></Relationships>
</file>

<file path=ppt/slides/charts/chart1.xml><?xml version="1.0" encoding="utf-8"?>
<c:chartSpace xmlns:c="http://schemas.openxmlformats.org/drawingml/2006/chart" xmlns:a="http://schemas.openxmlformats.org/drawingml/2006/main">
  <c:chart>
    <c:title>
      <c:tx>
        <c:rich>
          <a:bodyPr/>
          <a:lstStyle/>
          <a:p>
            <a:r>
              <a:t>Primary signal · observed versus reference</a:t>
            </a:r>
          </a:p>
        </c:rich>
      </c:tx>
      <c:layout/>
    </c:title>
    <c:plotArea>
      <c:layout/>
      <c:barChart>
        <c:barDir val="col"/>
        <c:grouping val="clustered"/>
        <c:ser>
          <c:idx val="0"/>
          <c:order val="0"/>
          <c:tx>
            <c:v>Observed</c:v>
          </c:tx>
          <c:spPr>
            <a:solidFill>
              <a:srgbClr val="8B6BE8"/>
            </a:solidFill>
          </c:spPr>
          <c:cat>
            <c:strLit>
              <c:ptCount val="6"/>
              <c:pt idx="0">
                <c:v>Q1</c:v>
              </c:pt>
              <c:pt idx="1">
                <c:v>Q2</c:v>
              </c:pt>
              <c:pt idx="2">
                <c:v>Q3</c:v>
              </c:pt>
              <c:pt idx="3">
                <c:v>Q4</c:v>
              </c:pt>
              <c:pt idx="4">
                <c:v>Q5</c:v>
              </c:pt>
              <c:pt idx="5">
                <c:v>Q6</c:v>
              </c:pt>
            </c:strLit>
          </c:cat>
          <c:val>
            <c:numLit>
              <c:formatCode>General</c:formatCode>
              <c:ptCount val="6"/>
              <c:pt idx="0">
                <c:v>38</c:v>
              </c:pt>
              <c:pt idx="1">
                <c:v>46</c:v>
              </c:pt>
              <c:pt idx="2">
                <c:v>43</c:v>
              </c:pt>
              <c:pt idx="3">
                <c:v>58</c:v>
              </c:pt>
              <c:pt idx="4">
                <c:v>68</c:v>
              </c:pt>
              <c:pt idx="5">
                <c:v>74</c:v>
              </c:pt>
            </c:numLit>
          </c:val>
        </c:ser>
        <c:ser>
          <c:idx val="1"/>
          <c:order val="1"/>
          <c:tx>
            <c:v>Reference</c:v>
          </c:tx>
          <c:spPr>
            <a:solidFill>
              <a:srgbClr val="93959C"/>
            </a:solidFill>
          </c:spPr>
          <c:cat>
            <c:strLit>
              <c:ptCount val="6"/>
              <c:pt idx="0">
                <c:v>Q1</c:v>
              </c:pt>
              <c:pt idx="1">
                <c:v>Q2</c:v>
              </c:pt>
              <c:pt idx="2">
                <c:v>Q3</c:v>
              </c:pt>
              <c:pt idx="3">
                <c:v>Q4</c:v>
              </c:pt>
              <c:pt idx="4">
                <c:v>Q5</c:v>
              </c:pt>
              <c:pt idx="5">
                <c:v>Q6</c:v>
              </c:pt>
            </c:strLit>
          </c:cat>
          <c:val>
            <c:numLit>
              <c:formatCode>General</c:formatCode>
              <c:ptCount val="6"/>
              <c:pt idx="0">
                <c:v>34</c:v>
              </c:pt>
              <c:pt idx="1">
                <c:v>39</c:v>
              </c:pt>
              <c:pt idx="2">
                <c:v>41</c:v>
              </c:pt>
              <c:pt idx="3">
                <c:v>45</c:v>
              </c:pt>
              <c:pt idx="4">
                <c:v>49</c:v>
              </c:pt>
              <c:pt idx="5">
                <c:v>52</c:v>
              </c:pt>
            </c:numLit>
          </c:val>
        </c:ser>
        <c:axId val="1"/>
        <c:axId val="2"/>
      </c:barChart>
      <c:catAx>
        <c:axId val="1"/>
        <c:scaling>
          <c:orientation val="minMax"/>
        </c:scaling>
        <c:axPos val="b"/>
        <c:crossAx val="2"/>
      </c:catAx>
      <c:valAx>
        <c:axId val="2"/>
        <c:scaling>
          <c:orientation val="minMax"/>
        </c:scaling>
        <c:axPos val="l"/>
        <c:crossAx val="1"/>
      </c:valAx>
    </c:plotArea>
    <c:legend>
      <c:legendPos val="r"/>
      <c:layout/>
    </c:legend>
    <c:plotVisOnly val="1"/>
  </c:chart>
</c:chartSpace>
</file>

<file path=ppt/slides/charts/chart2.xml><?xml version="1.0" encoding="utf-8"?>
<c:chartSpace xmlns:c="http://schemas.openxmlformats.org/drawingml/2006/chart" xmlns:a="http://schemas.openxmlformats.org/drawingml/2006/main">
  <c:chart>
    <c:title>
      <c:tx>
        <c:rich>
          <a:bodyPr/>
          <a:lstStyle/>
          <a:p>
            <a:r>
              <a:t>Driver trend</a:t>
            </a:r>
          </a:p>
        </c:rich>
      </c:tx>
      <c:layout/>
    </c:title>
    <c:plotArea>
      <c:layout/>
      <c:lineChart>
        <c:grouping val="standard"/>
        <c:ser>
          <c:idx val="0"/>
          <c:order val="0"/>
          <c:tx>
            <c:v>Driver</c:v>
          </c:tx>
          <c:spPr>
            <a:solidFill>
              <a:srgbClr val="4E9B74"/>
            </a:solidFill>
            <a:ln w="38100">
              <a:solidFill>
                <a:srgbClr val="4E9B74"/>
              </a:solidFill>
              <a:prstDash val="solid"/>
            </a:ln>
          </c:spPr>
          <c:marker>
            <c:symbol val="circle"/>
            <c:size val="6"/>
          </c:marker>
          <c:cat>
            <c:strLit>
              <c:ptCount val="6"/>
              <c:pt idx="0">
                <c:v>Q1</c:v>
              </c:pt>
              <c:pt idx="1">
                <c:v>Q2</c:v>
              </c:pt>
              <c:pt idx="2">
                <c:v>Q3</c:v>
              </c:pt>
              <c:pt idx="3">
                <c:v>Q4</c:v>
              </c:pt>
              <c:pt idx="4">
                <c:v>Q5</c:v>
              </c:pt>
              <c:pt idx="5">
                <c:v>Q6</c:v>
              </c:pt>
            </c:strLit>
          </c:cat>
          <c:val>
            <c:numLit>
              <c:formatCode>General</c:formatCode>
              <c:ptCount val="6"/>
              <c:pt idx="0">
                <c:v>22</c:v>
              </c:pt>
              <c:pt idx="1">
                <c:v>28</c:v>
              </c:pt>
              <c:pt idx="2">
                <c:v>34</c:v>
              </c:pt>
              <c:pt idx="3">
                <c:v>39</c:v>
              </c:pt>
              <c:pt idx="4">
                <c:v>45</c:v>
              </c:pt>
              <c:pt idx="5">
                <c:v>51</c:v>
              </c:pt>
            </c:numLit>
          </c:val>
        </c:ser>
        <c:axId val="1"/>
        <c:axId val="2"/>
      </c:lineChart>
      <c:catAx>
        <c:axId val="1"/>
        <c:scaling>
          <c:orientation val="minMax"/>
        </c:scaling>
        <c:axPos val="b"/>
        <c:crossAx val="2"/>
      </c:catAx>
      <c:valAx>
        <c:axId val="2"/>
        <c:scaling>
          <c:orientation val="minMax"/>
        </c:scaling>
        <c:axPos val="l"/>
        <c:crossAx val="1"/>
      </c:valAx>
    </c:plotArea>
    <c:plotVisOnly val="1"/>
  </c:chart>
</c:chartSpace>
</file>

<file path=ppt/slides/slide1.xml><?xml version="1.0" encoding="utf-8"?>
<p:sld xmlns:p="http://schemas.openxmlformats.org/presentationml/2006/main">
  <p:cSld name="Opening claim">
    <p:bg>
      <p:bgPr>
        <a:blipFill xmlns:a="http://schemas.openxmlformats.org/drawingml/2006/main">
          <a:blip xmlns:r="http://schemas.openxmlformats.org/officeDocument/2006/relationships" r:embed="rIdOfficeKitImage026be3a43029630d_1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cover-paper-scrim"/>
          <p:cNvSpPr/>
          <p:nvPr/>
        </p:nvSpPr>
        <p:spPr>
          <a:xfrm xmlns:a="http://schemas.openxmlformats.org/drawingml/2006/main">
            <a:off x="0" y="0"/>
            <a:ext cx="9525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100000"/>
            </a:srgbClr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8B6BE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eyebrow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8B6BE8"/>
                </a:solidFill>
                <a:latin typeface="Arial"/>
                <a:ea typeface="Arial"/>
              </a:rPr>
              <a:t>WORK · OFFICEKIT CALIBRATION</a:t>
            </a:r>
            <a:endParaRPr lang="en-US"/>
          </a:p>
        </p:txBody>
      </p:sp>
      <p:sp>
        <p:nvSpPr>
          <p:cNvPr id="5" name="cover-title"/>
          <p:cNvSpPr txBox="1"/>
          <p:nvPr/>
        </p:nvSpPr>
        <p:spPr>
          <a:xfrm xmlns:a="http://schemas.openxmlformats.org/drawingml/2006/main">
            <a:off x="914400" y="1571625"/>
            <a:ext cx="8382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600" b="1">
                <a:solidFill>
                  <a:srgbClr val="1D2330"/>
                </a:solidFill>
                <a:latin typeface="Arial"/>
                <a:ea typeface="Arial"/>
              </a:rPr>
              <a:t>Moonlit Work Report: a claim worth testing</a:t>
            </a:r>
            <a:endParaRPr lang="en-US"/>
          </a:p>
        </p:txBody>
      </p:sp>
      <p:sp>
        <p:nvSpPr>
          <p:cNvPr id="6" name="cover-subtitle"/>
          <p:cNvSpPr txBox="1"/>
          <p:nvPr/>
        </p:nvSpPr>
        <p:spPr>
          <a:xfrm xmlns:a="http://schemas.openxmlformats.org/drawingml/2006/main">
            <a:off x="952500" y="2857500"/>
            <a:ext cx="685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725">
                <a:solidFill>
                  <a:srgbClr val="8B6BE8"/>
                </a:solidFill>
                <a:latin typeface="Arial"/>
                <a:ea typeface="Arial"/>
              </a:rPr>
              <a:t>A clean-room reference for evidence, direction, and a decision.</a:t>
            </a:r>
            <a:endParaRPr lang="en-US"/>
          </a:p>
        </p:txBody>
      </p:sp>
      <p:sp>
        <p:nvSpPr>
          <p:cNvPr id="7" name="cover-rule"/>
          <p:cNvSpPr/>
          <p:nvPr/>
        </p:nvSpPr>
        <p:spPr>
          <a:xfrm xmlns:a="http://schemas.openxmlformats.org/drawingml/2006/main">
            <a:off x="914400" y="3524250"/>
            <a:ext cx="7658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93959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cover-basis"/>
          <p:cNvSpPr txBox="1"/>
          <p:nvPr/>
        </p:nvSpPr>
        <p:spPr>
          <a:xfrm xmlns:a="http://schemas.openxmlformats.org/drawingml/2006/main">
            <a:off x="952500" y="3762375"/>
            <a:ext cx="781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D2330"/>
                </a:solidFill>
                <a:latin typeface="Arial"/>
                <a:ea typeface="Arial"/>
              </a:rPr>
              <a:t>One visual language · four page roles · native editable objects</a:t>
            </a:r>
            <a:endParaRPr lang="en-US"/>
          </a:p>
        </p:txBody>
      </p:sp>
      <p:sp>
        <p:nvSpPr>
          <p:cNvPr id="9" name="cover-thesis"/>
          <p:cNvSpPr txBox="1"/>
          <p:nvPr/>
        </p:nvSpPr>
        <p:spPr>
          <a:xfrm xmlns:a="http://schemas.openxmlformats.org/drawingml/2006/main">
            <a:off x="952500" y="4810125"/>
            <a:ext cx="6667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1D2330"/>
                </a:solidFill>
                <a:latin typeface="Arial"/>
                <a:ea typeface="Arial"/>
              </a:rPr>
              <a:t>A visible operating signal creates a shared next action.</a:t>
            </a:r>
            <a:endParaRPr lang="en-US"/>
          </a:p>
        </p:txBody>
      </p:sp>
      <p:sp>
        <p:nvSpPr>
          <p:cNvPr id="10" name="cover-source"/>
          <p:cNvSpPr txBox="1"/>
          <p:nvPr/>
        </p:nvSpPr>
        <p:spPr>
          <a:xfrm xmlns:a="http://schemas.openxmlformats.org/drawingml/2006/main">
            <a:off x="952500" y="7315200"/>
            <a:ext cx="904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93959C"/>
                </a:solidFill>
                <a:latin typeface="Arial"/>
                <a:ea typeface="Arial"/>
              </a:rPr>
              <a:t>OfficeKit original clean-room calibration · fictional content · 2026-08-29</a:t>
            </a:r>
            <a:endParaRPr lang="en-US"/>
          </a:p>
        </p:txBody>
      </p:sp>
      <p:sp>
        <p:nvSpPr>
          <p:cNvPr id="11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93959C"/>
                </a:solidFill>
                <a:latin typeface="Arial"/>
                <a:ea typeface="Arial"/>
              </a:rPr>
              <a:t>1 / 6</a:t>
            </a:r>
            <a:endParaRPr lang="en-US"/>
          </a:p>
        </p:txBody>
      </p:sp>
      <p:sp>
        <p:nvSpPr>
          <p:cNvPr id="12" name="anchor-field"/>
          <p:cNvSpPr/>
          <p:nvPr/>
        </p:nvSpPr>
        <p:spPr>
          <a:xfrm xmlns:a="http://schemas.openxmlformats.org/drawingml/2006/main">
            <a:off x="11620500" y="1790700"/>
            <a:ext cx="20955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25400">
            <a:solidFill>
              <a:srgbClr val="8B6BE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anchor-grid-0-0"/>
          <p:cNvSpPr/>
          <p:nvPr/>
        </p:nvSpPr>
        <p:spPr>
          <a:xfrm xmlns:a="http://schemas.openxmlformats.org/drawingml/2006/main">
            <a:off x="11925300" y="21526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B6BE8"/>
          </a:solidFill>
          <a:ln xmlns:a="http://schemas.openxmlformats.org/drawingml/2006/main" w="12700">
            <a:solidFill>
              <a:srgbClr val="8B6BE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anchor-grid-0-1"/>
          <p:cNvSpPr/>
          <p:nvPr/>
        </p:nvSpPr>
        <p:spPr>
          <a:xfrm xmlns:a="http://schemas.openxmlformats.org/drawingml/2006/main">
            <a:off x="12420600" y="21526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B6BE8"/>
          </a:solidFill>
          <a:ln xmlns:a="http://schemas.openxmlformats.org/drawingml/2006/main" w="12700">
            <a:solidFill>
              <a:srgbClr val="8B6BE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anchor-grid-0-2"/>
          <p:cNvSpPr/>
          <p:nvPr/>
        </p:nvSpPr>
        <p:spPr>
          <a:xfrm xmlns:a="http://schemas.openxmlformats.org/drawingml/2006/main">
            <a:off x="12915900" y="21526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8B6BE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6" name="anchor-grid-1-0"/>
          <p:cNvSpPr/>
          <p:nvPr/>
        </p:nvSpPr>
        <p:spPr>
          <a:xfrm xmlns:a="http://schemas.openxmlformats.org/drawingml/2006/main">
            <a:off x="11925300" y="26860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B6BE8"/>
          </a:solidFill>
          <a:ln xmlns:a="http://schemas.openxmlformats.org/drawingml/2006/main" w="12700">
            <a:solidFill>
              <a:srgbClr val="8B6BE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7" name="anchor-grid-1-1"/>
          <p:cNvSpPr/>
          <p:nvPr/>
        </p:nvSpPr>
        <p:spPr>
          <a:xfrm xmlns:a="http://schemas.openxmlformats.org/drawingml/2006/main">
            <a:off x="12420600" y="26860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B6BE8"/>
          </a:solidFill>
          <a:ln xmlns:a="http://schemas.openxmlformats.org/drawingml/2006/main" w="12700">
            <a:solidFill>
              <a:srgbClr val="8B6BE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8" name="anchor-grid-1-2"/>
          <p:cNvSpPr/>
          <p:nvPr/>
        </p:nvSpPr>
        <p:spPr>
          <a:xfrm xmlns:a="http://schemas.openxmlformats.org/drawingml/2006/main">
            <a:off x="12915900" y="26860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8B6BE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anchor-grid-2-0"/>
          <p:cNvSpPr/>
          <p:nvPr/>
        </p:nvSpPr>
        <p:spPr>
          <a:xfrm xmlns:a="http://schemas.openxmlformats.org/drawingml/2006/main">
            <a:off x="11925300" y="32194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B6BE8"/>
          </a:solidFill>
          <a:ln xmlns:a="http://schemas.openxmlformats.org/drawingml/2006/main" w="12700">
            <a:solidFill>
              <a:srgbClr val="8B6BE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0" name="anchor-grid-2-1"/>
          <p:cNvSpPr/>
          <p:nvPr/>
        </p:nvSpPr>
        <p:spPr>
          <a:xfrm xmlns:a="http://schemas.openxmlformats.org/drawingml/2006/main">
            <a:off x="12420600" y="32194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B6BE8"/>
          </a:solidFill>
          <a:ln xmlns:a="http://schemas.openxmlformats.org/drawingml/2006/main" w="12700">
            <a:solidFill>
              <a:srgbClr val="8B6BE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1" name="anchor-grid-2-2"/>
          <p:cNvSpPr/>
          <p:nvPr/>
        </p:nvSpPr>
        <p:spPr>
          <a:xfrm xmlns:a="http://schemas.openxmlformats.org/drawingml/2006/main">
            <a:off x="12915900" y="32194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8B6BE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2" name="anchor-axis"/>
          <p:cNvSpPr/>
          <p:nvPr/>
        </p:nvSpPr>
        <p:spPr>
          <a:xfrm xmlns:a="http://schemas.openxmlformats.org/drawingml/2006/main">
            <a:off x="12668250" y="1638300"/>
            <a:ext cx="0" cy="27432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50800">
            <a:solidFill>
              <a:srgbClr val="1D233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2.xml><?xml version="1.0" encoding="utf-8"?>
<p:sld xmlns:p="http://schemas.openxmlformats.org/presentationml/2006/main">
  <p:cSld name="Argument">
    <p:bg>
      <p:bgPr>
        <a:blipFill xmlns:a="http://schemas.openxmlformats.org/drawingml/2006/main">
          <a:blip xmlns:r="http://schemas.openxmlformats.org/officeDocument/2006/relationships" r:embed="rIdOfficeKitImaged71bfa074cda59bb_1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argument-paper-scrim"/>
          <p:cNvSpPr/>
          <p:nvPr/>
        </p:nvSpPr>
        <p:spPr>
          <a:xfrm xmlns:a="http://schemas.openxmlformats.org/drawingml/2006/main">
            <a:off x="0" y="0"/>
            <a:ext cx="74295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96000"/>
            </a:srgbClr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pic>
        <p:nvPicPr>
          <p:cNvPr id="3" name="argument-photo-band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59ee3aa5202fd02f_1"/>
          <a:srcRect xmlns:a="http://schemas.openxmlformats.org/drawingml/2006/main" l="0" t="47258" r="0" b="47258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</p:spPr>
      </p:pic>
      <p:sp>
        <p:nvSpPr>
          <p:cNvPr id="4" name="argument-photo-scrim"/>
          <p:cNvSpPr/>
          <p:nvPr/>
        </p:nvSpPr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2330">
              <a:alpha val="62000"/>
            </a:srgbClr>
          </a:solidFill>
          <a:ln xmlns:a="http://schemas.openxmlformats.org/drawingml/2006/main" w="0">
            <a:solidFill>
              <a:srgbClr val="1D233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argument-photo-rule"/>
          <p:cNvSpPr/>
          <p:nvPr/>
        </p:nvSpPr>
        <p:spPr>
          <a:xfrm xmlns:a="http://schemas.openxmlformats.org/drawingml/2006/main">
            <a:off x="914400" y="1438275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8B6BE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6" name="MOONLIT WORK REPORT · ARGUMENT"/>
          <p:cNvSpPr txBox="1"/>
          <p:nvPr/>
        </p:nvSpPr>
        <p:spPr>
          <a:xfrm xmlns:a="http://schemas.openxmlformats.org/drawingml/2006/main">
            <a:off x="914400" y="228600"/>
            <a:ext cx="952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8B6BE8"/>
                </a:solidFill>
                <a:latin typeface="Arial"/>
                <a:ea typeface="Arial"/>
              </a:rPr>
              <a:t>MOONLIT WORK REPORT · ARGUMENT</a:t>
            </a:r>
            <a:endParaRPr lang="en-US"/>
          </a:p>
        </p:txBody>
      </p:sp>
      <p:sp>
        <p:nvSpPr>
          <p:cNvPr id="7" name="argument-title"/>
          <p:cNvSpPr txBox="1"/>
          <p:nvPr/>
        </p:nvSpPr>
        <p:spPr>
          <a:xfrm xmlns:a="http://schemas.openxmlformats.org/drawingml/2006/main">
            <a:off x="914400" y="495300"/>
            <a:ext cx="12001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FFFFFF"/>
                </a:solidFill>
                <a:latin typeface="Arial"/>
                <a:ea typeface="Arial"/>
              </a:rPr>
              <a:t>The constraint owns the page</a:t>
            </a:r>
            <a:endParaRPr lang="en-US"/>
          </a:p>
        </p:txBody>
      </p:sp>
      <p:sp>
        <p:nvSpPr>
          <p:cNvPr id="8" name="argument-basis"/>
          <p:cNvSpPr txBox="1"/>
          <p:nvPr/>
        </p:nvSpPr>
        <p:spPr>
          <a:xfrm xmlns:a="http://schemas.openxmlformats.org/drawingml/2006/main">
            <a:off x="952500" y="1066800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F0F3F2"/>
                </a:solidFill>
                <a:latin typeface="Arial"/>
                <a:ea typeface="Arial"/>
              </a:rPr>
              <a:t>Status, cause, owner and date stay together.</a:t>
            </a:r>
            <a:endParaRPr lang="en-US"/>
          </a:p>
        </p:txBody>
      </p:sp>
      <p:sp>
        <p:nvSpPr>
          <p:cNvPr id="9" name="work-status"/>
          <p:cNvSpPr txBox="1"/>
          <p:nvPr/>
        </p:nvSpPr>
        <p:spPr>
          <a:xfrm xmlns:a="http://schemas.openxmlformats.org/drawingml/2006/main">
            <a:off x="1104900" y="33528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8B6BE8"/>
                </a:solidFill>
                <a:latin typeface="Arial"/>
                <a:ea typeface="Arial"/>
              </a:rPr>
              <a:t>OPERATING SIGNAL</a:t>
            </a:r>
            <a:endParaRPr lang="en-US"/>
          </a:p>
        </p:txBody>
      </p:sp>
      <p:sp>
        <p:nvSpPr>
          <p:cNvPr id="10" name="work-headline"/>
          <p:cNvSpPr txBox="1"/>
          <p:nvPr/>
        </p:nvSpPr>
        <p:spPr>
          <a:xfrm xmlns:a="http://schemas.openxmlformats.org/drawingml/2006/main">
            <a:off x="1104900" y="3790950"/>
            <a:ext cx="6667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1D2330"/>
                </a:solidFill>
                <a:latin typeface="Arial"/>
                <a:ea typeface="Arial"/>
              </a:rPr>
              <a:t>The queue is healthy; the handoff is not.</a:t>
            </a:r>
            <a:endParaRPr lang="en-US"/>
          </a:p>
        </p:txBody>
      </p:sp>
      <p:sp>
        <p:nvSpPr>
          <p:cNvPr id="11" name="work-body"/>
          <p:cNvSpPr txBox="1"/>
          <p:nvPr/>
        </p:nvSpPr>
        <p:spPr>
          <a:xfrm xmlns:a="http://schemas.openxmlformats.org/drawingml/2006/main">
            <a:off x="1104900" y="4762500"/>
            <a:ext cx="619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75">
                <a:solidFill>
                  <a:srgbClr val="1D2330"/>
                </a:solidFill>
                <a:latin typeface="Arial"/>
                <a:ea typeface="Arial"/>
              </a:rPr>
              <a:t>Three visible signals point to one owner and one date.</a:t>
            </a:r>
            <a:endParaRPr lang="en-US"/>
          </a:p>
        </p:txBody>
      </p:sp>
      <p:sp>
        <p:nvSpPr>
          <p:cNvPr id="12" name="work-rail"/>
          <p:cNvSpPr/>
          <p:nvPr/>
        </p:nvSpPr>
        <p:spPr>
          <a:xfrm xmlns:a="http://schemas.openxmlformats.org/drawingml/2006/main">
            <a:off x="10001250" y="3333750"/>
            <a:ext cx="0" cy="23812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93959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work-num-0"/>
          <p:cNvSpPr txBox="1"/>
          <p:nvPr/>
        </p:nvSpPr>
        <p:spPr>
          <a:xfrm xmlns:a="http://schemas.openxmlformats.org/drawingml/2006/main">
            <a:off x="10477500" y="34480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 b="1">
                <a:solidFill>
                  <a:srgbClr val="8B6BE8"/>
                </a:solidFill>
                <a:latin typeface="Arial"/>
                <a:ea typeface="Arial"/>
              </a:rPr>
              <a:t>01</a:t>
            </a:r>
            <a:endParaRPr lang="en-US"/>
          </a:p>
        </p:txBody>
      </p:sp>
      <p:sp>
        <p:nvSpPr>
          <p:cNvPr id="14" name="work-label-0"/>
          <p:cNvSpPr txBox="1"/>
          <p:nvPr/>
        </p:nvSpPr>
        <p:spPr>
          <a:xfrm xmlns:a="http://schemas.openxmlformats.org/drawingml/2006/main">
            <a:off x="11144250" y="344805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 b="1">
                <a:solidFill>
                  <a:srgbClr val="1D2330"/>
                </a:solidFill>
                <a:latin typeface="Arial"/>
                <a:ea typeface="Arial"/>
              </a:rPr>
              <a:t>Queue</a:t>
            </a:r>
            <a:endParaRPr lang="en-US"/>
          </a:p>
        </p:txBody>
      </p:sp>
      <p:sp>
        <p:nvSpPr>
          <p:cNvPr id="15" name="work-text-0"/>
          <p:cNvSpPr txBox="1"/>
          <p:nvPr/>
        </p:nvSpPr>
        <p:spPr>
          <a:xfrm xmlns:a="http://schemas.openxmlformats.org/drawingml/2006/main">
            <a:off x="12668250" y="34480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93959C"/>
                </a:solidFill>
                <a:latin typeface="Arial"/>
                <a:ea typeface="Arial"/>
              </a:rPr>
              <a:t>On target</a:t>
            </a:r>
            <a:endParaRPr lang="en-US"/>
          </a:p>
        </p:txBody>
      </p:sp>
      <p:sp>
        <p:nvSpPr>
          <p:cNvPr id="16" name="work-num-1"/>
          <p:cNvSpPr txBox="1"/>
          <p:nvPr/>
        </p:nvSpPr>
        <p:spPr>
          <a:xfrm xmlns:a="http://schemas.openxmlformats.org/drawingml/2006/main">
            <a:off x="10477500" y="422910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 b="1">
                <a:solidFill>
                  <a:srgbClr val="8B6BE8"/>
                </a:solidFill>
                <a:latin typeface="Arial"/>
                <a:ea typeface="Arial"/>
              </a:rPr>
              <a:t>02</a:t>
            </a:r>
            <a:endParaRPr lang="en-US"/>
          </a:p>
        </p:txBody>
      </p:sp>
      <p:sp>
        <p:nvSpPr>
          <p:cNvPr id="17" name="work-label-1"/>
          <p:cNvSpPr txBox="1"/>
          <p:nvPr/>
        </p:nvSpPr>
        <p:spPr>
          <a:xfrm xmlns:a="http://schemas.openxmlformats.org/drawingml/2006/main">
            <a:off x="11144250" y="42291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 b="1">
                <a:solidFill>
                  <a:srgbClr val="1D2330"/>
                </a:solidFill>
                <a:latin typeface="Arial"/>
                <a:ea typeface="Arial"/>
              </a:rPr>
              <a:t>Handoff</a:t>
            </a:r>
            <a:endParaRPr lang="en-US"/>
          </a:p>
        </p:txBody>
      </p:sp>
      <p:sp>
        <p:nvSpPr>
          <p:cNvPr id="18" name="work-text-1"/>
          <p:cNvSpPr txBox="1"/>
          <p:nvPr/>
        </p:nvSpPr>
        <p:spPr>
          <a:xfrm xmlns:a="http://schemas.openxmlformats.org/drawingml/2006/main">
            <a:off x="12668250" y="422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8B6BE8"/>
                </a:solidFill>
                <a:latin typeface="Arial"/>
                <a:ea typeface="Arial"/>
              </a:rPr>
              <a:t>At risk</a:t>
            </a:r>
            <a:endParaRPr lang="en-US"/>
          </a:p>
        </p:txBody>
      </p:sp>
      <p:sp>
        <p:nvSpPr>
          <p:cNvPr id="19" name="work-num-2"/>
          <p:cNvSpPr txBox="1"/>
          <p:nvPr/>
        </p:nvSpPr>
        <p:spPr>
          <a:xfrm xmlns:a="http://schemas.openxmlformats.org/drawingml/2006/main">
            <a:off x="10477500" y="50101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 b="1">
                <a:solidFill>
                  <a:srgbClr val="8B6BE8"/>
                </a:solidFill>
                <a:latin typeface="Arial"/>
                <a:ea typeface="Arial"/>
              </a:rPr>
              <a:t>03</a:t>
            </a:r>
            <a:endParaRPr lang="en-US"/>
          </a:p>
        </p:txBody>
      </p:sp>
      <p:sp>
        <p:nvSpPr>
          <p:cNvPr id="20" name="work-label-2"/>
          <p:cNvSpPr txBox="1"/>
          <p:nvPr/>
        </p:nvSpPr>
        <p:spPr>
          <a:xfrm xmlns:a="http://schemas.openxmlformats.org/drawingml/2006/main">
            <a:off x="11144250" y="501015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 b="1">
                <a:solidFill>
                  <a:srgbClr val="1D2330"/>
                </a:solidFill>
                <a:latin typeface="Arial"/>
                <a:ea typeface="Arial"/>
              </a:rPr>
              <a:t>Owner</a:t>
            </a:r>
            <a:endParaRPr lang="en-US"/>
          </a:p>
        </p:txBody>
      </p:sp>
      <p:sp>
        <p:nvSpPr>
          <p:cNvPr id="21" name="work-text-2"/>
          <p:cNvSpPr txBox="1"/>
          <p:nvPr/>
        </p:nvSpPr>
        <p:spPr>
          <a:xfrm xmlns:a="http://schemas.openxmlformats.org/drawingml/2006/main">
            <a:off x="12668250" y="50101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93959C"/>
                </a:solidFill>
                <a:latin typeface="Arial"/>
                <a:ea typeface="Arial"/>
              </a:rPr>
              <a:t>Named</a:t>
            </a:r>
            <a:endParaRPr lang="en-US"/>
          </a:p>
        </p:txBody>
      </p:sp>
      <p:sp>
        <p:nvSpPr>
          <p:cNvPr id="22" name="source"/>
          <p:cNvSpPr txBox="1"/>
          <p:nvPr/>
        </p:nvSpPr>
        <p:spPr>
          <a:xfrm xmlns:a="http://schemas.openxmlformats.org/drawingml/2006/main">
            <a:off x="914400" y="781050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93959C"/>
                </a:solidFill>
                <a:latin typeface="Arial"/>
                <a:ea typeface="Arial"/>
              </a:rPr>
              <a:t>Source: illustrative calibration brief · every claim is fictional and bounded</a:t>
            </a:r>
            <a:endParaRPr lang="en-US"/>
          </a:p>
        </p:txBody>
      </p:sp>
      <p:sp>
        <p:nvSpPr>
          <p:cNvPr id="23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93959C"/>
                </a:solidFill>
                <a:latin typeface="Arial"/>
                <a:ea typeface="Arial"/>
              </a:rPr>
              <a:t>2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3.xml><?xml version="1.0" encoding="utf-8"?>
<p:sld xmlns:p="http://schemas.openxmlformats.org/presentationml/2006/main">
  <p:cSld name="Evidence">
    <p:bg>
      <p:bgPr>
        <a:blipFill xmlns:a="http://schemas.openxmlformats.org/drawingml/2006/main">
          <a:blip xmlns:r="http://schemas.openxmlformats.org/officeDocument/2006/relationships" r:embed="rIdOfficeKitImage083106afebc7d419_1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evidence-paper-scrim"/>
          <p:cNvSpPr/>
          <p:nvPr/>
        </p:nvSpPr>
        <p:spPr>
          <a:xfrm xmlns:a="http://schemas.openxmlformats.org/drawingml/2006/main">
            <a:off x="0" y="0"/>
            <a:ext cx="74295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96000"/>
            </a:srgbClr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pic>
        <p:nvPicPr>
          <p:cNvPr id="3" name="evidence-photo-band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56df3e49f11f0ff0_1"/>
          <a:srcRect xmlns:a="http://schemas.openxmlformats.org/drawingml/2006/main" l="0" t="47258" r="0" b="47258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</p:spPr>
      </p:pic>
      <p:sp>
        <p:nvSpPr>
          <p:cNvPr id="4" name="evidence-photo-scrim"/>
          <p:cNvSpPr/>
          <p:nvPr/>
        </p:nvSpPr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2330">
              <a:alpha val="62000"/>
            </a:srgbClr>
          </a:solidFill>
          <a:ln xmlns:a="http://schemas.openxmlformats.org/drawingml/2006/main" w="0">
            <a:solidFill>
              <a:srgbClr val="1D233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evidence-photo-rule"/>
          <p:cNvSpPr/>
          <p:nvPr/>
        </p:nvSpPr>
        <p:spPr>
          <a:xfrm xmlns:a="http://schemas.openxmlformats.org/drawingml/2006/main">
            <a:off x="914400" y="1438275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8B6BE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6" name="MOONLIT WORK REPORT · EVIDENCE"/>
          <p:cNvSpPr txBox="1"/>
          <p:nvPr/>
        </p:nvSpPr>
        <p:spPr>
          <a:xfrm xmlns:a="http://schemas.openxmlformats.org/drawingml/2006/main">
            <a:off x="914400" y="228600"/>
            <a:ext cx="952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8B6BE8"/>
                </a:solidFill>
                <a:latin typeface="Arial"/>
                <a:ea typeface="Arial"/>
              </a:rPr>
              <a:t>MOONLIT WORK REPORT · EVIDENCE</a:t>
            </a:r>
            <a:endParaRPr lang="en-US"/>
          </a:p>
        </p:txBody>
      </p:sp>
      <p:sp>
        <p:nvSpPr>
          <p:cNvPr id="7" name="evidence-title"/>
          <p:cNvSpPr txBox="1"/>
          <p:nvPr/>
        </p:nvSpPr>
        <p:spPr>
          <a:xfrm xmlns:a="http://schemas.openxmlformats.org/drawingml/2006/main">
            <a:off x="914400" y="495300"/>
            <a:ext cx="12001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FFFFFF"/>
                </a:solidFill>
                <a:latin typeface="Arial"/>
                <a:ea typeface="Arial"/>
              </a:rPr>
              <a:t>Signal up; exception stays</a:t>
            </a:r>
            <a:endParaRPr lang="en-US"/>
          </a:p>
        </p:txBody>
      </p:sp>
      <p:sp>
        <p:nvSpPr>
          <p:cNvPr id="8" name="evidence-basis"/>
          <p:cNvSpPr txBox="1"/>
          <p:nvPr/>
        </p:nvSpPr>
        <p:spPr>
          <a:xfrm xmlns:a="http://schemas.openxmlformats.org/drawingml/2006/main">
            <a:off x="952500" y="1066800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F0F3F2"/>
                </a:solidFill>
                <a:latin typeface="Arial"/>
                <a:ea typeface="Arial"/>
              </a:rPr>
              <a:t>Illustrative operations ledger · current state and exception share one frame.</a:t>
            </a:r>
            <a:endParaRPr lang="en-US"/>
          </a:p>
        </p:txBody>
      </p:sp>
      <p:sp>
        <p:nvSpPr>
          <p:cNvPr id="9" name="evidence-read-scrim"/>
          <p:cNvSpPr/>
          <p:nvPr/>
        </p:nvSpPr>
        <p:spPr>
          <a:xfrm xmlns:a="http://schemas.openxmlformats.org/drawingml/2006/main">
            <a:off x="9525000" y="2857500"/>
            <a:ext cx="476250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90000"/>
            </a:srgbClr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graphicFrame>
        <p:nvGraphicFramePr>
          <p:cNvPr id="10" name="dense-primary-chart"/>
          <p:cNvGraphicFramePr>
            <a:graphicFrameLocks xmlns:a="http://schemas.openxmlformats.org/drawingml/2006/main" noGrp="1"/>
          </p:cNvGraphicFramePr>
          <p:nvPr/>
        </p:nvGraphicFramePr>
        <p:xfrm>
          <a:off xmlns:a="http://schemas.openxmlformats.org/drawingml/2006/main" x="990600" y="3048000"/>
          <a:ext xmlns:a="http://schemas.openxmlformats.org/drawingml/2006/main" cx="6286500" cy="2952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4a5ea4ab2a1942d4"/>
          </a:graphicData>
        </a:graphic>
      </p:graphicFrame>
      <p:graphicFrame>
        <p:nvGraphicFramePr>
          <p:cNvPr id="11" name="dense-secondary-chart"/>
          <p:cNvGraphicFramePr>
            <a:graphicFrameLocks xmlns:a="http://schemas.openxmlformats.org/drawingml/2006/main" noGrp="1"/>
          </p:cNvGraphicFramePr>
          <p:nvPr/>
        </p:nvGraphicFramePr>
        <p:xfrm>
          <a:off xmlns:a="http://schemas.openxmlformats.org/drawingml/2006/main" x="7658100" y="3048000"/>
          <a:ext xmlns:a="http://schemas.openxmlformats.org/drawingml/2006/main" cx="3143250" cy="2952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2acc09127a7e480f"/>
          </a:graphicData>
        </a:graphic>
      </p:graphicFrame>
      <p:sp>
        <p:nvSpPr>
          <p:cNvPr id="12" name="dense-read-rule"/>
          <p:cNvSpPr/>
          <p:nvPr/>
        </p:nvSpPr>
        <p:spPr>
          <a:xfrm xmlns:a="http://schemas.openxmlformats.org/drawingml/2006/main">
            <a:off x="11315700" y="3314700"/>
            <a:ext cx="26860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8B6BE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dense-read-label"/>
          <p:cNvSpPr txBox="1"/>
          <p:nvPr/>
        </p:nvSpPr>
        <p:spPr>
          <a:xfrm xmlns:a="http://schemas.openxmlformats.org/drawingml/2006/main">
            <a:off x="11315700" y="3543300"/>
            <a:ext cx="2667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8B6BE8"/>
                </a:solidFill>
                <a:latin typeface="Arial"/>
                <a:ea typeface="Arial"/>
              </a:rPr>
              <a:t>READ-THROUGH</a:t>
            </a:r>
            <a:endParaRPr lang="en-US"/>
          </a:p>
        </p:txBody>
      </p:sp>
      <p:sp>
        <p:nvSpPr>
          <p:cNvPr id="14" name="dense-read-title"/>
          <p:cNvSpPr txBox="1"/>
          <p:nvPr/>
        </p:nvSpPr>
        <p:spPr>
          <a:xfrm xmlns:a="http://schemas.openxmlformats.org/drawingml/2006/main">
            <a:off x="11315700" y="4000500"/>
            <a:ext cx="266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725" b="1">
                <a:solidFill>
                  <a:srgbClr val="1D2330"/>
                </a:solidFill>
                <a:latin typeface="Arial"/>
                <a:ea typeface="Arial"/>
              </a:rPr>
              <a:t>The signal earns its space.</a:t>
            </a:r>
            <a:endParaRPr lang="en-US"/>
          </a:p>
        </p:txBody>
      </p:sp>
      <p:sp>
        <p:nvSpPr>
          <p:cNvPr id="15" name="dense-read-body"/>
          <p:cNvSpPr txBox="1"/>
          <p:nvPr/>
        </p:nvSpPr>
        <p:spPr>
          <a:xfrm xmlns:a="http://schemas.openxmlformats.org/drawingml/2006/main">
            <a:off x="11315700" y="4953000"/>
            <a:ext cx="2667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93959C"/>
                </a:solidFill>
                <a:latin typeface="Arial"/>
                <a:ea typeface="Arial"/>
              </a:rPr>
              <a:t>Every mark answers the page's question; remove anything that does not.</a:t>
            </a:r>
            <a:endParaRPr lang="en-US"/>
          </a:p>
        </p:txBody>
      </p:sp>
      <p:sp>
        <p:nvSpPr>
          <p:cNvPr id="16" name="evidence-band"/>
          <p:cNvSpPr/>
          <p:nvPr/>
        </p:nvSpPr>
        <p:spPr>
          <a:xfrm xmlns:a="http://schemas.openxmlformats.org/drawingml/2006/main">
            <a:off x="914400" y="6877050"/>
            <a:ext cx="134112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7" name="evidence-band-text"/>
          <p:cNvSpPr txBox="1"/>
          <p:nvPr/>
        </p:nvSpPr>
        <p:spPr>
          <a:xfrm xmlns:a="http://schemas.openxmlformats.org/drawingml/2006/main">
            <a:off x="1143000" y="7058025"/>
            <a:ext cx="1238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 b="1">
                <a:solidFill>
                  <a:srgbClr val="1D2330"/>
                </a:solidFill>
                <a:latin typeface="Arial"/>
                <a:ea typeface="Arial"/>
              </a:rPr>
              <a:t>EVIDENCE  ·  Keep the unit, time window, and limitation adjacent to the number.</a:t>
            </a:r>
            <a:endParaRPr lang="en-US"/>
          </a:p>
        </p:txBody>
      </p:sp>
      <p:sp>
        <p:nvSpPr>
          <p:cNvPr id="18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93959C"/>
                </a:solidFill>
                <a:latin typeface="Arial"/>
                <a:ea typeface="Arial"/>
              </a:rPr>
              <a:t>Source: illustrative calibration brief · values are fictional</a:t>
            </a:r>
            <a:endParaRPr lang="en-US"/>
          </a:p>
        </p:txBody>
      </p:sp>
      <p:sp>
        <p:nvSpPr>
          <p:cNvPr id="19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93959C"/>
                </a:solidFill>
                <a:latin typeface="Arial"/>
                <a:ea typeface="Arial"/>
              </a:rPr>
              <a:t>3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4.xml><?xml version="1.0" encoding="utf-8"?>
<p:sld xmlns:p="http://schemas.openxmlformats.org/presentationml/2006/main">
  <p:cSld name="Detail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pic>
        <p:nvPicPr>
          <p:cNvPr id="3" name="detail-photo-band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026be3a43029630d_1"/>
          <a:srcRect xmlns:a="http://schemas.openxmlformats.org/drawingml/2006/main" l="0" t="47258" r="0" b="47258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</p:spPr>
      </p:pic>
      <p:sp>
        <p:nvSpPr>
          <p:cNvPr id="4" name="detail-photo-scrim"/>
          <p:cNvSpPr/>
          <p:nvPr/>
        </p:nvSpPr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2330">
              <a:alpha val="62000"/>
            </a:srgbClr>
          </a:solidFill>
          <a:ln xmlns:a="http://schemas.openxmlformats.org/drawingml/2006/main" w="0">
            <a:solidFill>
              <a:srgbClr val="1D233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detail-photo-rule"/>
          <p:cNvSpPr/>
          <p:nvPr/>
        </p:nvSpPr>
        <p:spPr>
          <a:xfrm xmlns:a="http://schemas.openxmlformats.org/drawingml/2006/main">
            <a:off x="914400" y="1438275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8B6BE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6" name="MOONLIT WORK REPORT · DETAIL"/>
          <p:cNvSpPr txBox="1"/>
          <p:nvPr/>
        </p:nvSpPr>
        <p:spPr>
          <a:xfrm xmlns:a="http://schemas.openxmlformats.org/drawingml/2006/main">
            <a:off x="914400" y="228600"/>
            <a:ext cx="952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8B6BE8"/>
                </a:solidFill>
                <a:latin typeface="Arial"/>
                <a:ea typeface="Arial"/>
              </a:rPr>
              <a:t>MOONLIT WORK REPORT · DETAIL</a:t>
            </a:r>
            <a:endParaRPr lang="en-US"/>
          </a:p>
        </p:txBody>
      </p:sp>
      <p:sp>
        <p:nvSpPr>
          <p:cNvPr id="7" name="detail-title"/>
          <p:cNvSpPr txBox="1"/>
          <p:nvPr/>
        </p:nvSpPr>
        <p:spPr>
          <a:xfrm xmlns:a="http://schemas.openxmlformats.org/drawingml/2006/main">
            <a:off x="914400" y="495300"/>
            <a:ext cx="12001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FFFFFF"/>
                </a:solidFill>
                <a:latin typeface="Arial"/>
                <a:ea typeface="Arial"/>
              </a:rPr>
              <a:t>The gap becomes useful when it has an owner</a:t>
            </a:r>
            <a:endParaRPr lang="en-US"/>
          </a:p>
        </p:txBody>
      </p:sp>
      <p:sp>
        <p:nvSpPr>
          <p:cNvPr id="8" name="detail-basis"/>
          <p:cNvSpPr txBox="1"/>
          <p:nvPr/>
        </p:nvSpPr>
        <p:spPr>
          <a:xfrm xmlns:a="http://schemas.openxmlformats.org/drawingml/2006/main">
            <a:off x="952500" y="1066800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F0F3F2"/>
                </a:solidFill>
                <a:latin typeface="Arial"/>
                <a:ea typeface="Arial"/>
              </a:rPr>
              <a:t>Target, current state and exception share a single operating frame.</a:t>
            </a:r>
            <a:endParaRPr lang="en-US"/>
          </a:p>
        </p:txBody>
      </p:sp>
      <p:sp>
        <p:nvSpPr>
          <p:cNvPr id="9" name="operating-label-0"/>
          <p:cNvSpPr txBox="1"/>
          <p:nvPr/>
        </p:nvSpPr>
        <p:spPr>
          <a:xfrm xmlns:a="http://schemas.openxmlformats.org/drawingml/2006/main">
            <a:off x="1104900" y="333375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93959C"/>
                </a:solidFill>
                <a:latin typeface="Arial"/>
                <a:ea typeface="Arial"/>
              </a:rPr>
              <a:t>NOW</a:t>
            </a:r>
            <a:endParaRPr lang="en-US"/>
          </a:p>
        </p:txBody>
      </p:sp>
      <p:sp>
        <p:nvSpPr>
          <p:cNvPr id="10" name="operating-bar-0"/>
          <p:cNvSpPr/>
          <p:nvPr/>
        </p:nvSpPr>
        <p:spPr>
          <a:xfrm xmlns:a="http://schemas.openxmlformats.org/drawingml/2006/main">
            <a:off x="1104900" y="3848100"/>
            <a:ext cx="2095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12700">
            <a:solidFill>
              <a:srgbClr val="93959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operating-fill-0"/>
          <p:cNvSpPr/>
          <p:nvPr/>
        </p:nvSpPr>
        <p:spPr>
          <a:xfrm xmlns:a="http://schemas.openxmlformats.org/drawingml/2006/main">
            <a:off x="1104900" y="3848100"/>
            <a:ext cx="11334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B6BE8"/>
          </a:solidFill>
          <a:ln xmlns:a="http://schemas.openxmlformats.org/drawingml/2006/main" w="0">
            <a:solidFill>
              <a:srgbClr val="8B6BE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2" name="operating-value-0"/>
          <p:cNvSpPr txBox="1"/>
          <p:nvPr/>
        </p:nvSpPr>
        <p:spPr>
          <a:xfrm xmlns:a="http://schemas.openxmlformats.org/drawingml/2006/main">
            <a:off x="1104900" y="4400550"/>
            <a:ext cx="2095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250" b="1">
                <a:solidFill>
                  <a:srgbClr val="1D2330"/>
                </a:solidFill>
                <a:latin typeface="Arial"/>
                <a:ea typeface="Arial"/>
              </a:rPr>
              <a:t>54%</a:t>
            </a:r>
            <a:endParaRPr lang="en-US"/>
          </a:p>
        </p:txBody>
      </p:sp>
      <p:sp>
        <p:nvSpPr>
          <p:cNvPr id="13" name="operating-label-1"/>
          <p:cNvSpPr txBox="1"/>
          <p:nvPr/>
        </p:nvSpPr>
        <p:spPr>
          <a:xfrm xmlns:a="http://schemas.openxmlformats.org/drawingml/2006/main">
            <a:off x="3790950" y="333375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93959C"/>
                </a:solidFill>
                <a:latin typeface="Arial"/>
                <a:ea typeface="Arial"/>
              </a:rPr>
              <a:t>TARGET</a:t>
            </a:r>
            <a:endParaRPr lang="en-US"/>
          </a:p>
        </p:txBody>
      </p:sp>
      <p:sp>
        <p:nvSpPr>
          <p:cNvPr id="14" name="operating-bar-1"/>
          <p:cNvSpPr/>
          <p:nvPr/>
        </p:nvSpPr>
        <p:spPr>
          <a:xfrm xmlns:a="http://schemas.openxmlformats.org/drawingml/2006/main">
            <a:off x="3790950" y="3848100"/>
            <a:ext cx="2095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12700">
            <a:solidFill>
              <a:srgbClr val="93959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operating-fill-1"/>
          <p:cNvSpPr/>
          <p:nvPr/>
        </p:nvSpPr>
        <p:spPr>
          <a:xfrm xmlns:a="http://schemas.openxmlformats.org/drawingml/2006/main">
            <a:off x="3790950" y="3848100"/>
            <a:ext cx="15906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E9B74"/>
          </a:solidFill>
          <a:ln xmlns:a="http://schemas.openxmlformats.org/drawingml/2006/main" w="0">
            <a:solidFill>
              <a:srgbClr val="4E9B7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6" name="operating-value-1"/>
          <p:cNvSpPr txBox="1"/>
          <p:nvPr/>
        </p:nvSpPr>
        <p:spPr>
          <a:xfrm xmlns:a="http://schemas.openxmlformats.org/drawingml/2006/main">
            <a:off x="3790950" y="4400550"/>
            <a:ext cx="2095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250" b="1">
                <a:solidFill>
                  <a:srgbClr val="1D2330"/>
                </a:solidFill>
                <a:latin typeface="Arial"/>
                <a:ea typeface="Arial"/>
              </a:rPr>
              <a:t>76%</a:t>
            </a:r>
            <a:endParaRPr lang="en-US"/>
          </a:p>
        </p:txBody>
      </p:sp>
      <p:sp>
        <p:nvSpPr>
          <p:cNvPr id="17" name="operating-label-2"/>
          <p:cNvSpPr txBox="1"/>
          <p:nvPr/>
        </p:nvSpPr>
        <p:spPr>
          <a:xfrm xmlns:a="http://schemas.openxmlformats.org/drawingml/2006/main">
            <a:off x="6477000" y="333375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93959C"/>
                </a:solidFill>
                <a:latin typeface="Arial"/>
                <a:ea typeface="Arial"/>
              </a:rPr>
              <a:t>GAP</a:t>
            </a:r>
            <a:endParaRPr lang="en-US"/>
          </a:p>
        </p:txBody>
      </p:sp>
      <p:sp>
        <p:nvSpPr>
          <p:cNvPr id="18" name="operating-bar-2"/>
          <p:cNvSpPr/>
          <p:nvPr/>
        </p:nvSpPr>
        <p:spPr>
          <a:xfrm xmlns:a="http://schemas.openxmlformats.org/drawingml/2006/main">
            <a:off x="6477000" y="3848100"/>
            <a:ext cx="2095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12700">
            <a:solidFill>
              <a:srgbClr val="93959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operating-fill-2"/>
          <p:cNvSpPr/>
          <p:nvPr/>
        </p:nvSpPr>
        <p:spPr>
          <a:xfrm xmlns:a="http://schemas.openxmlformats.org/drawingml/2006/main">
            <a:off x="6477000" y="3848100"/>
            <a:ext cx="4572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2330"/>
          </a:solidFill>
          <a:ln xmlns:a="http://schemas.openxmlformats.org/drawingml/2006/main" w="0">
            <a:solidFill>
              <a:srgbClr val="1D233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0" name="operating-value-2"/>
          <p:cNvSpPr txBox="1"/>
          <p:nvPr/>
        </p:nvSpPr>
        <p:spPr>
          <a:xfrm xmlns:a="http://schemas.openxmlformats.org/drawingml/2006/main">
            <a:off x="6477000" y="4400550"/>
            <a:ext cx="2095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250" b="1">
                <a:solidFill>
                  <a:srgbClr val="1D2330"/>
                </a:solidFill>
                <a:latin typeface="Arial"/>
                <a:ea typeface="Arial"/>
              </a:rPr>
              <a:t>22%</a:t>
            </a:r>
            <a:endParaRPr lang="en-US"/>
          </a:p>
        </p:txBody>
      </p:sp>
      <p:sp>
        <p:nvSpPr>
          <p:cNvPr id="21" name="operating-axis"/>
          <p:cNvSpPr/>
          <p:nvPr/>
        </p:nvSpPr>
        <p:spPr>
          <a:xfrm xmlns:a="http://schemas.openxmlformats.org/drawingml/2006/main">
            <a:off x="1104900" y="5334000"/>
            <a:ext cx="7486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93959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2" name="operating-read"/>
          <p:cNvSpPr txBox="1"/>
          <p:nvPr/>
        </p:nvSpPr>
        <p:spPr>
          <a:xfrm xmlns:a="http://schemas.openxmlformats.org/drawingml/2006/main">
            <a:off x="1104900" y="5657850"/>
            <a:ext cx="7524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00" b="1">
                <a:solidFill>
                  <a:srgbClr val="1D2330"/>
                </a:solidFill>
                <a:latin typeface="Arial"/>
                <a:ea typeface="Arial"/>
              </a:rPr>
              <a:t>Status is useful only when the next handoff is visible.</a:t>
            </a:r>
            <a:endParaRPr lang="en-US"/>
          </a:p>
        </p:txBody>
      </p:sp>
      <p:sp>
        <p:nvSpPr>
          <p:cNvPr id="23" name="operating-note-label"/>
          <p:cNvSpPr txBox="1"/>
          <p:nvPr/>
        </p:nvSpPr>
        <p:spPr>
          <a:xfrm xmlns:a="http://schemas.openxmlformats.org/drawingml/2006/main">
            <a:off x="10287000" y="33337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8B6BE8"/>
                </a:solidFill>
                <a:latin typeface="Arial"/>
                <a:ea typeface="Arial"/>
              </a:rPr>
              <a:t>EXCEPTION</a:t>
            </a:r>
            <a:endParaRPr lang="en-US"/>
          </a:p>
        </p:txBody>
      </p:sp>
      <p:sp>
        <p:nvSpPr>
          <p:cNvPr id="24" name="operating-note"/>
          <p:cNvSpPr txBox="1"/>
          <p:nvPr/>
        </p:nvSpPr>
        <p:spPr>
          <a:xfrm xmlns:a="http://schemas.openxmlformats.org/drawingml/2006/main">
            <a:off x="10287000" y="3829050"/>
            <a:ext cx="3143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00" b="1">
                <a:solidFill>
                  <a:srgbClr val="1D2330"/>
                </a:solidFill>
                <a:latin typeface="Arial"/>
                <a:ea typeface="Arial"/>
              </a:rPr>
              <a:t>The gap is not a decoration; it is the work.</a:t>
            </a:r>
            <a:endParaRPr lang="en-US"/>
          </a:p>
        </p:txBody>
      </p:sp>
      <p:sp>
        <p:nvSpPr>
          <p:cNvPr id="25" name="operating-note-foot"/>
          <p:cNvSpPr txBox="1"/>
          <p:nvPr/>
        </p:nvSpPr>
        <p:spPr>
          <a:xfrm xmlns:a="http://schemas.openxmlformats.org/drawingml/2006/main">
            <a:off x="10287000" y="5010150"/>
            <a:ext cx="3143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93959C"/>
                </a:solidFill>
                <a:latin typeface="Arial"/>
                <a:ea typeface="Arial"/>
              </a:rPr>
              <a:t>A healthy page names the owner and the next date.</a:t>
            </a:r>
            <a:endParaRPr lang="en-US"/>
          </a:p>
        </p:txBody>
      </p:sp>
      <p:sp>
        <p:nvSpPr>
          <p:cNvPr id="26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93959C"/>
                </a:solidFill>
                <a:latin typeface="Arial"/>
                <a:ea typeface="Arial"/>
              </a:rPr>
              <a:t>Source: illustrative calibration brief · labels and values are fictional</a:t>
            </a:r>
            <a:endParaRPr lang="en-US"/>
          </a:p>
        </p:txBody>
      </p:sp>
      <p:sp>
        <p:nvSpPr>
          <p:cNvPr id="27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93959C"/>
                </a:solidFill>
                <a:latin typeface="Arial"/>
                <a:ea typeface="Arial"/>
              </a:rPr>
              <a:t>4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5.xml><?xml version="1.0" encoding="utf-8"?>
<p:sld xmlns:p="http://schemas.openxmlformats.org/presentationml/2006/main">
  <p:cSld name="Visual carrier">
    <p:bg>
      <p:bgPr>
        <a:blipFill xmlns:a="http://schemas.openxmlformats.org/drawingml/2006/main">
          <a:blip xmlns:r="http://schemas.openxmlformats.org/officeDocument/2006/relationships" r:embed="rIdOfficeKitImaged71bfa074cda59bb_1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visual-scrim"/>
          <p:cNvSpPr/>
          <p:nvPr/>
        </p:nvSpPr>
        <p:spPr>
          <a:xfrm xmlns:a="http://schemas.openxmlformats.org/drawingml/2006/main">
            <a:off x="0" y="0"/>
            <a:ext cx="6858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94000"/>
            </a:srgbClr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visual-eyebrow"/>
          <p:cNvSpPr txBox="1"/>
          <p:nvPr/>
        </p:nvSpPr>
        <p:spPr>
          <a:xfrm xmlns:a="http://schemas.openxmlformats.org/drawingml/2006/main">
            <a:off x="914400" y="89535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8B6BE8"/>
                </a:solidFill>
                <a:latin typeface="Arial"/>
                <a:ea typeface="Arial"/>
              </a:rPr>
              <a:t>MOONLIT WORK REPORT · VISUAL CARRIER</a:t>
            </a:r>
            <a:endParaRPr lang="en-US"/>
          </a:p>
        </p:txBody>
      </p:sp>
      <p:sp>
        <p:nvSpPr>
          <p:cNvPr id="4" name="visual-title"/>
          <p:cNvSpPr txBox="1"/>
          <p:nvPr/>
        </p:nvSpPr>
        <p:spPr>
          <a:xfrm xmlns:a="http://schemas.openxmlformats.org/drawingml/2006/main">
            <a:off x="914400" y="1638300"/>
            <a:ext cx="5334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300" b="1">
                <a:solidFill>
                  <a:srgbClr val="1D2330"/>
                </a:solidFill>
                <a:latin typeface="Arial"/>
                <a:ea typeface="Arial"/>
              </a:rPr>
              <a:t>Show the operating shape</a:t>
            </a:r>
            <a:endParaRPr lang="en-US"/>
          </a:p>
        </p:txBody>
      </p:sp>
      <p:sp>
        <p:nvSpPr>
          <p:cNvPr id="5" name="visual-body"/>
          <p:cNvSpPr txBox="1"/>
          <p:nvPr/>
        </p:nvSpPr>
        <p:spPr>
          <a:xfrm xmlns:a="http://schemas.openxmlformats.org/drawingml/2006/main">
            <a:off x="914400" y="3219450"/>
            <a:ext cx="4762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00">
                <a:solidFill>
                  <a:srgbClr val="1D2330"/>
                </a:solidFill>
                <a:latin typeface="Arial"/>
                <a:ea typeface="Arial"/>
              </a:rPr>
              <a:t>The image carries context; the page names the move.</a:t>
            </a:r>
            <a:endParaRPr lang="en-US"/>
          </a:p>
        </p:txBody>
      </p:sp>
      <p:sp>
        <p:nvSpPr>
          <p:cNvPr id="6" name="visual-rule"/>
          <p:cNvSpPr/>
          <p:nvPr/>
        </p:nvSpPr>
        <p:spPr>
          <a:xfrm xmlns:a="http://schemas.openxmlformats.org/drawingml/2006/main">
            <a:off x="914400" y="4476750"/>
            <a:ext cx="4419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8B6BE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7" name="visual-label"/>
          <p:cNvSpPr txBox="1"/>
          <p:nvPr/>
        </p:nvSpPr>
        <p:spPr>
          <a:xfrm xmlns:a="http://schemas.openxmlformats.org/drawingml/2006/main">
            <a:off x="914400" y="48196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8B6BE8"/>
                </a:solidFill>
                <a:latin typeface="Arial"/>
                <a:ea typeface="Arial"/>
              </a:rPr>
              <a:t>THE IMAGE IS EVIDENCE, NOT FILL</a:t>
            </a:r>
            <a:endParaRPr lang="en-US"/>
          </a:p>
        </p:txBody>
      </p:sp>
      <p:sp>
        <p:nvSpPr>
          <p:cNvPr id="8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93959C"/>
                </a:solidFill>
                <a:latin typeface="Arial"/>
                <a:ea typeface="Arial"/>
              </a:rPr>
              <a:t>OfficeKit original clean-room visual field · fictional content</a:t>
            </a:r>
            <a:endParaRPr lang="en-US"/>
          </a:p>
        </p:txBody>
      </p:sp>
      <p:sp>
        <p:nvSpPr>
          <p:cNvPr id="9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93959C"/>
                </a:solidFill>
                <a:latin typeface="Arial"/>
                <a:ea typeface="Arial"/>
              </a:rPr>
              <a:t>5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6.xml><?xml version="1.0" encoding="utf-8"?>
<p:sld xmlns:p="http://schemas.openxmlformats.org/presentationml/2006/main">
  <p:cSld name="Decision close">
    <p:bg>
      <p:bgPr>
        <a:blipFill xmlns:a="http://schemas.openxmlformats.org/drawingml/2006/main">
          <a:blip xmlns:r="http://schemas.openxmlformats.org/officeDocument/2006/relationships" r:embed="rIdOfficeKitImage59ee3aa5202fd02f_1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close-paper-scrim"/>
          <p:cNvSpPr/>
          <p:nvPr/>
        </p:nvSpPr>
        <p:spPr>
          <a:xfrm xmlns:a="http://schemas.openxmlformats.org/drawingml/2006/main">
            <a:off x="0" y="0"/>
            <a:ext cx="74295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96000"/>
            </a:srgbClr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pic>
        <p:nvPicPr>
          <p:cNvPr id="3" name="close-photo-band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083106afebc7d419_1"/>
          <a:srcRect xmlns:a="http://schemas.openxmlformats.org/drawingml/2006/main" l="0" t="47258" r="0" b="47258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</p:spPr>
      </p:pic>
      <p:sp>
        <p:nvSpPr>
          <p:cNvPr id="4" name="close-photo-scrim"/>
          <p:cNvSpPr/>
          <p:nvPr/>
        </p:nvSpPr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2330">
              <a:alpha val="62000"/>
            </a:srgbClr>
          </a:solidFill>
          <a:ln xmlns:a="http://schemas.openxmlformats.org/drawingml/2006/main" w="0">
            <a:solidFill>
              <a:srgbClr val="1D233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close-photo-rule"/>
          <p:cNvSpPr/>
          <p:nvPr/>
        </p:nvSpPr>
        <p:spPr>
          <a:xfrm xmlns:a="http://schemas.openxmlformats.org/drawingml/2006/main">
            <a:off x="914400" y="1438275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8B6BE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6" name="MOONLIT WORK REPORT · CLOSE"/>
          <p:cNvSpPr txBox="1"/>
          <p:nvPr/>
        </p:nvSpPr>
        <p:spPr>
          <a:xfrm xmlns:a="http://schemas.openxmlformats.org/drawingml/2006/main">
            <a:off x="914400" y="228600"/>
            <a:ext cx="952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8B6BE8"/>
                </a:solidFill>
                <a:latin typeface="Arial"/>
                <a:ea typeface="Arial"/>
              </a:rPr>
              <a:t>MOONLIT WORK REPORT · CLOSE</a:t>
            </a:r>
            <a:endParaRPr lang="en-US"/>
          </a:p>
        </p:txBody>
      </p:sp>
      <p:sp>
        <p:nvSpPr>
          <p:cNvPr id="7" name="close-title"/>
          <p:cNvSpPr txBox="1"/>
          <p:nvPr/>
        </p:nvSpPr>
        <p:spPr>
          <a:xfrm xmlns:a="http://schemas.openxmlformats.org/drawingml/2006/main">
            <a:off x="914400" y="495300"/>
            <a:ext cx="12001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FFFFFF"/>
                </a:solidFill>
                <a:latin typeface="Arial"/>
                <a:ea typeface="Arial"/>
              </a:rPr>
              <a:t>Name the owner and next date</a:t>
            </a:r>
            <a:endParaRPr lang="en-US"/>
          </a:p>
        </p:txBody>
      </p:sp>
      <p:sp>
        <p:nvSpPr>
          <p:cNvPr id="8" name="close-basis"/>
          <p:cNvSpPr txBox="1"/>
          <p:nvPr/>
        </p:nvSpPr>
        <p:spPr>
          <a:xfrm xmlns:a="http://schemas.openxmlformats.org/drawingml/2006/main">
            <a:off x="952500" y="1066800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F0F3F2"/>
                </a:solidFill>
                <a:latin typeface="Arial"/>
                <a:ea typeface="Arial"/>
              </a:rPr>
              <a:t>A reference page must leave the reader with a bounded next move.</a:t>
            </a:r>
            <a:endParaRPr lang="en-US"/>
          </a:p>
        </p:txBody>
      </p:sp>
      <p:sp>
        <p:nvSpPr>
          <p:cNvPr id="9" name="close-number-0"/>
          <p:cNvSpPr txBox="1"/>
          <p:nvPr/>
        </p:nvSpPr>
        <p:spPr>
          <a:xfrm xmlns:a="http://schemas.openxmlformats.org/drawingml/2006/main">
            <a:off x="1104900" y="32194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8B6BE8"/>
                </a:solidFill>
                <a:latin typeface="Arial"/>
                <a:ea typeface="Arial"/>
              </a:rPr>
              <a:t>01</a:t>
            </a:r>
            <a:endParaRPr lang="en-US"/>
          </a:p>
        </p:txBody>
      </p:sp>
      <p:sp>
        <p:nvSpPr>
          <p:cNvPr id="10" name="close-row-rule-0"/>
          <p:cNvSpPr/>
          <p:nvPr/>
        </p:nvSpPr>
        <p:spPr>
          <a:xfrm xmlns:a="http://schemas.openxmlformats.org/drawingml/2006/main">
            <a:off x="2000250" y="33718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93959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close-label-0"/>
          <p:cNvSpPr txBox="1"/>
          <p:nvPr/>
        </p:nvSpPr>
        <p:spPr>
          <a:xfrm xmlns:a="http://schemas.openxmlformats.org/drawingml/2006/main">
            <a:off x="2114550" y="31813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D2330"/>
                </a:solidFill>
                <a:latin typeface="Arial"/>
                <a:ea typeface="Arial"/>
              </a:rPr>
              <a:t>Status</a:t>
            </a:r>
            <a:endParaRPr lang="en-US"/>
          </a:p>
        </p:txBody>
      </p:sp>
      <p:sp>
        <p:nvSpPr>
          <p:cNvPr id="12" name="close-text-0"/>
          <p:cNvSpPr txBox="1"/>
          <p:nvPr/>
        </p:nvSpPr>
        <p:spPr>
          <a:xfrm xmlns:a="http://schemas.openxmlformats.org/drawingml/2006/main">
            <a:off x="4495800" y="32194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D2330"/>
                </a:solidFill>
                <a:latin typeface="Arial"/>
                <a:ea typeface="Arial"/>
              </a:rPr>
              <a:t>The queue is on target.</a:t>
            </a:r>
            <a:endParaRPr lang="en-US"/>
          </a:p>
        </p:txBody>
      </p:sp>
      <p:sp>
        <p:nvSpPr>
          <p:cNvPr id="13" name="close-number-1"/>
          <p:cNvSpPr txBox="1"/>
          <p:nvPr/>
        </p:nvSpPr>
        <p:spPr>
          <a:xfrm xmlns:a="http://schemas.openxmlformats.org/drawingml/2006/main">
            <a:off x="1104900" y="426720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1D2330"/>
                </a:solidFill>
                <a:latin typeface="Arial"/>
                <a:ea typeface="Arial"/>
              </a:rPr>
              <a:t>02</a:t>
            </a:r>
            <a:endParaRPr lang="en-US"/>
          </a:p>
        </p:txBody>
      </p:sp>
      <p:sp>
        <p:nvSpPr>
          <p:cNvPr id="14" name="close-row-rule-1"/>
          <p:cNvSpPr/>
          <p:nvPr/>
        </p:nvSpPr>
        <p:spPr>
          <a:xfrm xmlns:a="http://schemas.openxmlformats.org/drawingml/2006/main">
            <a:off x="2000250" y="441960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93959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close-label-1"/>
          <p:cNvSpPr txBox="1"/>
          <p:nvPr/>
        </p:nvSpPr>
        <p:spPr>
          <a:xfrm xmlns:a="http://schemas.openxmlformats.org/drawingml/2006/main">
            <a:off x="2114550" y="42291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D2330"/>
                </a:solidFill>
                <a:latin typeface="Arial"/>
                <a:ea typeface="Arial"/>
              </a:rPr>
              <a:t>Exception</a:t>
            </a:r>
            <a:endParaRPr lang="en-US"/>
          </a:p>
        </p:txBody>
      </p:sp>
      <p:sp>
        <p:nvSpPr>
          <p:cNvPr id="16" name="close-text-1"/>
          <p:cNvSpPr txBox="1"/>
          <p:nvPr/>
        </p:nvSpPr>
        <p:spPr>
          <a:xfrm xmlns:a="http://schemas.openxmlformats.org/drawingml/2006/main">
            <a:off x="4495800" y="426720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D2330"/>
                </a:solidFill>
                <a:latin typeface="Arial"/>
                <a:ea typeface="Arial"/>
              </a:rPr>
              <a:t>The handoff is the constraint.</a:t>
            </a:r>
            <a:endParaRPr lang="en-US"/>
          </a:p>
        </p:txBody>
      </p:sp>
      <p:sp>
        <p:nvSpPr>
          <p:cNvPr id="17" name="close-number-2"/>
          <p:cNvSpPr txBox="1"/>
          <p:nvPr/>
        </p:nvSpPr>
        <p:spPr>
          <a:xfrm xmlns:a="http://schemas.openxmlformats.org/drawingml/2006/main">
            <a:off x="1104900" y="53149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8B6BE8"/>
                </a:solidFill>
                <a:latin typeface="Arial"/>
                <a:ea typeface="Arial"/>
              </a:rPr>
              <a:t>03</a:t>
            </a:r>
            <a:endParaRPr lang="en-US"/>
          </a:p>
        </p:txBody>
      </p:sp>
      <p:sp>
        <p:nvSpPr>
          <p:cNvPr id="18" name="close-row-rule-2"/>
          <p:cNvSpPr/>
          <p:nvPr/>
        </p:nvSpPr>
        <p:spPr>
          <a:xfrm xmlns:a="http://schemas.openxmlformats.org/drawingml/2006/main">
            <a:off x="2000250" y="54673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B6BE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close-label-2"/>
          <p:cNvSpPr txBox="1"/>
          <p:nvPr/>
        </p:nvSpPr>
        <p:spPr>
          <a:xfrm xmlns:a="http://schemas.openxmlformats.org/drawingml/2006/main">
            <a:off x="2114550" y="52768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D2330"/>
                </a:solidFill>
                <a:latin typeface="Arial"/>
                <a:ea typeface="Arial"/>
              </a:rPr>
              <a:t>Next</a:t>
            </a:r>
            <a:endParaRPr lang="en-US"/>
          </a:p>
        </p:txBody>
      </p:sp>
      <p:sp>
        <p:nvSpPr>
          <p:cNvPr id="20" name="close-text-2"/>
          <p:cNvSpPr txBox="1"/>
          <p:nvPr/>
        </p:nvSpPr>
        <p:spPr>
          <a:xfrm xmlns:a="http://schemas.openxmlformats.org/drawingml/2006/main">
            <a:off x="4495800" y="53149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D2330"/>
                </a:solidFill>
                <a:latin typeface="Arial"/>
                <a:ea typeface="Arial"/>
              </a:rPr>
              <a:t>Name the owner today.</a:t>
            </a:r>
            <a:endParaRPr lang="en-US"/>
          </a:p>
        </p:txBody>
      </p:sp>
      <p:sp>
        <p:nvSpPr>
          <p:cNvPr id="21" name="next-panel"/>
          <p:cNvSpPr/>
          <p:nvPr/>
        </p:nvSpPr>
        <p:spPr>
          <a:xfrm xmlns:a="http://schemas.openxmlformats.org/drawingml/2006/main">
            <a:off x="10668000" y="3238500"/>
            <a:ext cx="323850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B6BE8"/>
          </a:solidFill>
          <a:ln xmlns:a="http://schemas.openxmlformats.org/drawingml/2006/main" w="0">
            <a:solidFill>
              <a:srgbClr val="8B6BE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2" name="next-label"/>
          <p:cNvSpPr txBox="1"/>
          <p:nvPr/>
        </p:nvSpPr>
        <p:spPr>
          <a:xfrm xmlns:a="http://schemas.openxmlformats.org/drawingml/2006/main">
            <a:off x="11049000" y="35623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FFFFFF"/>
                </a:solidFill>
                <a:latin typeface="Arial"/>
                <a:ea typeface="Arial"/>
              </a:rPr>
              <a:t>NEXT MOVE</a:t>
            </a:r>
            <a:endParaRPr lang="en-US"/>
          </a:p>
        </p:txBody>
      </p:sp>
      <p:sp>
        <p:nvSpPr>
          <p:cNvPr id="23" name="next-text"/>
          <p:cNvSpPr txBox="1"/>
          <p:nvPr/>
        </p:nvSpPr>
        <p:spPr>
          <a:xfrm xmlns:a="http://schemas.openxmlformats.org/drawingml/2006/main">
            <a:off x="11049000" y="4038600"/>
            <a:ext cx="2476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FFFFFF"/>
                </a:solidFill>
                <a:latin typeface="Arial"/>
                <a:ea typeface="Arial"/>
              </a:rPr>
              <a:t>Assign the handoff</a:t>
            </a:r>
            <a:endParaRPr lang="en-US"/>
          </a:p>
        </p:txBody>
      </p:sp>
      <p:sp>
        <p:nvSpPr>
          <p:cNvPr id="24" name="next-foot"/>
          <p:cNvSpPr txBox="1"/>
          <p:nvPr/>
        </p:nvSpPr>
        <p:spPr>
          <a:xfrm xmlns:a="http://schemas.openxmlformats.org/drawingml/2006/main">
            <a:off x="11049000" y="50482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FFFFFF"/>
                </a:solidFill>
                <a:latin typeface="Arial"/>
                <a:ea typeface="Arial"/>
              </a:rPr>
              <a:t>Owner · reviewer · date</a:t>
            </a:r>
            <a:endParaRPr lang="en-US"/>
          </a:p>
        </p:txBody>
      </p:sp>
      <p:sp>
        <p:nvSpPr>
          <p:cNvPr id="25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93959C"/>
                </a:solidFill>
                <a:latin typeface="Arial"/>
                <a:ea typeface="Arial"/>
              </a:rPr>
              <a:t>OfficeKit original clean-room calibration · reference deck is editable and inspectable</a:t>
            </a:r>
            <a:endParaRPr lang="en-US"/>
          </a:p>
        </p:txBody>
      </p:sp>
      <p:sp>
        <p:nvSpPr>
          <p:cNvPr id="26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93959C"/>
                </a:solidFill>
                <a:latin typeface="Arial"/>
                <a:ea typeface="Arial"/>
              </a:rPr>
              <a:t>6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