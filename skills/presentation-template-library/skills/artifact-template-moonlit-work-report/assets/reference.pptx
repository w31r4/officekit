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f0882c7bac947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e56ecbe4d29b219f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8579b0a87ff097c1_1" /><Relationship Type="http://schemas.openxmlformats.org/officeDocument/2006/relationships/image" Target="/ppt/media/image3.jpg" Id="rIdOfficeKitImageb4650c5e003a270c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e930dcb9c6b95953_1" /><Relationship Type="http://schemas.openxmlformats.org/officeDocument/2006/relationships/image" Target="/ppt/media/image5.jpg" Id="rIdOfficeKitImage06e55191024fa458_1" /><Relationship Type="http://schemas.openxmlformats.org/officeDocument/2006/relationships/chart" Target="/ppt/slides/charts/chart1.xml" Id="Rb3d2b12378074eab" /><Relationship Type="http://schemas.openxmlformats.org/officeDocument/2006/relationships/chart" Target="/ppt/slides/charts/chart2.xml" Id="R75870c07c7ea4f3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d96cedd8678b85ac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7.jpg" Id="rIdOfficeKitImage10e4539a68783891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8.jpg" Id="rIdOfficeKitImage20fc6993425855c3_1" /><Relationship Type="http://schemas.openxmlformats.org/officeDocument/2006/relationships/image" Target="/ppt/media/image9.jpg" Id="rIdOfficeKitImage4df9c6298f17ef7a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8B6BE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3959C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4E9B74"/>
            </a:solidFill>
            <a:ln w="38100">
              <a:solidFill>
                <a:srgbClr val="4E9B74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e56ecbe4d29b219f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WORK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D2330"/>
                </a:solidFill>
                <a:latin typeface="Arial"/>
                <a:ea typeface="Arial"/>
              </a:rPr>
              <a:t>Moonlit Work Report: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8B6BE8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2330"/>
                </a:solidFill>
                <a:latin typeface="Arial"/>
                <a:ea typeface="Arial"/>
              </a:rPr>
              <a:t>A visible operating signal creates a shared next action.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8579b0a87ff097c1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b4650c5e003a270c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constraint owns the page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Status, cause, owner and date stay together.</a:t>
            </a:r>
            <a:endParaRPr lang="en-US"/>
          </a:p>
        </p:txBody>
      </p:sp>
      <p:sp>
        <p:nvSpPr>
          <p:cNvPr id="9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B6BE8"/>
                </a:solidFill>
                <a:latin typeface="Arial"/>
                <a:ea typeface="Arial"/>
              </a:rPr>
              <a:t>OPERATING SIGNAL</a:t>
            </a:r>
            <a:endParaRPr lang="en-US"/>
          </a:p>
        </p:txBody>
      </p:sp>
      <p:sp>
        <p:nvSpPr>
          <p:cNvPr id="10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2330"/>
                </a:solidFill>
                <a:latin typeface="Arial"/>
                <a:ea typeface="Arial"/>
              </a:rPr>
              <a:t>The queue is healthy; the handoff is not.</a:t>
            </a:r>
            <a:endParaRPr lang="en-US"/>
          </a:p>
        </p:txBody>
      </p:sp>
      <p:sp>
        <p:nvSpPr>
          <p:cNvPr id="11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D2330"/>
                </a:solidFill>
                <a:latin typeface="Arial"/>
                <a:ea typeface="Arial"/>
              </a:rPr>
              <a:t>Three visible signals point to one owner and one date.</a:t>
            </a:r>
            <a:endParaRPr lang="en-US"/>
          </a:p>
        </p:txBody>
      </p:sp>
      <p:sp>
        <p:nvSpPr>
          <p:cNvPr id="12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4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Queue</a:t>
            </a:r>
            <a:endParaRPr lang="en-US"/>
          </a:p>
        </p:txBody>
      </p:sp>
      <p:sp>
        <p:nvSpPr>
          <p:cNvPr id="15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On target</a:t>
            </a:r>
            <a:endParaRPr lang="en-US"/>
          </a:p>
        </p:txBody>
      </p:sp>
      <p:sp>
        <p:nvSpPr>
          <p:cNvPr id="16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7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Handoff</a:t>
            </a:r>
            <a:endParaRPr lang="en-US"/>
          </a:p>
        </p:txBody>
      </p:sp>
      <p:sp>
        <p:nvSpPr>
          <p:cNvPr id="18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B6BE8"/>
                </a:solidFill>
                <a:latin typeface="Arial"/>
                <a:ea typeface="Arial"/>
              </a:rPr>
              <a:t>At risk</a:t>
            </a:r>
            <a:endParaRPr lang="en-US"/>
          </a:p>
        </p:txBody>
      </p:sp>
      <p:sp>
        <p:nvSpPr>
          <p:cNvPr id="19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0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1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Named</a:t>
            </a:r>
            <a:endParaRPr lang="en-US"/>
          </a:p>
        </p:txBody>
      </p:sp>
      <p:sp>
        <p:nvSpPr>
          <p:cNvPr id="2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e930dcb9c6b9595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6e55191024fa458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Signal up; exception stays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Illustrative operations ledger · current state and exception share one frame.</a:t>
            </a:r>
            <a:endParaRPr lang="en-US"/>
          </a:p>
        </p:txBody>
      </p:sp>
      <p:sp>
        <p:nvSpPr>
          <p:cNvPr id="9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0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d2b12378074eab"/>
          </a:graphicData>
        </a:graphic>
      </p:graphicFrame>
      <p:graphicFrame>
        <p:nvGraphicFramePr>
          <p:cNvPr id="11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5870c07c7ea4f31"/>
          </a:graphicData>
        </a:graphic>
      </p:graphicFrame>
      <p:sp>
        <p:nvSpPr>
          <p:cNvPr id="12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4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D2330"/>
                </a:solidFill>
                <a:latin typeface="Arial"/>
                <a:ea typeface="Arial"/>
              </a:rPr>
              <a:t>The signal earns its space.</a:t>
            </a:r>
            <a:endParaRPr lang="en-US"/>
          </a:p>
        </p:txBody>
      </p:sp>
      <p:sp>
        <p:nvSpPr>
          <p:cNvPr id="15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6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D2330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96cedd8678b85ac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gap becomes useful when it has an owner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9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NOW</a:t>
            </a:r>
            <a:endParaRPr lang="en-US"/>
          </a:p>
        </p:txBody>
      </p:sp>
      <p:sp>
        <p:nvSpPr>
          <p:cNvPr id="10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54%</a:t>
            </a:r>
            <a:endParaRPr lang="en-US"/>
          </a:p>
        </p:txBody>
      </p:sp>
      <p:sp>
        <p:nvSpPr>
          <p:cNvPr id="13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TARGET</a:t>
            </a:r>
            <a:endParaRPr lang="en-US"/>
          </a:p>
        </p:txBody>
      </p:sp>
      <p:sp>
        <p:nvSpPr>
          <p:cNvPr id="14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9B74"/>
          </a:solidFill>
          <a:ln xmlns:a="http://schemas.openxmlformats.org/drawingml/2006/main" w="0">
            <a:solidFill>
              <a:srgbClr val="4E9B7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76%</a:t>
            </a:r>
            <a:endParaRPr lang="en-US"/>
          </a:p>
        </p:txBody>
      </p:sp>
      <p:sp>
        <p:nvSpPr>
          <p:cNvPr id="17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GAP</a:t>
            </a:r>
            <a:endParaRPr lang="en-US"/>
          </a:p>
        </p:txBody>
      </p:sp>
      <p:sp>
        <p:nvSpPr>
          <p:cNvPr id="18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/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22%</a:t>
            </a:r>
            <a:endParaRPr lang="en-US"/>
          </a:p>
        </p:txBody>
      </p:sp>
      <p:sp>
        <p:nvSpPr>
          <p:cNvPr id="21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D2330"/>
                </a:solidFill>
                <a:latin typeface="Arial"/>
                <a:ea typeface="Arial"/>
              </a:rPr>
              <a:t>Status is useful only when the next handoff is visible.</a:t>
            </a:r>
            <a:endParaRPr lang="en-US"/>
          </a:p>
        </p:txBody>
      </p:sp>
      <p:sp>
        <p:nvSpPr>
          <p:cNvPr id="23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B6BE8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24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2330"/>
                </a:solidFill>
                <a:latin typeface="Arial"/>
                <a:ea typeface="Arial"/>
              </a:rPr>
              <a:t>The gap is not a decoration; it is the work.</a:t>
            </a:r>
            <a:endParaRPr lang="en-US"/>
          </a:p>
        </p:txBody>
      </p:sp>
      <p:sp>
        <p:nvSpPr>
          <p:cNvPr id="25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3959C"/>
                </a:solidFill>
                <a:latin typeface="Arial"/>
                <a:ea typeface="Arial"/>
              </a:rPr>
              <a:t>A healthy page names the owner and the next date.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10e4539a68783891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4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MOONLIT WORK REPORT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D2330"/>
                </a:solidFill>
                <a:latin typeface="Arial"/>
                <a:ea typeface="Arial"/>
              </a:rPr>
              <a:t>Show the operating shape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D2330"/>
                </a:solidFill>
                <a:latin typeface="Arial"/>
                <a:ea typeface="Arial"/>
              </a:rPr>
              <a:t>The image carries context; the page names the move.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20fc6993425855c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4df9c6298f17ef7a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Name the owner and next date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B6BE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Status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The queue is on target.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233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The handoff is the constraint.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B6BE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Name the owner today.</a:t>
            </a:r>
            <a:endParaRPr lang="en-US"/>
          </a:p>
        </p:txBody>
      </p:sp>
      <p:sp>
        <p:nvSpPr>
          <p:cNvPr id="2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