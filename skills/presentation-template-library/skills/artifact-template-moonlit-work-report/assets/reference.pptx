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8d8bcbb80418402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33b8c33a8fc3d613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7650495d0c3b8602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3.jpg" Id="rIdOfficeKitImagee4bd683f73b7a543_1" /><Relationship Type="http://schemas.openxmlformats.org/officeDocument/2006/relationships/chart" Target="/ppt/slides/charts/chart1.xml" Id="Rdc9846deb41842fc" /><Relationship Type="http://schemas.openxmlformats.org/officeDocument/2006/relationships/chart" Target="/ppt/slides/charts/chart2.xml" Id="R1c5e39468ffb4b0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4.jpg" Id="rIdOfficeKitImage59ee3aa5202fd02f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5.jpg" Id="rIdOfficeKitImagec7b73f8fac405495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6.jpg" Id="rIdOfficeKitImaged71bfa074cda59bb_1" /></Relationships>
</file>

<file path=ppt/slides/charts/chart1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Primary signal · observed versus reference</a:t>
            </a:r>
          </a:p>
        </c:rich>
      </c:tx>
      <c:layout/>
    </c:title>
    <c:plotArea>
      <c:layout/>
      <c:barChart>
        <c:barDir val="col"/>
        <c:grouping val="clustered"/>
        <c:ser>
          <c:idx val="0"/>
          <c:order val="0"/>
          <c:tx>
            <c:v>Observed</c:v>
          </c:tx>
          <c:spPr>
            <a:solidFill>
              <a:srgbClr val="8B6BE8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38</c:v>
              </c:pt>
              <c:pt idx="1">
                <c:v>46</c:v>
              </c:pt>
              <c:pt idx="2">
                <c:v>43</c:v>
              </c:pt>
              <c:pt idx="3">
                <c:v>58</c:v>
              </c:pt>
              <c:pt idx="4">
                <c:v>68</c:v>
              </c:pt>
              <c:pt idx="5">
                <c:v>74</c:v>
              </c:pt>
            </c:numLit>
          </c:val>
        </c:ser>
        <c:ser>
          <c:idx val="1"/>
          <c:order val="1"/>
          <c:tx>
            <c:v>Reference</c:v>
          </c:tx>
          <c:spPr>
            <a:solidFill>
              <a:srgbClr val="93959C"/>
            </a:solidFill>
          </c:spP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34</c:v>
              </c:pt>
              <c:pt idx="1">
                <c:v>39</c:v>
              </c:pt>
              <c:pt idx="2">
                <c:v>41</c:v>
              </c:pt>
              <c:pt idx="3">
                <c:v>45</c:v>
              </c:pt>
              <c:pt idx="4">
                <c:v>49</c:v>
              </c:pt>
              <c:pt idx="5">
                <c:v>52</c:v>
              </c:pt>
            </c:numLit>
          </c:val>
        </c:ser>
        <c:axId val="1"/>
        <c:axId val="2"/>
      </c:bar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legend>
      <c:legendPos val="r"/>
      <c:layout/>
    </c:legend>
    <c:plotVisOnly val="1"/>
  </c:chart>
</c:chartSpace>
</file>

<file path=ppt/slides/charts/chart2.xml><?xml version="1.0" encoding="utf-8"?>
<c:chartSpace xmlns:c="http://schemas.openxmlformats.org/drawingml/2006/chart" xmlns:a="http://schemas.openxmlformats.org/drawingml/2006/main">
  <c:chart>
    <c:title>
      <c:tx>
        <c:rich>
          <a:bodyPr/>
          <a:lstStyle/>
          <a:p>
            <a:r>
              <a:t>Driver trend</a:t>
            </a:r>
          </a:p>
        </c:rich>
      </c:tx>
      <c:layout/>
    </c:title>
    <c:plotArea>
      <c:layout/>
      <c:lineChart>
        <c:grouping val="standard"/>
        <c:ser>
          <c:idx val="0"/>
          <c:order val="0"/>
          <c:tx>
            <c:v>Driver</c:v>
          </c:tx>
          <c:spPr>
            <a:solidFill>
              <a:srgbClr val="4E9B74"/>
            </a:solidFill>
            <a:ln w="38100">
              <a:solidFill>
                <a:srgbClr val="4E9B74"/>
              </a:solidFill>
              <a:prstDash val="solid"/>
            </a:ln>
          </c:spPr>
          <c:marker>
            <c:symbol val="circle"/>
            <c:size val="6"/>
          </c:marker>
          <c:cat>
            <c:strLit>
              <c:ptCount val="6"/>
              <c:pt idx="0">
                <c:v>Q1</c:v>
              </c:pt>
              <c:pt idx="1">
                <c:v>Q2</c:v>
              </c:pt>
              <c:pt idx="2">
                <c:v>Q3</c:v>
              </c:pt>
              <c:pt idx="3">
                <c:v>Q4</c:v>
              </c:pt>
              <c:pt idx="4">
                <c:v>Q5</c:v>
              </c:pt>
              <c:pt idx="5">
                <c:v>Q6</c:v>
              </c:pt>
            </c:strLit>
          </c:cat>
          <c:val>
            <c:numLit>
              <c:formatCode>General</c:formatCode>
              <c:ptCount val="6"/>
              <c:pt idx="0">
                <c:v>22</c:v>
              </c:pt>
              <c:pt idx="1">
                <c:v>28</c:v>
              </c:pt>
              <c:pt idx="2">
                <c:v>34</c:v>
              </c:pt>
              <c:pt idx="3">
                <c:v>39</c:v>
              </c:pt>
              <c:pt idx="4">
                <c:v>45</c:v>
              </c:pt>
              <c:pt idx="5">
                <c:v>51</c:v>
              </c:pt>
            </c:numLit>
          </c:val>
        </c:ser>
        <c:axId val="1"/>
        <c:axId val="2"/>
      </c:lineChart>
      <c:catAx>
        <c:axId val="1"/>
        <c:scaling>
          <c:orientation val="minMax"/>
        </c:scaling>
        <c:axPos val="b"/>
        <c:crossAx val="2"/>
      </c:catAx>
      <c:valAx>
        <c:axId val="2"/>
        <c:scaling>
          <c:orientation val="minMax"/>
        </c:scaling>
        <c:axPos val="l"/>
        <c:crossAx val="1"/>
      </c:valAx>
    </c:plotArea>
    <c:plotVisOnly val="1"/>
  </c:chart>
</c:chartSpace>
</file>

<file path=ppt/slides/slide1.xml><?xml version="1.0" encoding="utf-8"?>
<p:sld xmlns:p="http://schemas.openxmlformats.org/presentationml/2006/main">
  <p:cSld name="Opening claim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tifact-template-moonlit-work-report-cover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3b8c33a8fc3d613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over-paper-scrim"/>
          <p:cNvSpPr/>
          <p:nvPr/>
        </p:nvSpPr>
        <p:spPr>
          <a:xfrm xmlns:a="http://schemas.openxmlformats.org/drawingml/2006/main">
            <a:off x="0" y="0"/>
            <a:ext cx="9525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10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top-rule"/>
          <p:cNvSpPr/>
          <p:nvPr/>
        </p:nvSpPr>
        <p:spPr>
          <a:xfrm xmlns:a="http://schemas.openxmlformats.org/drawingml/2006/main">
            <a:off x="838200" y="666750"/>
            <a:ext cx="1356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eyebrow"/>
          <p:cNvSpPr txBox="1"/>
          <p:nvPr/>
        </p:nvSpPr>
        <p:spPr>
          <a:xfrm xmlns:a="http://schemas.openxmlformats.org/drawingml/2006/main">
            <a:off x="914400" y="89535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WORK · OFFICEKIT CALIBRATION</a:t>
            </a:r>
            <a:endParaRPr lang="en-US"/>
          </a:p>
        </p:txBody>
      </p:sp>
      <p:sp>
        <p:nvSpPr>
          <p:cNvPr id="6" name="cover-title"/>
          <p:cNvSpPr txBox="1"/>
          <p:nvPr/>
        </p:nvSpPr>
        <p:spPr>
          <a:xfrm xmlns:a="http://schemas.openxmlformats.org/drawingml/2006/main">
            <a:off x="914400" y="1571625"/>
            <a:ext cx="8382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600" b="1">
                <a:solidFill>
                  <a:srgbClr val="1D2330"/>
                </a:solidFill>
                <a:latin typeface="Arial"/>
                <a:ea typeface="Arial"/>
              </a:rPr>
              <a:t>Moonlit Work Report: a claim worth testing</a:t>
            </a:r>
            <a:endParaRPr lang="en-US"/>
          </a:p>
        </p:txBody>
      </p:sp>
      <p:sp>
        <p:nvSpPr>
          <p:cNvPr id="7" name="cover-subtitle"/>
          <p:cNvSpPr txBox="1"/>
          <p:nvPr/>
        </p:nvSpPr>
        <p:spPr>
          <a:xfrm xmlns:a="http://schemas.openxmlformats.org/drawingml/2006/main">
            <a:off x="952500" y="2857500"/>
            <a:ext cx="685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>
                <a:solidFill>
                  <a:srgbClr val="8B6BE8"/>
                </a:solidFill>
                <a:latin typeface="Arial"/>
                <a:ea typeface="Arial"/>
              </a:rPr>
              <a:t>A clean-room reference for evidence, direction, and a decision.</a:t>
            </a:r>
            <a:endParaRPr lang="en-US"/>
          </a:p>
        </p:txBody>
      </p:sp>
      <p:sp>
        <p:nvSpPr>
          <p:cNvPr id="8" name="cover-rule"/>
          <p:cNvSpPr/>
          <p:nvPr/>
        </p:nvSpPr>
        <p:spPr>
          <a:xfrm xmlns:a="http://schemas.openxmlformats.org/drawingml/2006/main">
            <a:off x="914400" y="3524250"/>
            <a:ext cx="7658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cover-basis"/>
          <p:cNvSpPr txBox="1"/>
          <p:nvPr/>
        </p:nvSpPr>
        <p:spPr>
          <a:xfrm xmlns:a="http://schemas.openxmlformats.org/drawingml/2006/main">
            <a:off x="952500" y="3762375"/>
            <a:ext cx="781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One visual language · four page roles · native editable objects</a:t>
            </a:r>
            <a:endParaRPr lang="en-US"/>
          </a:p>
        </p:txBody>
      </p:sp>
      <p:sp>
        <p:nvSpPr>
          <p:cNvPr id="10" name="cover-thesis"/>
          <p:cNvSpPr txBox="1"/>
          <p:nvPr/>
        </p:nvSpPr>
        <p:spPr>
          <a:xfrm xmlns:a="http://schemas.openxmlformats.org/drawingml/2006/main">
            <a:off x="952500" y="4810125"/>
            <a:ext cx="666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A visible operating signal creates a shared next action.</a:t>
            </a:r>
            <a:endParaRPr lang="en-US"/>
          </a:p>
        </p:txBody>
      </p:sp>
      <p:sp>
        <p:nvSpPr>
          <p:cNvPr id="11" name="cover-source"/>
          <p:cNvSpPr txBox="1"/>
          <p:nvPr/>
        </p:nvSpPr>
        <p:spPr>
          <a:xfrm xmlns:a="http://schemas.openxmlformats.org/drawingml/2006/main">
            <a:off x="952500" y="731520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12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1 / 6</a:t>
            </a:r>
            <a:endParaRPr lang="en-US"/>
          </a:p>
        </p:txBody>
      </p:sp>
      <p:sp>
        <p:nvSpPr>
          <p:cNvPr id="13" name="anchor-field"/>
          <p:cNvSpPr/>
          <p:nvPr/>
        </p:nvSpPr>
        <p:spPr>
          <a:xfrm xmlns:a="http://schemas.openxmlformats.org/drawingml/2006/main">
            <a:off x="11620500" y="1790700"/>
            <a:ext cx="2095500" cy="2286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anchor-grid-0-0"/>
          <p:cNvSpPr/>
          <p:nvPr/>
        </p:nvSpPr>
        <p:spPr>
          <a:xfrm xmlns:a="http://schemas.openxmlformats.org/drawingml/2006/main">
            <a:off x="119253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anchor-grid-0-1"/>
          <p:cNvSpPr/>
          <p:nvPr/>
        </p:nvSpPr>
        <p:spPr>
          <a:xfrm xmlns:a="http://schemas.openxmlformats.org/drawingml/2006/main">
            <a:off x="124206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nchor-grid-0-2"/>
          <p:cNvSpPr/>
          <p:nvPr/>
        </p:nvSpPr>
        <p:spPr>
          <a:xfrm xmlns:a="http://schemas.openxmlformats.org/drawingml/2006/main">
            <a:off x="12915900" y="21526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anchor-grid-1-0"/>
          <p:cNvSpPr/>
          <p:nvPr/>
        </p:nvSpPr>
        <p:spPr>
          <a:xfrm xmlns:a="http://schemas.openxmlformats.org/drawingml/2006/main">
            <a:off x="119253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anchor-grid-1-1"/>
          <p:cNvSpPr/>
          <p:nvPr/>
        </p:nvSpPr>
        <p:spPr>
          <a:xfrm xmlns:a="http://schemas.openxmlformats.org/drawingml/2006/main">
            <a:off x="124206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anchor-grid-1-2"/>
          <p:cNvSpPr/>
          <p:nvPr/>
        </p:nvSpPr>
        <p:spPr>
          <a:xfrm xmlns:a="http://schemas.openxmlformats.org/drawingml/2006/main">
            <a:off x="12915900" y="26860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anchor-grid-2-0"/>
          <p:cNvSpPr/>
          <p:nvPr/>
        </p:nvSpPr>
        <p:spPr>
          <a:xfrm xmlns:a="http://schemas.openxmlformats.org/drawingml/2006/main">
            <a:off x="119253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1" name="anchor-grid-2-1"/>
          <p:cNvSpPr/>
          <p:nvPr/>
        </p:nvSpPr>
        <p:spPr>
          <a:xfrm xmlns:a="http://schemas.openxmlformats.org/drawingml/2006/main">
            <a:off x="124206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anchor-grid-2-2"/>
          <p:cNvSpPr/>
          <p:nvPr/>
        </p:nvSpPr>
        <p:spPr>
          <a:xfrm xmlns:a="http://schemas.openxmlformats.org/drawingml/2006/main">
            <a:off x="12915900" y="3219450"/>
            <a:ext cx="266700" cy="285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anchor-axis"/>
          <p:cNvSpPr/>
          <p:nvPr/>
        </p:nvSpPr>
        <p:spPr>
          <a:xfrm xmlns:a="http://schemas.openxmlformats.org/drawingml/2006/main">
            <a:off x="12668250" y="1638300"/>
            <a:ext cx="0" cy="2743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5080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argument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argument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7650495d0c3b8602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MOONLIT WORK REPORT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ARGUMENT</a:t>
            </a:r>
            <a:endParaRPr lang="en-US"/>
          </a:p>
        </p:txBody>
      </p:sp>
      <p:sp>
        <p:nvSpPr>
          <p:cNvPr id="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constraint owns the page</a:t>
            </a:r>
            <a:endParaRPr lang="en-US"/>
          </a:p>
        </p:txBody>
      </p:sp>
      <p:sp>
        <p:nvSpPr>
          <p:cNvPr id="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Status, cause, owner and date stay together.</a:t>
            </a:r>
            <a:endParaRPr lang="en-US"/>
          </a:p>
        </p:txBody>
      </p:sp>
      <p:sp>
        <p:nvSpPr>
          <p:cNvPr id="10" name="work-status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OPERATING SIGNAL</a:t>
            </a:r>
            <a:endParaRPr lang="en-US"/>
          </a:p>
        </p:txBody>
      </p:sp>
      <p:sp>
        <p:nvSpPr>
          <p:cNvPr id="11" name="work-headline"/>
          <p:cNvSpPr txBox="1"/>
          <p:nvPr/>
        </p:nvSpPr>
        <p:spPr>
          <a:xfrm xmlns:a="http://schemas.openxmlformats.org/drawingml/2006/main">
            <a:off x="1104900" y="3790950"/>
            <a:ext cx="6667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1D2330"/>
                </a:solidFill>
                <a:latin typeface="Arial"/>
                <a:ea typeface="Arial"/>
              </a:rPr>
              <a:t>The queue is healthy; the handoff is not.</a:t>
            </a:r>
            <a:endParaRPr lang="en-US"/>
          </a:p>
        </p:txBody>
      </p:sp>
      <p:sp>
        <p:nvSpPr>
          <p:cNvPr id="12" name="work-body"/>
          <p:cNvSpPr txBox="1"/>
          <p:nvPr/>
        </p:nvSpPr>
        <p:spPr>
          <a:xfrm xmlns:a="http://schemas.openxmlformats.org/drawingml/2006/main">
            <a:off x="1104900" y="4762500"/>
            <a:ext cx="619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1D2330"/>
                </a:solidFill>
                <a:latin typeface="Arial"/>
                <a:ea typeface="Arial"/>
              </a:rPr>
              <a:t>Three visible signals point to one owner and one date.</a:t>
            </a:r>
            <a:endParaRPr lang="en-US"/>
          </a:p>
        </p:txBody>
      </p:sp>
      <p:sp>
        <p:nvSpPr>
          <p:cNvPr id="13" name="work-rail"/>
          <p:cNvSpPr/>
          <p:nvPr/>
        </p:nvSpPr>
        <p:spPr>
          <a:xfrm xmlns:a="http://schemas.openxmlformats.org/drawingml/2006/main">
            <a:off x="10001250" y="3333750"/>
            <a:ext cx="0" cy="2381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work-num-0"/>
          <p:cNvSpPr txBox="1"/>
          <p:nvPr/>
        </p:nvSpPr>
        <p:spPr>
          <a:xfrm xmlns:a="http://schemas.openxmlformats.org/drawingml/2006/main">
            <a:off x="10477500" y="34480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5" name="work-label-0"/>
          <p:cNvSpPr txBox="1"/>
          <p:nvPr/>
        </p:nvSpPr>
        <p:spPr>
          <a:xfrm xmlns:a="http://schemas.openxmlformats.org/drawingml/2006/main">
            <a:off x="11144250" y="34480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Queue</a:t>
            </a:r>
            <a:endParaRPr lang="en-US"/>
          </a:p>
        </p:txBody>
      </p:sp>
      <p:sp>
        <p:nvSpPr>
          <p:cNvPr id="16" name="work-text-0"/>
          <p:cNvSpPr txBox="1"/>
          <p:nvPr/>
        </p:nvSpPr>
        <p:spPr>
          <a:xfrm xmlns:a="http://schemas.openxmlformats.org/drawingml/2006/main">
            <a:off x="12668250" y="34480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On target</a:t>
            </a:r>
            <a:endParaRPr lang="en-US"/>
          </a:p>
        </p:txBody>
      </p:sp>
      <p:sp>
        <p:nvSpPr>
          <p:cNvPr id="17" name="work-num-1"/>
          <p:cNvSpPr txBox="1"/>
          <p:nvPr/>
        </p:nvSpPr>
        <p:spPr>
          <a:xfrm xmlns:a="http://schemas.openxmlformats.org/drawingml/2006/main">
            <a:off x="10477500" y="422910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8" name="work-label-1"/>
          <p:cNvSpPr txBox="1"/>
          <p:nvPr/>
        </p:nvSpPr>
        <p:spPr>
          <a:xfrm xmlns:a="http://schemas.openxmlformats.org/drawingml/2006/main">
            <a:off x="11144250" y="422910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Handoff</a:t>
            </a:r>
            <a:endParaRPr lang="en-US"/>
          </a:p>
        </p:txBody>
      </p:sp>
      <p:sp>
        <p:nvSpPr>
          <p:cNvPr id="19" name="work-text-1"/>
          <p:cNvSpPr txBox="1"/>
          <p:nvPr/>
        </p:nvSpPr>
        <p:spPr>
          <a:xfrm xmlns:a="http://schemas.openxmlformats.org/drawingml/2006/main">
            <a:off x="12668250" y="422910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8B6BE8"/>
                </a:solidFill>
                <a:latin typeface="Arial"/>
                <a:ea typeface="Arial"/>
              </a:rPr>
              <a:t>At risk</a:t>
            </a:r>
            <a:endParaRPr lang="en-US"/>
          </a:p>
        </p:txBody>
      </p:sp>
      <p:sp>
        <p:nvSpPr>
          <p:cNvPr id="20" name="work-num-2"/>
          <p:cNvSpPr txBox="1"/>
          <p:nvPr/>
        </p:nvSpPr>
        <p:spPr>
          <a:xfrm xmlns:a="http://schemas.openxmlformats.org/drawingml/2006/main">
            <a:off x="10477500" y="50101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21" name="work-label-2"/>
          <p:cNvSpPr txBox="1"/>
          <p:nvPr/>
        </p:nvSpPr>
        <p:spPr>
          <a:xfrm xmlns:a="http://schemas.openxmlformats.org/drawingml/2006/main">
            <a:off x="1114425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 b="1">
                <a:solidFill>
                  <a:srgbClr val="1D2330"/>
                </a:solidFill>
                <a:latin typeface="Arial"/>
                <a:ea typeface="Arial"/>
              </a:rPr>
              <a:t>Owner</a:t>
            </a:r>
            <a:endParaRPr lang="en-US"/>
          </a:p>
        </p:txBody>
      </p:sp>
      <p:sp>
        <p:nvSpPr>
          <p:cNvPr id="22" name="work-text-2"/>
          <p:cNvSpPr txBox="1"/>
          <p:nvPr/>
        </p:nvSpPr>
        <p:spPr>
          <a:xfrm xmlns:a="http://schemas.openxmlformats.org/drawingml/2006/main">
            <a:off x="12668250" y="50101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Named</a:t>
            </a:r>
            <a:endParaRPr lang="en-US"/>
          </a:p>
        </p:txBody>
      </p:sp>
      <p:sp>
        <p:nvSpPr>
          <p:cNvPr id="23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4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evidenc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evidenc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4bd683f73b7a543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MOONLIT WORK REPORT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EVIDENCE</a:t>
            </a:r>
            <a:endParaRPr lang="en-US"/>
          </a:p>
        </p:txBody>
      </p:sp>
      <p:sp>
        <p:nvSpPr>
          <p:cNvPr id="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Signal up; exception stays</a:t>
            </a:r>
            <a:endParaRPr lang="en-US"/>
          </a:p>
        </p:txBody>
      </p:sp>
      <p:sp>
        <p:nvSpPr>
          <p:cNvPr id="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Illustrative operations ledger · current state and exception share one frame.</a:t>
            </a:r>
            <a:endParaRPr lang="en-US"/>
          </a:p>
        </p:txBody>
      </p:sp>
      <p:sp>
        <p:nvSpPr>
          <p:cNvPr id="10" name="evidence-read-scrim"/>
          <p:cNvSpPr/>
          <p:nvPr/>
        </p:nvSpPr>
        <p:spPr>
          <a:xfrm xmlns:a="http://schemas.openxmlformats.org/drawingml/2006/main">
            <a:off x="9525000" y="2857500"/>
            <a:ext cx="476250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0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graphicFrame>
        <p:nvGraphicFramePr>
          <p:cNvPr id="11" name="dense-prim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990600" y="3048000"/>
          <a:ext xmlns:a="http://schemas.openxmlformats.org/drawingml/2006/main" cx="628650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c9846deb41842fc"/>
          </a:graphicData>
        </a:graphic>
      </p:graphicFrame>
      <p:graphicFrame>
        <p:nvGraphicFramePr>
          <p:cNvPr id="12" name="dense-secondary-chart"/>
          <p:cNvGraphicFramePr>
            <a:graphicFrameLocks xmlns:a="http://schemas.openxmlformats.org/drawingml/2006/main" noGrp="1"/>
          </p:cNvGraphicFramePr>
          <p:nvPr/>
        </p:nvGraphicFramePr>
        <p:xfrm>
          <a:off xmlns:a="http://schemas.openxmlformats.org/drawingml/2006/main" x="7658100" y="3048000"/>
          <a:ext xmlns:a="http://schemas.openxmlformats.org/drawingml/2006/main" cx="3143250" cy="2952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5e39468ffb4b01"/>
          </a:graphicData>
        </a:graphic>
      </p:graphicFrame>
      <p:sp>
        <p:nvSpPr>
          <p:cNvPr id="13" name="dense-read-rule"/>
          <p:cNvSpPr/>
          <p:nvPr/>
        </p:nvSpPr>
        <p:spPr>
          <a:xfrm xmlns:a="http://schemas.openxmlformats.org/drawingml/2006/main">
            <a:off x="11315700" y="3314700"/>
            <a:ext cx="2686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dense-read-label"/>
          <p:cNvSpPr txBox="1"/>
          <p:nvPr/>
        </p:nvSpPr>
        <p:spPr>
          <a:xfrm xmlns:a="http://schemas.openxmlformats.org/drawingml/2006/main">
            <a:off x="11315700" y="3543300"/>
            <a:ext cx="2667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READ-THROUGH</a:t>
            </a:r>
            <a:endParaRPr lang="en-US"/>
          </a:p>
        </p:txBody>
      </p:sp>
      <p:sp>
        <p:nvSpPr>
          <p:cNvPr id="15" name="dense-read-title"/>
          <p:cNvSpPr txBox="1"/>
          <p:nvPr/>
        </p:nvSpPr>
        <p:spPr>
          <a:xfrm xmlns:a="http://schemas.openxmlformats.org/drawingml/2006/main">
            <a:off x="11315700" y="4000500"/>
            <a:ext cx="266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725" b="1">
                <a:solidFill>
                  <a:srgbClr val="1D2330"/>
                </a:solidFill>
                <a:latin typeface="Arial"/>
                <a:ea typeface="Arial"/>
              </a:rPr>
              <a:t>The signal earns its space.</a:t>
            </a:r>
            <a:endParaRPr lang="en-US"/>
          </a:p>
        </p:txBody>
      </p:sp>
      <p:sp>
        <p:nvSpPr>
          <p:cNvPr id="16" name="dense-read-body"/>
          <p:cNvSpPr txBox="1"/>
          <p:nvPr/>
        </p:nvSpPr>
        <p:spPr>
          <a:xfrm xmlns:a="http://schemas.openxmlformats.org/drawingml/2006/main">
            <a:off x="11315700" y="4953000"/>
            <a:ext cx="26670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93959C"/>
                </a:solidFill>
                <a:latin typeface="Arial"/>
                <a:ea typeface="Arial"/>
              </a:rPr>
              <a:t>Every mark answers the page's question; remove anything that does not.</a:t>
            </a:r>
            <a:endParaRPr lang="en-US"/>
          </a:p>
        </p:txBody>
      </p:sp>
      <p:sp>
        <p:nvSpPr>
          <p:cNvPr id="17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0">
            <a:solidFill>
              <a:srgbClr val="F3F5F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1D2330"/>
                </a:solidFill>
                <a:latin typeface="Arial"/>
                <a:ea typeface="Arial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3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59ee3aa5202fd02f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4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MOONLIT WORK REPORT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DETAIL</a:t>
            </a:r>
            <a:endParaRPr lang="en-US"/>
          </a:p>
        </p:txBody>
      </p:sp>
      <p:sp>
        <p:nvSpPr>
          <p:cNvPr id="7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The gap becomes useful when it has an owner</a:t>
            </a:r>
            <a:endParaRPr lang="en-US"/>
          </a:p>
        </p:txBody>
      </p:sp>
      <p:sp>
        <p:nvSpPr>
          <p:cNvPr id="8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Target, current state and exception share a single operating frame.</a:t>
            </a:r>
            <a:endParaRPr lang="en-US"/>
          </a:p>
        </p:txBody>
      </p:sp>
      <p:sp>
        <p:nvSpPr>
          <p:cNvPr id="9" name="operating-label-0"/>
          <p:cNvSpPr txBox="1"/>
          <p:nvPr/>
        </p:nvSpPr>
        <p:spPr>
          <a:xfrm xmlns:a="http://schemas.openxmlformats.org/drawingml/2006/main">
            <a:off x="11049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NOW</a:t>
            </a:r>
            <a:endParaRPr lang="en-US"/>
          </a:p>
        </p:txBody>
      </p:sp>
      <p:sp>
        <p:nvSpPr>
          <p:cNvPr id="10" name="operating-bar-0"/>
          <p:cNvSpPr/>
          <p:nvPr/>
        </p:nvSpPr>
        <p:spPr>
          <a:xfrm xmlns:a="http://schemas.openxmlformats.org/drawingml/2006/main">
            <a:off x="11049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operating-fill-0"/>
          <p:cNvSpPr/>
          <p:nvPr/>
        </p:nvSpPr>
        <p:spPr>
          <a:xfrm xmlns:a="http://schemas.openxmlformats.org/drawingml/2006/main">
            <a:off x="1104900" y="3848100"/>
            <a:ext cx="11334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operating-value-0"/>
          <p:cNvSpPr txBox="1"/>
          <p:nvPr/>
        </p:nvSpPr>
        <p:spPr>
          <a:xfrm xmlns:a="http://schemas.openxmlformats.org/drawingml/2006/main">
            <a:off x="11049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54%</a:t>
            </a:r>
            <a:endParaRPr lang="en-US"/>
          </a:p>
        </p:txBody>
      </p:sp>
      <p:sp>
        <p:nvSpPr>
          <p:cNvPr id="13" name="operating-label-1"/>
          <p:cNvSpPr txBox="1"/>
          <p:nvPr/>
        </p:nvSpPr>
        <p:spPr>
          <a:xfrm xmlns:a="http://schemas.openxmlformats.org/drawingml/2006/main">
            <a:off x="379095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TARGET</a:t>
            </a:r>
            <a:endParaRPr lang="en-US"/>
          </a:p>
        </p:txBody>
      </p:sp>
      <p:sp>
        <p:nvSpPr>
          <p:cNvPr id="14" name="operating-bar-1"/>
          <p:cNvSpPr/>
          <p:nvPr/>
        </p:nvSpPr>
        <p:spPr>
          <a:xfrm xmlns:a="http://schemas.openxmlformats.org/drawingml/2006/main">
            <a:off x="379095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5" name="operating-fill-1"/>
          <p:cNvSpPr/>
          <p:nvPr/>
        </p:nvSpPr>
        <p:spPr>
          <a:xfrm xmlns:a="http://schemas.openxmlformats.org/drawingml/2006/main">
            <a:off x="3790950" y="3848100"/>
            <a:ext cx="15906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E9B74"/>
          </a:solidFill>
          <a:ln xmlns:a="http://schemas.openxmlformats.org/drawingml/2006/main" w="0">
            <a:solidFill>
              <a:srgbClr val="4E9B7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operating-value-1"/>
          <p:cNvSpPr txBox="1"/>
          <p:nvPr/>
        </p:nvSpPr>
        <p:spPr>
          <a:xfrm xmlns:a="http://schemas.openxmlformats.org/drawingml/2006/main">
            <a:off x="379095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76%</a:t>
            </a:r>
            <a:endParaRPr lang="en-US"/>
          </a:p>
        </p:txBody>
      </p:sp>
      <p:sp>
        <p:nvSpPr>
          <p:cNvPr id="17" name="operating-label-2"/>
          <p:cNvSpPr txBox="1"/>
          <p:nvPr/>
        </p:nvSpPr>
        <p:spPr>
          <a:xfrm xmlns:a="http://schemas.openxmlformats.org/drawingml/2006/main">
            <a:off x="6477000" y="33337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93959C"/>
                </a:solidFill>
                <a:latin typeface="Arial"/>
                <a:ea typeface="Arial"/>
              </a:rPr>
              <a:t>GAP</a:t>
            </a:r>
            <a:endParaRPr lang="en-US"/>
          </a:p>
        </p:txBody>
      </p:sp>
      <p:sp>
        <p:nvSpPr>
          <p:cNvPr id="18" name="operating-bar-2"/>
          <p:cNvSpPr/>
          <p:nvPr/>
        </p:nvSpPr>
        <p:spPr>
          <a:xfrm xmlns:a="http://schemas.openxmlformats.org/drawingml/2006/main">
            <a:off x="6477000" y="3848100"/>
            <a:ext cx="2095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3F5F8"/>
          </a:solidFill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9" name="operating-fill-2"/>
          <p:cNvSpPr/>
          <p:nvPr/>
        </p:nvSpPr>
        <p:spPr>
          <a:xfrm xmlns:a="http://schemas.openxmlformats.org/drawingml/2006/main">
            <a:off x="6477000" y="3848100"/>
            <a:ext cx="4572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/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operating-value-2"/>
          <p:cNvSpPr txBox="1"/>
          <p:nvPr/>
        </p:nvSpPr>
        <p:spPr>
          <a:xfrm xmlns:a="http://schemas.openxmlformats.org/drawingml/2006/main">
            <a:off x="6477000" y="4400550"/>
            <a:ext cx="2095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250" b="1">
                <a:solidFill>
                  <a:srgbClr val="1D2330"/>
                </a:solidFill>
                <a:latin typeface="Arial"/>
                <a:ea typeface="Arial"/>
              </a:rPr>
              <a:t>22%</a:t>
            </a:r>
            <a:endParaRPr lang="en-US"/>
          </a:p>
        </p:txBody>
      </p:sp>
      <p:sp>
        <p:nvSpPr>
          <p:cNvPr id="21" name="operating-axis"/>
          <p:cNvSpPr/>
          <p:nvPr/>
        </p:nvSpPr>
        <p:spPr>
          <a:xfrm xmlns:a="http://schemas.openxmlformats.org/drawingml/2006/main">
            <a:off x="1104900" y="5334000"/>
            <a:ext cx="74866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operating-read"/>
          <p:cNvSpPr txBox="1"/>
          <p:nvPr/>
        </p:nvSpPr>
        <p:spPr>
          <a:xfrm xmlns:a="http://schemas.openxmlformats.org/drawingml/2006/main">
            <a:off x="1104900" y="5657850"/>
            <a:ext cx="7524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 b="1">
                <a:solidFill>
                  <a:srgbClr val="1D2330"/>
                </a:solidFill>
                <a:latin typeface="Arial"/>
                <a:ea typeface="Arial"/>
              </a:rPr>
              <a:t>Status is useful only when the next handoff is visible.</a:t>
            </a:r>
            <a:endParaRPr lang="en-US"/>
          </a:p>
        </p:txBody>
      </p:sp>
      <p:sp>
        <p:nvSpPr>
          <p:cNvPr id="23" name="operating-note-label"/>
          <p:cNvSpPr txBox="1"/>
          <p:nvPr/>
        </p:nvSpPr>
        <p:spPr>
          <a:xfrm xmlns:a="http://schemas.openxmlformats.org/drawingml/2006/main">
            <a:off x="10287000" y="3333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8B6BE8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24" name="operating-note"/>
          <p:cNvSpPr txBox="1"/>
          <p:nvPr/>
        </p:nvSpPr>
        <p:spPr>
          <a:xfrm xmlns:a="http://schemas.openxmlformats.org/drawingml/2006/main">
            <a:off x="10287000" y="3829050"/>
            <a:ext cx="31432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1D2330"/>
                </a:solidFill>
                <a:latin typeface="Arial"/>
                <a:ea typeface="Arial"/>
              </a:rPr>
              <a:t>The gap is not a decoration; it is the work.</a:t>
            </a:r>
            <a:endParaRPr lang="en-US"/>
          </a:p>
        </p:txBody>
      </p:sp>
      <p:sp>
        <p:nvSpPr>
          <p:cNvPr id="25" name="operating-note-foot"/>
          <p:cNvSpPr txBox="1"/>
          <p:nvPr/>
        </p:nvSpPr>
        <p:spPr>
          <a:xfrm xmlns:a="http://schemas.openxmlformats.org/drawingml/2006/main">
            <a:off x="10287000" y="5010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93959C"/>
                </a:solidFill>
                <a:latin typeface="Arial"/>
                <a:ea typeface="Arial"/>
              </a:rPr>
              <a:t>A healthy page names the owner and the next date.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7b73f8fac405495_1"/>
          <a:srcRect xmlns:a="http://schemas.openxmlformats.org/drawingml/2006/main" l="0" t="34171" r="0" b="341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4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MOONLIT WORK REPORT · VISUAL CARRIER</a:t>
            </a:r>
            <a:endParaRPr lang="en-US"/>
          </a:p>
        </p:txBody>
      </p:sp>
      <p:sp>
        <p:nvSpPr>
          <p:cNvPr id="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1D2330"/>
                </a:solidFill>
                <a:latin typeface="Arial"/>
                <a:ea typeface="Arial"/>
              </a:rPr>
              <a:t>Show the operating shape</a:t>
            </a:r>
            <a:endParaRPr lang="en-US"/>
          </a:p>
        </p:txBody>
      </p:sp>
      <p:sp>
        <p:nvSpPr>
          <p:cNvPr id="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1D2330"/>
                </a:solidFill>
                <a:latin typeface="Arial"/>
                <a:ea typeface="Arial"/>
              </a:rPr>
              <a:t>The image carries context; the page names the move.</a:t>
            </a:r>
            <a:endParaRPr lang="en-US"/>
          </a:p>
        </p:txBody>
      </p:sp>
      <p:sp>
        <p:nvSpPr>
          <p:cNvPr id="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8B6BE8"/>
                </a:solidFill>
                <a:latin typeface="Arial"/>
                <a:ea typeface="Arial"/>
              </a:rPr>
              <a:t>THE IMAGE IS EVIDENCE, NOT FILL</a:t>
            </a:r>
            <a:endParaRPr lang="en-US"/>
          </a:p>
        </p:txBody>
      </p:sp>
      <p:sp>
        <p:nvSpPr>
          <p:cNvPr id="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1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pic>
        <p:nvPicPr>
          <p:cNvPr id="2" name="close-visual-fiel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34180" r="0" b="34180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</p:spPr>
      </p:pic>
      <p:sp>
        <p:nvSpPr>
          <p:cNvPr id="3" name="close-paper-scrim"/>
          <p:cNvSpPr/>
          <p:nvPr/>
        </p:nvSpPr>
        <p:spPr>
          <a:xfrm xmlns:a="http://schemas.openxmlformats.org/drawingml/2006/main">
            <a:off x="0" y="0"/>
            <a:ext cx="7429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>
              <a:alpha val="96000"/>
            </a:srgbClr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pic>
        <p:nvPicPr>
          <p:cNvPr id="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71bfa074cda59bb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2330">
              <a:alpha val="62000"/>
            </a:srgbClr>
          </a:solidFill>
          <a:ln xmlns:a="http://schemas.openxmlformats.org/drawingml/2006/main" w="0">
            <a:solidFill>
              <a:srgbClr val="1D2330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MOONLIT WORK REPORT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8B6BE8"/>
                </a:solidFill>
                <a:latin typeface="Arial"/>
                <a:ea typeface="Arial"/>
              </a:rPr>
              <a:t>MOONLIT WORK REPORT · CLOSE</a:t>
            </a:r>
            <a:endParaRPr lang="en-US"/>
          </a:p>
        </p:txBody>
      </p:sp>
      <p:sp>
        <p:nvSpPr>
          <p:cNvPr id="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Arial"/>
                <a:ea typeface="Arial"/>
              </a:rPr>
              <a:t>Name the owner and next date</a:t>
            </a:r>
            <a:endParaRPr lang="en-US"/>
          </a:p>
        </p:txBody>
      </p:sp>
      <p:sp>
        <p:nvSpPr>
          <p:cNvPr id="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Arial"/>
                <a:ea typeface="Arial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1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01</a:t>
            </a:r>
            <a:endParaRPr lang="en-US"/>
          </a:p>
        </p:txBody>
      </p:sp>
      <p:sp>
        <p:nvSpPr>
          <p:cNvPr id="1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Status</a:t>
            </a:r>
            <a:endParaRPr lang="en-US"/>
          </a:p>
        </p:txBody>
      </p:sp>
      <p:sp>
        <p:nvSpPr>
          <p:cNvPr id="1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queue is on target.</a:t>
            </a:r>
            <a:endParaRPr lang="en-US"/>
          </a:p>
        </p:txBody>
      </p:sp>
      <p:sp>
        <p:nvSpPr>
          <p:cNvPr id="1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1D2330"/>
                </a:solidFill>
                <a:latin typeface="Arial"/>
                <a:ea typeface="Arial"/>
              </a:rPr>
              <a:t>02</a:t>
            </a:r>
            <a:endParaRPr lang="en-US"/>
          </a:p>
        </p:txBody>
      </p:sp>
      <p:sp>
        <p:nvSpPr>
          <p:cNvPr id="1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93959C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Exception</a:t>
            </a:r>
            <a:endParaRPr lang="en-US"/>
          </a:p>
        </p:txBody>
      </p:sp>
      <p:sp>
        <p:nvSpPr>
          <p:cNvPr id="1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The handoff is the constraint.</a:t>
            </a:r>
            <a:endParaRPr lang="en-US"/>
          </a:p>
        </p:txBody>
      </p:sp>
      <p:sp>
        <p:nvSpPr>
          <p:cNvPr id="1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8B6BE8"/>
                </a:solidFill>
                <a:latin typeface="Arial"/>
                <a:ea typeface="Arial"/>
              </a:rPr>
              <a:t>03</a:t>
            </a:r>
            <a:endParaRPr lang="en-US"/>
          </a:p>
        </p:txBody>
      </p:sp>
      <p:sp>
        <p:nvSpPr>
          <p:cNvPr id="1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1D2330"/>
                </a:solidFill>
                <a:latin typeface="Arial"/>
                <a:ea typeface="Arial"/>
              </a:rPr>
              <a:t>Next</a:t>
            </a:r>
            <a:endParaRPr lang="en-US"/>
          </a:p>
        </p:txBody>
      </p:sp>
      <p:sp>
        <p:nvSpPr>
          <p:cNvPr id="2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1D2330"/>
                </a:solidFill>
                <a:latin typeface="Arial"/>
                <a:ea typeface="Arial"/>
              </a:rPr>
              <a:t>Name the owner today.</a:t>
            </a:r>
            <a:endParaRPr lang="en-US"/>
          </a:p>
        </p:txBody>
      </p:sp>
      <p:sp>
        <p:nvSpPr>
          <p:cNvPr id="22" name="next-panel"/>
          <p:cNvSpPr/>
          <p:nvPr/>
        </p:nvSpPr>
        <p:spPr>
          <a:xfrm xmlns:a="http://schemas.openxmlformats.org/drawingml/2006/main">
            <a:off x="10668000" y="3238500"/>
            <a:ext cx="3238500" cy="2190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B6BE8"/>
          </a:solidFill>
          <a:ln xmlns:a="http://schemas.openxmlformats.org/drawingml/2006/main" w="0">
            <a:solidFill>
              <a:srgbClr val="8B6BE8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3" name="next-label"/>
          <p:cNvSpPr txBox="1"/>
          <p:nvPr/>
        </p:nvSpPr>
        <p:spPr>
          <a:xfrm xmlns:a="http://schemas.openxmlformats.org/drawingml/2006/main">
            <a:off x="11049000" y="35623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FFFFFF"/>
                </a:solidFill>
                <a:latin typeface="Arial"/>
                <a:ea typeface="Arial"/>
              </a:rPr>
              <a:t>NEXT MOVE</a:t>
            </a:r>
            <a:endParaRPr lang="en-US"/>
          </a:p>
        </p:txBody>
      </p:sp>
      <p:sp>
        <p:nvSpPr>
          <p:cNvPr id="24" name="next-text"/>
          <p:cNvSpPr txBox="1"/>
          <p:nvPr/>
        </p:nvSpPr>
        <p:spPr>
          <a:xfrm xmlns:a="http://schemas.openxmlformats.org/drawingml/2006/main">
            <a:off x="11049000" y="403860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FFFFF"/>
                </a:solidFill>
                <a:latin typeface="Arial"/>
                <a:ea typeface="Arial"/>
              </a:rPr>
              <a:t>Assign the handoff</a:t>
            </a:r>
            <a:endParaRPr lang="en-US"/>
          </a:p>
        </p:txBody>
      </p:sp>
      <p:sp>
        <p:nvSpPr>
          <p:cNvPr id="25" name="next-foot"/>
          <p:cNvSpPr txBox="1"/>
          <p:nvPr/>
        </p:nvSpPr>
        <p:spPr>
          <a:xfrm xmlns:a="http://schemas.openxmlformats.org/drawingml/2006/main">
            <a:off x="11049000" y="504825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FFFFFF"/>
                </a:solidFill>
                <a:latin typeface="Arial"/>
                <a:ea typeface="Arial"/>
              </a:rPr>
              <a:t>Owner · reviewer · date</a:t>
            </a:r>
            <a:endParaRPr lang="en-US"/>
          </a:p>
        </p:txBody>
      </p:sp>
      <p:sp>
        <p:nvSpPr>
          <p:cNvPr id="2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2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93959C"/>
                </a:solidFill>
                <a:latin typeface="Arial"/>
                <a:ea typeface="Arial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