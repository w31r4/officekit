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jpg" ContentType="image/jpeg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Masters/theme/theme1.xml" ContentType="application/vnd.openxmlformats-officedocument.theme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36e778923422443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IdMaster1"/>
  </p:sldMasterIdLst>
  <p:sldIdLst>
    <p:sldId xmlns:r="http://schemas.openxmlformats.org/officeDocument/2006/relationships" id="256" r:id="rIdSlide1"/>
    <p:sldId xmlns:r="http://schemas.openxmlformats.org/officeDocument/2006/relationships" id="257" r:id="rIdSlide2"/>
    <p:sldId xmlns:r="http://schemas.openxmlformats.org/officeDocument/2006/relationships" id="258" r:id="rIdSlide3"/>
    <p:sldId xmlns:r="http://schemas.openxmlformats.org/officeDocument/2006/relationships" id="259" r:id="rIdSlide4"/>
    <p:sldId xmlns:r="http://schemas.openxmlformats.org/officeDocument/2006/relationships" id="260" r:id="rIdSlide5"/>
    <p:sldId xmlns:r="http://schemas.openxmlformats.org/officeDocument/2006/relationships" id="261" r:id="rIdSlide6"/>
  </p:sldIdLst>
  <p:sldSz cx="15240000" cy="8572500"/>
  <p:notesSz cx="6858000" cy="9144000"/>
  <p:defaultTextStyle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Relationship Type="http://schemas.openxmlformats.org/officeDocument/2006/relationships/slide" Target="/ppt/slides/slide1.xml" Id="rIdSlide1" /><Relationship Type="http://schemas.openxmlformats.org/officeDocument/2006/relationships/slide" Target="/ppt/slides/slide2.xml" Id="rIdSlide2" /><Relationship Type="http://schemas.openxmlformats.org/officeDocument/2006/relationships/slide" Target="/ppt/slides/slide3.xml" Id="rIdSlide3" /><Relationship Type="http://schemas.openxmlformats.org/officeDocument/2006/relationships/slide" Target="/ppt/slides/slide4.xml" Id="rIdSlide4" /><Relationship Type="http://schemas.openxmlformats.org/officeDocument/2006/relationships/slide" Target="/ppt/slides/slide5.xml" Id="rIdSlide5" /><Relationship Type="http://schemas.openxmlformats.org/officeDocument/2006/relationships/slide" Target="/ppt/slides/slide6.xml" Id="rIdSlide6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IdMaster1" /></Relationships>
</file>

<file path=ppt/slideLayouts/slideLayout1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1.xml" Id="rIdTheme1" /><Relationship Type="http://schemas.openxmlformats.org/officeDocument/2006/relationships/slideLayout" Target="/ppt/slideLayouts/slideLayout1.xml" Id="rIdLayout1" /></Relationships>
</file>

<file path=ppt/slideMasters/slideMaster1.xml><?xml version="1.0" encoding="utf-8"?>
<p:sldMaster xmlns:p="http://schemas.openxmlformats.org/presentationml/2006/main">
  <p:cSld name="Default Master">
    <p:bg>
      <p:bgPr>
        <a:solidFill xmlns:a="http://schemas.openxmlformats.org/drawingml/2006/main">
          <a:srgbClr val="FFFFFF"/>
        </a:solidFill>
        <a:effectLst xmlns:a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IdLayout1"/>
  </p:sldLayoutIdLst>
  <p:txStyles>
    <p:titleStyle/>
    <p:bodyStyle/>
    <p:otherStyle/>
  </p:txStyles>
</p:sldMaster>
</file>

<file path=ppt/slideMasters/theme/theme1.xml><?xml version="1.0" encoding="utf-8"?>
<a:theme xmlns:a="http://schemas.openxmlformats.org/drawingml/2006/main" name="Office Clean Room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5c00489db854fa2_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.jpg" Id="rIdOfficeKitImagea68aebf613832e5f_1" /><Relationship Type="http://schemas.openxmlformats.org/officeDocument/2006/relationships/image" Target="/ppt/media/image3.jpg" Id="rIdOfficeKitImagee231e9493e535fbe_1" /><Relationship Type="http://schemas.openxmlformats.org/officeDocument/2006/relationships/image" Target="/ppt/media/image4.jpg" Id="rIdOfficeKitImageb5a7d66fe0ba8bb7_1" /><Relationship Type="http://schemas.openxmlformats.org/officeDocument/2006/relationships/image" Target="/ppt/media/image5.jpg" Id="rIdOfficeKitImage84ff976f39aab728_1" /><Relationship Type="http://schemas.openxmlformats.org/officeDocument/2006/relationships/image" Target="/ppt/media/image6.jpg" Id="rIdOfficeKitImagefdea69a11126d29b_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7.jpg" Id="rIdOfficeKitImagedf986129197cef3b_1" /><Relationship Type="http://schemas.openxmlformats.org/officeDocument/2006/relationships/image" Target="/ppt/media/image8.jpg" Id="rIdOfficeKitImageb4650c5e003a270c_1" /><Relationship Type="http://schemas.openxmlformats.org/officeDocument/2006/relationships/image" Target="/ppt/media/image9.jpg" Id="rIdOfficeKitImage6a3db1fe43260f32_1" /><Relationship Type="http://schemas.openxmlformats.org/officeDocument/2006/relationships/image" Target="/ppt/media/image10.jpg" Id="rIdOfficeKitImagef4419f659ab3f590_1" /><Relationship Type="http://schemas.openxmlformats.org/officeDocument/2006/relationships/image" Target="/ppt/media/image11.jpg" Id="rIdOfficeKitImagee307d6c31b3d1e07_1" /><Relationship Type="http://schemas.openxmlformats.org/officeDocument/2006/relationships/image" Target="/ppt/media/image12.jpg" Id="rIdOfficeKitImagecb4e39f1eccfa545_1" /><Relationship Type="http://schemas.openxmlformats.org/officeDocument/2006/relationships/image" Target="/ppt/media/image13.jpg" Id="rIdOfficeKitImage10e4539a68783891_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14.jpg" Id="rIdOfficeKitImagee977612ad933c986_1" /><Relationship Type="http://schemas.openxmlformats.org/officeDocument/2006/relationships/image" Target="/ppt/media/image15.jpg" Id="rIdOfficeKitImagec49ddd99c59beda0_1" /><Relationship Type="http://schemas.openxmlformats.org/officeDocument/2006/relationships/image" Target="/ppt/media/image16.jpg" Id="rIdOfficeKitImage6785cc6781fd2511_1" /><Relationship Type="http://schemas.openxmlformats.org/officeDocument/2006/relationships/image" Target="/ppt/media/image17.jpg" Id="rIdOfficeKitImagefb0d559f34167a51_1" /><Relationship Type="http://schemas.openxmlformats.org/officeDocument/2006/relationships/image" Target="/ppt/media/image18.jpg" Id="rIdOfficeKitImaged96cedd8678b85ac_1" /><Relationship Type="http://schemas.openxmlformats.org/officeDocument/2006/relationships/image" Target="/ppt/media/image19.jpg" Id="rIdOfficeKitImage35d943dc999c7d05_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20.jpg" Id="rIdOfficeKitImage06e55191024fa458_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IdLayout1" /><Relationship Type="http://schemas.openxmlformats.org/officeDocument/2006/relationships/image" Target="/ppt/media/image.jpg" Id="rIdOfficeKitImagea5c00489db854fa2_1" /><Relationship Type="http://schemas.openxmlformats.org/officeDocument/2006/relationships/image" Target="/ppt/media/image2.jpg" Id="rIdOfficeKitImagea68aebf613832e5f_1" /></Relationships>
</file>

<file path=ppt/slides/slide1.xml><?xml version="1.0" encoding="utf-8"?>
<p:sld xmlns:p="http://schemas.openxmlformats.org/presentationml/2006/main">
  <p:cSld name="Opening claim">
    <p:bg>
      <p:bgPr>
        <a:blipFill xmlns:a="http://schemas.openxmlformats.org/drawingml/2006/main">
          <a:blip xmlns:r="http://schemas.openxmlformats.org/officeDocument/2006/relationships" r:embed="rIdOfficeKitImagea5c00489db854fa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ditorial-cover-scrim"/>
          <p:cNvSpPr/>
          <p:nvPr/>
        </p:nvSpPr>
        <p:spPr>
          <a:xfrm xmlns:a="http://schemas.openxmlformats.org/drawingml/2006/main">
            <a:off x="0" y="0"/>
            <a:ext cx="7239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4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eyebrow"/>
          <p:cNvSpPr txBox="1"/>
          <p:nvPr/>
        </p:nvSpPr>
        <p:spPr>
          <a:xfrm xmlns:a="http://schemas.openxmlformats.org/drawingml/2006/main">
            <a:off x="914400" y="800100"/>
            <a:ext cx="7048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PROMOTION · OFFICEKIT CALIBRATION</a:t>
            </a:r>
            <a:endParaRPr lang="en-US"/>
          </a:p>
        </p:txBody>
      </p:sp>
      <p:sp>
        <p:nvSpPr>
          <p:cNvPr id="4" name="cover-title"/>
          <p:cNvSpPr txBox="1"/>
          <p:nvPr/>
        </p:nvSpPr>
        <p:spPr>
          <a:xfrm xmlns:a="http://schemas.openxmlformats.org/drawingml/2006/main">
            <a:off x="914400" y="1962150"/>
            <a:ext cx="5810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900" b="1">
                <a:solidFill>
                  <a:srgbClr val="F2F0EA"/>
                </a:solidFill>
                <a:latin typeface="Inter"/>
                <a:ea typeface="Inter"/>
              </a:rPr>
              <a:t>Noir Field Pictorial: a claim worth testing</a:t>
            </a:r>
            <a:endParaRPr lang="en-US"/>
          </a:p>
        </p:txBody>
      </p:sp>
      <p:sp>
        <p:nvSpPr>
          <p:cNvPr id="5" name="cover-subtitle"/>
          <p:cNvSpPr txBox="1"/>
          <p:nvPr/>
        </p:nvSpPr>
        <p:spPr>
          <a:xfrm xmlns:a="http://schemas.openxmlformats.org/drawingml/2006/main">
            <a:off x="952500" y="3638550"/>
            <a:ext cx="533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>
                <a:solidFill>
                  <a:srgbClr val="F2F0EA"/>
                </a:solidFill>
                <a:latin typeface="Inter"/>
                <a:ea typeface="Inter"/>
              </a:rPr>
              <a:t>A clean-room reference for a visual proposition.</a:t>
            </a:r>
            <a:endParaRPr lang="en-US"/>
          </a:p>
        </p:txBody>
      </p:sp>
      <p:sp>
        <p:nvSpPr>
          <p:cNvPr id="6" name="cover-photo-rule"/>
          <p:cNvSpPr/>
          <p:nvPr/>
        </p:nvSpPr>
        <p:spPr>
          <a:xfrm xmlns:a="http://schemas.openxmlformats.org/drawingml/2006/main">
            <a:off x="914400" y="4533900"/>
            <a:ext cx="4895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cover-thesis"/>
          <p:cNvSpPr txBox="1"/>
          <p:nvPr/>
        </p:nvSpPr>
        <p:spPr>
          <a:xfrm xmlns:a="http://schemas.openxmlformats.org/drawingml/2006/main">
            <a:off x="952500" y="4895850"/>
            <a:ext cx="571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950" b="1">
                <a:solidFill>
                  <a:srgbClr val="F2F0EA"/>
                </a:solidFill>
                <a:latin typeface="Inter"/>
                <a:ea typeface="Inter"/>
              </a:rPr>
              <a:t>A proposition earns attention when it gives a next move.</a:t>
            </a:r>
            <a:endParaRPr lang="en-US"/>
          </a:p>
        </p:txBody>
      </p:sp>
      <p:sp>
        <p:nvSpPr>
          <p:cNvPr id="8" name="cover-source"/>
          <p:cNvSpPr txBox="1"/>
          <p:nvPr/>
        </p:nvSpPr>
        <p:spPr>
          <a:xfrm xmlns:a="http://schemas.openxmlformats.org/drawingml/2006/main">
            <a:off x="952500" y="7334250"/>
            <a:ext cx="904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F2F0EA"/>
                </a:solidFill>
                <a:latin typeface="Inter"/>
                <a:ea typeface="Inter"/>
              </a:rPr>
              <a:t>OfficeKit original clean-room calibration · fictional content · 2026-08-29</a:t>
            </a:r>
            <a:endParaRPr lang="en-US"/>
          </a:p>
        </p:txBody>
      </p:sp>
      <p:sp>
        <p:nvSpPr>
          <p:cNvPr id="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F2F0EA"/>
                </a:solidFill>
                <a:latin typeface="Inter"/>
                <a:ea typeface="Inter"/>
              </a:rPr>
              <a:t>1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2.xml><?xml version="1.0" encoding="utf-8"?>
<p:sld xmlns:p="http://schemas.openxmlformats.org/presentationml/2006/main">
  <p:cSld name="Argument">
    <p:bg>
      <p:bgPr>
        <a:blipFill xmlns:a="http://schemas.openxmlformats.org/drawingml/2006/main">
          <a:blip xmlns:r="http://schemas.openxmlformats.org/officeDocument/2006/relationships" r:embed="rIdOfficeKitImagea68aebf613832e5f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argument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argument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231e9493e535fbe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argument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argument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ARGUMENT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ARGUMENT</a:t>
            </a:r>
            <a:endParaRPr lang="en-US"/>
          </a:p>
        </p:txBody>
      </p:sp>
      <p:sp>
        <p:nvSpPr>
          <p:cNvPr id="18" name="argument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proposition is the page's visual center</a:t>
            </a:r>
            <a:endParaRPr lang="en-US"/>
          </a:p>
        </p:txBody>
      </p:sp>
      <p:sp>
        <p:nvSpPr>
          <p:cNvPr id="19" name="argument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Scale, crop, and color invite attention without hiding the evidence.</a:t>
            </a:r>
            <a:endParaRPr lang="en-US"/>
          </a:p>
        </p:txBody>
      </p:sp>
      <p:sp>
        <p:nvSpPr>
          <p:cNvPr id="20" name="promotion-kicker"/>
          <p:cNvSpPr txBox="1"/>
          <p:nvPr/>
        </p:nvSpPr>
        <p:spPr>
          <a:xfrm xmlns:a="http://schemas.openxmlformats.org/drawingml/2006/main">
            <a:off x="1104900" y="33528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ONE PROPOSITION</a:t>
            </a:r>
            <a:endParaRPr lang="en-US"/>
          </a:p>
        </p:txBody>
      </p:sp>
      <p:sp>
        <p:nvSpPr>
          <p:cNvPr id="21" name="promotion-headline"/>
          <p:cNvSpPr txBox="1"/>
          <p:nvPr/>
        </p:nvSpPr>
        <p:spPr>
          <a:xfrm xmlns:a="http://schemas.openxmlformats.org/drawingml/2006/main">
            <a:off x="1104900" y="3790950"/>
            <a:ext cx="64770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625" b="1">
                <a:solidFill>
                  <a:srgbClr val="F2F0EA"/>
                </a:solidFill>
                <a:latin typeface="Inter"/>
                <a:ea typeface="Inter"/>
              </a:rPr>
              <a:t>Make the next action visible.</a:t>
            </a:r>
            <a:endParaRPr lang="en-US"/>
          </a:p>
        </p:txBody>
      </p:sp>
      <p:sp>
        <p:nvSpPr>
          <p:cNvPr id="22" name="promotion-body"/>
          <p:cNvSpPr txBox="1"/>
          <p:nvPr/>
        </p:nvSpPr>
        <p:spPr>
          <a:xfrm xmlns:a="http://schemas.openxmlformats.org/drawingml/2006/main">
            <a:off x="1104900" y="47625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575">
                <a:solidFill>
                  <a:srgbClr val="F2F0EA"/>
                </a:solidFill>
                <a:latin typeface="Inter"/>
                <a:ea typeface="Inter"/>
              </a:rPr>
              <a:t>A clear invitation earns attention when evidence and access arrive together.</a:t>
            </a:r>
            <a:endParaRPr lang="en-US"/>
          </a:p>
        </p:txBody>
      </p:sp>
      <p:pic>
        <p:nvPicPr>
          <p:cNvPr id="23" name="promotion-hero-fram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5a7d66fe0ba8bb7_1"/>
          <a:srcRect xmlns:a="http://schemas.openxmlformats.org/drawingml/2006/main" l="0" t="37411" r="0" b="3741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3143250"/>
            <a:ext cx="4000500" cy="1790700"/>
          </a:xfrm>
          <a:prstGeom xmlns:a="http://schemas.openxmlformats.org/drawingml/2006/main" prst="rect">
            <a:avLst/>
          </a:prstGeom>
        </p:spPr>
      </p:pic>
      <p:pic>
        <p:nvPicPr>
          <p:cNvPr id="24" name="promotion-detail-frame-one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84ff976f39aab728_1"/>
          <a:srcRect xmlns:a="http://schemas.openxmlformats.org/drawingml/2006/main" l="0" t="34406" r="0" b="3440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525000" y="5162550"/>
            <a:ext cx="1924050" cy="1066800"/>
          </a:xfrm>
          <a:prstGeom xmlns:a="http://schemas.openxmlformats.org/drawingml/2006/main" prst="rect">
            <a:avLst/>
          </a:prstGeom>
        </p:spPr>
      </p:pic>
      <p:pic>
        <p:nvPicPr>
          <p:cNvPr id="25" name="promotion-detail-frame-two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dea69a11126d29b_1"/>
          <a:srcRect xmlns:a="http://schemas.openxmlformats.org/drawingml/2006/main" l="0" t="34394" r="0" b="34394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1601450" y="5162550"/>
            <a:ext cx="1924050" cy="1066800"/>
          </a:xfrm>
          <a:prstGeom xmlns:a="http://schemas.openxmlformats.org/drawingml/2006/main" prst="rect">
            <a:avLst/>
          </a:prstGeom>
        </p:spPr>
      </p:pic>
      <p:sp>
        <p:nvSpPr>
          <p:cNvPr id="26" name="promotion-image-rule"/>
          <p:cNvSpPr/>
          <p:nvPr/>
        </p:nvSpPr>
        <p:spPr>
          <a:xfrm xmlns:a="http://schemas.openxmlformats.org/drawingml/2006/main">
            <a:off x="9525000" y="6438900"/>
            <a:ext cx="4000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7" name="promotion-image-label"/>
          <p:cNvSpPr txBox="1"/>
          <p:nvPr/>
        </p:nvSpPr>
        <p:spPr>
          <a:xfrm xmlns:a="http://schemas.openxmlformats.org/drawingml/2006/main">
            <a:off x="9525000" y="66675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D53A45"/>
                </a:solidFill>
                <a:latin typeface="Inter"/>
                <a:ea typeface="Inter"/>
              </a:rPr>
              <a:t>INVITE · PROVE · MOVE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1050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every claim is fictional and bounded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1050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2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3.xml><?xml version="1.0" encoding="utf-8"?>
<p:sld xmlns:p="http://schemas.openxmlformats.org/presentationml/2006/main">
  <p:cSld name="Evidence">
    <p:bg>
      <p:bgPr>
        <a:blipFill xmlns:a="http://schemas.openxmlformats.org/drawingml/2006/main">
          <a:blip xmlns:r="http://schemas.openxmlformats.org/officeDocument/2006/relationships" r:embed="rIdOfficeKitImagedf986129197cef3b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evidenc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evidenc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b4650c5e003a270c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evidenc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evidenc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EVIDENC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EVIDENCE</a:t>
            </a:r>
            <a:endParaRPr lang="en-US"/>
          </a:p>
        </p:txBody>
      </p:sp>
      <p:sp>
        <p:nvSpPr>
          <p:cNvPr id="18" name="evidenc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signal grows when the invitation stays measurable</a:t>
            </a:r>
            <a:endParaRPr lang="en-US"/>
          </a:p>
        </p:txBody>
      </p:sp>
      <p:sp>
        <p:nvSpPr>
          <p:cNvPr id="19" name="evidenc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Illustrative reach and response · source and measurement convention remain attached.</a:t>
            </a:r>
            <a:endParaRPr lang="en-US"/>
          </a:p>
        </p:txBody>
      </p:sp>
      <p:pic>
        <p:nvPicPr>
          <p:cNvPr id="20" name="evidence-matrix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a3db1fe43260f32_1"/>
          <a:srcRect xmlns:a="http://schemas.openxmlformats.org/drawingml/2006/main" l="0" t="30742" r="0" b="30742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1066800" y="3333750"/>
            <a:ext cx="3619500" cy="2476500"/>
          </a:xfrm>
          <a:prstGeom xmlns:a="http://schemas.openxmlformats.org/drawingml/2006/main" prst="rect">
            <a:avLst/>
          </a:prstGeom>
        </p:spPr>
      </p:pic>
      <p:pic>
        <p:nvPicPr>
          <p:cNvPr id="21" name="evidence-matrix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4419f659ab3f590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2" name="evidence-matrix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307d6c31b3d1e07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333375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3" name="evidence-matrix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b4e39f1eccfa545_1"/>
          <a:srcRect xmlns:a="http://schemas.openxmlformats.org/drawingml/2006/main" l="0" t="31927" r="0" b="3192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648200"/>
            <a:ext cx="1809750" cy="1162050"/>
          </a:xfrm>
          <a:prstGeom xmlns:a="http://schemas.openxmlformats.org/drawingml/2006/main" prst="rect">
            <a:avLst/>
          </a:prstGeom>
        </p:spPr>
      </p:pic>
      <p:pic>
        <p:nvPicPr>
          <p:cNvPr id="24" name="evidence-matrix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10e4539a68783891_1"/>
          <a:srcRect xmlns:a="http://schemas.openxmlformats.org/drawingml/2006/main" l="0" t="31941" r="0" b="3194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77050" y="4648200"/>
            <a:ext cx="1809750" cy="1162050"/>
          </a:xfrm>
          <a:prstGeom xmlns:a="http://schemas.openxmlformats.org/drawingml/2006/main" prst="rect">
            <a:avLst/>
          </a:prstGeom>
        </p:spPr>
      </p:pic>
      <p:sp>
        <p:nvSpPr>
          <p:cNvPr id="25" name="matrix-label"/>
          <p:cNvSpPr txBox="1"/>
          <p:nvPr/>
        </p:nvSpPr>
        <p:spPr>
          <a:xfrm xmlns:a="http://schemas.openxmlformats.org/drawingml/2006/main">
            <a:off x="9620250" y="34290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EVIDENCE</a:t>
            </a:r>
            <a:endParaRPr lang="en-US"/>
          </a:p>
        </p:txBody>
      </p:sp>
      <p:sp>
        <p:nvSpPr>
          <p:cNvPr id="26" name="matrix-title"/>
          <p:cNvSpPr txBox="1"/>
          <p:nvPr/>
        </p:nvSpPr>
        <p:spPr>
          <a:xfrm xmlns:a="http://schemas.openxmlformats.org/drawingml/2006/main">
            <a:off x="9620250" y="3943350"/>
            <a:ext cx="3619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025" b="1">
                <a:solidFill>
                  <a:srgbClr val="F2F0EA"/>
                </a:solidFill>
                <a:latin typeface="Inter"/>
                <a:ea typeface="Inter"/>
              </a:rPr>
              <a:t>The same subject can carry several proofs.</a:t>
            </a:r>
            <a:endParaRPr lang="en-US"/>
          </a:p>
        </p:txBody>
      </p:sp>
      <p:sp>
        <p:nvSpPr>
          <p:cNvPr id="27" name="matrix-body"/>
          <p:cNvSpPr txBox="1"/>
          <p:nvPr/>
        </p:nvSpPr>
        <p:spPr>
          <a:xfrm xmlns:a="http://schemas.openxmlformats.org/drawingml/2006/main">
            <a:off x="9620250" y="5048250"/>
            <a:ext cx="3619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>
                <a:solidFill>
                  <a:srgbClr val="7D7D7B"/>
                </a:solidFill>
                <a:latin typeface="Inter"/>
                <a:ea typeface="Inter"/>
              </a:rPr>
              <a:t>Use a dominant frame for context and smaller crops for comparable detail. Every image needs a role, source, and readable caption.</a:t>
            </a:r>
            <a:endParaRPr lang="en-US"/>
          </a:p>
        </p:txBody>
      </p:sp>
      <p:sp>
        <p:nvSpPr>
          <p:cNvPr id="28" name="evidence-band"/>
          <p:cNvSpPr/>
          <p:nvPr/>
        </p:nvSpPr>
        <p:spPr>
          <a:xfrm xmlns:a="http://schemas.openxmlformats.org/drawingml/2006/main">
            <a:off x="914400" y="6877050"/>
            <a:ext cx="134112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9" name="evidence-band-text"/>
          <p:cNvSpPr txBox="1"/>
          <p:nvPr/>
        </p:nvSpPr>
        <p:spPr>
          <a:xfrm xmlns:a="http://schemas.openxmlformats.org/drawingml/2006/main">
            <a:off x="1143000" y="7058025"/>
            <a:ext cx="1238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75" b="1">
                <a:solidFill>
                  <a:srgbClr val="F2F0EA"/>
                </a:solidFill>
                <a:latin typeface="Inter"/>
                <a:ea typeface="Inter"/>
              </a:rPr>
              <a:t>EVIDENCE  ·  Keep the unit, time window, and limitation adjacent to the number.</a:t>
            </a:r>
            <a:endParaRPr lang="en-US"/>
          </a:p>
        </p:txBody>
      </p:sp>
      <p:sp>
        <p:nvSpPr>
          <p:cNvPr id="30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values are fictional</a:t>
            </a:r>
            <a:endParaRPr lang="en-US"/>
          </a:p>
        </p:txBody>
      </p:sp>
      <p:sp>
        <p:nvSpPr>
          <p:cNvPr id="31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3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4.xml><?xml version="1.0" encoding="utf-8"?>
<p:sld xmlns:p="http://schemas.openxmlformats.org/presentationml/2006/main">
  <p:cSld name="Detail"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background"/>
          <p:cNvSpPr/>
          <p:nvPr/>
        </p:nvSpPr>
        <p:spPr>
          <a:xfrm xmlns:a="http://schemas.openxmlformats.org/drawingml/2006/main">
            <a:off x="0" y="0"/>
            <a:ext cx="15240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/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detail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e977612ad933c986_1"/>
          <a:srcRect xmlns:a="http://schemas.openxmlformats.org/drawingml/2006/main" l="0" t="47256" r="0" b="47256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detail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detail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DETAIL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DETAIL</a:t>
            </a:r>
            <a:endParaRPr lang="en-US"/>
          </a:p>
        </p:txBody>
      </p:sp>
      <p:sp>
        <p:nvSpPr>
          <p:cNvPr id="18" name="detail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The same idea can hold several views</a:t>
            </a:r>
            <a:endParaRPr lang="en-US"/>
          </a:p>
        </p:txBody>
      </p:sp>
      <p:sp>
        <p:nvSpPr>
          <p:cNvPr id="19" name="detail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Unequal image frames · visual variety without decorative filler.</a:t>
            </a:r>
            <a:endParaRPr lang="en-US"/>
          </a:p>
        </p:txBody>
      </p:sp>
      <p:pic>
        <p:nvPicPr>
          <p:cNvPr id="20" name="image-evidence-0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c49ddd99c59beda0_1"/>
          <a:srcRect xmlns:a="http://schemas.openxmlformats.org/drawingml/2006/main" l="0" t="31971" r="0" b="31971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990600" y="3162300"/>
            <a:ext cx="3714750" cy="2381250"/>
          </a:xfrm>
          <a:prstGeom xmlns:a="http://schemas.openxmlformats.org/drawingml/2006/main" prst="rect">
            <a:avLst/>
          </a:prstGeom>
        </p:spPr>
      </p:pic>
      <p:pic>
        <p:nvPicPr>
          <p:cNvPr id="21" name="image-evidence-1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6785cc6781fd2511_1"/>
          <a:srcRect xmlns:a="http://schemas.openxmlformats.org/drawingml/2006/main" l="0" t="32333" r="0" b="32333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2" name="image-evidence-2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fb0d559f34167a51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31623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3" name="image-evidence-3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d96cedd8678b85ac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4895850" y="4457700"/>
            <a:ext cx="1790700" cy="1123950"/>
          </a:xfrm>
          <a:prstGeom xmlns:a="http://schemas.openxmlformats.org/drawingml/2006/main" prst="rect">
            <a:avLst/>
          </a:prstGeom>
        </p:spPr>
      </p:pic>
      <p:pic>
        <p:nvPicPr>
          <p:cNvPr id="24" name="image-evidence-4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35d943dc999c7d05_1"/>
          <a:srcRect xmlns:a="http://schemas.openxmlformats.org/drawingml/2006/main" l="0" t="32347" r="0" b="32347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6858000" y="4457700"/>
            <a:ext cx="1790700" cy="1123950"/>
          </a:xfrm>
          <a:prstGeom xmlns:a="http://schemas.openxmlformats.org/drawingml/2006/main" prst="rect">
            <a:avLst/>
          </a:prstGeom>
        </p:spPr>
      </p:pic>
      <p:sp>
        <p:nvSpPr>
          <p:cNvPr id="25" name="image-matrix-label"/>
          <p:cNvSpPr txBox="1"/>
          <p:nvPr/>
        </p:nvSpPr>
        <p:spPr>
          <a:xfrm xmlns:a="http://schemas.openxmlformats.org/drawingml/2006/main">
            <a:off x="9620250" y="33147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IMAGE MATRIX</a:t>
            </a:r>
            <a:endParaRPr lang="en-US"/>
          </a:p>
        </p:txBody>
      </p:sp>
      <p:sp>
        <p:nvSpPr>
          <p:cNvPr id="26" name="image-matrix-title"/>
          <p:cNvSpPr txBox="1"/>
          <p:nvPr/>
        </p:nvSpPr>
        <p:spPr>
          <a:xfrm xmlns:a="http://schemas.openxmlformats.org/drawingml/2006/main">
            <a:off x="9620250" y="3790950"/>
            <a:ext cx="3714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00" b="1">
                <a:solidFill>
                  <a:srgbClr val="F2F0EA"/>
                </a:solidFill>
                <a:latin typeface="Inter"/>
                <a:ea typeface="Inter"/>
              </a:rPr>
              <a:t>One subject, five ways to notice it.</a:t>
            </a:r>
            <a:endParaRPr lang="en-US"/>
          </a:p>
        </p:txBody>
      </p:sp>
      <p:sp>
        <p:nvSpPr>
          <p:cNvPr id="27" name="image-matrix-body"/>
          <p:cNvSpPr txBox="1"/>
          <p:nvPr/>
        </p:nvSpPr>
        <p:spPr>
          <a:xfrm xmlns:a="http://schemas.openxmlformats.org/drawingml/2006/main">
            <a:off x="9620250" y="4953000"/>
            <a:ext cx="3524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One dominant frame plus four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supporting crops. Image carries</a:t>
            </a:r>
            <a:endParaRPr lang="en-US"/>
          </a:p>
          <a:p xmlns:a="http://schemas.openxmlformats.org/drawingml/2006/main">
            <a:r>
              <a:rPr lang="en-US" sz="1200">
                <a:solidFill>
                  <a:srgbClr val="7D7D7B"/>
                </a:solidFill>
                <a:latin typeface="Inter"/>
                <a:ea typeface="Inter"/>
              </a:rPr>
              <a:t>mood; labels carry the claim.</a:t>
            </a:r>
            <a:endParaRPr lang="en-US"/>
          </a:p>
        </p:txBody>
      </p:sp>
      <p:sp>
        <p:nvSpPr>
          <p:cNvPr id="28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Source: illustrative calibration brief · labels and values are fictional</a:t>
            </a:r>
            <a:endParaRPr lang="en-US"/>
          </a:p>
        </p:txBody>
      </p:sp>
      <p:sp>
        <p:nvSpPr>
          <p:cNvPr id="29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4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5.xml><?xml version="1.0" encoding="utf-8"?>
<p:sld xmlns:p="http://schemas.openxmlformats.org/presentationml/2006/main">
  <p:cSld name="Visual carrier">
    <p:bg>
      <p:bgPr>
        <a:blipFill xmlns:a="http://schemas.openxmlformats.org/drawingml/2006/main">
          <a:blip xmlns:r="http://schemas.openxmlformats.org/officeDocument/2006/relationships" r:embed="rIdOfficeKitImage06e55191024fa458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5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6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7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8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9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0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1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2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sp>
        <p:nvSpPr>
          <p:cNvPr id="13" name="visual-scrim"/>
          <p:cNvSpPr/>
          <p:nvPr/>
        </p:nvSpPr>
        <p:spPr>
          <a:xfrm xmlns:a="http://schemas.openxmlformats.org/drawingml/2006/main">
            <a:off x="0" y="0"/>
            <a:ext cx="68580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88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4" name="visual-eyebrow"/>
          <p:cNvSpPr txBox="1"/>
          <p:nvPr/>
        </p:nvSpPr>
        <p:spPr>
          <a:xfrm xmlns:a="http://schemas.openxmlformats.org/drawingml/2006/main">
            <a:off x="914400" y="895350"/>
            <a:ext cx="666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NOIR FIELD PICTORIAL · VISUAL CARRIER</a:t>
            </a:r>
            <a:endParaRPr lang="en-US"/>
          </a:p>
        </p:txBody>
      </p:sp>
      <p:sp>
        <p:nvSpPr>
          <p:cNvPr id="15" name="visual-title"/>
          <p:cNvSpPr txBox="1"/>
          <p:nvPr/>
        </p:nvSpPr>
        <p:spPr>
          <a:xfrm xmlns:a="http://schemas.openxmlformats.org/drawingml/2006/main">
            <a:off x="914400" y="1638300"/>
            <a:ext cx="5334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3300" b="1">
                <a:solidFill>
                  <a:srgbClr val="F2F0EA"/>
                </a:solidFill>
                <a:latin typeface="Inter"/>
                <a:ea typeface="Inter"/>
              </a:rPr>
              <a:t>Let the subject do the work</a:t>
            </a:r>
            <a:endParaRPr lang="en-US"/>
          </a:p>
        </p:txBody>
      </p:sp>
      <p:sp>
        <p:nvSpPr>
          <p:cNvPr id="16" name="visual-body"/>
          <p:cNvSpPr txBox="1"/>
          <p:nvPr/>
        </p:nvSpPr>
        <p:spPr>
          <a:xfrm xmlns:a="http://schemas.openxmlformats.org/drawingml/2006/main">
            <a:off x="914400" y="3219450"/>
            <a:ext cx="4762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00">
                <a:solidFill>
                  <a:srgbClr val="F2F0EA"/>
                </a:solidFill>
                <a:latin typeface="Inter"/>
                <a:ea typeface="Inter"/>
              </a:rPr>
              <a:t>A strong crop gives the proposition a place to live.</a:t>
            </a:r>
            <a:endParaRPr lang="en-US"/>
          </a:p>
        </p:txBody>
      </p:sp>
      <p:sp>
        <p:nvSpPr>
          <p:cNvPr id="17" name="visual-rule"/>
          <p:cNvSpPr/>
          <p:nvPr/>
        </p:nvSpPr>
        <p:spPr>
          <a:xfrm xmlns:a="http://schemas.openxmlformats.org/drawingml/2006/main">
            <a:off x="914400" y="4476750"/>
            <a:ext cx="4419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8" name="visual-label"/>
          <p:cNvSpPr txBox="1"/>
          <p:nvPr/>
        </p:nvSpPr>
        <p:spPr>
          <a:xfrm xmlns:a="http://schemas.openxmlformats.org/drawingml/2006/main">
            <a:off x="914400" y="481965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 b="1">
                <a:solidFill>
                  <a:srgbClr val="D53A45"/>
                </a:solidFill>
                <a:latin typeface="Inter"/>
                <a:ea typeface="Inter"/>
              </a:rPr>
              <a:t>THE IMAGE IS EVIDENCE, NOT FILL</a:t>
            </a:r>
            <a:endParaRPr lang="en-US"/>
          </a:p>
        </p:txBody>
      </p:sp>
      <p:sp>
        <p:nvSpPr>
          <p:cNvPr id="19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visual field · fictional content</a:t>
            </a:r>
            <a:endParaRPr lang="en-US"/>
          </a:p>
        </p:txBody>
      </p:sp>
      <p:sp>
        <p:nvSpPr>
          <p:cNvPr id="20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5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

<file path=ppt/slides/slide6.xml><?xml version="1.0" encoding="utf-8"?>
<p:sld xmlns:p="http://schemas.openxmlformats.org/presentationml/2006/main">
  <p:cSld name="Decision close">
    <p:bg>
      <p:bgPr>
        <a:blipFill xmlns:a="http://schemas.openxmlformats.org/drawingml/2006/main">
          <a:blip xmlns:r="http://schemas.openxmlformats.org/officeDocument/2006/relationships" r:embed="rIdOfficeKitImagea5c00489db854fa2_1"/>
          <a:stretch>
            <a:fillRect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>
          <a:off x="0" y="0"/>
          <a:ext cx="0" cy="0"/>
          <a:chOff x="0" y="0"/>
          <a:chExt cx="0" cy="0"/>
        </a:xfrm>
      </p:grpSpPr>
      <p:sp>
        <p:nvSpPr>
          <p:cNvPr id="2" name="close-paper-scrim"/>
          <p:cNvSpPr/>
          <p:nvPr/>
        </p:nvSpPr>
        <p:spPr>
          <a:xfrm xmlns:a="http://schemas.openxmlformats.org/drawingml/2006/main">
            <a:off x="0" y="0"/>
            <a:ext cx="81915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214">
              <a:alpha val="96000"/>
            </a:srgbClr>
          </a:solidFill>
          <a:ln xmlns:a="http://schemas.openxmlformats.org/drawingml/2006/main" w="0">
            <a:solidFill>
              <a:srgbClr val="11121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" name="fixed-rail"/>
          <p:cNvSpPr/>
          <p:nvPr/>
        </p:nvSpPr>
        <p:spPr>
          <a:xfrm xmlns:a="http://schemas.openxmlformats.org/drawingml/2006/main">
            <a:off x="323850" y="0"/>
            <a:ext cx="114300" cy="857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53A45"/>
          </a:solidFill>
          <a:ln xmlns:a="http://schemas.openxmlformats.org/drawingml/2006/main" w="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4" name="fixed-nav-0"/>
          <p:cNvSpPr/>
          <p:nvPr/>
        </p:nvSpPr>
        <p:spPr>
          <a:xfrm xmlns:a="http://schemas.openxmlformats.org/drawingml/2006/main">
            <a:off x="91440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5" name="fixed-nav-label-0"/>
          <p:cNvSpPr txBox="1"/>
          <p:nvPr/>
        </p:nvSpPr>
        <p:spPr>
          <a:xfrm xmlns:a="http://schemas.openxmlformats.org/drawingml/2006/main">
            <a:off x="99060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BRIEF</a:t>
            </a:r>
            <a:endParaRPr lang="en-US"/>
          </a:p>
        </p:txBody>
      </p:sp>
      <p:sp>
        <p:nvSpPr>
          <p:cNvPr id="6" name="fixed-nav-1"/>
          <p:cNvSpPr/>
          <p:nvPr/>
        </p:nvSpPr>
        <p:spPr>
          <a:xfrm xmlns:a="http://schemas.openxmlformats.org/drawingml/2006/main">
            <a:off x="248793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7" name="fixed-nav-label-1"/>
          <p:cNvSpPr txBox="1"/>
          <p:nvPr/>
        </p:nvSpPr>
        <p:spPr>
          <a:xfrm xmlns:a="http://schemas.openxmlformats.org/drawingml/2006/main">
            <a:off x="256413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SIGNAL</a:t>
            </a:r>
            <a:endParaRPr lang="en-US"/>
          </a:p>
        </p:txBody>
      </p:sp>
      <p:sp>
        <p:nvSpPr>
          <p:cNvPr id="8" name="fixed-nav-2"/>
          <p:cNvSpPr/>
          <p:nvPr/>
        </p:nvSpPr>
        <p:spPr>
          <a:xfrm xmlns:a="http://schemas.openxmlformats.org/drawingml/2006/main">
            <a:off x="406146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9" name="fixed-nav-label-2"/>
          <p:cNvSpPr txBox="1"/>
          <p:nvPr/>
        </p:nvSpPr>
        <p:spPr>
          <a:xfrm xmlns:a="http://schemas.openxmlformats.org/drawingml/2006/main">
            <a:off x="413766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EVIDENCE</a:t>
            </a:r>
            <a:endParaRPr lang="en-US"/>
          </a:p>
        </p:txBody>
      </p:sp>
      <p:sp>
        <p:nvSpPr>
          <p:cNvPr id="10" name="fixed-nav-3"/>
          <p:cNvSpPr/>
          <p:nvPr/>
        </p:nvSpPr>
        <p:spPr>
          <a:xfrm xmlns:a="http://schemas.openxmlformats.org/drawingml/2006/main">
            <a:off x="563499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31A24"/>
          </a:solidFill>
          <a:ln xmlns:a="http://schemas.openxmlformats.org/drawingml/2006/main" w="0">
            <a:solidFill>
              <a:srgbClr val="131A24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1" name="fixed-nav-label-3"/>
          <p:cNvSpPr txBox="1"/>
          <p:nvPr/>
        </p:nvSpPr>
        <p:spPr>
          <a:xfrm xmlns:a="http://schemas.openxmlformats.org/drawingml/2006/main">
            <a:off x="571119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7D7D7B"/>
                </a:solidFill>
                <a:latin typeface="Inter"/>
                <a:ea typeface="Inter"/>
              </a:rPr>
              <a:t>CHOICE</a:t>
            </a:r>
            <a:endParaRPr lang="en-US"/>
          </a:p>
        </p:txBody>
      </p:sp>
      <p:sp>
        <p:nvSpPr>
          <p:cNvPr id="12" name="fixed-nav-4"/>
          <p:cNvSpPr/>
          <p:nvPr/>
        </p:nvSpPr>
        <p:spPr>
          <a:xfrm xmlns:a="http://schemas.openxmlformats.org/drawingml/2006/main">
            <a:off x="7208520" y="1752600"/>
            <a:ext cx="151638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/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3" name="fixed-nav-label-4"/>
          <p:cNvSpPr txBox="1"/>
          <p:nvPr/>
        </p:nvSpPr>
        <p:spPr>
          <a:xfrm xmlns:a="http://schemas.openxmlformats.org/drawingml/2006/main">
            <a:off x="7284720" y="1790700"/>
            <a:ext cx="136398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ctr"/>
            <a:r>
              <a:rPr lang="en-US" sz="675" b="1">
                <a:solidFill>
                  <a:srgbClr val="202124"/>
                </a:solidFill>
                <a:latin typeface="Inter"/>
                <a:ea typeface="Inter"/>
              </a:rPr>
              <a:t>NEXT</a:t>
            </a:r>
            <a:endParaRPr lang="en-US"/>
          </a:p>
        </p:txBody>
      </p:sp>
      <p:pic>
        <p:nvPicPr>
          <p:cNvPr id="14" name="close-photo-band">
            <a:extLst xmlns:a="http://schemas.openxmlformats.org/drawingml/2006/main"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xmlns:r="http://schemas.openxmlformats.org/officeDocument/2006/relationships" xmlns:a="http://schemas.openxmlformats.org/drawingml/2006/main" r:embed="rIdOfficeKitImagea68aebf613832e5f_1"/>
          <a:srcRect xmlns:a="http://schemas.openxmlformats.org/drawingml/2006/main" l="0" t="47258" r="0" b="47258"/>
          <a:stretch xmlns:a="http://schemas.openxmlformats.org/drawingml/2006/main">
            <a:fillRect/>
          </a:stretch>
        </p:blipFill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</p:spPr>
      </p:pic>
      <p:sp>
        <p:nvSpPr>
          <p:cNvPr id="15" name="close-photo-scrim"/>
          <p:cNvSpPr/>
          <p:nvPr/>
        </p:nvSpPr>
        <p:spPr>
          <a:xfrm xmlns:a="http://schemas.openxmlformats.org/drawingml/2006/main">
            <a:off x="0" y="0"/>
            <a:ext cx="15240000" cy="1485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0EA">
              <a:alpha val="62000"/>
            </a:srgbClr>
          </a:solidFill>
          <a:ln xmlns:a="http://schemas.openxmlformats.org/drawingml/2006/main" w="0">
            <a:solidFill>
              <a:srgbClr val="F2F0EA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6" name="close-photo-rule"/>
          <p:cNvSpPr/>
          <p:nvPr/>
        </p:nvSpPr>
        <p:spPr>
          <a:xfrm xmlns:a="http://schemas.openxmlformats.org/drawingml/2006/main">
            <a:off x="914400" y="1438275"/>
            <a:ext cx="13411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17" name="NOIR FIELD PICTORIAL · CLOSE"/>
          <p:cNvSpPr txBox="1"/>
          <p:nvPr/>
        </p:nvSpPr>
        <p:spPr>
          <a:xfrm xmlns:a="http://schemas.openxmlformats.org/drawingml/2006/main">
            <a:off x="914400" y="228600"/>
            <a:ext cx="952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 b="1">
                <a:solidFill>
                  <a:srgbClr val="D53A45"/>
                </a:solidFill>
                <a:latin typeface="Inter"/>
                <a:ea typeface="Inter"/>
              </a:rPr>
              <a:t>NOIR FIELD PICTORIAL · CLOSE</a:t>
            </a:r>
            <a:endParaRPr lang="en-US"/>
          </a:p>
        </p:txBody>
      </p:sp>
      <p:sp>
        <p:nvSpPr>
          <p:cNvPr id="18" name="close-title"/>
          <p:cNvSpPr txBox="1"/>
          <p:nvPr/>
        </p:nvSpPr>
        <p:spPr>
          <a:xfrm xmlns:a="http://schemas.openxmlformats.org/drawingml/2006/main">
            <a:off x="914400" y="495300"/>
            <a:ext cx="1200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550" b="1">
                <a:solidFill>
                  <a:srgbClr val="FFFFFF"/>
                </a:solidFill>
                <a:latin typeface="Inter"/>
                <a:ea typeface="Inter"/>
              </a:rPr>
              <a:t>Turn the shared invitation into an action plan</a:t>
            </a:r>
            <a:endParaRPr lang="en-US"/>
          </a:p>
        </p:txBody>
      </p:sp>
      <p:sp>
        <p:nvSpPr>
          <p:cNvPr id="19" name="close-basis"/>
          <p:cNvSpPr txBox="1"/>
          <p:nvPr/>
        </p:nvSpPr>
        <p:spPr>
          <a:xfrm xmlns:a="http://schemas.openxmlformats.org/drawingml/2006/main">
            <a:off x="952500" y="1066800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200">
                <a:solidFill>
                  <a:srgbClr val="F0F3F2"/>
                </a:solidFill>
                <a:latin typeface="Inter"/>
                <a:ea typeface="Inter"/>
              </a:rPr>
              <a:t>A reference page must leave the reader with a bounded next move.</a:t>
            </a:r>
            <a:endParaRPr lang="en-US"/>
          </a:p>
        </p:txBody>
      </p:sp>
      <p:sp>
        <p:nvSpPr>
          <p:cNvPr id="20" name="close-number-0"/>
          <p:cNvSpPr txBox="1"/>
          <p:nvPr/>
        </p:nvSpPr>
        <p:spPr>
          <a:xfrm xmlns:a="http://schemas.openxmlformats.org/drawingml/2006/main">
            <a:off x="1104900" y="32194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01</a:t>
            </a:r>
            <a:endParaRPr lang="en-US"/>
          </a:p>
        </p:txBody>
      </p:sp>
      <p:sp>
        <p:nvSpPr>
          <p:cNvPr id="21" name="close-row-rule-0"/>
          <p:cNvSpPr/>
          <p:nvPr/>
        </p:nvSpPr>
        <p:spPr>
          <a:xfrm xmlns:a="http://schemas.openxmlformats.org/drawingml/2006/main">
            <a:off x="2000250" y="33718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2" name="close-label-0"/>
          <p:cNvSpPr txBox="1"/>
          <p:nvPr/>
        </p:nvSpPr>
        <p:spPr>
          <a:xfrm xmlns:a="http://schemas.openxmlformats.org/drawingml/2006/main">
            <a:off x="2114550" y="31813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Promise</a:t>
            </a:r>
            <a:endParaRPr lang="en-US"/>
          </a:p>
        </p:txBody>
      </p:sp>
      <p:sp>
        <p:nvSpPr>
          <p:cNvPr id="23" name="close-text-0"/>
          <p:cNvSpPr txBox="1"/>
          <p:nvPr/>
        </p:nvSpPr>
        <p:spPr>
          <a:xfrm xmlns:a="http://schemas.openxmlformats.org/drawingml/2006/main">
            <a:off x="4495800" y="32194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proposition is legible.</a:t>
            </a:r>
            <a:endParaRPr lang="en-US"/>
          </a:p>
        </p:txBody>
      </p:sp>
      <p:sp>
        <p:nvSpPr>
          <p:cNvPr id="24" name="close-number-1"/>
          <p:cNvSpPr txBox="1"/>
          <p:nvPr/>
        </p:nvSpPr>
        <p:spPr>
          <a:xfrm xmlns:a="http://schemas.openxmlformats.org/drawingml/2006/main">
            <a:off x="1104900" y="426720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F2F0EA"/>
                </a:solidFill>
                <a:latin typeface="Inter"/>
                <a:ea typeface="Inter"/>
              </a:rPr>
              <a:t>02</a:t>
            </a:r>
            <a:endParaRPr lang="en-US"/>
          </a:p>
        </p:txBody>
      </p:sp>
      <p:sp>
        <p:nvSpPr>
          <p:cNvPr id="25" name="close-row-rule-1"/>
          <p:cNvSpPr/>
          <p:nvPr/>
        </p:nvSpPr>
        <p:spPr>
          <a:xfrm xmlns:a="http://schemas.openxmlformats.org/drawingml/2006/main">
            <a:off x="2000250" y="441960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2700">
            <a:solidFill>
              <a:srgbClr val="7D7D7B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26" name="close-label-1"/>
          <p:cNvSpPr txBox="1"/>
          <p:nvPr/>
        </p:nvSpPr>
        <p:spPr>
          <a:xfrm xmlns:a="http://schemas.openxmlformats.org/drawingml/2006/main">
            <a:off x="2114550" y="42291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Proof</a:t>
            </a:r>
            <a:endParaRPr lang="en-US"/>
          </a:p>
        </p:txBody>
      </p:sp>
      <p:sp>
        <p:nvSpPr>
          <p:cNvPr id="27" name="close-text-1"/>
          <p:cNvSpPr txBox="1"/>
          <p:nvPr/>
        </p:nvSpPr>
        <p:spPr>
          <a:xfrm xmlns:a="http://schemas.openxmlformats.org/drawingml/2006/main">
            <a:off x="4495800" y="426720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The response is measurable.</a:t>
            </a:r>
            <a:endParaRPr lang="en-US"/>
          </a:p>
        </p:txBody>
      </p:sp>
      <p:sp>
        <p:nvSpPr>
          <p:cNvPr id="28" name="close-number-2"/>
          <p:cNvSpPr txBox="1"/>
          <p:nvPr/>
        </p:nvSpPr>
        <p:spPr>
          <a:xfrm xmlns:a="http://schemas.openxmlformats.org/drawingml/2006/main">
            <a:off x="1104900" y="5314950"/>
            <a:ext cx="66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875" b="1">
                <a:solidFill>
                  <a:srgbClr val="D53A45"/>
                </a:solidFill>
                <a:latin typeface="Inter"/>
                <a:ea typeface="Inter"/>
              </a:rPr>
              <a:t>03</a:t>
            </a:r>
            <a:endParaRPr lang="en-US"/>
          </a:p>
        </p:txBody>
      </p:sp>
      <p:sp>
        <p:nvSpPr>
          <p:cNvPr id="29" name="close-row-rule-2"/>
          <p:cNvSpPr/>
          <p:nvPr/>
        </p:nvSpPr>
        <p:spPr>
          <a:xfrm xmlns:a="http://schemas.openxmlformats.org/drawingml/2006/main">
            <a:off x="2000250" y="5467350"/>
            <a:ext cx="5810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0" name="close-label-2"/>
          <p:cNvSpPr txBox="1"/>
          <p:nvPr/>
        </p:nvSpPr>
        <p:spPr>
          <a:xfrm xmlns:a="http://schemas.openxmlformats.org/drawingml/2006/main">
            <a:off x="2114550" y="5276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650" b="1">
                <a:solidFill>
                  <a:srgbClr val="F2F0EA"/>
                </a:solidFill>
                <a:latin typeface="Inter"/>
                <a:ea typeface="Inter"/>
              </a:rPr>
              <a:t>Move</a:t>
            </a:r>
            <a:endParaRPr lang="en-US"/>
          </a:p>
        </p:txBody>
      </p:sp>
      <p:sp>
        <p:nvSpPr>
          <p:cNvPr id="31" name="close-text-2"/>
          <p:cNvSpPr txBox="1"/>
          <p:nvPr/>
        </p:nvSpPr>
        <p:spPr>
          <a:xfrm xmlns:a="http://schemas.openxmlformats.org/drawingml/2006/main">
            <a:off x="4495800" y="5314950"/>
            <a:ext cx="5715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350">
                <a:solidFill>
                  <a:srgbClr val="F2F0EA"/>
                </a:solidFill>
                <a:latin typeface="Inter"/>
                <a:ea typeface="Inter"/>
              </a:rPr>
              <a:t>Give the audience one action.</a:t>
            </a:r>
            <a:endParaRPr lang="en-US"/>
          </a:p>
        </p:txBody>
      </p:sp>
      <p:sp>
        <p:nvSpPr>
          <p:cNvPr id="32" name="next-rule"/>
          <p:cNvSpPr/>
          <p:nvPr/>
        </p:nvSpPr>
        <p:spPr>
          <a:xfrm xmlns:a="http://schemas.openxmlformats.org/drawingml/2006/main">
            <a:off x="10668000" y="3714750"/>
            <a:ext cx="304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D53A45"/>
            </a:solidFill>
            <a:prstDash val="solid"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/>
              <a:t/>
            </a:r>
            <a:endParaRPr lang="en-US"/>
          </a:p>
        </p:txBody>
      </p:sp>
      <p:sp>
        <p:nvSpPr>
          <p:cNvPr id="33" name="next-label"/>
          <p:cNvSpPr txBox="1"/>
          <p:nvPr/>
        </p:nvSpPr>
        <p:spPr>
          <a:xfrm xmlns:a="http://schemas.openxmlformats.org/drawingml/2006/main">
            <a:off x="10668000" y="4038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 b="1">
                <a:solidFill>
                  <a:srgbClr val="D53A45"/>
                </a:solidFill>
                <a:latin typeface="Inter"/>
                <a:ea typeface="Inter"/>
              </a:rPr>
              <a:t>NEXT MOVE</a:t>
            </a:r>
            <a:endParaRPr lang="en-US"/>
          </a:p>
        </p:txBody>
      </p:sp>
      <p:sp>
        <p:nvSpPr>
          <p:cNvPr id="34" name="next-text"/>
          <p:cNvSpPr txBox="1"/>
          <p:nvPr/>
        </p:nvSpPr>
        <p:spPr>
          <a:xfrm xmlns:a="http://schemas.openxmlformats.org/drawingml/2006/main">
            <a:off x="10668000" y="4514850"/>
            <a:ext cx="3048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2175" b="1">
                <a:solidFill>
                  <a:srgbClr val="F2F0EA"/>
                </a:solidFill>
                <a:latin typeface="Inter"/>
                <a:ea typeface="Inter"/>
              </a:rPr>
              <a:t>Publish the invitation</a:t>
            </a:r>
            <a:endParaRPr lang="en-US"/>
          </a:p>
        </p:txBody>
      </p:sp>
      <p:sp>
        <p:nvSpPr>
          <p:cNvPr id="35" name="next-foot"/>
          <p:cNvSpPr txBox="1"/>
          <p:nvPr/>
        </p:nvSpPr>
        <p:spPr>
          <a:xfrm xmlns:a="http://schemas.openxmlformats.org/drawingml/2006/main">
            <a:off x="10668000" y="5600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125">
                <a:solidFill>
                  <a:srgbClr val="7D7D7B"/>
                </a:solidFill>
                <a:latin typeface="Inter"/>
                <a:ea typeface="Inter"/>
              </a:rPr>
              <a:t>Owner · reviewer · date</a:t>
            </a:r>
            <a:endParaRPr lang="en-US"/>
          </a:p>
        </p:txBody>
      </p:sp>
      <p:sp>
        <p:nvSpPr>
          <p:cNvPr id="36" name="source"/>
          <p:cNvSpPr txBox="1"/>
          <p:nvPr/>
        </p:nvSpPr>
        <p:spPr>
          <a:xfrm xmlns:a="http://schemas.openxmlformats.org/drawingml/2006/main">
            <a:off x="914400" y="7829550"/>
            <a:ext cx="1095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OfficeKit original clean-room calibration · reference deck is editable and inspectable</a:t>
            </a:r>
            <a:endParaRPr lang="en-US"/>
          </a:p>
        </p:txBody>
      </p:sp>
      <p:sp>
        <p:nvSpPr>
          <p:cNvPr id="37" name="page-number"/>
          <p:cNvSpPr txBox="1"/>
          <p:nvPr/>
        </p:nvSpPr>
        <p:spPr>
          <a:xfrm xmlns:a="http://schemas.openxmlformats.org/drawingml/2006/main">
            <a:off x="13335000" y="7829550"/>
            <a:ext cx="95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algn="r"/>
            <a:r>
              <a:rPr lang="en-US" sz="1050">
                <a:solidFill>
                  <a:srgbClr val="7D7D7B"/>
                </a:solidFill>
                <a:latin typeface="Inter"/>
                <a:ea typeface="Inter"/>
              </a:rPr>
              <a:t>6 / 6</a:t>
            </a:r>
            <a:endParaRPr lang="en-US"/>
          </a:p>
        </p:txBody>
      </p:sp>
    </p:spTree>
  </p:cSld>
  <p:clrMapOvr>
    <a:masterClrMapping xmlns:a="http://schemas.openxmlformats.org/drawingml/2006/main"/>
  </p:clrMapOvr>
</p:sld>
</file>