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03d8e0f30ee44e8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9df32179333a9f35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bdd32fb5cfa65986_1" /><Relationship Type="http://schemas.openxmlformats.org/officeDocument/2006/relationships/image" Target="/ppt/media/image3.jpg" Id="rIdOfficeKitImage8fbc298f8d1b7a3c_1" /><Relationship Type="http://schemas.openxmlformats.org/officeDocument/2006/relationships/image" Target="/ppt/media/image4.jpg" Id="rIdOfficeKitImage33b8c33a8fc3d613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7790b68b5d8fcd92_1" /><Relationship Type="http://schemas.openxmlformats.org/officeDocument/2006/relationships/image" Target="/ppt/media/image.jpg" Id="rIdOfficeKitImage9df32179333a9f35_1" /><Relationship Type="http://schemas.openxmlformats.org/officeDocument/2006/relationships/image" Target="/ppt/media/image2.jpg" Id="rIdOfficeKitImagebdd32fb5cfa65986_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8fbc298f8d1b7a3c_1" /><Relationship Type="http://schemas.openxmlformats.org/officeDocument/2006/relationships/image" Target="/ppt/media/image4.jpg" Id="rIdOfficeKitImage33b8c33a8fc3d613_1" /><Relationship Type="http://schemas.openxmlformats.org/officeDocument/2006/relationships/image" Target="/ppt/media/image5.jpg" Id="rIdOfficeKitImage7790b68b5d8fcd92_1" /><Relationship Type="http://schemas.openxmlformats.org/officeDocument/2006/relationships/image" Target="/ppt/media/image.jpg" Id="rIdOfficeKitImage9df32179333a9f35_1" /><Relationship Type="http://schemas.openxmlformats.org/officeDocument/2006/relationships/image" Target="/ppt/media/image2.jpg" Id="rIdOfficeKitImagebdd32fb5cfa65986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33b8c33a8fc3d613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7790b68b5d8fcd92_1" /><Relationship Type="http://schemas.openxmlformats.org/officeDocument/2006/relationships/image" Target="/ppt/media/image.jpg" Id="rIdOfficeKitImage9df32179333a9f35_1" /></Relationships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9df32179333a9f35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>
              <a:alpha val="84000"/>
            </a:srgbClr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PROMOTION · OFFICEKIT CALIBRATION</a:t>
            </a:r>
            <a:endParaRPr lang="en-US"/>
          </a:p>
        </p:txBody>
      </p:sp>
      <p:sp>
        <p:nvSpPr>
          <p:cNvPr id="4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FFFFF"/>
                </a:solidFill>
                <a:latin typeface="Inter"/>
                <a:ea typeface="Inter"/>
              </a:rPr>
              <a:t>Noir Field Pictorial: a claim worth testing</a:t>
            </a:r>
            <a:endParaRPr lang="en-US"/>
          </a:p>
        </p:txBody>
      </p:sp>
      <p:sp>
        <p:nvSpPr>
          <p:cNvPr id="5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0F2F2"/>
                </a:solidFill>
                <a:latin typeface="Inter"/>
                <a:ea typeface="Inter"/>
              </a:rPr>
              <a:t>A clean-room reference for a visual proposition.</a:t>
            </a:r>
            <a:endParaRPr lang="en-US"/>
          </a:p>
        </p:txBody>
      </p:sp>
      <p:sp>
        <p:nvSpPr>
          <p:cNvPr id="6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FFFFF"/>
                </a:solidFill>
                <a:latin typeface="Inter"/>
                <a:ea typeface="Inter"/>
              </a:rPr>
              <a:t>A proposition earns attention when it gives a next move.</a:t>
            </a:r>
            <a:endParaRPr lang="en-US"/>
          </a:p>
        </p:txBody>
      </p:sp>
      <p:sp>
        <p:nvSpPr>
          <p:cNvPr id="8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0F2F2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0F2F2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bdd32fb5cfa65986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96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pic>
        <p:nvPicPr>
          <p:cNvPr id="14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fbc298f8d1b7a3c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>
              <a:alpha val="62000"/>
            </a:srgbClr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NOIR FIELD PICTORIAL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D53A45"/>
                </a:solidFill>
                <a:latin typeface="Inter"/>
                <a:ea typeface="Inter"/>
              </a:rPr>
              <a:t>NOIR FIELD PICTORIAL · ARGUMENT</a:t>
            </a:r>
            <a:endParaRPr lang="en-US"/>
          </a:p>
        </p:txBody>
      </p:sp>
      <p:sp>
        <p:nvSpPr>
          <p:cNvPr id="18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proposition is the page's visual center</a:t>
            </a:r>
            <a:endParaRPr lang="en-US"/>
          </a:p>
        </p:txBody>
      </p:sp>
      <p:sp>
        <p:nvSpPr>
          <p:cNvPr id="19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20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ONE PROPOSITION</a:t>
            </a:r>
            <a:endParaRPr lang="en-US"/>
          </a:p>
        </p:txBody>
      </p:sp>
      <p:sp>
        <p:nvSpPr>
          <p:cNvPr id="21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F2F0EA"/>
                </a:solidFill>
                <a:latin typeface="Inter"/>
                <a:ea typeface="Inter"/>
              </a:rPr>
              <a:t>Make the next action visible.</a:t>
            </a:r>
            <a:endParaRPr lang="en-US"/>
          </a:p>
        </p:txBody>
      </p:sp>
      <p:sp>
        <p:nvSpPr>
          <p:cNvPr id="22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F2F0EA"/>
                </a:solidFill>
                <a:latin typeface="Inter"/>
                <a:ea typeface="Inter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23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3b8c33a8fc3d613_1"/>
          <a:srcRect xmlns:a="http://schemas.openxmlformats.org/drawingml/2006/main" l="0" t="31920" r="0" b="3192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24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D53A45"/>
                </a:solidFill>
                <a:latin typeface="Inter"/>
                <a:ea typeface="Inter"/>
              </a:rPr>
              <a:t>INVITE · PROVE · MOVE</a:t>
            </a:r>
            <a:endParaRPr lang="en-US"/>
          </a:p>
        </p:txBody>
      </p:sp>
      <p:sp>
        <p:nvSpPr>
          <p:cNvPr id="26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7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7790b68b5d8fcd92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96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pic>
        <p:nvPicPr>
          <p:cNvPr id="14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9df32179333a9f35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>
              <a:alpha val="62000"/>
            </a:srgbClr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NOIR FIELD PICTORIAL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D53A45"/>
                </a:solidFill>
                <a:latin typeface="Inter"/>
                <a:ea typeface="Inter"/>
              </a:rPr>
              <a:t>NOIR FIELD PICTORIAL · EVIDENCE</a:t>
            </a:r>
            <a:endParaRPr lang="en-US"/>
          </a:p>
        </p:txBody>
      </p:sp>
      <p:sp>
        <p:nvSpPr>
          <p:cNvPr id="18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signal grows when the invitation stays measurable</a:t>
            </a:r>
            <a:endParaRPr lang="en-US"/>
          </a:p>
        </p:txBody>
      </p:sp>
      <p:sp>
        <p:nvSpPr>
          <p:cNvPr id="19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Illustrative reach and response · source and measurement convention remain attached.</a:t>
            </a:r>
            <a:endParaRPr lang="en-US"/>
          </a:p>
        </p:txBody>
      </p:sp>
      <p:pic>
        <p:nvPicPr>
          <p:cNvPr id="20" name="evidence-image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bdd32fb5cfa65986_1"/>
          <a:srcRect xmlns:a="http://schemas.openxmlformats.org/drawingml/2006/main" l="0" t="39326" r="0" b="3932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1047750" y="3048000"/>
            <a:ext cx="7905750" cy="3000375"/>
          </a:xfrm>
          <a:prstGeom xmlns:a="http://schemas.openxmlformats.org/drawingml/2006/main" prst="rect">
            <a:avLst/>
          </a:prstGeom>
        </p:spPr>
      </p:pic>
      <p:sp>
        <p:nvSpPr>
          <p:cNvPr id="21" name="evidence-image-caption"/>
          <p:cNvSpPr txBox="1"/>
          <p:nvPr/>
        </p:nvSpPr>
        <p:spPr>
          <a:xfrm xmlns:a="http://schemas.openxmlformats.org/drawingml/2006/main">
            <a:off x="1333500" y="33337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FFFFF"/>
                </a:solidFill>
                <a:latin typeface="Inter"/>
                <a:ea typeface="Inter"/>
              </a:rPr>
              <a:t>ONE SUBJECT · THREE SIGNALS</a:t>
            </a:r>
            <a:endParaRPr lang="en-US"/>
          </a:p>
        </p:txBody>
      </p:sp>
      <p:sp>
        <p:nvSpPr>
          <p:cNvPr id="22" name="evidence-image-rule"/>
          <p:cNvSpPr/>
          <p:nvPr/>
        </p:nvSpPr>
        <p:spPr>
          <a:xfrm xmlns:a="http://schemas.openxmlformats.org/drawingml/2006/main">
            <a:off x="1333500" y="56197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evidence-image-note"/>
          <p:cNvSpPr txBox="1"/>
          <p:nvPr/>
        </p:nvSpPr>
        <p:spPr>
          <a:xfrm xmlns:a="http://schemas.openxmlformats.org/drawingml/2006/main">
            <a:off x="1333500" y="5810250"/>
            <a:ext cx="647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FFFFF"/>
                </a:solidFill>
                <a:latin typeface="Inter"/>
                <a:ea typeface="Inter"/>
              </a:rPr>
              <a:t>The image carries the story; the label carries the claim.</a:t>
            </a:r>
            <a:endParaRPr lang="en-US"/>
          </a:p>
        </p:txBody>
      </p:sp>
      <p:sp>
        <p:nvSpPr>
          <p:cNvPr id="24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D53A45"/>
                </a:solidFill>
                <a:latin typeface="Inter"/>
                <a:ea typeface="Inter"/>
              </a:rPr>
              <a:t>68</a:t>
            </a:r>
            <a:endParaRPr lang="en-US"/>
          </a:p>
        </p:txBody>
      </p:sp>
      <p:sp>
        <p:nvSpPr>
          <p:cNvPr id="25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D7D7B"/>
                </a:solidFill>
                <a:latin typeface="Inter"/>
                <a:ea typeface="Inter"/>
              </a:rPr>
              <a:t>qualified response · campaign close</a:t>
            </a:r>
            <a:endParaRPr lang="en-US"/>
          </a:p>
        </p:txBody>
      </p:sp>
      <p:sp>
        <p:nvSpPr>
          <p:cNvPr id="26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D7D7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2F0EA"/>
                </a:solidFill>
                <a:latin typeface="Inter"/>
                <a:ea typeface="Inter"/>
              </a:rPr>
              <a:t>Reach is useful only when the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F2F0EA"/>
                </a:solidFill>
                <a:latin typeface="Inter"/>
                <a:ea typeface="Inter"/>
              </a:rPr>
              <a:t>audience can see and take the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F2F0EA"/>
                </a:solidFill>
                <a:latin typeface="Inter"/>
                <a:ea typeface="Inter"/>
              </a:rPr>
              <a:t>next step.</a:t>
            </a:r>
            <a:endParaRPr lang="en-US"/>
          </a:p>
        </p:txBody>
      </p:sp>
      <p:sp>
        <p:nvSpPr>
          <p:cNvPr id="28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F2F0EA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30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31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/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pic>
        <p:nvPicPr>
          <p:cNvPr id="14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fbc298f8d1b7a3c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>
              <a:alpha val="62000"/>
            </a:srgbClr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NOIR FIELD PICTORIAL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D53A45"/>
                </a:solidFill>
                <a:latin typeface="Inter"/>
                <a:ea typeface="Inter"/>
              </a:rPr>
              <a:t>NOIR FIELD PICTORIAL · DETAIL</a:t>
            </a:r>
            <a:endParaRPr lang="en-US"/>
          </a:p>
        </p:txBody>
      </p:sp>
      <p:sp>
        <p:nvSpPr>
          <p:cNvPr id="18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same idea can hold several views</a:t>
            </a:r>
            <a:endParaRPr lang="en-US"/>
          </a:p>
        </p:txBody>
      </p:sp>
      <p:sp>
        <p:nvSpPr>
          <p:cNvPr id="19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Unequal image frames · visual variety without decorative filler.</a:t>
            </a:r>
            <a:endParaRPr lang="en-US"/>
          </a:p>
        </p:txBody>
      </p:sp>
      <p:pic>
        <p:nvPicPr>
          <p:cNvPr id="20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3b8c33a8fc3d613_1"/>
          <a:srcRect xmlns:a="http://schemas.openxmlformats.org/drawingml/2006/main" l="0" t="31971" r="0" b="319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381250"/>
          </a:xfrm>
          <a:prstGeom xmlns:a="http://schemas.openxmlformats.org/drawingml/2006/main" prst="rect">
            <a:avLst/>
          </a:prstGeom>
        </p:spPr>
      </p:pic>
      <p:pic>
        <p:nvPicPr>
          <p:cNvPr id="21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790b68b5d8fcd92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22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9df32179333a9f35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23" name="image-evidence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bdd32fb5cfa65986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4577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24" name="image-evidence-4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fbc298f8d1b7a3c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4457700"/>
            <a:ext cx="1790700" cy="1123950"/>
          </a:xfrm>
          <a:prstGeom xmlns:a="http://schemas.openxmlformats.org/drawingml/2006/main" prst="rect">
            <a:avLst/>
          </a:prstGeom>
        </p:spPr>
      </p:pic>
      <p:sp>
        <p:nvSpPr>
          <p:cNvPr id="25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IMAGE MATRIX</a:t>
            </a:r>
            <a:endParaRPr lang="en-US"/>
          </a:p>
        </p:txBody>
      </p:sp>
      <p:sp>
        <p:nvSpPr>
          <p:cNvPr id="26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F2F0EA"/>
                </a:solidFill>
                <a:latin typeface="Inter"/>
                <a:ea typeface="Inter"/>
              </a:rPr>
              <a:t>One subject, five ways to notice it.</a:t>
            </a:r>
            <a:endParaRPr lang="en-US"/>
          </a:p>
        </p:txBody>
      </p:sp>
      <p:sp>
        <p:nvSpPr>
          <p:cNvPr id="27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D7D7B"/>
                </a:solidFill>
                <a:latin typeface="Inter"/>
                <a:ea typeface="Inter"/>
              </a:rPr>
              <a:t>One dominant frame plus four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7D7D7B"/>
                </a:solidFill>
                <a:latin typeface="Inter"/>
                <a:ea typeface="Inter"/>
              </a:rPr>
              <a:t>supporting crops. Image carries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7D7D7B"/>
                </a:solidFill>
                <a:latin typeface="Inter"/>
                <a:ea typeface="Inter"/>
              </a:rPr>
              <a:t>mood; labels carry the claim.</a:t>
            </a:r>
            <a:endParaRPr lang="en-US"/>
          </a:p>
        </p:txBody>
      </p:sp>
      <p:sp>
        <p:nvSpPr>
          <p:cNvPr id="2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33b8c33a8fc3d613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3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88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D53A45"/>
                </a:solidFill>
                <a:latin typeface="Inter"/>
                <a:ea typeface="Inter"/>
              </a:rPr>
              <a:t>NOIR FIELD PICTORIAL · VISUAL CARRIER</a:t>
            </a:r>
            <a:endParaRPr lang="en-US"/>
          </a:p>
        </p:txBody>
      </p:sp>
      <p:sp>
        <p:nvSpPr>
          <p:cNvPr id="15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F2F0EA"/>
                </a:solidFill>
                <a:latin typeface="Inter"/>
                <a:ea typeface="Inter"/>
              </a:rPr>
              <a:t>Let the subject do the work</a:t>
            </a:r>
            <a:endParaRPr lang="en-US"/>
          </a:p>
        </p:txBody>
      </p:sp>
      <p:sp>
        <p:nvSpPr>
          <p:cNvPr id="16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F2F0EA"/>
                </a:solidFill>
                <a:latin typeface="Inter"/>
                <a:ea typeface="Inter"/>
              </a:rPr>
              <a:t>A strong crop gives the proposition a place to live.</a:t>
            </a:r>
            <a:endParaRPr lang="en-US"/>
          </a:p>
        </p:txBody>
      </p:sp>
      <p:sp>
        <p:nvSpPr>
          <p:cNvPr id="17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D53A45"/>
                </a:solidFill>
                <a:latin typeface="Inter"/>
                <a:ea typeface="Inter"/>
              </a:rPr>
              <a:t>THE IMAGE IS EVIDENCE, NOT FILL</a:t>
            </a:r>
            <a:endParaRPr lang="en-US"/>
          </a:p>
        </p:txBody>
      </p:sp>
      <p:sp>
        <p:nvSpPr>
          <p:cNvPr id="1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2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7790b68b5d8fcd92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96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pic>
        <p:nvPicPr>
          <p:cNvPr id="14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9df32179333a9f35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>
              <a:alpha val="62000"/>
            </a:srgbClr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NOIR FIELD PICTORIAL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D53A45"/>
                </a:solidFill>
                <a:latin typeface="Inter"/>
                <a:ea typeface="Inter"/>
              </a:rPr>
              <a:t>NOIR FIELD PICTORIAL · CLOSE</a:t>
            </a:r>
            <a:endParaRPr lang="en-US"/>
          </a:p>
        </p:txBody>
      </p:sp>
      <p:sp>
        <p:nvSpPr>
          <p:cNvPr id="18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Turn the shared invitation into an action plan</a:t>
            </a:r>
            <a:endParaRPr lang="en-US"/>
          </a:p>
        </p:txBody>
      </p:sp>
      <p:sp>
        <p:nvSpPr>
          <p:cNvPr id="19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20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D53A45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21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D7D7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0EA"/>
                </a:solidFill>
                <a:latin typeface="Inter"/>
                <a:ea typeface="Inter"/>
              </a:rPr>
              <a:t>Promise</a:t>
            </a:r>
            <a:endParaRPr lang="en-US"/>
          </a:p>
        </p:txBody>
      </p:sp>
      <p:sp>
        <p:nvSpPr>
          <p:cNvPr id="23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0EA"/>
                </a:solidFill>
                <a:latin typeface="Inter"/>
                <a:ea typeface="Inter"/>
              </a:rPr>
              <a:t>The proposition is legible.</a:t>
            </a:r>
            <a:endParaRPr lang="en-US"/>
          </a:p>
        </p:txBody>
      </p:sp>
      <p:sp>
        <p:nvSpPr>
          <p:cNvPr id="24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2F0EA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25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D7D7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0EA"/>
                </a:solidFill>
                <a:latin typeface="Inter"/>
                <a:ea typeface="Inter"/>
              </a:rPr>
              <a:t>Proof</a:t>
            </a:r>
            <a:endParaRPr lang="en-US"/>
          </a:p>
        </p:txBody>
      </p:sp>
      <p:sp>
        <p:nvSpPr>
          <p:cNvPr id="27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0EA"/>
                </a:solidFill>
                <a:latin typeface="Inter"/>
                <a:ea typeface="Inter"/>
              </a:rPr>
              <a:t>The response is measurable.</a:t>
            </a:r>
            <a:endParaRPr lang="en-US"/>
          </a:p>
        </p:txBody>
      </p:sp>
      <p:sp>
        <p:nvSpPr>
          <p:cNvPr id="28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D53A45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9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0EA"/>
                </a:solidFill>
                <a:latin typeface="Inter"/>
                <a:ea typeface="Inter"/>
              </a:rPr>
              <a:t>Move</a:t>
            </a:r>
            <a:endParaRPr lang="en-US"/>
          </a:p>
        </p:txBody>
      </p:sp>
      <p:sp>
        <p:nvSpPr>
          <p:cNvPr id="31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0EA"/>
                </a:solidFill>
                <a:latin typeface="Inter"/>
                <a:ea typeface="Inter"/>
              </a:rPr>
              <a:t>Give the audience one action.</a:t>
            </a:r>
            <a:endParaRPr lang="en-US"/>
          </a:p>
        </p:txBody>
      </p:sp>
      <p:sp>
        <p:nvSpPr>
          <p:cNvPr id="32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34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F2F0EA"/>
                </a:solidFill>
                <a:latin typeface="Inter"/>
                <a:ea typeface="Inter"/>
              </a:rPr>
              <a:t>Publish the invitation</a:t>
            </a:r>
            <a:endParaRPr lang="en-US"/>
          </a:p>
        </p:txBody>
      </p:sp>
      <p:sp>
        <p:nvSpPr>
          <p:cNvPr id="35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D7D7B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3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