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e48b11f1bbe548e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7790b68b5d8fcd92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c237998db8bee20d_1" /><Relationship Type="http://schemas.openxmlformats.org/officeDocument/2006/relationships/image" Target="/ppt/media/image3.jpg" Id="rIdOfficeKitImaged71bfa074cda59bb_1" /><Relationship Type="http://schemas.openxmlformats.org/officeDocument/2006/relationships/image" Target="/ppt/media/image4.jpg" Id="rIdOfficeKitImage8fbc298f8d1b7a3c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6af8c9b5dff6e3a3_1" /><Relationship Type="http://schemas.openxmlformats.org/officeDocument/2006/relationships/image" Target="/ppt/media/image6.jpg" Id="rIdOfficeKitImage2930549abca3ae00_1" /><Relationship Type="http://schemas.openxmlformats.org/officeDocument/2006/relationships/image" Target="/ppt/media/image7.jpg" Id="rIdOfficeKitImage33b8c33a8fc3d613_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8.jpg" Id="rIdOfficeKitImage31956823b229fb66_1" /><Relationship Type="http://schemas.openxmlformats.org/officeDocument/2006/relationships/image" Target="/ppt/media/image9.jpg" Id="rIdOfficeKitImagec7b73f8fac405495_1" /><Relationship Type="http://schemas.openxmlformats.org/officeDocument/2006/relationships/image" Target="/ppt/media/image10.jpg" Id="rIdOfficeKitImage59ee3aa5202fd02f_1" /><Relationship Type="http://schemas.openxmlformats.org/officeDocument/2006/relationships/image" Target="/ppt/media/image11.jpg" Id="rIdOfficeKitImageaeb6f74d36d260d0_1" /><Relationship Type="http://schemas.openxmlformats.org/officeDocument/2006/relationships/image" Target="/ppt/media/image12.jpg" Id="rIdOfficeKitImage13db13f70d7843cc_1" /><Relationship Type="http://schemas.openxmlformats.org/officeDocument/2006/relationships/image" Target="/ppt/media/image.jpg" Id="rIdOfficeKitImage7790b68b5d8fcd92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c237998db8bee20d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d71bfa074cda59bb_1" /><Relationship Type="http://schemas.openxmlformats.org/officeDocument/2006/relationships/image" Target="/ppt/media/image4.jpg" Id="rIdOfficeKitImage8fbc298f8d1b7a3c_1" /></Relationships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7790b68b5d8fcd92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ditorial-cover-scrim"/>
          <p:cNvSpPr/>
          <p:nvPr/>
        </p:nvSpPr>
        <p:spPr>
          <a:xfrm xmlns:a="http://schemas.openxmlformats.org/drawingml/2006/main">
            <a:off x="0" y="0"/>
            <a:ext cx="7239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>
              <a:alpha val="84000"/>
            </a:srgbClr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80010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D53A45"/>
                </a:solidFill>
                <a:latin typeface="Inter"/>
                <a:ea typeface="Inter"/>
              </a:rPr>
              <a:t>PROMOTION · OFFICEKIT CALIBRATION</a:t>
            </a:r>
            <a:endParaRPr lang="en-US"/>
          </a:p>
        </p:txBody>
      </p:sp>
      <p:sp>
        <p:nvSpPr>
          <p:cNvPr id="4" name="cover-title"/>
          <p:cNvSpPr txBox="1"/>
          <p:nvPr/>
        </p:nvSpPr>
        <p:spPr>
          <a:xfrm xmlns:a="http://schemas.openxmlformats.org/drawingml/2006/main">
            <a:off x="914400" y="1962150"/>
            <a:ext cx="5810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FFFFF"/>
                </a:solidFill>
                <a:latin typeface="Inter"/>
                <a:ea typeface="Inter"/>
              </a:rPr>
              <a:t>Noir Field Pictorial: a claim worth testing</a:t>
            </a:r>
            <a:endParaRPr lang="en-US"/>
          </a:p>
        </p:txBody>
      </p:sp>
      <p:sp>
        <p:nvSpPr>
          <p:cNvPr id="5" name="cover-subtitle"/>
          <p:cNvSpPr txBox="1"/>
          <p:nvPr/>
        </p:nvSpPr>
        <p:spPr>
          <a:xfrm xmlns:a="http://schemas.openxmlformats.org/drawingml/2006/main">
            <a:off x="952500" y="36385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F0F2F2"/>
                </a:solidFill>
                <a:latin typeface="Inter"/>
                <a:ea typeface="Inter"/>
              </a:rPr>
              <a:t>A clean-room reference for a visual proposition.</a:t>
            </a:r>
            <a:endParaRPr lang="en-US"/>
          </a:p>
        </p:txBody>
      </p:sp>
      <p:sp>
        <p:nvSpPr>
          <p:cNvPr id="6" name="cover-photo-rule"/>
          <p:cNvSpPr/>
          <p:nvPr/>
        </p:nvSpPr>
        <p:spPr>
          <a:xfrm xmlns:a="http://schemas.openxmlformats.org/drawingml/2006/main">
            <a:off x="914400" y="4533900"/>
            <a:ext cx="489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cover-thesis"/>
          <p:cNvSpPr txBox="1"/>
          <p:nvPr/>
        </p:nvSpPr>
        <p:spPr>
          <a:xfrm xmlns:a="http://schemas.openxmlformats.org/drawingml/2006/main">
            <a:off x="952500" y="4895850"/>
            <a:ext cx="571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950" b="1">
                <a:solidFill>
                  <a:srgbClr val="FFFFFF"/>
                </a:solidFill>
                <a:latin typeface="Inter"/>
                <a:ea typeface="Inter"/>
              </a:rPr>
              <a:t>A proposition earns attention when it gives a next move.</a:t>
            </a:r>
            <a:endParaRPr lang="en-US"/>
          </a:p>
        </p:txBody>
      </p:sp>
      <p:sp>
        <p:nvSpPr>
          <p:cNvPr id="8" name="cover-source"/>
          <p:cNvSpPr txBox="1"/>
          <p:nvPr/>
        </p:nvSpPr>
        <p:spPr>
          <a:xfrm xmlns:a="http://schemas.openxmlformats.org/drawingml/2006/main">
            <a:off x="952500" y="73342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F0F2F2"/>
                </a:solidFill>
                <a:latin typeface="Inter"/>
                <a:ea typeface="Inter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F0F2F2"/>
                </a:solidFill>
                <a:latin typeface="Inter"/>
                <a:ea typeface="Inter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bg>
      <p:bgPr>
        <a:blipFill xmlns:a="http://schemas.openxmlformats.org/drawingml/2006/main">
          <a:blip xmlns:r="http://schemas.openxmlformats.org/officeDocument/2006/relationships" r:embed="rIdOfficeKitImagec237998db8bee20d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rgument-paper-scrim"/>
          <p:cNvSpPr/>
          <p:nvPr/>
        </p:nvSpPr>
        <p:spPr>
          <a:xfrm xmlns:a="http://schemas.openxmlformats.org/drawingml/2006/main">
            <a:off x="0" y="0"/>
            <a:ext cx="8191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>
              <a:alpha val="96000"/>
            </a:srgbClr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3A45"/>
          </a:solidFill>
          <a:ln xmlns:a="http://schemas.openxmlformats.org/drawingml/2006/main" w="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/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pic>
        <p:nvPicPr>
          <p:cNvPr id="14" name="argument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71bfa074cda59bb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argument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>
              <a:alpha val="62000"/>
            </a:srgbClr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rgument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NOIR FIELD PICTORIAL · ARGUMENT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D53A45"/>
                </a:solidFill>
                <a:latin typeface="Inter"/>
                <a:ea typeface="Inter"/>
              </a:rPr>
              <a:t>NOIR FIELD PICTORIAL · ARGUMENT</a:t>
            </a:r>
            <a:endParaRPr lang="en-US"/>
          </a:p>
        </p:txBody>
      </p:sp>
      <p:sp>
        <p:nvSpPr>
          <p:cNvPr id="18" name="argument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The proposition is the page's visual center</a:t>
            </a:r>
            <a:endParaRPr lang="en-US"/>
          </a:p>
        </p:txBody>
      </p:sp>
      <p:sp>
        <p:nvSpPr>
          <p:cNvPr id="19" name="argument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20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D53A45"/>
                </a:solidFill>
                <a:latin typeface="Inter"/>
                <a:ea typeface="Inter"/>
              </a:rPr>
              <a:t>ONE PROPOSITION</a:t>
            </a:r>
            <a:endParaRPr lang="en-US"/>
          </a:p>
        </p:txBody>
      </p:sp>
      <p:sp>
        <p:nvSpPr>
          <p:cNvPr id="21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F2F0EA"/>
                </a:solidFill>
                <a:latin typeface="Inter"/>
                <a:ea typeface="Inter"/>
              </a:rPr>
              <a:t>Make the next action visible.</a:t>
            </a:r>
            <a:endParaRPr lang="en-US"/>
          </a:p>
        </p:txBody>
      </p:sp>
      <p:sp>
        <p:nvSpPr>
          <p:cNvPr id="22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F2F0EA"/>
                </a:solidFill>
                <a:latin typeface="Inter"/>
                <a:ea typeface="Inter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23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8fbc298f8d1b7a3c_1"/>
          <a:srcRect xmlns:a="http://schemas.openxmlformats.org/drawingml/2006/main" l="0" t="31920" r="0" b="3192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3143250"/>
            <a:ext cx="4000500" cy="2571750"/>
          </a:xfrm>
          <a:prstGeom xmlns:a="http://schemas.openxmlformats.org/drawingml/2006/main" prst="rect">
            <a:avLst/>
          </a:prstGeom>
        </p:spPr>
      </p:pic>
      <p:sp>
        <p:nvSpPr>
          <p:cNvPr id="24" name="promotion-image-rule"/>
          <p:cNvSpPr/>
          <p:nvPr/>
        </p:nvSpPr>
        <p:spPr>
          <a:xfrm xmlns:a="http://schemas.openxmlformats.org/drawingml/2006/main">
            <a:off x="9525000" y="59055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motion-image-label"/>
          <p:cNvSpPr txBox="1"/>
          <p:nvPr/>
        </p:nvSpPr>
        <p:spPr>
          <a:xfrm xmlns:a="http://schemas.openxmlformats.org/drawingml/2006/main">
            <a:off x="9525000" y="6153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D53A45"/>
                </a:solidFill>
                <a:latin typeface="Inter"/>
                <a:ea typeface="Inter"/>
              </a:rPr>
              <a:t>INVITE · PROVE · MOVE</a:t>
            </a:r>
            <a:endParaRPr lang="en-US"/>
          </a:p>
        </p:txBody>
      </p:sp>
      <p:sp>
        <p:nvSpPr>
          <p:cNvPr id="26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7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bg>
      <p:bgPr>
        <a:blipFill xmlns:a="http://schemas.openxmlformats.org/drawingml/2006/main">
          <a:blip xmlns:r="http://schemas.openxmlformats.org/officeDocument/2006/relationships" r:embed="rIdOfficeKitImage6af8c9b5dff6e3a3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vidence-paper-scrim"/>
          <p:cNvSpPr/>
          <p:nvPr/>
        </p:nvSpPr>
        <p:spPr>
          <a:xfrm xmlns:a="http://schemas.openxmlformats.org/drawingml/2006/main">
            <a:off x="0" y="0"/>
            <a:ext cx="8191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>
              <a:alpha val="96000"/>
            </a:srgbClr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3A45"/>
          </a:solidFill>
          <a:ln xmlns:a="http://schemas.openxmlformats.org/drawingml/2006/main" w="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/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pic>
        <p:nvPicPr>
          <p:cNvPr id="14" name="evidenc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2930549abca3ae00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evidenc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>
              <a:alpha val="62000"/>
            </a:srgbClr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evidenc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NOIR FIELD PICTORIAL · EVIDENC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D53A45"/>
                </a:solidFill>
                <a:latin typeface="Inter"/>
                <a:ea typeface="Inter"/>
              </a:rPr>
              <a:t>NOIR FIELD PICTORIAL · EVIDENCE</a:t>
            </a:r>
            <a:endParaRPr lang="en-US"/>
          </a:p>
        </p:txBody>
      </p:sp>
      <p:sp>
        <p:nvSpPr>
          <p:cNvPr id="18" name="evidenc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The signal grows when the invitation stays measurable</a:t>
            </a:r>
            <a:endParaRPr lang="en-US"/>
          </a:p>
        </p:txBody>
      </p:sp>
      <p:sp>
        <p:nvSpPr>
          <p:cNvPr id="19" name="evidenc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Illustrative reach and response · source and measurement convention remain attached.</a:t>
            </a:r>
            <a:endParaRPr lang="en-US"/>
          </a:p>
        </p:txBody>
      </p:sp>
      <p:pic>
        <p:nvPicPr>
          <p:cNvPr id="20" name="evidence-image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33b8c33a8fc3d613_1"/>
          <a:srcRect xmlns:a="http://schemas.openxmlformats.org/drawingml/2006/main" l="0" t="39326" r="0" b="3932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1047750" y="3048000"/>
            <a:ext cx="7905750" cy="3000375"/>
          </a:xfrm>
          <a:prstGeom xmlns:a="http://schemas.openxmlformats.org/drawingml/2006/main" prst="rect">
            <a:avLst/>
          </a:prstGeom>
        </p:spPr>
      </p:pic>
      <p:sp>
        <p:nvSpPr>
          <p:cNvPr id="21" name="evidence-image-caption"/>
          <p:cNvSpPr txBox="1"/>
          <p:nvPr/>
        </p:nvSpPr>
        <p:spPr>
          <a:xfrm xmlns:a="http://schemas.openxmlformats.org/drawingml/2006/main">
            <a:off x="1333500" y="33337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FFFFF"/>
                </a:solidFill>
                <a:latin typeface="Inter"/>
                <a:ea typeface="Inter"/>
              </a:rPr>
              <a:t>ONE SUBJECT · THREE SIGNALS</a:t>
            </a:r>
            <a:endParaRPr lang="en-US"/>
          </a:p>
        </p:txBody>
      </p:sp>
      <p:sp>
        <p:nvSpPr>
          <p:cNvPr id="22" name="evidence-image-rule"/>
          <p:cNvSpPr/>
          <p:nvPr/>
        </p:nvSpPr>
        <p:spPr>
          <a:xfrm xmlns:a="http://schemas.openxmlformats.org/drawingml/2006/main">
            <a:off x="1333500" y="561975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evidence-image-note"/>
          <p:cNvSpPr txBox="1"/>
          <p:nvPr/>
        </p:nvSpPr>
        <p:spPr>
          <a:xfrm xmlns:a="http://schemas.openxmlformats.org/drawingml/2006/main">
            <a:off x="1333500" y="5810250"/>
            <a:ext cx="647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FFFFF"/>
                </a:solidFill>
                <a:latin typeface="Inter"/>
                <a:ea typeface="Inter"/>
              </a:rPr>
              <a:t>The image carries the story; the label carries the claim.</a:t>
            </a:r>
            <a:endParaRPr lang="en-US"/>
          </a:p>
        </p:txBody>
      </p:sp>
      <p:sp>
        <p:nvSpPr>
          <p:cNvPr id="24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D53A45"/>
                </a:solidFill>
                <a:latin typeface="Inter"/>
                <a:ea typeface="Inter"/>
              </a:rPr>
              <a:t>68</a:t>
            </a:r>
            <a:endParaRPr lang="en-US"/>
          </a:p>
        </p:txBody>
      </p:sp>
      <p:sp>
        <p:nvSpPr>
          <p:cNvPr id="25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D7D7B"/>
                </a:solidFill>
                <a:latin typeface="Inter"/>
                <a:ea typeface="Inter"/>
              </a:rPr>
              <a:t>qualified response · campaign close</a:t>
            </a:r>
            <a:endParaRPr lang="en-US"/>
          </a:p>
        </p:txBody>
      </p:sp>
      <p:sp>
        <p:nvSpPr>
          <p:cNvPr id="26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D7D7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F2F0EA"/>
                </a:solidFill>
                <a:latin typeface="Inter"/>
                <a:ea typeface="Inter"/>
              </a:rPr>
              <a:t>Reach is useful only when the</a:t>
            </a:r>
            <a:endParaRPr lang="en-US"/>
          </a:p>
          <a:p xmlns:a="http://schemas.openxmlformats.org/drawingml/2006/main">
            <a:r>
              <a:rPr lang="en-US" sz="1350" b="1">
                <a:solidFill>
                  <a:srgbClr val="F2F0EA"/>
                </a:solidFill>
                <a:latin typeface="Inter"/>
                <a:ea typeface="Inter"/>
              </a:rPr>
              <a:t>audience can see and take the</a:t>
            </a:r>
            <a:endParaRPr lang="en-US"/>
          </a:p>
          <a:p xmlns:a="http://schemas.openxmlformats.org/drawingml/2006/main">
            <a:r>
              <a:rPr lang="en-US" sz="1350" b="1">
                <a:solidFill>
                  <a:srgbClr val="F2F0EA"/>
                </a:solidFill>
                <a:latin typeface="Inter"/>
                <a:ea typeface="Inter"/>
              </a:rPr>
              <a:t>next step.</a:t>
            </a:r>
            <a:endParaRPr lang="en-US"/>
          </a:p>
        </p:txBody>
      </p:sp>
      <p:sp>
        <p:nvSpPr>
          <p:cNvPr id="28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F2F0EA"/>
                </a:solidFill>
                <a:latin typeface="Inter"/>
                <a:ea typeface="Inter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30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31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/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3A45"/>
          </a:solidFill>
          <a:ln xmlns:a="http://schemas.openxmlformats.org/drawingml/2006/main" w="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/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pic>
        <p:nvPicPr>
          <p:cNvPr id="14" name="detai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31956823b229fb66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detai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>
              <a:alpha val="62000"/>
            </a:srgbClr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detai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NOIR FIELD PICTORIAL · DETAIL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D53A45"/>
                </a:solidFill>
                <a:latin typeface="Inter"/>
                <a:ea typeface="Inter"/>
              </a:rPr>
              <a:t>NOIR FIELD PICTORIAL · DETAIL</a:t>
            </a:r>
            <a:endParaRPr lang="en-US"/>
          </a:p>
        </p:txBody>
      </p:sp>
      <p:sp>
        <p:nvSpPr>
          <p:cNvPr id="18" name="detai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The same idea can hold several views</a:t>
            </a:r>
            <a:endParaRPr lang="en-US"/>
          </a:p>
        </p:txBody>
      </p:sp>
      <p:sp>
        <p:nvSpPr>
          <p:cNvPr id="19" name="detail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Unequal image frames · visual variety without decorative filler.</a:t>
            </a:r>
            <a:endParaRPr lang="en-US"/>
          </a:p>
        </p:txBody>
      </p:sp>
      <p:pic>
        <p:nvPicPr>
          <p:cNvPr id="20" name="image-evidence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7b73f8fac405495_1"/>
          <a:srcRect xmlns:a="http://schemas.openxmlformats.org/drawingml/2006/main" l="0" t="31962" r="0" b="31962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90600" y="3162300"/>
            <a:ext cx="3714750" cy="2381250"/>
          </a:xfrm>
          <a:prstGeom xmlns:a="http://schemas.openxmlformats.org/drawingml/2006/main" prst="rect">
            <a:avLst/>
          </a:prstGeom>
        </p:spPr>
      </p:pic>
      <p:pic>
        <p:nvPicPr>
          <p:cNvPr id="21" name="image-evidence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59ee3aa5202fd02f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22" name="image-evidence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aeb6f74d36d260d0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23" name="image-evidence-3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13db13f70d7843cc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 flipH="1">
            <a:off x="4895850" y="44577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24" name="image-evidence-4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7790b68b5d8fcd92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4457700"/>
            <a:ext cx="1790700" cy="1123950"/>
          </a:xfrm>
          <a:prstGeom xmlns:a="http://schemas.openxmlformats.org/drawingml/2006/main" prst="rect">
            <a:avLst/>
          </a:prstGeom>
        </p:spPr>
      </p:pic>
      <p:sp>
        <p:nvSpPr>
          <p:cNvPr id="25" name="image-matrix-label"/>
          <p:cNvSpPr txBox="1"/>
          <p:nvPr/>
        </p:nvSpPr>
        <p:spPr>
          <a:xfrm xmlns:a="http://schemas.openxmlformats.org/drawingml/2006/main">
            <a:off x="9620250" y="3314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D53A45"/>
                </a:solidFill>
                <a:latin typeface="Inter"/>
                <a:ea typeface="Inter"/>
              </a:rPr>
              <a:t>IMAGE MATRIX</a:t>
            </a:r>
            <a:endParaRPr lang="en-US"/>
          </a:p>
        </p:txBody>
      </p:sp>
      <p:sp>
        <p:nvSpPr>
          <p:cNvPr id="26" name="image-matrix-title"/>
          <p:cNvSpPr txBox="1"/>
          <p:nvPr/>
        </p:nvSpPr>
        <p:spPr>
          <a:xfrm xmlns:a="http://schemas.openxmlformats.org/drawingml/2006/main">
            <a:off x="9620250" y="3790950"/>
            <a:ext cx="3714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F2F0EA"/>
                </a:solidFill>
                <a:latin typeface="Inter"/>
                <a:ea typeface="Inter"/>
              </a:rPr>
              <a:t>One subject, five ways to notice it.</a:t>
            </a:r>
            <a:endParaRPr lang="en-US"/>
          </a:p>
        </p:txBody>
      </p:sp>
      <p:sp>
        <p:nvSpPr>
          <p:cNvPr id="27" name="image-matrix-body"/>
          <p:cNvSpPr txBox="1"/>
          <p:nvPr/>
        </p:nvSpPr>
        <p:spPr>
          <a:xfrm xmlns:a="http://schemas.openxmlformats.org/drawingml/2006/main">
            <a:off x="9620250" y="4953000"/>
            <a:ext cx="352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D7D7B"/>
                </a:solidFill>
                <a:latin typeface="Inter"/>
                <a:ea typeface="Inter"/>
              </a:rPr>
              <a:t>One dominant frame plus four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7D7D7B"/>
                </a:solidFill>
                <a:latin typeface="Inter"/>
                <a:ea typeface="Inter"/>
              </a:rPr>
              <a:t>supporting crops. Image carries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7D7D7B"/>
                </a:solidFill>
                <a:latin typeface="Inter"/>
                <a:ea typeface="Inter"/>
              </a:rPr>
              <a:t>mood; labels carry the claim.</a:t>
            </a:r>
            <a:endParaRPr lang="en-US"/>
          </a:p>
        </p:txBody>
      </p:sp>
      <p:sp>
        <p:nvSpPr>
          <p:cNvPr id="2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2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c237998db8bee20d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3A45"/>
          </a:solidFill>
          <a:ln xmlns:a="http://schemas.openxmlformats.org/drawingml/2006/main" w="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5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7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/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9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1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3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>
              <a:alpha val="88000"/>
            </a:srgbClr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D53A45"/>
                </a:solidFill>
                <a:latin typeface="Inter"/>
                <a:ea typeface="Inter"/>
              </a:rPr>
              <a:t>NOIR FIELD PICTORIAL · VISUAL CARRIER</a:t>
            </a:r>
            <a:endParaRPr lang="en-US"/>
          </a:p>
        </p:txBody>
      </p:sp>
      <p:sp>
        <p:nvSpPr>
          <p:cNvPr id="15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F2F0EA"/>
                </a:solidFill>
                <a:latin typeface="Inter"/>
                <a:ea typeface="Inter"/>
              </a:rPr>
              <a:t>Let the subject do the work</a:t>
            </a:r>
            <a:endParaRPr lang="en-US"/>
          </a:p>
        </p:txBody>
      </p:sp>
      <p:sp>
        <p:nvSpPr>
          <p:cNvPr id="16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F2F0EA"/>
                </a:solidFill>
                <a:latin typeface="Inter"/>
                <a:ea typeface="Inter"/>
              </a:rPr>
              <a:t>A strong crop gives the proposition a place to live.</a:t>
            </a:r>
            <a:endParaRPr lang="en-US"/>
          </a:p>
        </p:txBody>
      </p:sp>
      <p:sp>
        <p:nvSpPr>
          <p:cNvPr id="17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D53A45"/>
                </a:solidFill>
                <a:latin typeface="Inter"/>
                <a:ea typeface="Inter"/>
              </a:rPr>
              <a:t>THE IMAGE IS EVIDENCE, NOT FILL</a:t>
            </a:r>
            <a:endParaRPr lang="en-US"/>
          </a:p>
        </p:txBody>
      </p:sp>
      <p:sp>
        <p:nvSpPr>
          <p:cNvPr id="19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20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bg>
      <p:bgPr>
        <a:blipFill xmlns:a="http://schemas.openxmlformats.org/drawingml/2006/main">
          <a:blip xmlns:r="http://schemas.openxmlformats.org/officeDocument/2006/relationships" r:embed="rIdOfficeKitImaged71bfa074cda59bb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lose-paper-scrim"/>
          <p:cNvSpPr/>
          <p:nvPr/>
        </p:nvSpPr>
        <p:spPr>
          <a:xfrm xmlns:a="http://schemas.openxmlformats.org/drawingml/2006/main">
            <a:off x="0" y="0"/>
            <a:ext cx="8191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>
              <a:alpha val="96000"/>
            </a:srgbClr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3A45"/>
          </a:solidFill>
          <a:ln xmlns:a="http://schemas.openxmlformats.org/drawingml/2006/main" w="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/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pic>
        <p:nvPicPr>
          <p:cNvPr id="14" name="clos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8fbc298f8d1b7a3c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clos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>
              <a:alpha val="62000"/>
            </a:srgbClr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clos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NOIR FIELD PICTORIAL · CLOS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D53A45"/>
                </a:solidFill>
                <a:latin typeface="Inter"/>
                <a:ea typeface="Inter"/>
              </a:rPr>
              <a:t>NOIR FIELD PICTORIAL · CLOSE</a:t>
            </a:r>
            <a:endParaRPr lang="en-US"/>
          </a:p>
        </p:txBody>
      </p:sp>
      <p:sp>
        <p:nvSpPr>
          <p:cNvPr id="18" name="clos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Turn the shared invitation into an action plan</a:t>
            </a:r>
            <a:endParaRPr lang="en-US"/>
          </a:p>
        </p:txBody>
      </p:sp>
      <p:sp>
        <p:nvSpPr>
          <p:cNvPr id="19" name="clos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20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D53A45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21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D7D7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2F0EA"/>
                </a:solidFill>
                <a:latin typeface="Inter"/>
                <a:ea typeface="Inter"/>
              </a:rPr>
              <a:t>Promise</a:t>
            </a:r>
            <a:endParaRPr lang="en-US"/>
          </a:p>
        </p:txBody>
      </p:sp>
      <p:sp>
        <p:nvSpPr>
          <p:cNvPr id="23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2F0EA"/>
                </a:solidFill>
                <a:latin typeface="Inter"/>
                <a:ea typeface="Inter"/>
              </a:rPr>
              <a:t>The proposition is legible.</a:t>
            </a:r>
            <a:endParaRPr lang="en-US"/>
          </a:p>
        </p:txBody>
      </p:sp>
      <p:sp>
        <p:nvSpPr>
          <p:cNvPr id="24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2F0EA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25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D7D7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2F0EA"/>
                </a:solidFill>
                <a:latin typeface="Inter"/>
                <a:ea typeface="Inter"/>
              </a:rPr>
              <a:t>Proof</a:t>
            </a:r>
            <a:endParaRPr lang="en-US"/>
          </a:p>
        </p:txBody>
      </p:sp>
      <p:sp>
        <p:nvSpPr>
          <p:cNvPr id="27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2F0EA"/>
                </a:solidFill>
                <a:latin typeface="Inter"/>
                <a:ea typeface="Inter"/>
              </a:rPr>
              <a:t>The response is measurable.</a:t>
            </a:r>
            <a:endParaRPr lang="en-US"/>
          </a:p>
        </p:txBody>
      </p:sp>
      <p:sp>
        <p:nvSpPr>
          <p:cNvPr id="28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D53A45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29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2F0EA"/>
                </a:solidFill>
                <a:latin typeface="Inter"/>
                <a:ea typeface="Inter"/>
              </a:rPr>
              <a:t>Move</a:t>
            </a:r>
            <a:endParaRPr lang="en-US"/>
          </a:p>
        </p:txBody>
      </p:sp>
      <p:sp>
        <p:nvSpPr>
          <p:cNvPr id="31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2F0EA"/>
                </a:solidFill>
                <a:latin typeface="Inter"/>
                <a:ea typeface="Inter"/>
              </a:rPr>
              <a:t>Give the audience one action.</a:t>
            </a:r>
            <a:endParaRPr lang="en-US"/>
          </a:p>
        </p:txBody>
      </p:sp>
      <p:sp>
        <p:nvSpPr>
          <p:cNvPr id="32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D53A45"/>
                </a:solidFill>
                <a:latin typeface="Inter"/>
                <a:ea typeface="Inter"/>
              </a:rPr>
              <a:t>NEXT MOVE</a:t>
            </a:r>
            <a:endParaRPr lang="en-US"/>
          </a:p>
        </p:txBody>
      </p:sp>
      <p:sp>
        <p:nvSpPr>
          <p:cNvPr id="34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F2F0EA"/>
                </a:solidFill>
                <a:latin typeface="Inter"/>
                <a:ea typeface="Inter"/>
              </a:rPr>
              <a:t>Publish the invitation</a:t>
            </a:r>
            <a:endParaRPr lang="en-US"/>
          </a:p>
        </p:txBody>
      </p:sp>
      <p:sp>
        <p:nvSpPr>
          <p:cNvPr id="35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D7D7B"/>
                </a:solidFill>
                <a:latin typeface="Inter"/>
                <a:ea typeface="Inter"/>
              </a:rPr>
              <a:t>Owner · reviewer · date</a:t>
            </a:r>
            <a:endParaRPr lang="en-US"/>
          </a:p>
        </p:txBody>
      </p:sp>
      <p:sp>
        <p:nvSpPr>
          <p:cNvPr id="3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3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