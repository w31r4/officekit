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7c5c717e17f435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a5c00489db854fa2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a68aebf613832e5f_1" /><Relationship Type="http://schemas.openxmlformats.org/officeDocument/2006/relationships/image" Target="/ppt/media/image3.jpg" Id="rIdOfficeKitImagee231e9493e535fbe_1" /><Relationship Type="http://schemas.openxmlformats.org/officeDocument/2006/relationships/image" Target="/ppt/media/image4.jpg" Id="rIdOfficeKitImageb5a7d66fe0ba8bb7_1" /><Relationship Type="http://schemas.openxmlformats.org/officeDocument/2006/relationships/image" Target="/ppt/media/image5.jpg" Id="rIdOfficeKitImage84ff976f39aab728_1" /><Relationship Type="http://schemas.openxmlformats.org/officeDocument/2006/relationships/image" Target="/ppt/media/image6.jpg" Id="rIdOfficeKitImagefdea69a11126d29b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7.jpg" Id="rIdOfficeKitImagedf986129197cef3b_1" /><Relationship Type="http://schemas.openxmlformats.org/officeDocument/2006/relationships/image" Target="/ppt/media/image8.jpg" Id="rIdOfficeKitImage6a3db1fe43260f32_1" /><Relationship Type="http://schemas.openxmlformats.org/officeDocument/2006/relationships/image" Target="/ppt/media/image9.jpg" Id="rIdOfficeKitImagef4419f659ab3f590_1" /><Relationship Type="http://schemas.openxmlformats.org/officeDocument/2006/relationships/image" Target="/ppt/media/image10.jpg" Id="rIdOfficeKitImagee307d6c31b3d1e07_1" /><Relationship Type="http://schemas.openxmlformats.org/officeDocument/2006/relationships/image" Target="/ppt/media/image11.jpg" Id="rIdOfficeKitImagecb4e39f1eccfa545_1" /><Relationship Type="http://schemas.openxmlformats.org/officeDocument/2006/relationships/image" Target="/ppt/media/image12.jpg" Id="rIdOfficeKitImage10e4539a68783891_1" /><Relationship Type="http://schemas.openxmlformats.org/officeDocument/2006/relationships/image" Target="/ppt/media/image13.jpg" Id="rIdOfficeKitImagee977612ad933c986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4.jpg" Id="rIdOfficeKitImage6785cc6781fd2511_1" /><Relationship Type="http://schemas.openxmlformats.org/officeDocument/2006/relationships/image" Target="/ppt/media/image15.jpg" Id="rIdOfficeKitImaged96cedd8678b85ac_1" /><Relationship Type="http://schemas.openxmlformats.org/officeDocument/2006/relationships/image" Target="/ppt/media/image16.jpg" Id="rIdOfficeKitImage35d943dc999c7d05_1" /><Relationship Type="http://schemas.openxmlformats.org/officeDocument/2006/relationships/image" Target="/ppt/media/image17.jpg" Id="rIdOfficeKitImage06e55191024fa458_1" /><Relationship Type="http://schemas.openxmlformats.org/officeDocument/2006/relationships/image" Target="/ppt/media/image18.jpg" Id="rIdOfficeKitImagefff481b85b8743d2_1" /><Relationship Type="http://schemas.openxmlformats.org/officeDocument/2006/relationships/image" Target="/ppt/media/image19.jpg" Id="rIdOfficeKitImage7acdacea277813e8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0.jpg" Id="rIdOfficeKitImagee930dcb9c6b95953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a5c00489db854fa2_1" /><Relationship Type="http://schemas.openxmlformats.org/officeDocument/2006/relationships/image" Target="/ppt/media/image2.jpg" Id="rIdOfficeKitImagea68aebf613832e5f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a5c00489db854fa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84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2F0EA"/>
                </a:solidFill>
                <a:latin typeface="Inter"/>
                <a:ea typeface="Inter"/>
              </a:rPr>
              <a:t>Noir Field Pictorial: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2F0EA"/>
                </a:solidFill>
                <a:latin typeface="Inter"/>
                <a:ea typeface="Inter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2F0EA"/>
                </a:solidFill>
                <a:latin typeface="Inter"/>
                <a:ea typeface="Inter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2F0EA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2F0EA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a68aebf613832e5f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231e9493e535fbe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ARGUMENT</a:t>
            </a:r>
            <a:endParaRPr lang="en-US"/>
          </a:p>
        </p:txBody>
      </p:sp>
      <p:sp>
        <p:nvSpPr>
          <p:cNvPr id="18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proposition is the page's visual center</a:t>
            </a:r>
            <a:endParaRPr lang="en-US"/>
          </a:p>
        </p:txBody>
      </p:sp>
      <p:sp>
        <p:nvSpPr>
          <p:cNvPr id="19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20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ONE PROPOSITION</a:t>
            </a:r>
            <a:endParaRPr lang="en-US"/>
          </a:p>
        </p:txBody>
      </p:sp>
      <p:sp>
        <p:nvSpPr>
          <p:cNvPr id="21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F2F0EA"/>
                </a:solidFill>
                <a:latin typeface="Inter"/>
                <a:ea typeface="Inter"/>
              </a:rPr>
              <a:t>Make the next action visible.</a:t>
            </a:r>
            <a:endParaRPr lang="en-US"/>
          </a:p>
        </p:txBody>
      </p:sp>
      <p:sp>
        <p:nvSpPr>
          <p:cNvPr id="22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2F0EA"/>
                </a:solidFill>
                <a:latin typeface="Inter"/>
                <a:ea typeface="Inter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23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5a7d66fe0ba8bb7_1"/>
          <a:srcRect xmlns:a="http://schemas.openxmlformats.org/drawingml/2006/main" l="0" t="37411" r="0" b="3741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1790700"/>
          </a:xfrm>
          <a:prstGeom xmlns:a="http://schemas.openxmlformats.org/drawingml/2006/main" prst="rect">
            <a:avLst/>
          </a:prstGeom>
        </p:spPr>
      </p:pic>
      <p:pic>
        <p:nvPicPr>
          <p:cNvPr id="24" name="promotion-detail-frame-on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4ff976f39aab728_1"/>
          <a:srcRect xmlns:a="http://schemas.openxmlformats.org/drawingml/2006/main" l="0" t="34406" r="0" b="3440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5162550"/>
            <a:ext cx="1924050" cy="1066800"/>
          </a:xfrm>
          <a:prstGeom xmlns:a="http://schemas.openxmlformats.org/drawingml/2006/main" prst="rect">
            <a:avLst/>
          </a:prstGeom>
        </p:spPr>
      </p:pic>
      <p:pic>
        <p:nvPicPr>
          <p:cNvPr id="25" name="promotion-detail-frame-two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dea69a11126d29b_1"/>
          <a:srcRect xmlns:a="http://schemas.openxmlformats.org/drawingml/2006/main" l="0" t="34394" r="0" b="3439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1601450" y="5162550"/>
            <a:ext cx="1924050" cy="1066800"/>
          </a:xfrm>
          <a:prstGeom xmlns:a="http://schemas.openxmlformats.org/drawingml/2006/main" prst="rect">
            <a:avLst/>
          </a:prstGeom>
        </p:spPr>
      </p:pic>
      <p:sp>
        <p:nvSpPr>
          <p:cNvPr id="26" name="promotion-image-rule"/>
          <p:cNvSpPr/>
          <p:nvPr/>
        </p:nvSpPr>
        <p:spPr>
          <a:xfrm xmlns:a="http://schemas.openxmlformats.org/drawingml/2006/main">
            <a:off x="9525000" y="64389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promotion-image-label"/>
          <p:cNvSpPr txBox="1"/>
          <p:nvPr/>
        </p:nvSpPr>
        <p:spPr>
          <a:xfrm xmlns:a="http://schemas.openxmlformats.org/drawingml/2006/main">
            <a:off x="9525000" y="66675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D53A45"/>
                </a:solidFill>
                <a:latin typeface="Inter"/>
                <a:ea typeface="Inter"/>
              </a:rPr>
              <a:t>INVITE · PROVE · MOVE</a:t>
            </a:r>
            <a:endParaRPr lang="en-US"/>
          </a:p>
        </p:txBody>
      </p:sp>
      <p:sp>
        <p:nvSpPr>
          <p:cNvPr id="28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df986129197cef3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a3db1fe43260f32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EVIDENCE</a:t>
            </a:r>
            <a:endParaRPr lang="en-US"/>
          </a:p>
        </p:txBody>
      </p:sp>
      <p:sp>
        <p:nvSpPr>
          <p:cNvPr id="18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signal grows when the invitation stays measurable</a:t>
            </a:r>
            <a:endParaRPr lang="en-US"/>
          </a:p>
        </p:txBody>
      </p:sp>
      <p:sp>
        <p:nvSpPr>
          <p:cNvPr id="19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Illustrative reach and response · source and measurement convention remain attached.</a:t>
            </a:r>
            <a:endParaRPr lang="en-US"/>
          </a:p>
        </p:txBody>
      </p:sp>
      <p:pic>
        <p:nvPicPr>
          <p:cNvPr id="20" name="evidence-matrix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4419f659ab3f590_1"/>
          <a:srcRect xmlns:a="http://schemas.openxmlformats.org/drawingml/2006/main" l="0" t="30742" r="0" b="3074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66800" y="3333750"/>
            <a:ext cx="3619500" cy="2476500"/>
          </a:xfrm>
          <a:prstGeom xmlns:a="http://schemas.openxmlformats.org/drawingml/2006/main" prst="rect">
            <a:avLst/>
          </a:prstGeom>
        </p:spPr>
      </p:pic>
      <p:pic>
        <p:nvPicPr>
          <p:cNvPr id="21" name="evidence-matrix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307d6c31b3d1e07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33375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22" name="evidence-matrix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b4e39f1eccfa545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77050" y="333375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23" name="evidence-matrix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0e4539a68783891_1"/>
          <a:srcRect xmlns:a="http://schemas.openxmlformats.org/drawingml/2006/main" l="0" t="31941" r="0" b="3194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64820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24" name="evidence-matrix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977612ad933c986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77050" y="4648200"/>
            <a:ext cx="1809750" cy="1162050"/>
          </a:xfrm>
          <a:prstGeom xmlns:a="http://schemas.openxmlformats.org/drawingml/2006/main" prst="rect">
            <a:avLst/>
          </a:prstGeom>
        </p:spPr>
      </p:pic>
      <p:sp>
        <p:nvSpPr>
          <p:cNvPr id="25" name="matrix-label"/>
          <p:cNvSpPr txBox="1"/>
          <p:nvPr/>
        </p:nvSpPr>
        <p:spPr>
          <a:xfrm xmlns:a="http://schemas.openxmlformats.org/drawingml/2006/main">
            <a:off x="9620250" y="34290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IMAGE EVIDENCE</a:t>
            </a:r>
            <a:endParaRPr lang="en-US"/>
          </a:p>
        </p:txBody>
      </p:sp>
      <p:sp>
        <p:nvSpPr>
          <p:cNvPr id="26" name="matrix-title"/>
          <p:cNvSpPr txBox="1"/>
          <p:nvPr/>
        </p:nvSpPr>
        <p:spPr>
          <a:xfrm xmlns:a="http://schemas.openxmlformats.org/drawingml/2006/main">
            <a:off x="9620250" y="3943350"/>
            <a:ext cx="3619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F2F0EA"/>
                </a:solidFill>
                <a:latin typeface="Inter"/>
                <a:ea typeface="Inter"/>
              </a:rPr>
              <a:t>The same subject can carry several proofs.</a:t>
            </a:r>
            <a:endParaRPr lang="en-US"/>
          </a:p>
        </p:txBody>
      </p:sp>
      <p:sp>
        <p:nvSpPr>
          <p:cNvPr id="27" name="matrix-body"/>
          <p:cNvSpPr txBox="1"/>
          <p:nvPr/>
        </p:nvSpPr>
        <p:spPr>
          <a:xfrm xmlns:a="http://schemas.openxmlformats.org/drawingml/2006/main">
            <a:off x="9620250" y="5048250"/>
            <a:ext cx="3619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D7D7B"/>
                </a:solidFill>
                <a:latin typeface="Inter"/>
                <a:ea typeface="Inter"/>
              </a:rPr>
              <a:t>Use a dominant frame for context and smaller crops for comparable detail. Every image needs a role, source, and readable caption.</a:t>
            </a:r>
            <a:endParaRPr lang="en-US"/>
          </a:p>
        </p:txBody>
      </p:sp>
      <p:sp>
        <p:nvSpPr>
          <p:cNvPr id="28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2F0E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/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785cc6781fd2511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DETAIL</a:t>
            </a:r>
            <a:endParaRPr lang="en-US"/>
          </a:p>
        </p:txBody>
      </p:sp>
      <p:sp>
        <p:nvSpPr>
          <p:cNvPr id="18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same idea can hold several views</a:t>
            </a:r>
            <a:endParaRPr lang="en-US"/>
          </a:p>
        </p:txBody>
      </p:sp>
      <p:sp>
        <p:nvSpPr>
          <p:cNvPr id="19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Unequal image frames · visual variety without decorative filler.</a:t>
            </a:r>
            <a:endParaRPr lang="en-US"/>
          </a:p>
        </p:txBody>
      </p:sp>
      <p:pic>
        <p:nvPicPr>
          <p:cNvPr id="20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96cedd8678b85ac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21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5d943dc999c7d05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22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6e55191024fa458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23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ff481b85b8743d2_1"/>
          <a:srcRect xmlns:a="http://schemas.openxmlformats.org/drawingml/2006/main" l="0" t="32333" r="0" b="3233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24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acdacea277813e8_1"/>
          <a:srcRect xmlns:a="http://schemas.openxmlformats.org/drawingml/2006/main" l="0" t="32333" r="0" b="3233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25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IMAGE MATRIX</a:t>
            </a:r>
            <a:endParaRPr lang="en-US"/>
          </a:p>
        </p:txBody>
      </p:sp>
      <p:sp>
        <p:nvSpPr>
          <p:cNvPr id="26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2F0EA"/>
                </a:solidFill>
                <a:latin typeface="Inter"/>
                <a:ea typeface="Inter"/>
              </a:rPr>
              <a:t>One subject, five ways to notice it.</a:t>
            </a:r>
            <a:endParaRPr lang="en-US"/>
          </a:p>
        </p:txBody>
      </p:sp>
      <p:sp>
        <p:nvSpPr>
          <p:cNvPr id="27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D7D7B"/>
                </a:solidFill>
                <a:latin typeface="Inter"/>
                <a:ea typeface="Inter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D7D7B"/>
                </a:solidFill>
                <a:latin typeface="Inter"/>
                <a:ea typeface="Inter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D7D7B"/>
                </a:solidFill>
                <a:latin typeface="Inter"/>
                <a:ea typeface="Inter"/>
              </a:rPr>
              <a:t>mood; labels carry the claim.</a:t>
            </a:r>
            <a:endParaRPr lang="en-US"/>
          </a:p>
        </p:txBody>
      </p:sp>
      <p:sp>
        <p:nvSpPr>
          <p:cNvPr id="2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e930dcb9c6b9595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3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88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NOIR FIELD PICTORIAL · VISUAL CARRIER</a:t>
            </a:r>
            <a:endParaRPr lang="en-US"/>
          </a:p>
        </p:txBody>
      </p:sp>
      <p:sp>
        <p:nvSpPr>
          <p:cNvPr id="15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F2F0EA"/>
                </a:solidFill>
                <a:latin typeface="Inter"/>
                <a:ea typeface="Inter"/>
              </a:rPr>
              <a:t>Let the subject do the work</a:t>
            </a:r>
            <a:endParaRPr lang="en-US"/>
          </a:p>
        </p:txBody>
      </p:sp>
      <p:sp>
        <p:nvSpPr>
          <p:cNvPr id="16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2F0EA"/>
                </a:solidFill>
                <a:latin typeface="Inter"/>
                <a:ea typeface="Inter"/>
              </a:rPr>
              <a:t>A strong crop gives the proposition a place to live.</a:t>
            </a:r>
            <a:endParaRPr lang="en-US"/>
          </a:p>
        </p:txBody>
      </p:sp>
      <p:sp>
        <p:nvSpPr>
          <p:cNvPr id="17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THE IMAGE IS EVIDENCE, NOT FILL</a:t>
            </a:r>
            <a:endParaRPr lang="en-US"/>
          </a:p>
        </p:txBody>
      </p:sp>
      <p:sp>
        <p:nvSpPr>
          <p:cNvPr id="1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a5c00489db854fa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68aebf613832e5f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CLOSE</a:t>
            </a:r>
            <a:endParaRPr lang="en-US"/>
          </a:p>
        </p:txBody>
      </p:sp>
      <p:sp>
        <p:nvSpPr>
          <p:cNvPr id="18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Turn the shared invitation into an action plan</a:t>
            </a:r>
            <a:endParaRPr lang="en-US"/>
          </a:p>
        </p:txBody>
      </p:sp>
      <p:sp>
        <p:nvSpPr>
          <p:cNvPr id="19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20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D53A45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1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Promise</a:t>
            </a:r>
            <a:endParaRPr lang="en-US"/>
          </a:p>
        </p:txBody>
      </p:sp>
      <p:sp>
        <p:nvSpPr>
          <p:cNvPr id="23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The proposition is legible.</a:t>
            </a:r>
            <a:endParaRPr lang="en-US"/>
          </a:p>
        </p:txBody>
      </p:sp>
      <p:sp>
        <p:nvSpPr>
          <p:cNvPr id="24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2F0E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5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Proof</a:t>
            </a:r>
            <a:endParaRPr lang="en-US"/>
          </a:p>
        </p:txBody>
      </p:sp>
      <p:sp>
        <p:nvSpPr>
          <p:cNvPr id="27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The response is measurable.</a:t>
            </a:r>
            <a:endParaRPr lang="en-US"/>
          </a:p>
        </p:txBody>
      </p:sp>
      <p:sp>
        <p:nvSpPr>
          <p:cNvPr id="28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D53A45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9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Move</a:t>
            </a:r>
            <a:endParaRPr lang="en-US"/>
          </a:p>
        </p:txBody>
      </p:sp>
      <p:sp>
        <p:nvSpPr>
          <p:cNvPr id="31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Give the audience one action.</a:t>
            </a:r>
            <a:endParaRPr lang="en-US"/>
          </a:p>
        </p:txBody>
      </p:sp>
      <p:sp>
        <p:nvSpPr>
          <p:cNvPr id="32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34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F2F0EA"/>
                </a:solidFill>
                <a:latin typeface="Inter"/>
                <a:ea typeface="Inter"/>
              </a:rPr>
              <a:t>Publish the invitation</a:t>
            </a:r>
            <a:endParaRPr lang="en-US"/>
          </a:p>
        </p:txBody>
      </p:sp>
      <p:sp>
        <p:nvSpPr>
          <p:cNvPr id="35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D7D7B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