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d5a454446134b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8fbc298f8d1b7a3c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33b8c33a8fc3d613_1" /><Relationship Type="http://schemas.openxmlformats.org/officeDocument/2006/relationships/image" Target="/ppt/media/image3.jpg" Id="rIdOfficeKitImage7790b68b5d8fcd92_1" /><Relationship Type="http://schemas.openxmlformats.org/officeDocument/2006/relationships/image" Target="/ppt/media/image4.jpg" Id="rIdOfficeKitImage9df32179333a9f35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5.jpg" Id="rIdOfficeKitImagebdd32fb5cfa65986_1" /><Relationship Type="http://schemas.openxmlformats.org/officeDocument/2006/relationships/image" Target="/ppt/media/image.jpg" Id="rIdOfficeKitImage8fbc298f8d1b7a3c_1" /><Relationship Type="http://schemas.openxmlformats.org/officeDocument/2006/relationships/image" Target="/ppt/media/image2.jpg" Id="rIdOfficeKitImage33b8c33a8fc3d613_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7790b68b5d8fcd92_1" /><Relationship Type="http://schemas.openxmlformats.org/officeDocument/2006/relationships/image" Target="/ppt/media/image4.jpg" Id="rIdOfficeKitImage9df32179333a9f35_1" /><Relationship Type="http://schemas.openxmlformats.org/officeDocument/2006/relationships/image" Target="/ppt/media/image5.jpg" Id="rIdOfficeKitImagebdd32fb5cfa65986_1" /><Relationship Type="http://schemas.openxmlformats.org/officeDocument/2006/relationships/image" Target="/ppt/media/image.jpg" Id="rIdOfficeKitImage8fbc298f8d1b7a3c_1" /><Relationship Type="http://schemas.openxmlformats.org/officeDocument/2006/relationships/image" Target="/ppt/media/image2.jpg" Id="rIdOfficeKitImage33b8c33a8fc3d613_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9df32179333a9f35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5.jpg" Id="rIdOfficeKitImagebdd32fb5cfa65986_1" /><Relationship Type="http://schemas.openxmlformats.org/officeDocument/2006/relationships/image" Target="/ppt/media/image.jpg" Id="rIdOfficeKitImage8fbc298f8d1b7a3c_1" /></Relationships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8fbc298f8d1b7a3c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editorial-cover-scrim"/>
          <p:cNvSpPr/>
          <p:nvPr/>
        </p:nvSpPr>
        <p:spPr>
          <a:xfrm xmlns:a="http://schemas.openxmlformats.org/drawingml/2006/main">
            <a:off x="0" y="0"/>
            <a:ext cx="7239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>
              <a:alpha val="84000"/>
            </a:srgbClr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8001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D53A45"/>
                </a:solidFill>
                <a:latin typeface="Inter"/>
                <a:ea typeface="Inter"/>
              </a:rPr>
              <a:t>PROMOTION · OFFICEKIT CALIBRATION</a:t>
            </a:r>
            <a:endParaRPr lang="en-US"/>
          </a:p>
        </p:txBody>
      </p:sp>
      <p:sp>
        <p:nvSpPr>
          <p:cNvPr id="4" name="cover-title"/>
          <p:cNvSpPr txBox="1"/>
          <p:nvPr/>
        </p:nvSpPr>
        <p:spPr>
          <a:xfrm xmlns:a="http://schemas.openxmlformats.org/drawingml/2006/main">
            <a:off x="914400" y="1962150"/>
            <a:ext cx="581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900" b="1">
                <a:solidFill>
                  <a:srgbClr val="FFFFFF"/>
                </a:solidFill>
                <a:latin typeface="Inter"/>
                <a:ea typeface="Inter"/>
              </a:rPr>
              <a:t>Noir Field Pictorial: a claim worth testing</a:t>
            </a:r>
            <a:endParaRPr lang="en-US"/>
          </a:p>
        </p:txBody>
      </p:sp>
      <p:sp>
        <p:nvSpPr>
          <p:cNvPr id="5" name="cover-subtitle"/>
          <p:cNvSpPr txBox="1"/>
          <p:nvPr/>
        </p:nvSpPr>
        <p:spPr>
          <a:xfrm xmlns:a="http://schemas.openxmlformats.org/drawingml/2006/main">
            <a:off x="952500" y="3638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F0F2F2"/>
                </a:solidFill>
                <a:latin typeface="Inter"/>
                <a:ea typeface="Inter"/>
              </a:rPr>
              <a:t>A clean-room reference for a visual proposition.</a:t>
            </a:r>
            <a:endParaRPr lang="en-US"/>
          </a:p>
        </p:txBody>
      </p:sp>
      <p:sp>
        <p:nvSpPr>
          <p:cNvPr id="6" name="cover-photo-rule"/>
          <p:cNvSpPr/>
          <p:nvPr/>
        </p:nvSpPr>
        <p:spPr>
          <a:xfrm xmlns:a="http://schemas.openxmlformats.org/drawingml/2006/main">
            <a:off x="914400" y="4533900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cover-thesis"/>
          <p:cNvSpPr txBox="1"/>
          <p:nvPr/>
        </p:nvSpPr>
        <p:spPr>
          <a:xfrm xmlns:a="http://schemas.openxmlformats.org/drawingml/2006/main">
            <a:off x="952500" y="489585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950" b="1">
                <a:solidFill>
                  <a:srgbClr val="FFFFFF"/>
                </a:solidFill>
                <a:latin typeface="Inter"/>
                <a:ea typeface="Inter"/>
              </a:rPr>
              <a:t>A proposition earns attention when it gives a next move.</a:t>
            </a:r>
            <a:endParaRPr lang="en-US"/>
          </a:p>
        </p:txBody>
      </p:sp>
      <p:sp>
        <p:nvSpPr>
          <p:cNvPr id="8" name="cover-source"/>
          <p:cNvSpPr txBox="1"/>
          <p:nvPr/>
        </p:nvSpPr>
        <p:spPr>
          <a:xfrm xmlns:a="http://schemas.openxmlformats.org/drawingml/2006/main">
            <a:off x="952500" y="7334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F0F2F2"/>
                </a:solidFill>
                <a:latin typeface="Inter"/>
                <a:ea typeface="Inter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9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F0F2F2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bg>
      <p:bgPr>
        <a:blipFill xmlns:a="http://schemas.openxmlformats.org/drawingml/2006/main">
          <a:blip xmlns:r="http://schemas.openxmlformats.org/officeDocument/2006/relationships" r:embed="rIdOfficeKitImage33b8c33a8fc3d613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rgument-paper-scrim"/>
          <p:cNvSpPr/>
          <p:nvPr/>
        </p:nvSpPr>
        <p:spPr>
          <a:xfrm xmlns:a="http://schemas.openxmlformats.org/drawingml/2006/main">
            <a:off x="0" y="0"/>
            <a:ext cx="8191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>
              <a:alpha val="96000"/>
            </a:srgbClr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A45"/>
          </a:solidFill>
          <a:ln xmlns:a="http://schemas.openxmlformats.org/drawingml/2006/main" w="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/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pic>
        <p:nvPicPr>
          <p:cNvPr id="14" name="argument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7790b68b5d8fcd92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15" name="argument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>
              <a:alpha val="62000"/>
            </a:srgbClr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argument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NOIR FIELD PICTORIAL · ARGUMENT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D53A45"/>
                </a:solidFill>
                <a:latin typeface="Inter"/>
                <a:ea typeface="Inter"/>
              </a:rPr>
              <a:t>NOIR FIELD PICTORIAL · ARGUMENT</a:t>
            </a:r>
            <a:endParaRPr lang="en-US"/>
          </a:p>
        </p:txBody>
      </p:sp>
      <p:sp>
        <p:nvSpPr>
          <p:cNvPr id="18" name="argument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The proposition is the page's visual center</a:t>
            </a:r>
            <a:endParaRPr lang="en-US"/>
          </a:p>
        </p:txBody>
      </p:sp>
      <p:sp>
        <p:nvSpPr>
          <p:cNvPr id="19" name="argument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Scale, crop, and color invite attention without hiding the evidence.</a:t>
            </a:r>
            <a:endParaRPr lang="en-US"/>
          </a:p>
        </p:txBody>
      </p:sp>
      <p:sp>
        <p:nvSpPr>
          <p:cNvPr id="20" name="promotion-kicker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D53A45"/>
                </a:solidFill>
                <a:latin typeface="Inter"/>
                <a:ea typeface="Inter"/>
              </a:rPr>
              <a:t>ONE PROPOSITION</a:t>
            </a:r>
            <a:endParaRPr lang="en-US"/>
          </a:p>
        </p:txBody>
      </p:sp>
      <p:sp>
        <p:nvSpPr>
          <p:cNvPr id="21" name="promotion-headline"/>
          <p:cNvSpPr txBox="1"/>
          <p:nvPr/>
        </p:nvSpPr>
        <p:spPr>
          <a:xfrm xmlns:a="http://schemas.openxmlformats.org/drawingml/2006/main">
            <a:off x="1104900" y="37909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625" b="1">
                <a:solidFill>
                  <a:srgbClr val="F2F0EA"/>
                </a:solidFill>
                <a:latin typeface="Inter"/>
                <a:ea typeface="Inter"/>
              </a:rPr>
              <a:t>Make the next action visible.</a:t>
            </a:r>
            <a:endParaRPr lang="en-US"/>
          </a:p>
        </p:txBody>
      </p:sp>
      <p:sp>
        <p:nvSpPr>
          <p:cNvPr id="22" name="promotion-body"/>
          <p:cNvSpPr txBox="1"/>
          <p:nvPr/>
        </p:nvSpPr>
        <p:spPr>
          <a:xfrm xmlns:a="http://schemas.openxmlformats.org/drawingml/2006/main">
            <a:off x="1104900" y="47625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F2F0EA"/>
                </a:solidFill>
                <a:latin typeface="Inter"/>
                <a:ea typeface="Inter"/>
              </a:rPr>
              <a:t>A clear invitation earns attention when evidence and access arrive together.</a:t>
            </a:r>
            <a:endParaRPr lang="en-US"/>
          </a:p>
        </p:txBody>
      </p:sp>
      <p:pic>
        <p:nvPicPr>
          <p:cNvPr id="23" name="promotion-hero-fram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9df32179333a9f35_1"/>
          <a:srcRect xmlns:a="http://schemas.openxmlformats.org/drawingml/2006/main" l="0" t="31920" r="0" b="3192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525000" y="3143250"/>
            <a:ext cx="4000500" cy="2571750"/>
          </a:xfrm>
          <a:prstGeom xmlns:a="http://schemas.openxmlformats.org/drawingml/2006/main" prst="rect">
            <a:avLst/>
          </a:prstGeom>
        </p:spPr>
      </p:pic>
      <p:sp>
        <p:nvSpPr>
          <p:cNvPr id="24" name="promotion-image-rule"/>
          <p:cNvSpPr/>
          <p:nvPr/>
        </p:nvSpPr>
        <p:spPr>
          <a:xfrm xmlns:a="http://schemas.openxmlformats.org/drawingml/2006/main">
            <a:off x="9525000" y="5905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motion-image-label"/>
          <p:cNvSpPr txBox="1"/>
          <p:nvPr/>
        </p:nvSpPr>
        <p:spPr>
          <a:xfrm xmlns:a="http://schemas.openxmlformats.org/drawingml/2006/main">
            <a:off x="9525000" y="6153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D53A45"/>
                </a:solidFill>
                <a:latin typeface="Inter"/>
                <a:ea typeface="Inter"/>
              </a:rPr>
              <a:t>INVITE · PROVE · MOVE</a:t>
            </a:r>
            <a:endParaRPr lang="en-US"/>
          </a:p>
        </p:txBody>
      </p:sp>
      <p:sp>
        <p:nvSpPr>
          <p:cNvPr id="26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7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bg>
      <p:bgPr>
        <a:blipFill xmlns:a="http://schemas.openxmlformats.org/drawingml/2006/main">
          <a:blip xmlns:r="http://schemas.openxmlformats.org/officeDocument/2006/relationships" r:embed="rIdOfficeKitImagebdd32fb5cfa65986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evidence-paper-scrim"/>
          <p:cNvSpPr/>
          <p:nvPr/>
        </p:nvSpPr>
        <p:spPr>
          <a:xfrm xmlns:a="http://schemas.openxmlformats.org/drawingml/2006/main">
            <a:off x="0" y="0"/>
            <a:ext cx="8191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>
              <a:alpha val="96000"/>
            </a:srgbClr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A45"/>
          </a:solidFill>
          <a:ln xmlns:a="http://schemas.openxmlformats.org/drawingml/2006/main" w="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/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pic>
        <p:nvPicPr>
          <p:cNvPr id="14" name="evidenc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8fbc298f8d1b7a3c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15" name="evidenc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>
              <a:alpha val="62000"/>
            </a:srgbClr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evidenc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NOIR FIELD PICTORIAL · EVIDENC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D53A45"/>
                </a:solidFill>
                <a:latin typeface="Inter"/>
                <a:ea typeface="Inter"/>
              </a:rPr>
              <a:t>NOIR FIELD PICTORIAL · EVIDENCE</a:t>
            </a:r>
            <a:endParaRPr lang="en-US"/>
          </a:p>
        </p:txBody>
      </p:sp>
      <p:sp>
        <p:nvSpPr>
          <p:cNvPr id="18" name="evidenc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The signal grows when the invitation stays measurable</a:t>
            </a:r>
            <a:endParaRPr lang="en-US"/>
          </a:p>
        </p:txBody>
      </p:sp>
      <p:sp>
        <p:nvSpPr>
          <p:cNvPr id="19" name="evidenc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Illustrative reach and response · source and measurement convention remain attached.</a:t>
            </a:r>
            <a:endParaRPr lang="en-US"/>
          </a:p>
        </p:txBody>
      </p:sp>
      <p:pic>
        <p:nvPicPr>
          <p:cNvPr id="20" name="evidence-image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33b8c33a8fc3d613_1"/>
          <a:srcRect xmlns:a="http://schemas.openxmlformats.org/drawingml/2006/main" l="0" t="39326" r="0" b="393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47750" y="3048000"/>
            <a:ext cx="7905750" cy="3000375"/>
          </a:xfrm>
          <a:prstGeom xmlns:a="http://schemas.openxmlformats.org/drawingml/2006/main" prst="rect">
            <a:avLst/>
          </a:prstGeom>
        </p:spPr>
      </p:pic>
      <p:sp>
        <p:nvSpPr>
          <p:cNvPr id="21" name="evidence-image-caption"/>
          <p:cNvSpPr txBox="1"/>
          <p:nvPr/>
        </p:nvSpPr>
        <p:spPr>
          <a:xfrm xmlns:a="http://schemas.openxmlformats.org/drawingml/2006/main">
            <a:off x="1333500" y="3333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FFFFFF"/>
                </a:solidFill>
                <a:latin typeface="Inter"/>
                <a:ea typeface="Inter"/>
              </a:rPr>
              <a:t>ONE SUBJECT · THREE SIGNALS</a:t>
            </a:r>
            <a:endParaRPr lang="en-US"/>
          </a:p>
        </p:txBody>
      </p:sp>
      <p:sp>
        <p:nvSpPr>
          <p:cNvPr id="22" name="evidence-image-rule"/>
          <p:cNvSpPr/>
          <p:nvPr/>
        </p:nvSpPr>
        <p:spPr>
          <a:xfrm xmlns:a="http://schemas.openxmlformats.org/drawingml/2006/main">
            <a:off x="1333500" y="56197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evidence-image-note"/>
          <p:cNvSpPr txBox="1"/>
          <p:nvPr/>
        </p:nvSpPr>
        <p:spPr>
          <a:xfrm xmlns:a="http://schemas.openxmlformats.org/drawingml/2006/main">
            <a:off x="1333500" y="58102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FFFFFF"/>
                </a:solidFill>
                <a:latin typeface="Inter"/>
                <a:ea typeface="Inter"/>
              </a:rPr>
              <a:t>The image carries the story; the label carries the claim.</a:t>
            </a:r>
            <a:endParaRPr lang="en-US"/>
          </a:p>
        </p:txBody>
      </p:sp>
      <p:sp>
        <p:nvSpPr>
          <p:cNvPr id="24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D53A45"/>
                </a:solidFill>
                <a:latin typeface="Inter"/>
                <a:ea typeface="Inter"/>
              </a:rPr>
              <a:t>68</a:t>
            </a:r>
            <a:endParaRPr lang="en-US"/>
          </a:p>
        </p:txBody>
      </p:sp>
      <p:sp>
        <p:nvSpPr>
          <p:cNvPr id="25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D7D7B"/>
                </a:solidFill>
                <a:latin typeface="Inter"/>
                <a:ea typeface="Inter"/>
              </a:rPr>
              <a:t>qualified response · campaign close</a:t>
            </a:r>
            <a:endParaRPr lang="en-US"/>
          </a:p>
        </p:txBody>
      </p:sp>
      <p:sp>
        <p:nvSpPr>
          <p:cNvPr id="26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D7D7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F2F0EA"/>
                </a:solidFill>
                <a:latin typeface="Inter"/>
                <a:ea typeface="Inter"/>
              </a:rPr>
              <a:t>Reach is useful only when the</a:t>
            </a:r>
            <a:endParaRPr lang="en-US"/>
          </a:p>
          <a:p xmlns:a="http://schemas.openxmlformats.org/drawingml/2006/main">
            <a:r>
              <a:rPr lang="en-US" sz="1350" b="1">
                <a:solidFill>
                  <a:srgbClr val="F2F0EA"/>
                </a:solidFill>
                <a:latin typeface="Inter"/>
                <a:ea typeface="Inter"/>
              </a:rPr>
              <a:t>audience can see and take the</a:t>
            </a:r>
            <a:endParaRPr lang="en-US"/>
          </a:p>
          <a:p xmlns:a="http://schemas.openxmlformats.org/drawingml/2006/main">
            <a:r>
              <a:rPr lang="en-US" sz="1350" b="1">
                <a:solidFill>
                  <a:srgbClr val="F2F0EA"/>
                </a:solidFill>
                <a:latin typeface="Inter"/>
                <a:ea typeface="Inter"/>
              </a:rPr>
              <a:t>next step.</a:t>
            </a:r>
            <a:endParaRPr lang="en-US"/>
          </a:p>
        </p:txBody>
      </p:sp>
      <p:sp>
        <p:nvSpPr>
          <p:cNvPr id="28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F2F0EA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30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31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A45"/>
          </a:solidFill>
          <a:ln xmlns:a="http://schemas.openxmlformats.org/drawingml/2006/main" w="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/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pic>
        <p:nvPicPr>
          <p:cNvPr id="14" name="detail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7790b68b5d8fcd92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15" name="detail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>
              <a:alpha val="62000"/>
            </a:srgbClr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detail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NOIR FIELD PICTORIAL · DETAIL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D53A45"/>
                </a:solidFill>
                <a:latin typeface="Inter"/>
                <a:ea typeface="Inter"/>
              </a:rPr>
              <a:t>NOIR FIELD PICTORIAL · DETAIL</a:t>
            </a:r>
            <a:endParaRPr lang="en-US"/>
          </a:p>
        </p:txBody>
      </p:sp>
      <p:sp>
        <p:nvSpPr>
          <p:cNvPr id="18" name="detail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The same idea can hold several views</a:t>
            </a:r>
            <a:endParaRPr lang="en-US"/>
          </a:p>
        </p:txBody>
      </p:sp>
      <p:sp>
        <p:nvSpPr>
          <p:cNvPr id="19" name="detail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Unequal image frames · visual variety without decorative filler.</a:t>
            </a:r>
            <a:endParaRPr lang="en-US"/>
          </a:p>
        </p:txBody>
      </p:sp>
      <p:pic>
        <p:nvPicPr>
          <p:cNvPr id="20" name="image-evidence-0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9df32179333a9f35_1"/>
          <a:srcRect xmlns:a="http://schemas.openxmlformats.org/drawingml/2006/main" l="0" t="31971" r="0" b="319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90600" y="3162300"/>
            <a:ext cx="3714750" cy="2381250"/>
          </a:xfrm>
          <a:prstGeom xmlns:a="http://schemas.openxmlformats.org/drawingml/2006/main" prst="rect">
            <a:avLst/>
          </a:prstGeom>
        </p:spPr>
      </p:pic>
      <p:pic>
        <p:nvPicPr>
          <p:cNvPr id="21" name="image-evidence-1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bdd32fb5cfa65986_1"/>
          <a:srcRect xmlns:a="http://schemas.openxmlformats.org/drawingml/2006/main" l="0" t="32347" r="0" b="323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95850" y="3162300"/>
            <a:ext cx="1790700" cy="1123950"/>
          </a:xfrm>
          <a:prstGeom xmlns:a="http://schemas.openxmlformats.org/drawingml/2006/main" prst="rect">
            <a:avLst/>
          </a:prstGeom>
        </p:spPr>
      </p:pic>
      <p:pic>
        <p:nvPicPr>
          <p:cNvPr id="22" name="image-evidence-2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8fbc298f8d1b7a3c_1"/>
          <a:srcRect xmlns:a="http://schemas.openxmlformats.org/drawingml/2006/main" l="0" t="32347" r="0" b="323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58000" y="3162300"/>
            <a:ext cx="1790700" cy="1123950"/>
          </a:xfrm>
          <a:prstGeom xmlns:a="http://schemas.openxmlformats.org/drawingml/2006/main" prst="rect">
            <a:avLst/>
          </a:prstGeom>
        </p:spPr>
      </p:pic>
      <p:pic>
        <p:nvPicPr>
          <p:cNvPr id="23" name="image-evidence-3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33b8c33a8fc3d613_1"/>
          <a:srcRect xmlns:a="http://schemas.openxmlformats.org/drawingml/2006/main" l="0" t="32347" r="0" b="323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95850" y="4457700"/>
            <a:ext cx="1790700" cy="1123950"/>
          </a:xfrm>
          <a:prstGeom xmlns:a="http://schemas.openxmlformats.org/drawingml/2006/main" prst="rect">
            <a:avLst/>
          </a:prstGeom>
        </p:spPr>
      </p:pic>
      <p:pic>
        <p:nvPicPr>
          <p:cNvPr id="24" name="image-evidence-4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7790b68b5d8fcd92_1"/>
          <a:srcRect xmlns:a="http://schemas.openxmlformats.org/drawingml/2006/main" l="0" t="32347" r="0" b="323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58000" y="4457700"/>
            <a:ext cx="1790700" cy="1123950"/>
          </a:xfrm>
          <a:prstGeom xmlns:a="http://schemas.openxmlformats.org/drawingml/2006/main" prst="rect">
            <a:avLst/>
          </a:prstGeom>
        </p:spPr>
      </p:pic>
      <p:sp>
        <p:nvSpPr>
          <p:cNvPr id="25" name="image-matrix-label"/>
          <p:cNvSpPr txBox="1"/>
          <p:nvPr/>
        </p:nvSpPr>
        <p:spPr>
          <a:xfrm xmlns:a="http://schemas.openxmlformats.org/drawingml/2006/main">
            <a:off x="9620250" y="3314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D53A45"/>
                </a:solidFill>
                <a:latin typeface="Inter"/>
                <a:ea typeface="Inter"/>
              </a:rPr>
              <a:t>IMAGE MATRIX</a:t>
            </a:r>
            <a:endParaRPr lang="en-US"/>
          </a:p>
        </p:txBody>
      </p:sp>
      <p:sp>
        <p:nvSpPr>
          <p:cNvPr id="26" name="image-matrix-title"/>
          <p:cNvSpPr txBox="1"/>
          <p:nvPr/>
        </p:nvSpPr>
        <p:spPr>
          <a:xfrm xmlns:a="http://schemas.openxmlformats.org/drawingml/2006/main">
            <a:off x="9620250" y="37909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F2F0EA"/>
                </a:solidFill>
                <a:latin typeface="Inter"/>
                <a:ea typeface="Inter"/>
              </a:rPr>
              <a:t>One subject, five ways to notice it.</a:t>
            </a:r>
            <a:endParaRPr lang="en-US"/>
          </a:p>
        </p:txBody>
      </p:sp>
      <p:sp>
        <p:nvSpPr>
          <p:cNvPr id="27" name="image-matrix-body"/>
          <p:cNvSpPr txBox="1"/>
          <p:nvPr/>
        </p:nvSpPr>
        <p:spPr>
          <a:xfrm xmlns:a="http://schemas.openxmlformats.org/drawingml/2006/main">
            <a:off x="9620250" y="4953000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D7D7B"/>
                </a:solidFill>
                <a:latin typeface="Inter"/>
                <a:ea typeface="Inter"/>
              </a:rPr>
              <a:t>One dominant frame plus four</a:t>
            </a:r>
            <a:endParaRPr lang="en-US"/>
          </a:p>
          <a:p xmlns:a="http://schemas.openxmlformats.org/drawingml/2006/main">
            <a:r>
              <a:rPr lang="en-US" sz="1200">
                <a:solidFill>
                  <a:srgbClr val="7D7D7B"/>
                </a:solidFill>
                <a:latin typeface="Inter"/>
                <a:ea typeface="Inter"/>
              </a:rPr>
              <a:t>supporting crops. Image carries</a:t>
            </a:r>
            <a:endParaRPr lang="en-US"/>
          </a:p>
          <a:p xmlns:a="http://schemas.openxmlformats.org/drawingml/2006/main">
            <a:r>
              <a:rPr lang="en-US" sz="1200">
                <a:solidFill>
                  <a:srgbClr val="7D7D7B"/>
                </a:solidFill>
                <a:latin typeface="Inter"/>
                <a:ea typeface="Inter"/>
              </a:rPr>
              <a:t>mood; labels carry the claim.</a:t>
            </a:r>
            <a:endParaRPr lang="en-US"/>
          </a:p>
        </p:txBody>
      </p:sp>
      <p:sp>
        <p:nvSpPr>
          <p:cNvPr id="28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29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bg>
      <p:bgPr>
        <a:blipFill xmlns:a="http://schemas.openxmlformats.org/drawingml/2006/main">
          <a:blip xmlns:r="http://schemas.openxmlformats.org/officeDocument/2006/relationships" r:embed="rIdOfficeKitImage9df32179333a9f35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A45"/>
          </a:solidFill>
          <a:ln xmlns:a="http://schemas.openxmlformats.org/drawingml/2006/main" w="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nav-0"/>
          <p:cNvSpPr/>
          <p:nvPr/>
        </p:nvSpPr>
        <p:spPr>
          <a:xfrm xmlns:a="http://schemas.openxmlformats.org/drawingml/2006/main">
            <a:off x="91440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label-0"/>
          <p:cNvSpPr txBox="1"/>
          <p:nvPr/>
        </p:nvSpPr>
        <p:spPr>
          <a:xfrm xmlns:a="http://schemas.openxmlformats.org/drawingml/2006/main">
            <a:off x="99060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5" name="fixed-nav-1"/>
          <p:cNvSpPr/>
          <p:nvPr/>
        </p:nvSpPr>
        <p:spPr>
          <a:xfrm xmlns:a="http://schemas.openxmlformats.org/drawingml/2006/main">
            <a:off x="248793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fixed-nav-label-1"/>
          <p:cNvSpPr txBox="1"/>
          <p:nvPr/>
        </p:nvSpPr>
        <p:spPr>
          <a:xfrm xmlns:a="http://schemas.openxmlformats.org/drawingml/2006/main">
            <a:off x="256413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7" name="fixed-nav-2"/>
          <p:cNvSpPr/>
          <p:nvPr/>
        </p:nvSpPr>
        <p:spPr>
          <a:xfrm xmlns:a="http://schemas.openxmlformats.org/drawingml/2006/main">
            <a:off x="406146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/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xed-nav-label-2"/>
          <p:cNvSpPr txBox="1"/>
          <p:nvPr/>
        </p:nvSpPr>
        <p:spPr>
          <a:xfrm xmlns:a="http://schemas.openxmlformats.org/drawingml/2006/main">
            <a:off x="413766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9" name="fixed-nav-3"/>
          <p:cNvSpPr/>
          <p:nvPr/>
        </p:nvSpPr>
        <p:spPr>
          <a:xfrm xmlns:a="http://schemas.openxmlformats.org/drawingml/2006/main">
            <a:off x="563499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fixed-nav-label-3"/>
          <p:cNvSpPr txBox="1"/>
          <p:nvPr/>
        </p:nvSpPr>
        <p:spPr>
          <a:xfrm xmlns:a="http://schemas.openxmlformats.org/drawingml/2006/main">
            <a:off x="571119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1" name="fixed-nav-4"/>
          <p:cNvSpPr/>
          <p:nvPr/>
        </p:nvSpPr>
        <p:spPr>
          <a:xfrm xmlns:a="http://schemas.openxmlformats.org/drawingml/2006/main">
            <a:off x="720852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fixed-nav-label-4"/>
          <p:cNvSpPr txBox="1"/>
          <p:nvPr/>
        </p:nvSpPr>
        <p:spPr>
          <a:xfrm xmlns:a="http://schemas.openxmlformats.org/drawingml/2006/main">
            <a:off x="728472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3" name="visual-scrim"/>
          <p:cNvSpPr/>
          <p:nvPr/>
        </p:nvSpPr>
        <p:spPr>
          <a:xfrm xmlns:a="http://schemas.openxmlformats.org/drawingml/2006/main">
            <a:off x="0" y="0"/>
            <a:ext cx="6858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>
              <a:alpha val="88000"/>
            </a:srgbClr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eyebrow"/>
          <p:cNvSpPr txBox="1"/>
          <p:nvPr/>
        </p:nvSpPr>
        <p:spPr>
          <a:xfrm xmlns:a="http://schemas.openxmlformats.org/drawingml/2006/main">
            <a:off x="914400" y="895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D53A45"/>
                </a:solidFill>
                <a:latin typeface="Inter"/>
                <a:ea typeface="Inter"/>
              </a:rPr>
              <a:t>NOIR FIELD PICTORIAL · VISUAL CARRIER</a:t>
            </a:r>
            <a:endParaRPr lang="en-US"/>
          </a:p>
        </p:txBody>
      </p:sp>
      <p:sp>
        <p:nvSpPr>
          <p:cNvPr id="15" name="visual-title"/>
          <p:cNvSpPr txBox="1"/>
          <p:nvPr/>
        </p:nvSpPr>
        <p:spPr>
          <a:xfrm xmlns:a="http://schemas.openxmlformats.org/drawingml/2006/main">
            <a:off x="914400" y="16383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300" b="1">
                <a:solidFill>
                  <a:srgbClr val="F2F0EA"/>
                </a:solidFill>
                <a:latin typeface="Inter"/>
                <a:ea typeface="Inter"/>
              </a:rPr>
              <a:t>Let the subject do the work</a:t>
            </a:r>
            <a:endParaRPr lang="en-US"/>
          </a:p>
        </p:txBody>
      </p:sp>
      <p:sp>
        <p:nvSpPr>
          <p:cNvPr id="16" name="visual-body"/>
          <p:cNvSpPr txBox="1"/>
          <p:nvPr/>
        </p:nvSpPr>
        <p:spPr>
          <a:xfrm xmlns:a="http://schemas.openxmlformats.org/drawingml/2006/main">
            <a:off x="914400" y="32194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2F0EA"/>
                </a:solidFill>
                <a:latin typeface="Inter"/>
                <a:ea typeface="Inter"/>
              </a:rPr>
              <a:t>A strong crop gives the proposition a place to live.</a:t>
            </a:r>
            <a:endParaRPr lang="en-US"/>
          </a:p>
        </p:txBody>
      </p:sp>
      <p:sp>
        <p:nvSpPr>
          <p:cNvPr id="17" name="visual-rule"/>
          <p:cNvSpPr/>
          <p:nvPr/>
        </p:nvSpPr>
        <p:spPr>
          <a:xfrm xmlns:a="http://schemas.openxmlformats.org/drawingml/2006/main">
            <a:off x="914400" y="4476750"/>
            <a:ext cx="441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visual-label"/>
          <p:cNvSpPr txBox="1"/>
          <p:nvPr/>
        </p:nvSpPr>
        <p:spPr>
          <a:xfrm xmlns:a="http://schemas.openxmlformats.org/drawingml/2006/main">
            <a:off x="914400" y="4819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D53A45"/>
                </a:solidFill>
                <a:latin typeface="Inter"/>
                <a:ea typeface="Inter"/>
              </a:rPr>
              <a:t>THE IMAGE IS EVIDENCE, NOT FILL</a:t>
            </a:r>
            <a:endParaRPr lang="en-US"/>
          </a:p>
        </p:txBody>
      </p:sp>
      <p:sp>
        <p:nvSpPr>
          <p:cNvPr id="19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20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bg>
      <p:bgPr>
        <a:blipFill xmlns:a="http://schemas.openxmlformats.org/drawingml/2006/main">
          <a:blip xmlns:r="http://schemas.openxmlformats.org/officeDocument/2006/relationships" r:embed="rIdOfficeKitImagebdd32fb5cfa65986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lose-paper-scrim"/>
          <p:cNvSpPr/>
          <p:nvPr/>
        </p:nvSpPr>
        <p:spPr>
          <a:xfrm xmlns:a="http://schemas.openxmlformats.org/drawingml/2006/main">
            <a:off x="0" y="0"/>
            <a:ext cx="8191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>
              <a:alpha val="96000"/>
            </a:srgbClr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A45"/>
          </a:solidFill>
          <a:ln xmlns:a="http://schemas.openxmlformats.org/drawingml/2006/main" w="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/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pic>
        <p:nvPicPr>
          <p:cNvPr id="14" name="clos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8fbc298f8d1b7a3c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15" name="clos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>
              <a:alpha val="62000"/>
            </a:srgbClr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clos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NOIR FIELD PICTORIAL · CLOS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D53A45"/>
                </a:solidFill>
                <a:latin typeface="Inter"/>
                <a:ea typeface="Inter"/>
              </a:rPr>
              <a:t>NOIR FIELD PICTORIAL · CLOSE</a:t>
            </a:r>
            <a:endParaRPr lang="en-US"/>
          </a:p>
        </p:txBody>
      </p:sp>
      <p:sp>
        <p:nvSpPr>
          <p:cNvPr id="18" name="clos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Turn the shared invitation into an action plan</a:t>
            </a:r>
            <a:endParaRPr lang="en-US"/>
          </a:p>
        </p:txBody>
      </p:sp>
      <p:sp>
        <p:nvSpPr>
          <p:cNvPr id="19" name="clos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20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D53A45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21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D7D7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2F0EA"/>
                </a:solidFill>
                <a:latin typeface="Inter"/>
                <a:ea typeface="Inter"/>
              </a:rPr>
              <a:t>Promise</a:t>
            </a:r>
            <a:endParaRPr lang="en-US"/>
          </a:p>
        </p:txBody>
      </p:sp>
      <p:sp>
        <p:nvSpPr>
          <p:cNvPr id="23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2F0EA"/>
                </a:solidFill>
                <a:latin typeface="Inter"/>
                <a:ea typeface="Inter"/>
              </a:rPr>
              <a:t>The proposition is legible.</a:t>
            </a:r>
            <a:endParaRPr lang="en-US"/>
          </a:p>
        </p:txBody>
      </p:sp>
      <p:sp>
        <p:nvSpPr>
          <p:cNvPr id="24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2F0EA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25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D7D7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2F0EA"/>
                </a:solidFill>
                <a:latin typeface="Inter"/>
                <a:ea typeface="Inter"/>
              </a:rPr>
              <a:t>Proof</a:t>
            </a:r>
            <a:endParaRPr lang="en-US"/>
          </a:p>
        </p:txBody>
      </p:sp>
      <p:sp>
        <p:nvSpPr>
          <p:cNvPr id="27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2F0EA"/>
                </a:solidFill>
                <a:latin typeface="Inter"/>
                <a:ea typeface="Inter"/>
              </a:rPr>
              <a:t>The response is measurable.</a:t>
            </a:r>
            <a:endParaRPr lang="en-US"/>
          </a:p>
        </p:txBody>
      </p:sp>
      <p:sp>
        <p:nvSpPr>
          <p:cNvPr id="28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D53A45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9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2F0EA"/>
                </a:solidFill>
                <a:latin typeface="Inter"/>
                <a:ea typeface="Inter"/>
              </a:rPr>
              <a:t>Move</a:t>
            </a:r>
            <a:endParaRPr lang="en-US"/>
          </a:p>
        </p:txBody>
      </p:sp>
      <p:sp>
        <p:nvSpPr>
          <p:cNvPr id="31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2F0EA"/>
                </a:solidFill>
                <a:latin typeface="Inter"/>
                <a:ea typeface="Inter"/>
              </a:rPr>
              <a:t>Give the audience one action.</a:t>
            </a:r>
            <a:endParaRPr lang="en-US"/>
          </a:p>
        </p:txBody>
      </p:sp>
      <p:sp>
        <p:nvSpPr>
          <p:cNvPr id="32" name="next-rule"/>
          <p:cNvSpPr/>
          <p:nvPr/>
        </p:nvSpPr>
        <p:spPr>
          <a:xfrm xmlns:a="http://schemas.openxmlformats.org/drawingml/2006/main">
            <a:off x="10668000" y="37147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3" name="next-label"/>
          <p:cNvSpPr txBox="1"/>
          <p:nvPr/>
        </p:nvSpPr>
        <p:spPr>
          <a:xfrm xmlns:a="http://schemas.openxmlformats.org/drawingml/2006/main">
            <a:off x="10668000" y="403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D53A45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34" name="next-text"/>
          <p:cNvSpPr txBox="1"/>
          <p:nvPr/>
        </p:nvSpPr>
        <p:spPr>
          <a:xfrm xmlns:a="http://schemas.openxmlformats.org/drawingml/2006/main">
            <a:off x="10668000" y="45148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F2F0EA"/>
                </a:solidFill>
                <a:latin typeface="Inter"/>
                <a:ea typeface="Inter"/>
              </a:rPr>
              <a:t>Publish the invitation</a:t>
            </a:r>
            <a:endParaRPr lang="en-US"/>
          </a:p>
        </p:txBody>
      </p:sp>
      <p:sp>
        <p:nvSpPr>
          <p:cNvPr id="35" name="next-foot"/>
          <p:cNvSpPr txBox="1"/>
          <p:nvPr/>
        </p:nvSpPr>
        <p:spPr>
          <a:xfrm xmlns:a="http://schemas.openxmlformats.org/drawingml/2006/main">
            <a:off x="10668000" y="5600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7D7D7B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3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3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