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5bd80f1cb8647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790b68b5d8fcd9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31956823b229fb66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c7b73f8fac405495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aeb6f74d36d260d0_1" /><Relationship Type="http://schemas.openxmlformats.org/officeDocument/2006/relationships/image" Target="/ppt/media/image5.jpg" Id="rIdOfficeKitImage13db13f70d7843cc_1" /><Relationship Type="http://schemas.openxmlformats.org/officeDocument/2006/relationships/image" Target="/ppt/media/image.jpg" Id="rIdOfficeKitImage7790b68b5d8fcd92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59ee3aa5202fd02f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13db13f70d7843cc_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ditorial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84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Inter"/>
                <a:ea typeface="Inter"/>
              </a:rPr>
              <a:t>Noir Field Pictorial: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Inter"/>
                <a:ea typeface="Inter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Inter"/>
                <a:ea typeface="Inter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5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6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NOIR FIELD PICTORIAL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ARGUMENT</a:t>
            </a:r>
            <a:endParaRPr lang="en-US"/>
          </a:p>
        </p:txBody>
      </p:sp>
      <p:sp>
        <p:nvSpPr>
          <p:cNvPr id="19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proposition is the page's visual center</a:t>
            </a:r>
            <a:endParaRPr lang="en-US"/>
          </a:p>
        </p:txBody>
      </p:sp>
      <p:sp>
        <p:nvSpPr>
          <p:cNvPr id="20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21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ONE PROPOSITION</a:t>
            </a:r>
            <a:endParaRPr lang="en-US"/>
          </a:p>
        </p:txBody>
      </p:sp>
      <p:sp>
        <p:nvSpPr>
          <p:cNvPr id="22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F2F0EA"/>
                </a:solidFill>
                <a:latin typeface="Inter"/>
                <a:ea typeface="Inter"/>
              </a:rPr>
              <a:t>Make the next action visible.</a:t>
            </a:r>
            <a:endParaRPr lang="en-US"/>
          </a:p>
        </p:txBody>
      </p:sp>
      <p:sp>
        <p:nvSpPr>
          <p:cNvPr id="23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0EA"/>
                </a:solidFill>
                <a:latin typeface="Inter"/>
                <a:ea typeface="Inter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4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1910" r="0" b="3191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5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D53A45"/>
                </a:solidFill>
                <a:latin typeface="Inter"/>
                <a:ea typeface="Inter"/>
              </a:rPr>
              <a:t>INVITE · PROVE · MOVE</a:t>
            </a:r>
            <a:endParaRPr lang="en-US"/>
          </a:p>
        </p:txBody>
      </p:sp>
      <p:sp>
        <p:nvSpPr>
          <p:cNvPr id="27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8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5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6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NOIR FIELD PICTORIAL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EVIDENCE</a:t>
            </a:r>
            <a:endParaRPr lang="en-US"/>
          </a:p>
        </p:txBody>
      </p:sp>
      <p:sp>
        <p:nvSpPr>
          <p:cNvPr id="19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signal grows when the invitation stays measurable</a:t>
            </a:r>
            <a:endParaRPr lang="en-US"/>
          </a:p>
        </p:txBody>
      </p:sp>
      <p:sp>
        <p:nvSpPr>
          <p:cNvPr id="20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21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9320" r="0" b="393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22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ONE SUBJECT · THREE SIGNALS</a:t>
            </a:r>
            <a:endParaRPr lang="en-US"/>
          </a:p>
        </p:txBody>
      </p:sp>
      <p:sp>
        <p:nvSpPr>
          <p:cNvPr id="23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The image carries the story; the label carries the claim.</a:t>
            </a:r>
            <a:endParaRPr lang="en-US"/>
          </a:p>
        </p:txBody>
      </p:sp>
      <p:sp>
        <p:nvSpPr>
          <p:cNvPr id="25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D53A45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26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qualified response · campaign close</a:t>
            </a:r>
            <a:endParaRPr lang="en-US"/>
          </a:p>
        </p:txBody>
      </p:sp>
      <p:sp>
        <p:nvSpPr>
          <p:cNvPr id="27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29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0E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/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same idea can hold several views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20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28365" r="0" b="2836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21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22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2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MATRIX</a:t>
            </a:r>
            <a:endParaRPr lang="en-US"/>
          </a:p>
        </p:txBody>
      </p:sp>
      <p:sp>
        <p:nvSpPr>
          <p:cNvPr id="2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0EA"/>
                </a:solidFill>
                <a:latin typeface="Inter"/>
                <a:ea typeface="Inter"/>
              </a:rPr>
              <a:t>One subject, three ways to notice it.</a:t>
            </a:r>
            <a:endParaRPr lang="en-US"/>
          </a:p>
        </p:txBody>
      </p:sp>
      <p:sp>
        <p:nvSpPr>
          <p:cNvPr id="2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D7D7B"/>
                </a:solidFill>
                <a:latin typeface="Inter"/>
                <a:ea typeface="Inter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8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2F0EA"/>
                </a:solidFill>
                <a:latin typeface="Inter"/>
                <a:ea typeface="Inter"/>
              </a:rPr>
              <a:t>Let the subject do the work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2F0EA"/>
                </a:solidFill>
                <a:latin typeface="Inter"/>
                <a:ea typeface="Inter"/>
              </a:rPr>
              <a:t>A strong crop gives the proposition a place to live.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5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6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NOIR FIELD PICTORIAL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CLOSE</a:t>
            </a:r>
            <a:endParaRPr lang="en-US"/>
          </a:p>
        </p:txBody>
      </p:sp>
      <p:sp>
        <p:nvSpPr>
          <p:cNvPr id="19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Turn the shared invitation into an action plan</a:t>
            </a:r>
            <a:endParaRPr lang="en-US"/>
          </a:p>
        </p:txBody>
      </p:sp>
      <p:sp>
        <p:nvSpPr>
          <p:cNvPr id="20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1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2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Promise</a:t>
            </a:r>
            <a:endParaRPr lang="en-US"/>
          </a:p>
        </p:txBody>
      </p:sp>
      <p:sp>
        <p:nvSpPr>
          <p:cNvPr id="24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proposition is legible.</a:t>
            </a:r>
            <a:endParaRPr lang="en-US"/>
          </a:p>
        </p:txBody>
      </p:sp>
      <p:sp>
        <p:nvSpPr>
          <p:cNvPr id="25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0E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6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Proof</a:t>
            </a:r>
            <a:endParaRPr lang="en-US"/>
          </a:p>
        </p:txBody>
      </p:sp>
      <p:sp>
        <p:nvSpPr>
          <p:cNvPr id="28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response is measurable.</a:t>
            </a:r>
            <a:endParaRPr lang="en-US"/>
          </a:p>
        </p:txBody>
      </p:sp>
      <p:sp>
        <p:nvSpPr>
          <p:cNvPr id="29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2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Give the audience one action.</a:t>
            </a:r>
            <a:endParaRPr lang="en-US"/>
          </a:p>
        </p:txBody>
      </p:sp>
      <p:sp>
        <p:nvSpPr>
          <p:cNvPr id="33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5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2F0EA"/>
                </a:solidFill>
                <a:latin typeface="Inter"/>
                <a:ea typeface="Inter"/>
              </a:rPr>
              <a:t>Publish the invitation</a:t>
            </a:r>
            <a:endParaRPr lang="en-US"/>
          </a:p>
        </p:txBody>
      </p:sp>
      <p:sp>
        <p:nvSpPr>
          <p:cNvPr id="36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D7D7B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