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022ac4c4d9142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7790b68b5d8fcd92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c237998db8bee20d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31956823b229fb66_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59ee3aa5202fd02f_1" /><Relationship Type="http://schemas.openxmlformats.org/officeDocument/2006/relationships/image" Target="/ppt/media/image5.jpg" Id="rIdOfficeKitImageaeb6f74d36d260d0_1" /><Relationship Type="http://schemas.openxmlformats.org/officeDocument/2006/relationships/image" Target="/ppt/media/image6.jpg" Id="rIdOfficeKitImage13db13f70d7843cc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7.jpg" Id="rIdOfficeKitImagec7b73f8fac405495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aeb6f74d36d260d0_1" /></Relationships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7790b68b5d8fcd92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ditorial-cover-scrim"/>
          <p:cNvSpPr/>
          <p:nvPr/>
        </p:nvSpPr>
        <p:spPr>
          <a:xfrm xmlns:a="http://schemas.openxmlformats.org/drawingml/2006/main">
            <a:off x="0" y="0"/>
            <a:ext cx="7239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>
              <a:alpha val="84000"/>
            </a:srgbClr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001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D53A45"/>
                </a:solidFill>
                <a:latin typeface="Inter"/>
                <a:ea typeface="Inter"/>
              </a:rPr>
              <a:t>PROMOTION · OFFICEKIT CALIBRATION</a:t>
            </a:r>
            <a:endParaRPr lang="en-US"/>
          </a:p>
        </p:txBody>
      </p:sp>
      <p:sp>
        <p:nvSpPr>
          <p:cNvPr id="4" name="cover-title"/>
          <p:cNvSpPr txBox="1"/>
          <p:nvPr/>
        </p:nvSpPr>
        <p:spPr>
          <a:xfrm xmlns:a="http://schemas.openxmlformats.org/drawingml/2006/main">
            <a:off x="914400" y="19621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FFFFF"/>
                </a:solidFill>
                <a:latin typeface="Inter"/>
                <a:ea typeface="Inter"/>
              </a:rPr>
              <a:t>Noir Field Pictorial: a claim worth testing</a:t>
            </a:r>
            <a:endParaRPr lang="en-US"/>
          </a:p>
        </p:txBody>
      </p:sp>
      <p:sp>
        <p:nvSpPr>
          <p:cNvPr id="5" name="cover-subtitle"/>
          <p:cNvSpPr txBox="1"/>
          <p:nvPr/>
        </p:nvSpPr>
        <p:spPr>
          <a:xfrm xmlns:a="http://schemas.openxmlformats.org/drawingml/2006/main">
            <a:off x="952500" y="3638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F0F2F2"/>
                </a:solidFill>
                <a:latin typeface="Inter"/>
                <a:ea typeface="Inter"/>
              </a:rPr>
              <a:t>A clean-room reference for a visual proposition.</a:t>
            </a:r>
            <a:endParaRPr lang="en-US"/>
          </a:p>
        </p:txBody>
      </p:sp>
      <p:sp>
        <p:nvSpPr>
          <p:cNvPr id="6" name="cover-photo-rule"/>
          <p:cNvSpPr/>
          <p:nvPr/>
        </p:nvSpPr>
        <p:spPr>
          <a:xfrm xmlns:a="http://schemas.openxmlformats.org/drawingml/2006/main">
            <a:off x="914400" y="453390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cover-thesis"/>
          <p:cNvSpPr txBox="1"/>
          <p:nvPr/>
        </p:nvSpPr>
        <p:spPr>
          <a:xfrm xmlns:a="http://schemas.openxmlformats.org/drawingml/2006/main">
            <a:off x="952500" y="48958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950" b="1">
                <a:solidFill>
                  <a:srgbClr val="FFFFFF"/>
                </a:solidFill>
                <a:latin typeface="Inter"/>
                <a:ea typeface="Inter"/>
              </a:rPr>
              <a:t>A proposition earns attention when it gives a next move.</a:t>
            </a:r>
            <a:endParaRPr lang="en-US"/>
          </a:p>
        </p:txBody>
      </p:sp>
      <p:sp>
        <p:nvSpPr>
          <p:cNvPr id="8" name="cover-source"/>
          <p:cNvSpPr txBox="1"/>
          <p:nvPr/>
        </p:nvSpPr>
        <p:spPr>
          <a:xfrm xmlns:a="http://schemas.openxmlformats.org/drawingml/2006/main">
            <a:off x="952500" y="7334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F0F2F2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9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F0F2F2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bg>
      <p:bgPr>
        <a:blipFill xmlns:a="http://schemas.openxmlformats.org/drawingml/2006/main">
          <a:blip xmlns:r="http://schemas.openxmlformats.org/officeDocument/2006/relationships" r:embed="rIdOfficeKitImagec237998db8bee20d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rgument-paper-scrim"/>
          <p:cNvSpPr/>
          <p:nvPr/>
        </p:nvSpPr>
        <p:spPr>
          <a:xfrm xmlns:a="http://schemas.openxmlformats.org/drawingml/2006/main">
            <a:off x="0" y="0"/>
            <a:ext cx="8191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>
              <a:alpha val="96000"/>
            </a:srgbClr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A45"/>
          </a:solidFill>
          <a:ln xmlns:a="http://schemas.openxmlformats.org/drawingml/2006/main" w="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/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pic>
        <p:nvPicPr>
          <p:cNvPr id="14" name="argument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237998db8bee20d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argument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>
              <a:alpha val="62000"/>
            </a:srgbClr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rgument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NOIR FIELD PICTORIAL · ARGUMENT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D53A45"/>
                </a:solidFill>
                <a:latin typeface="Inter"/>
                <a:ea typeface="Inter"/>
              </a:rPr>
              <a:t>NOIR FIELD PICTORIAL · ARGUMENT</a:t>
            </a:r>
            <a:endParaRPr lang="en-US"/>
          </a:p>
        </p:txBody>
      </p:sp>
      <p:sp>
        <p:nvSpPr>
          <p:cNvPr id="18" name="argument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proposition is the page's visual center</a:t>
            </a:r>
            <a:endParaRPr lang="en-US"/>
          </a:p>
        </p:txBody>
      </p:sp>
      <p:sp>
        <p:nvSpPr>
          <p:cNvPr id="19" name="argument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Scale, crop, and color invite attention without hiding the evidence.</a:t>
            </a:r>
            <a:endParaRPr lang="en-US"/>
          </a:p>
        </p:txBody>
      </p:sp>
      <p:sp>
        <p:nvSpPr>
          <p:cNvPr id="20" name="promotion-kicker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D53A45"/>
                </a:solidFill>
                <a:latin typeface="Inter"/>
                <a:ea typeface="Inter"/>
              </a:rPr>
              <a:t>ONE PROPOSITION</a:t>
            </a:r>
            <a:endParaRPr lang="en-US"/>
          </a:p>
        </p:txBody>
      </p:sp>
      <p:sp>
        <p:nvSpPr>
          <p:cNvPr id="21" name="promotion-headline"/>
          <p:cNvSpPr txBox="1"/>
          <p:nvPr/>
        </p:nvSpPr>
        <p:spPr>
          <a:xfrm xmlns:a="http://schemas.openxmlformats.org/drawingml/2006/main">
            <a:off x="1104900" y="37909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625" b="1">
                <a:solidFill>
                  <a:srgbClr val="F2F0EA"/>
                </a:solidFill>
                <a:latin typeface="Inter"/>
                <a:ea typeface="Inter"/>
              </a:rPr>
              <a:t>Make the next action visible.</a:t>
            </a:r>
            <a:endParaRPr lang="en-US"/>
          </a:p>
        </p:txBody>
      </p:sp>
      <p:sp>
        <p:nvSpPr>
          <p:cNvPr id="22" name="promotion-body"/>
          <p:cNvSpPr txBox="1"/>
          <p:nvPr/>
        </p:nvSpPr>
        <p:spPr>
          <a:xfrm xmlns:a="http://schemas.openxmlformats.org/drawingml/2006/main">
            <a:off x="1104900" y="4762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F2F0EA"/>
                </a:solidFill>
                <a:latin typeface="Inter"/>
                <a:ea typeface="Inter"/>
              </a:rPr>
              <a:t>A clear invitation earns attention when evidence and access arrive together.</a:t>
            </a:r>
            <a:endParaRPr lang="en-US"/>
          </a:p>
        </p:txBody>
      </p:sp>
      <p:pic>
        <p:nvPicPr>
          <p:cNvPr id="23" name="promotion-hero-fram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237998db8bee20d_1"/>
          <a:srcRect xmlns:a="http://schemas.openxmlformats.org/drawingml/2006/main" l="0" t="31908" r="0" b="3190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525000" y="3143250"/>
            <a:ext cx="4000500" cy="2571750"/>
          </a:xfrm>
          <a:prstGeom xmlns:a="http://schemas.openxmlformats.org/drawingml/2006/main" prst="rect">
            <a:avLst/>
          </a:prstGeom>
        </p:spPr>
      </p:pic>
      <p:sp>
        <p:nvSpPr>
          <p:cNvPr id="24" name="promotion-image-rule"/>
          <p:cNvSpPr/>
          <p:nvPr/>
        </p:nvSpPr>
        <p:spPr>
          <a:xfrm xmlns:a="http://schemas.openxmlformats.org/drawingml/2006/main">
            <a:off x="9525000" y="5905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motion-image-label"/>
          <p:cNvSpPr txBox="1"/>
          <p:nvPr/>
        </p:nvSpPr>
        <p:spPr>
          <a:xfrm xmlns:a="http://schemas.openxmlformats.org/drawingml/2006/main">
            <a:off x="9525000" y="6153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D53A45"/>
                </a:solidFill>
                <a:latin typeface="Inter"/>
                <a:ea typeface="Inter"/>
              </a:rPr>
              <a:t>INVITE · PROVE · MOVE</a:t>
            </a:r>
            <a:endParaRPr lang="en-US"/>
          </a:p>
        </p:txBody>
      </p:sp>
      <p:sp>
        <p:nvSpPr>
          <p:cNvPr id="26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7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bg>
      <p:bgPr>
        <a:blipFill xmlns:a="http://schemas.openxmlformats.org/drawingml/2006/main">
          <a:blip xmlns:r="http://schemas.openxmlformats.org/officeDocument/2006/relationships" r:embed="rIdOfficeKitImage31956823b229fb66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vidence-paper-scrim"/>
          <p:cNvSpPr/>
          <p:nvPr/>
        </p:nvSpPr>
        <p:spPr>
          <a:xfrm xmlns:a="http://schemas.openxmlformats.org/drawingml/2006/main">
            <a:off x="0" y="0"/>
            <a:ext cx="8191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>
              <a:alpha val="96000"/>
            </a:srgbClr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A45"/>
          </a:solidFill>
          <a:ln xmlns:a="http://schemas.openxmlformats.org/drawingml/2006/main" w="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/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pic>
        <p:nvPicPr>
          <p:cNvPr id="14" name="evidenc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1956823b229fb66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evidenc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>
              <a:alpha val="62000"/>
            </a:srgbClr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evidenc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NOIR FIELD PICTORIAL · EVIDENC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D53A45"/>
                </a:solidFill>
                <a:latin typeface="Inter"/>
                <a:ea typeface="Inter"/>
              </a:rPr>
              <a:t>NOIR FIELD PICTORIAL · EVIDENCE</a:t>
            </a:r>
            <a:endParaRPr lang="en-US"/>
          </a:p>
        </p:txBody>
      </p:sp>
      <p:sp>
        <p:nvSpPr>
          <p:cNvPr id="18" name="evidenc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signal grows when the invitation stays measurable</a:t>
            </a:r>
            <a:endParaRPr lang="en-US"/>
          </a:p>
        </p:txBody>
      </p:sp>
      <p:sp>
        <p:nvSpPr>
          <p:cNvPr id="19" name="evidenc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Illustrative reach and response · source and measurement convention remain attached.</a:t>
            </a:r>
            <a:endParaRPr lang="en-US"/>
          </a:p>
        </p:txBody>
      </p:sp>
      <p:pic>
        <p:nvPicPr>
          <p:cNvPr id="20" name="evidence-image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1956823b229fb66_1"/>
          <a:srcRect xmlns:a="http://schemas.openxmlformats.org/drawingml/2006/main" l="0" t="39320" r="0" b="3932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47750" y="3048000"/>
            <a:ext cx="7905750" cy="3000375"/>
          </a:xfrm>
          <a:prstGeom xmlns:a="http://schemas.openxmlformats.org/drawingml/2006/main" prst="rect">
            <a:avLst/>
          </a:prstGeom>
        </p:spPr>
      </p:pic>
      <p:sp>
        <p:nvSpPr>
          <p:cNvPr id="21" name="evidence-image-caption"/>
          <p:cNvSpPr txBox="1"/>
          <p:nvPr/>
        </p:nvSpPr>
        <p:spPr>
          <a:xfrm xmlns:a="http://schemas.openxmlformats.org/drawingml/2006/main">
            <a:off x="1333500" y="3333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FFFFF"/>
                </a:solidFill>
                <a:latin typeface="Inter"/>
                <a:ea typeface="Inter"/>
              </a:rPr>
              <a:t>ONE SUBJECT · THREE SIGNALS</a:t>
            </a:r>
            <a:endParaRPr lang="en-US"/>
          </a:p>
        </p:txBody>
      </p:sp>
      <p:sp>
        <p:nvSpPr>
          <p:cNvPr id="22" name="evidence-image-rule"/>
          <p:cNvSpPr/>
          <p:nvPr/>
        </p:nvSpPr>
        <p:spPr>
          <a:xfrm xmlns:a="http://schemas.openxmlformats.org/drawingml/2006/main">
            <a:off x="1333500" y="56197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evidence-image-note"/>
          <p:cNvSpPr txBox="1"/>
          <p:nvPr/>
        </p:nvSpPr>
        <p:spPr>
          <a:xfrm xmlns:a="http://schemas.openxmlformats.org/drawingml/2006/main">
            <a:off x="1333500" y="5810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FFFFF"/>
                </a:solidFill>
                <a:latin typeface="Inter"/>
                <a:ea typeface="Inter"/>
              </a:rPr>
              <a:t>The image carries the story; the label carries the claim.</a:t>
            </a:r>
            <a:endParaRPr lang="en-US"/>
          </a:p>
        </p:txBody>
      </p:sp>
      <p:sp>
        <p:nvSpPr>
          <p:cNvPr id="24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D53A45"/>
                </a:solidFill>
                <a:latin typeface="Inter"/>
                <a:ea typeface="Inter"/>
              </a:rPr>
              <a:t>68</a:t>
            </a:r>
            <a:endParaRPr lang="en-US"/>
          </a:p>
        </p:txBody>
      </p:sp>
      <p:sp>
        <p:nvSpPr>
          <p:cNvPr id="25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D7D7B"/>
                </a:solidFill>
                <a:latin typeface="Inter"/>
                <a:ea typeface="Inter"/>
              </a:rPr>
              <a:t>qualified response · campaign close</a:t>
            </a:r>
            <a:endParaRPr lang="en-US"/>
          </a:p>
        </p:txBody>
      </p:sp>
      <p:sp>
        <p:nvSpPr>
          <p:cNvPr id="26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D7D7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0EA"/>
                </a:solidFill>
                <a:latin typeface="Inter"/>
                <a:ea typeface="Inter"/>
              </a:rPr>
              <a:t>Reach is useful only when the audience can see and take the next step.</a:t>
            </a:r>
            <a:endParaRPr lang="en-US"/>
          </a:p>
        </p:txBody>
      </p:sp>
      <p:sp>
        <p:nvSpPr>
          <p:cNvPr id="28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F2F0EA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30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31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A45"/>
          </a:solidFill>
          <a:ln xmlns:a="http://schemas.openxmlformats.org/drawingml/2006/main" w="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/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pic>
        <p:nvPicPr>
          <p:cNvPr id="14" name="detai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59ee3aa5202fd02f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detai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>
              <a:alpha val="62000"/>
            </a:srgbClr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detai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NOIR FIELD PICTORIAL · DETAIL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D53A45"/>
                </a:solidFill>
                <a:latin typeface="Inter"/>
                <a:ea typeface="Inter"/>
              </a:rPr>
              <a:t>NOIR FIELD PICTORIAL · DETAIL</a:t>
            </a:r>
            <a:endParaRPr lang="en-US"/>
          </a:p>
        </p:txBody>
      </p:sp>
      <p:sp>
        <p:nvSpPr>
          <p:cNvPr id="18" name="detai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same idea can hold several views</a:t>
            </a:r>
            <a:endParaRPr lang="en-US"/>
          </a:p>
        </p:txBody>
      </p:sp>
      <p:sp>
        <p:nvSpPr>
          <p:cNvPr id="19" name="detail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Unequal image frames · visual variety without decorative filler.</a:t>
            </a:r>
            <a:endParaRPr lang="en-US"/>
          </a:p>
        </p:txBody>
      </p:sp>
      <p:pic>
        <p:nvPicPr>
          <p:cNvPr id="20" name="image-evidence-0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59ee3aa5202fd02f_1"/>
          <a:srcRect xmlns:a="http://schemas.openxmlformats.org/drawingml/2006/main" l="0" t="28365" r="0" b="2836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90600" y="3162300"/>
            <a:ext cx="3714750" cy="2857500"/>
          </a:xfrm>
          <a:prstGeom xmlns:a="http://schemas.openxmlformats.org/drawingml/2006/main" prst="rect">
            <a:avLst/>
          </a:prstGeom>
        </p:spPr>
      </p:pic>
      <p:pic>
        <p:nvPicPr>
          <p:cNvPr id="21" name="image-evidence-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aeb6f74d36d260d0_1"/>
          <a:srcRect xmlns:a="http://schemas.openxmlformats.org/drawingml/2006/main" l="0" t="39904" r="0" b="3990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3162300"/>
            <a:ext cx="3714750" cy="1333500"/>
          </a:xfrm>
          <a:prstGeom xmlns:a="http://schemas.openxmlformats.org/drawingml/2006/main" prst="rect">
            <a:avLst/>
          </a:prstGeom>
        </p:spPr>
      </p:pic>
      <p:pic>
        <p:nvPicPr>
          <p:cNvPr id="22" name="image-evidence-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13db13f70d7843cc_1"/>
          <a:srcRect xmlns:a="http://schemas.openxmlformats.org/drawingml/2006/main" l="0" t="39904" r="0" b="39904"/>
          <a:stretch xmlns:a="http://schemas.openxmlformats.org/drawingml/2006/main">
            <a:fillRect/>
          </a:stretch>
        </p:blipFill>
        <p:spPr>
          <a:xfrm xmlns:a="http://schemas.openxmlformats.org/drawingml/2006/main" flipH="1">
            <a:off x="4895850" y="4686300"/>
            <a:ext cx="3714750" cy="1333500"/>
          </a:xfrm>
          <a:prstGeom xmlns:a="http://schemas.openxmlformats.org/drawingml/2006/main" prst="rect">
            <a:avLst/>
          </a:prstGeom>
        </p:spPr>
      </p:pic>
      <p:sp>
        <p:nvSpPr>
          <p:cNvPr id="23" name="image-matrix-label"/>
          <p:cNvSpPr txBox="1"/>
          <p:nvPr/>
        </p:nvSpPr>
        <p:spPr>
          <a:xfrm xmlns:a="http://schemas.openxmlformats.org/drawingml/2006/main">
            <a:off x="9620250" y="3314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D53A45"/>
                </a:solidFill>
                <a:latin typeface="Inter"/>
                <a:ea typeface="Inter"/>
              </a:rPr>
              <a:t>IMAGE MATRIX</a:t>
            </a:r>
            <a:endParaRPr lang="en-US"/>
          </a:p>
        </p:txBody>
      </p:sp>
      <p:sp>
        <p:nvSpPr>
          <p:cNvPr id="24" name="image-matrix-title"/>
          <p:cNvSpPr txBox="1"/>
          <p:nvPr/>
        </p:nvSpPr>
        <p:spPr>
          <a:xfrm xmlns:a="http://schemas.openxmlformats.org/drawingml/2006/main">
            <a:off x="9620250" y="37909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F2F0EA"/>
                </a:solidFill>
                <a:latin typeface="Inter"/>
                <a:ea typeface="Inter"/>
              </a:rPr>
              <a:t>One subject, three ways to notice it.</a:t>
            </a:r>
            <a:endParaRPr lang="en-US"/>
          </a:p>
        </p:txBody>
      </p:sp>
      <p:sp>
        <p:nvSpPr>
          <p:cNvPr id="25" name="image-matrix-body"/>
          <p:cNvSpPr txBox="1"/>
          <p:nvPr/>
        </p:nvSpPr>
        <p:spPr>
          <a:xfrm xmlns:a="http://schemas.openxmlformats.org/drawingml/2006/main">
            <a:off x="9620250" y="49530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7D7D7B"/>
                </a:solidFill>
                <a:latin typeface="Inter"/>
                <a:ea typeface="Inter"/>
              </a:rPr>
              <a:t>Use unequal frames to show facets of one idea. The crop carries the mood; the label carries the claim.</a:t>
            </a:r>
            <a:endParaRPr lang="en-US"/>
          </a:p>
        </p:txBody>
      </p:sp>
      <p:sp>
        <p:nvSpPr>
          <p:cNvPr id="2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2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bg>
      <p:bgPr>
        <a:blipFill xmlns:a="http://schemas.openxmlformats.org/drawingml/2006/main">
          <a:blip xmlns:r="http://schemas.openxmlformats.org/officeDocument/2006/relationships" r:embed="rIdOfficeKitImagec7b73f8fac405495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A45"/>
          </a:solidFill>
          <a:ln xmlns:a="http://schemas.openxmlformats.org/drawingml/2006/main" w="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/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sp>
        <p:nvSpPr>
          <p:cNvPr id="13" name="visual-scrim"/>
          <p:cNvSpPr/>
          <p:nvPr/>
        </p:nvSpPr>
        <p:spPr>
          <a:xfrm xmlns:a="http://schemas.openxmlformats.org/drawingml/2006/main">
            <a:off x="0" y="0"/>
            <a:ext cx="6858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>
              <a:alpha val="88000"/>
            </a:srgbClr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eyebrow"/>
          <p:cNvSpPr txBox="1"/>
          <p:nvPr/>
        </p:nvSpPr>
        <p:spPr>
          <a:xfrm xmlns:a="http://schemas.openxmlformats.org/drawingml/2006/main">
            <a:off x="914400" y="895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D53A45"/>
                </a:solidFill>
                <a:latin typeface="Inter"/>
                <a:ea typeface="Inter"/>
              </a:rPr>
              <a:t>NOIR FIELD PICTORIAL · VISUAL CARRIER</a:t>
            </a:r>
            <a:endParaRPr lang="en-US"/>
          </a:p>
        </p:txBody>
      </p:sp>
      <p:sp>
        <p:nvSpPr>
          <p:cNvPr id="15" name="visual-title"/>
          <p:cNvSpPr txBox="1"/>
          <p:nvPr/>
        </p:nvSpPr>
        <p:spPr>
          <a:xfrm xmlns:a="http://schemas.openxmlformats.org/drawingml/2006/main">
            <a:off x="914400" y="16383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300" b="1">
                <a:solidFill>
                  <a:srgbClr val="F2F0EA"/>
                </a:solidFill>
                <a:latin typeface="Inter"/>
                <a:ea typeface="Inter"/>
              </a:rPr>
              <a:t>Let the subject do the work</a:t>
            </a:r>
            <a:endParaRPr lang="en-US"/>
          </a:p>
        </p:txBody>
      </p:sp>
      <p:sp>
        <p:nvSpPr>
          <p:cNvPr id="16" name="visual-body"/>
          <p:cNvSpPr txBox="1"/>
          <p:nvPr/>
        </p:nvSpPr>
        <p:spPr>
          <a:xfrm xmlns:a="http://schemas.openxmlformats.org/drawingml/2006/main">
            <a:off x="914400" y="32194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2F0EA"/>
                </a:solidFill>
                <a:latin typeface="Inter"/>
                <a:ea typeface="Inter"/>
              </a:rPr>
              <a:t>A strong crop gives the proposition a place to live.</a:t>
            </a:r>
            <a:endParaRPr lang="en-US"/>
          </a:p>
        </p:txBody>
      </p:sp>
      <p:sp>
        <p:nvSpPr>
          <p:cNvPr id="17" name="visual-rule"/>
          <p:cNvSpPr/>
          <p:nvPr/>
        </p:nvSpPr>
        <p:spPr>
          <a:xfrm xmlns:a="http://schemas.openxmlformats.org/drawingml/2006/main">
            <a:off x="914400" y="447675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visual-label"/>
          <p:cNvSpPr txBox="1"/>
          <p:nvPr/>
        </p:nvSpPr>
        <p:spPr>
          <a:xfrm xmlns:a="http://schemas.openxmlformats.org/drawingml/2006/main">
            <a:off x="914400" y="4819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D53A45"/>
                </a:solidFill>
                <a:latin typeface="Inter"/>
                <a:ea typeface="Inter"/>
              </a:rPr>
              <a:t>THE IMAGE IS EVIDENCE, NOT FILL</a:t>
            </a:r>
            <a:endParaRPr lang="en-US"/>
          </a:p>
        </p:txBody>
      </p:sp>
      <p:sp>
        <p:nvSpPr>
          <p:cNvPr id="19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0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bg>
      <p:bgPr>
        <a:blipFill xmlns:a="http://schemas.openxmlformats.org/drawingml/2006/main">
          <a:blip xmlns:r="http://schemas.openxmlformats.org/officeDocument/2006/relationships" r:embed="rIdOfficeKitImageaeb6f74d36d260d0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lose-paper-scrim"/>
          <p:cNvSpPr/>
          <p:nvPr/>
        </p:nvSpPr>
        <p:spPr>
          <a:xfrm xmlns:a="http://schemas.openxmlformats.org/drawingml/2006/main">
            <a:off x="0" y="0"/>
            <a:ext cx="8191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>
              <a:alpha val="96000"/>
            </a:srgbClr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A45"/>
          </a:solidFill>
          <a:ln xmlns:a="http://schemas.openxmlformats.org/drawingml/2006/main" w="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7D7D7B"/>
                </a:solidFill>
                <a:latin typeface="Inter"/>
                <a:ea typeface="Inter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17526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/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17907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Inter"/>
                <a:ea typeface="Inter"/>
              </a:rPr>
              <a:t>NEXT</a:t>
            </a:r>
            <a:endParaRPr lang="en-US"/>
          </a:p>
        </p:txBody>
      </p:sp>
      <p:pic>
        <p:nvPicPr>
          <p:cNvPr id="14" name="clos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aeb6f74d36d260d0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15" name="clos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A">
              <a:alpha val="62000"/>
            </a:srgbClr>
          </a:solidFill>
          <a:ln xmlns:a="http://schemas.openxmlformats.org/drawingml/2006/main" w="0">
            <a:solidFill>
              <a:srgbClr val="F2F0E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clos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NOIR FIELD PICTORIAL · CLOS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D53A45"/>
                </a:solidFill>
                <a:latin typeface="Inter"/>
                <a:ea typeface="Inter"/>
              </a:rPr>
              <a:t>NOIR FIELD PICTORIAL · CLOSE</a:t>
            </a:r>
            <a:endParaRPr lang="en-US"/>
          </a:p>
        </p:txBody>
      </p:sp>
      <p:sp>
        <p:nvSpPr>
          <p:cNvPr id="18" name="clos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Turn the shared invitation into an action plan</a:t>
            </a:r>
            <a:endParaRPr lang="en-US"/>
          </a:p>
        </p:txBody>
      </p:sp>
      <p:sp>
        <p:nvSpPr>
          <p:cNvPr id="19" name="clos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20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D53A45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21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D7D7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0EA"/>
                </a:solidFill>
                <a:latin typeface="Inter"/>
                <a:ea typeface="Inter"/>
              </a:rPr>
              <a:t>Promise</a:t>
            </a:r>
            <a:endParaRPr lang="en-US"/>
          </a:p>
        </p:txBody>
      </p:sp>
      <p:sp>
        <p:nvSpPr>
          <p:cNvPr id="23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0EA"/>
                </a:solidFill>
                <a:latin typeface="Inter"/>
                <a:ea typeface="Inter"/>
              </a:rPr>
              <a:t>The proposition is legible.</a:t>
            </a:r>
            <a:endParaRPr lang="en-US"/>
          </a:p>
        </p:txBody>
      </p:sp>
      <p:sp>
        <p:nvSpPr>
          <p:cNvPr id="24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2F0EA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25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D7D7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0EA"/>
                </a:solidFill>
                <a:latin typeface="Inter"/>
                <a:ea typeface="Inter"/>
              </a:rPr>
              <a:t>Proof</a:t>
            </a:r>
            <a:endParaRPr lang="en-US"/>
          </a:p>
        </p:txBody>
      </p:sp>
      <p:sp>
        <p:nvSpPr>
          <p:cNvPr id="27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0EA"/>
                </a:solidFill>
                <a:latin typeface="Inter"/>
                <a:ea typeface="Inter"/>
              </a:rPr>
              <a:t>The response is measurable.</a:t>
            </a:r>
            <a:endParaRPr lang="en-US"/>
          </a:p>
        </p:txBody>
      </p:sp>
      <p:sp>
        <p:nvSpPr>
          <p:cNvPr id="28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D53A45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9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2F0EA"/>
                </a:solidFill>
                <a:latin typeface="Inter"/>
                <a:ea typeface="Inter"/>
              </a:rPr>
              <a:t>Move</a:t>
            </a:r>
            <a:endParaRPr lang="en-US"/>
          </a:p>
        </p:txBody>
      </p:sp>
      <p:sp>
        <p:nvSpPr>
          <p:cNvPr id="31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2F0EA"/>
                </a:solidFill>
                <a:latin typeface="Inter"/>
                <a:ea typeface="Inter"/>
              </a:rPr>
              <a:t>Give the audience one action.</a:t>
            </a:r>
            <a:endParaRPr lang="en-US"/>
          </a:p>
        </p:txBody>
      </p:sp>
      <p:sp>
        <p:nvSpPr>
          <p:cNvPr id="32" name="next-rule"/>
          <p:cNvSpPr/>
          <p:nvPr/>
        </p:nvSpPr>
        <p:spPr>
          <a:xfrm xmlns:a="http://schemas.openxmlformats.org/drawingml/2006/main">
            <a:off x="10668000" y="3714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3A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next-label"/>
          <p:cNvSpPr txBox="1"/>
          <p:nvPr/>
        </p:nvSpPr>
        <p:spPr>
          <a:xfrm xmlns:a="http://schemas.openxmlformats.org/drawingml/2006/main">
            <a:off x="10668000" y="403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D53A45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34" name="next-text"/>
          <p:cNvSpPr txBox="1"/>
          <p:nvPr/>
        </p:nvSpPr>
        <p:spPr>
          <a:xfrm xmlns:a="http://schemas.openxmlformats.org/drawingml/2006/main">
            <a:off x="10668000" y="45148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F2F0EA"/>
                </a:solidFill>
                <a:latin typeface="Inter"/>
                <a:ea typeface="Inter"/>
              </a:rPr>
              <a:t>Publish the invitation</a:t>
            </a:r>
            <a:endParaRPr lang="en-US"/>
          </a:p>
        </p:txBody>
      </p:sp>
      <p:sp>
        <p:nvSpPr>
          <p:cNvPr id="35" name="next-foot"/>
          <p:cNvSpPr txBox="1"/>
          <p:nvPr/>
        </p:nvSpPr>
        <p:spPr>
          <a:xfrm xmlns:a="http://schemas.openxmlformats.org/drawingml/2006/main">
            <a:off x="10668000" y="560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7D7D7B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3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D7D7B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