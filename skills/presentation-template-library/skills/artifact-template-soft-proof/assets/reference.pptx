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slides/charts/chart4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fe1cb7096140458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e1f5af4a62db4340" /><Relationship Type="http://schemas.openxmlformats.org/officeDocument/2006/relationships/chart" Target="/ppt/slides/charts/chart2.xml" Id="R2177e8abd730499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3.xml" Id="R2a6db068f33448d6" /><Relationship Type="http://schemas.openxmlformats.org/officeDocument/2006/relationships/chart" Target="/ppt/slides/charts/chart4.xml" Id="R6348fb9fa5f744d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Primary signal · observed versus reference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2278E8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8F9B9E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Driver trend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Driver</c:v>
          </c:tx>
          <c:spPr>
            <a:solidFill>
              <a:srgbClr val="B64A98"/>
            </a:solidFill>
            <a:ln w="38100">
              <a:solidFill>
                <a:srgbClr val="B64A98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22</c:v>
              </c:pt>
              <c:pt idx="1">
                <c:v>28</c:v>
              </c:pt>
              <c:pt idx="2">
                <c:v>34</c:v>
              </c:pt>
              <c:pt idx="3">
                <c:v>39</c:v>
              </c:pt>
              <c:pt idx="4">
                <c:v>45</c:v>
              </c:pt>
              <c:pt idx="5">
                <c:v>51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charts/chart3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2278E8"/>
            </a:solidFill>
          </c:spP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charts/chart4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Context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Context</c:v>
          </c:tx>
          <c:spPr>
            <a:solidFill>
              <a:srgbClr val="B64A98"/>
            </a:solidFill>
            <a:ln w="38100">
              <a:solidFill>
                <a:srgbClr val="B64A98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CFA"/>
          </a:solidFill>
          <a:ln xmlns:a="http://schemas.openxmlformats.org/drawingml/2006/main" w="0">
            <a:solidFill>
              <a:srgbClr val="FCFCF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278E8"/>
                </a:solidFill>
                <a:latin typeface="Inter"/>
                <a:ea typeface="Inter"/>
              </a:rPr>
              <a:t>ACADEMIC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8313A"/>
                </a:solidFill>
                <a:latin typeface="Inter"/>
                <a:ea typeface="Inter"/>
              </a:rPr>
              <a:t>Soft Proof: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2278E8"/>
                </a:solidFill>
                <a:latin typeface="Inter"/>
                <a:ea typeface="Inter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7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F9B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13A"/>
                </a:solidFill>
                <a:latin typeface="Inter"/>
                <a:ea typeface="Inter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8313A"/>
                </a:solidFill>
                <a:latin typeface="Inter"/>
                <a:ea typeface="Inter"/>
              </a:rPr>
              <a:t>A falsifiable claim is a design decision.</a:t>
            </a:r>
            <a:endParaRPr lang="en-US"/>
          </a:p>
        </p:txBody>
      </p:sp>
      <p:sp>
        <p:nvSpPr>
          <p:cNvPr id="10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F9B9E"/>
                </a:solidFill>
                <a:latin typeface="Inter"/>
                <a:ea typeface="Inter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F9B9E"/>
                </a:solidFill>
                <a:latin typeface="Inter"/>
                <a:ea typeface="Inter"/>
              </a:rPr>
              <a:t>1 / 6</a:t>
            </a:r>
            <a:endParaRPr lang="en-US"/>
          </a:p>
        </p:txBody>
      </p:sp>
      <p:sp>
        <p:nvSpPr>
          <p:cNvPr id="12" name="anchor-field"/>
          <p:cNvSpPr/>
          <p:nvPr/>
        </p:nvSpPr>
        <p:spPr>
          <a:xfrm xmlns:a="http://schemas.openxmlformats.org/drawingml/2006/main">
            <a:off x="11620500" y="1790700"/>
            <a:ext cx="2095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254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anchor-grid-0-0"/>
          <p:cNvSpPr/>
          <p:nvPr/>
        </p:nvSpPr>
        <p:spPr>
          <a:xfrm xmlns:a="http://schemas.openxmlformats.org/drawingml/2006/main">
            <a:off x="119253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8E8"/>
          </a:solidFill>
          <a:ln xmlns:a="http://schemas.openxmlformats.org/drawingml/2006/main" w="127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grid-0-1"/>
          <p:cNvSpPr/>
          <p:nvPr/>
        </p:nvSpPr>
        <p:spPr>
          <a:xfrm xmlns:a="http://schemas.openxmlformats.org/drawingml/2006/main">
            <a:off x="124206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8E8"/>
          </a:solidFill>
          <a:ln xmlns:a="http://schemas.openxmlformats.org/drawingml/2006/main" w="127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grid-0-2"/>
          <p:cNvSpPr/>
          <p:nvPr/>
        </p:nvSpPr>
        <p:spPr>
          <a:xfrm xmlns:a="http://schemas.openxmlformats.org/drawingml/2006/main">
            <a:off x="129159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CFA"/>
          </a:solidFill>
          <a:ln xmlns:a="http://schemas.openxmlformats.org/drawingml/2006/main" w="127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nchor-grid-1-0"/>
          <p:cNvSpPr/>
          <p:nvPr/>
        </p:nvSpPr>
        <p:spPr>
          <a:xfrm xmlns:a="http://schemas.openxmlformats.org/drawingml/2006/main">
            <a:off x="119253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8E8"/>
          </a:solidFill>
          <a:ln xmlns:a="http://schemas.openxmlformats.org/drawingml/2006/main" w="127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anchor-grid-1-1"/>
          <p:cNvSpPr/>
          <p:nvPr/>
        </p:nvSpPr>
        <p:spPr>
          <a:xfrm xmlns:a="http://schemas.openxmlformats.org/drawingml/2006/main">
            <a:off x="124206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8E8"/>
          </a:solidFill>
          <a:ln xmlns:a="http://schemas.openxmlformats.org/drawingml/2006/main" w="127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nchor-grid-1-2"/>
          <p:cNvSpPr/>
          <p:nvPr/>
        </p:nvSpPr>
        <p:spPr>
          <a:xfrm xmlns:a="http://schemas.openxmlformats.org/drawingml/2006/main">
            <a:off x="129159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CFA"/>
          </a:solidFill>
          <a:ln xmlns:a="http://schemas.openxmlformats.org/drawingml/2006/main" w="127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anchor-grid-2-0"/>
          <p:cNvSpPr/>
          <p:nvPr/>
        </p:nvSpPr>
        <p:spPr>
          <a:xfrm xmlns:a="http://schemas.openxmlformats.org/drawingml/2006/main">
            <a:off x="119253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8E8"/>
          </a:solidFill>
          <a:ln xmlns:a="http://schemas.openxmlformats.org/drawingml/2006/main" w="127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anchor-grid-2-1"/>
          <p:cNvSpPr/>
          <p:nvPr/>
        </p:nvSpPr>
        <p:spPr>
          <a:xfrm xmlns:a="http://schemas.openxmlformats.org/drawingml/2006/main">
            <a:off x="124206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8E8"/>
          </a:solidFill>
          <a:ln xmlns:a="http://schemas.openxmlformats.org/drawingml/2006/main" w="127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anchor-grid-2-2"/>
          <p:cNvSpPr/>
          <p:nvPr/>
        </p:nvSpPr>
        <p:spPr>
          <a:xfrm xmlns:a="http://schemas.openxmlformats.org/drawingml/2006/main">
            <a:off x="129159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CFA"/>
          </a:solidFill>
          <a:ln xmlns:a="http://schemas.openxmlformats.org/drawingml/2006/main" w="127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anchor-axis"/>
          <p:cNvSpPr/>
          <p:nvPr/>
        </p:nvSpPr>
        <p:spPr>
          <a:xfrm xmlns:a="http://schemas.openxmlformats.org/drawingml/2006/main">
            <a:off x="12668250" y="1638300"/>
            <a:ext cx="0" cy="2743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18313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CFA"/>
          </a:solidFill>
          <a:ln xmlns:a="http://schemas.openxmlformats.org/drawingml/2006/main" w="0">
            <a:solidFill>
              <a:srgbClr val="FCFCF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OFT PROOF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278E8"/>
                </a:solidFill>
                <a:latin typeface="Inter"/>
                <a:ea typeface="Inter"/>
              </a:rPr>
              <a:t>SOFT PROOF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313A"/>
                </a:solidFill>
                <a:latin typeface="Inter"/>
                <a:ea typeface="Inter"/>
              </a:rPr>
              <a:t>The method keeps mechanism separate from drift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F9B9E"/>
                </a:solidFill>
                <a:latin typeface="Inter"/>
                <a:ea typeface="Inter"/>
              </a:rPr>
              <a:t>Question → method → result → limitation, without marketing language.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F9B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academic-number-0"/>
          <p:cNvSpPr txBox="1"/>
          <p:nvPr/>
        </p:nvSpPr>
        <p:spPr>
          <a:xfrm xmlns:a="http://schemas.openxmlformats.org/drawingml/2006/main">
            <a:off x="1104900" y="32385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2278E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9" name="academic-rule-0"/>
          <p:cNvSpPr/>
          <p:nvPr/>
        </p:nvSpPr>
        <p:spPr>
          <a:xfrm xmlns:a="http://schemas.openxmlformats.org/drawingml/2006/main">
            <a:off x="2000250" y="33909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F9B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academic-label-0"/>
          <p:cNvSpPr txBox="1"/>
          <p:nvPr/>
        </p:nvSpPr>
        <p:spPr>
          <a:xfrm xmlns:a="http://schemas.openxmlformats.org/drawingml/2006/main">
            <a:off x="2114550" y="3200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13A"/>
                </a:solidFill>
                <a:latin typeface="Inter"/>
                <a:ea typeface="Inter"/>
              </a:rPr>
              <a:t>Question</a:t>
            </a:r>
            <a:endParaRPr lang="en-US"/>
          </a:p>
        </p:txBody>
      </p:sp>
      <p:sp>
        <p:nvSpPr>
          <p:cNvPr id="11" name="academic-text-0"/>
          <p:cNvSpPr txBox="1"/>
          <p:nvPr/>
        </p:nvSpPr>
        <p:spPr>
          <a:xfrm xmlns:a="http://schemas.openxmlformats.org/drawingml/2006/main">
            <a:off x="4095750" y="32385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13A"/>
                </a:solidFill>
                <a:latin typeface="Inter"/>
                <a:ea typeface="Inter"/>
              </a:rPr>
              <a:t>Can the intervention move the outcome?</a:t>
            </a:r>
            <a:endParaRPr lang="en-US"/>
          </a:p>
        </p:txBody>
      </p:sp>
      <p:sp>
        <p:nvSpPr>
          <p:cNvPr id="12" name="academic-number-1"/>
          <p:cNvSpPr txBox="1"/>
          <p:nvPr/>
        </p:nvSpPr>
        <p:spPr>
          <a:xfrm xmlns:a="http://schemas.openxmlformats.org/drawingml/2006/main">
            <a:off x="1104900" y="41910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2278E8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3" name="academic-rule-1"/>
          <p:cNvSpPr/>
          <p:nvPr/>
        </p:nvSpPr>
        <p:spPr>
          <a:xfrm xmlns:a="http://schemas.openxmlformats.org/drawingml/2006/main">
            <a:off x="2000250" y="43434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F9B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cademic-label-1"/>
          <p:cNvSpPr txBox="1"/>
          <p:nvPr/>
        </p:nvSpPr>
        <p:spPr>
          <a:xfrm xmlns:a="http://schemas.openxmlformats.org/drawingml/2006/main">
            <a:off x="2114550" y="41529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13A"/>
                </a:solidFill>
                <a:latin typeface="Inter"/>
                <a:ea typeface="Inter"/>
              </a:rPr>
              <a:t>Method</a:t>
            </a:r>
            <a:endParaRPr lang="en-US"/>
          </a:p>
        </p:txBody>
      </p:sp>
      <p:sp>
        <p:nvSpPr>
          <p:cNvPr id="15" name="academic-text-1"/>
          <p:cNvSpPr txBox="1"/>
          <p:nvPr/>
        </p:nvSpPr>
        <p:spPr>
          <a:xfrm xmlns:a="http://schemas.openxmlformats.org/drawingml/2006/main">
            <a:off x="4095750" y="41910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13A"/>
                </a:solidFill>
                <a:latin typeface="Inter"/>
                <a:ea typeface="Inter"/>
              </a:rPr>
              <a:t>Two groups, one rule, registered before launch.</a:t>
            </a:r>
            <a:endParaRPr lang="en-US"/>
          </a:p>
        </p:txBody>
      </p:sp>
      <p:sp>
        <p:nvSpPr>
          <p:cNvPr id="16" name="academic-number-2"/>
          <p:cNvSpPr txBox="1"/>
          <p:nvPr/>
        </p:nvSpPr>
        <p:spPr>
          <a:xfrm xmlns:a="http://schemas.openxmlformats.org/drawingml/2006/main">
            <a:off x="1104900" y="51435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2278E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7" name="academic-rule-2"/>
          <p:cNvSpPr/>
          <p:nvPr/>
        </p:nvSpPr>
        <p:spPr>
          <a:xfrm xmlns:a="http://schemas.openxmlformats.org/drawingml/2006/main">
            <a:off x="2000250" y="52959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F9B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cademic-label-2"/>
          <p:cNvSpPr txBox="1"/>
          <p:nvPr/>
        </p:nvSpPr>
        <p:spPr>
          <a:xfrm xmlns:a="http://schemas.openxmlformats.org/drawingml/2006/main">
            <a:off x="2114550" y="5105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13A"/>
                </a:solidFill>
                <a:latin typeface="Inter"/>
                <a:ea typeface="Inter"/>
              </a:rPr>
              <a:t>Boundary</a:t>
            </a:r>
            <a:endParaRPr lang="en-US"/>
          </a:p>
        </p:txBody>
      </p:sp>
      <p:sp>
        <p:nvSpPr>
          <p:cNvPr id="19" name="academic-text-2"/>
          <p:cNvSpPr txBox="1"/>
          <p:nvPr/>
        </p:nvSpPr>
        <p:spPr>
          <a:xfrm xmlns:a="http://schemas.openxmlformats.org/drawingml/2006/main">
            <a:off x="4095750" y="51435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13A"/>
                </a:solidFill>
                <a:latin typeface="Inter"/>
                <a:ea typeface="Inter"/>
              </a:rPr>
              <a:t>The result applies to this window and sample.</a:t>
            </a:r>
            <a:endParaRPr lang="en-US"/>
          </a:p>
        </p:txBody>
      </p:sp>
      <p:sp>
        <p:nvSpPr>
          <p:cNvPr id="20" name="method-panel"/>
          <p:cNvSpPr/>
          <p:nvPr/>
        </p:nvSpPr>
        <p:spPr>
          <a:xfrm xmlns:a="http://schemas.openxmlformats.org/drawingml/2006/main">
            <a:off x="10287000" y="3238500"/>
            <a:ext cx="3619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F9B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method-label"/>
          <p:cNvSpPr txBox="1"/>
          <p:nvPr/>
        </p:nvSpPr>
        <p:spPr>
          <a:xfrm xmlns:a="http://schemas.openxmlformats.org/drawingml/2006/main">
            <a:off x="10668000" y="3571875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278E8"/>
                </a:solidFill>
                <a:latin typeface="Inter"/>
                <a:ea typeface="Inter"/>
              </a:rPr>
              <a:t>REGISTERED RULE</a:t>
            </a:r>
            <a:endParaRPr lang="en-US"/>
          </a:p>
        </p:txBody>
      </p:sp>
      <p:sp>
        <p:nvSpPr>
          <p:cNvPr id="22" name="method-value"/>
          <p:cNvSpPr txBox="1"/>
          <p:nvPr/>
        </p:nvSpPr>
        <p:spPr>
          <a:xfrm xmlns:a="http://schemas.openxmlformats.org/drawingml/2006/main">
            <a:off x="10668000" y="4048125"/>
            <a:ext cx="257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750" b="1">
                <a:solidFill>
                  <a:srgbClr val="2278E8"/>
                </a:solidFill>
                <a:latin typeface="Inter"/>
                <a:ea typeface="Inter"/>
              </a:rPr>
              <a:t>≥ 2 pp</a:t>
            </a:r>
            <a:endParaRPr lang="en-US"/>
          </a:p>
        </p:txBody>
      </p:sp>
      <p:sp>
        <p:nvSpPr>
          <p:cNvPr id="23" name="method-foot"/>
          <p:cNvSpPr txBox="1"/>
          <p:nvPr/>
        </p:nvSpPr>
        <p:spPr>
          <a:xfrm xmlns:a="http://schemas.openxmlformats.org/drawingml/2006/main">
            <a:off x="10668000" y="4762500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F9B9E"/>
                </a:solidFill>
                <a:latin typeface="Inter"/>
                <a:ea typeface="Inter"/>
              </a:rPr>
              <a:t>confidence interval excludes zero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F9B9E"/>
                </a:solidFill>
                <a:latin typeface="Inter"/>
                <a:ea typeface="Inter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F9B9E"/>
                </a:solidFill>
                <a:latin typeface="Inter"/>
                <a:ea typeface="Inter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CFA"/>
          </a:solidFill>
          <a:ln xmlns:a="http://schemas.openxmlformats.org/drawingml/2006/main" w="0">
            <a:solidFill>
              <a:srgbClr val="FCFCF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OFT PROOF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278E8"/>
                </a:solidFill>
                <a:latin typeface="Inter"/>
                <a:ea typeface="Inter"/>
              </a:rPr>
              <a:t>SOFT PROOF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313A"/>
                </a:solidFill>
                <a:latin typeface="Inter"/>
                <a:ea typeface="Inter"/>
              </a:rPr>
              <a:t>The result clears the rule; uncertainty remains visible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F9B9E"/>
                </a:solidFill>
                <a:latin typeface="Inter"/>
                <a:ea typeface="Inter"/>
              </a:rPr>
              <a:t>Illustrative measure · mean of 24 observations · 95% CI shown in the read-through.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F9B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dense-prim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048000"/>
          <a:ext xmlns:a="http://schemas.openxmlformats.org/drawingml/2006/main" cx="62865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1f5af4a62db4340"/>
          </a:graphicData>
        </a:graphic>
      </p:graphicFrame>
      <p:graphicFrame>
        <p:nvGraphicFramePr>
          <p:cNvPr id="9" name="dense-second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7658100" y="3048000"/>
          <a:ext xmlns:a="http://schemas.openxmlformats.org/drawingml/2006/main" cx="314325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177e8abd7304993"/>
          </a:graphicData>
        </a:graphic>
      </p:graphicFrame>
      <p:sp>
        <p:nvSpPr>
          <p:cNvPr id="10" name="dense-read-rule"/>
          <p:cNvSpPr/>
          <p:nvPr/>
        </p:nvSpPr>
        <p:spPr>
          <a:xfrm xmlns:a="http://schemas.openxmlformats.org/drawingml/2006/main">
            <a:off x="11315700" y="3314700"/>
            <a:ext cx="2686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dense-read-label"/>
          <p:cNvSpPr txBox="1"/>
          <p:nvPr/>
        </p:nvSpPr>
        <p:spPr>
          <a:xfrm xmlns:a="http://schemas.openxmlformats.org/drawingml/2006/main">
            <a:off x="11315700" y="35433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278E8"/>
                </a:solidFill>
                <a:latin typeface="Inter"/>
                <a:ea typeface="Inter"/>
              </a:rPr>
              <a:t>READ-THROUGH</a:t>
            </a:r>
            <a:endParaRPr lang="en-US"/>
          </a:p>
        </p:txBody>
      </p:sp>
      <p:sp>
        <p:nvSpPr>
          <p:cNvPr id="12" name="dense-read-title"/>
          <p:cNvSpPr txBox="1"/>
          <p:nvPr/>
        </p:nvSpPr>
        <p:spPr>
          <a:xfrm xmlns:a="http://schemas.openxmlformats.org/drawingml/2006/main">
            <a:off x="11315700" y="400050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18313A"/>
                </a:solidFill>
                <a:latin typeface="Inter"/>
                <a:ea typeface="Inter"/>
              </a:rPr>
              <a:t>The pattern is bounded by the method.</a:t>
            </a:r>
            <a:endParaRPr lang="en-US"/>
          </a:p>
        </p:txBody>
      </p:sp>
      <p:sp>
        <p:nvSpPr>
          <p:cNvPr id="13" name="dense-read-body"/>
          <p:cNvSpPr txBox="1"/>
          <p:nvPr/>
        </p:nvSpPr>
        <p:spPr>
          <a:xfrm xmlns:a="http://schemas.openxmlformats.org/drawingml/2006/main">
            <a:off x="11315700" y="4953000"/>
            <a:ext cx="266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F9B9E"/>
                </a:solidFill>
                <a:latin typeface="Inter"/>
                <a:ea typeface="Inter"/>
              </a:rPr>
              <a:t>Read the curve, then check the sample and limitation.</a:t>
            </a:r>
            <a:endParaRPr lang="en-US"/>
          </a:p>
        </p:txBody>
      </p:sp>
      <p:sp>
        <p:nvSpPr>
          <p:cNvPr id="14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8313A"/>
                </a:solidFill>
                <a:latin typeface="Inter"/>
                <a:ea typeface="Inter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F9B9E"/>
                </a:solidFill>
                <a:latin typeface="Inter"/>
                <a:ea typeface="Inter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F9B9E"/>
                </a:solidFill>
                <a:latin typeface="Inter"/>
                <a:ea typeface="Inter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CFA"/>
          </a:solidFill>
          <a:ln xmlns:a="http://schemas.openxmlformats.org/drawingml/2006/main" w="0">
            <a:solidFill>
              <a:srgbClr val="FCFCF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OFT PROOF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278E8"/>
                </a:solidFill>
                <a:latin typeface="Inter"/>
                <a:ea typeface="Inter"/>
              </a:rPr>
              <a:t>SOFT PROOF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313A"/>
                </a:solidFill>
                <a:latin typeface="Inter"/>
                <a:ea typeface="Inter"/>
              </a:rPr>
              <a:t>The table keeps the result honest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F9B9E"/>
                </a:solidFill>
                <a:latin typeface="Inter"/>
                <a:ea typeface="Inter"/>
              </a:rPr>
              <a:t>Structured comparison · method, window, measure and boundary remain adjacent.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F9B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academic-evidence-tabl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162300"/>
          <a:ext xmlns:a="http://schemas.openxmlformats.org/drawingml/2006/main" cx="8001000" cy="28956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2000250"/>
                <a:gridCol w="2000250"/>
                <a:gridCol w="2000250"/>
                <a:gridCol w="2000250"/>
              </a:tblGrid>
              <a:tr h="579120"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Method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Control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Pilot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Read-through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Sample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24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24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Balanced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Window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3 weeks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4 weeks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Pre-registered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Measure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Baseline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Outcome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Comparable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Limit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Local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Local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No generalization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able-note-label"/>
          <p:cNvSpPr txBox="1"/>
          <p:nvPr/>
        </p:nvSpPr>
        <p:spPr>
          <a:xfrm xmlns:a="http://schemas.openxmlformats.org/drawingml/2006/main">
            <a:off x="9810750" y="3314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278E8"/>
                </a:solidFill>
                <a:latin typeface="Inter"/>
                <a:ea typeface="Inter"/>
              </a:rPr>
              <a:t>METHOD READ-THROUGH</a:t>
            </a:r>
            <a:endParaRPr lang="en-US"/>
          </a:p>
        </p:txBody>
      </p:sp>
      <p:sp>
        <p:nvSpPr>
          <p:cNvPr id="10" name="table-note-title"/>
          <p:cNvSpPr txBox="1"/>
          <p:nvPr/>
        </p:nvSpPr>
        <p:spPr>
          <a:xfrm xmlns:a="http://schemas.openxmlformats.org/drawingml/2006/main">
            <a:off x="9810750" y="3790950"/>
            <a:ext cx="3619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8313A"/>
                </a:solidFill>
                <a:latin typeface="Inter"/>
                <a:ea typeface="Inter"/>
              </a:rPr>
              <a:t>The boundary travels with the result.</a:t>
            </a:r>
            <a:endParaRPr lang="en-US"/>
          </a:p>
        </p:txBody>
      </p:sp>
      <p:sp>
        <p:nvSpPr>
          <p:cNvPr id="11" name="table-note-rule"/>
          <p:cNvSpPr/>
          <p:nvPr/>
        </p:nvSpPr>
        <p:spPr>
          <a:xfrm xmlns:a="http://schemas.openxmlformats.org/drawingml/2006/main">
            <a:off x="9810750" y="5010150"/>
            <a:ext cx="361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F9B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table-note-body"/>
          <p:cNvSpPr txBox="1"/>
          <p:nvPr/>
        </p:nvSpPr>
        <p:spPr>
          <a:xfrm xmlns:a="http://schemas.openxmlformats.org/drawingml/2006/main">
            <a:off x="9810750" y="527685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F9B9E"/>
                </a:solidFill>
                <a:latin typeface="Inter"/>
                <a:ea typeface="Inter"/>
              </a:rPr>
              <a:t>Keep the method, window and limitation adjacent to the outcome so the reader can audit the claim.</a:t>
            </a:r>
            <a:endParaRPr lang="en-US"/>
          </a:p>
        </p:txBody>
      </p:sp>
      <p:sp>
        <p:nvSpPr>
          <p:cNvPr id="13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F9B9E"/>
                </a:solidFill>
                <a:latin typeface="Inter"/>
                <a:ea typeface="Inter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14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F9B9E"/>
                </a:solidFill>
                <a:latin typeface="Inter"/>
                <a:ea typeface="Inter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CFA"/>
          </a:solidFill>
          <a:ln xmlns:a="http://schemas.openxmlformats.org/drawingml/2006/main" w="0">
            <a:solidFill>
              <a:srgbClr val="FCFCF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OFT PROOF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278E8"/>
                </a:solidFill>
                <a:latin typeface="Inter"/>
                <a:ea typeface="Inter"/>
              </a:rPr>
              <a:t>SOFT PROOF · VISUAL CARRIER</a:t>
            </a:r>
            <a:endParaRPr lang="en-US"/>
          </a:p>
        </p:txBody>
      </p:sp>
      <p:sp>
        <p:nvSpPr>
          <p:cNvPr id="5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313A"/>
                </a:solidFill>
                <a:latin typeface="Inter"/>
                <a:ea typeface="Inter"/>
              </a:rPr>
              <a:t>Evidence has a texture</a:t>
            </a:r>
            <a:endParaRPr lang="en-US"/>
          </a:p>
        </p:txBody>
      </p:sp>
      <p:sp>
        <p:nvSpPr>
          <p:cNvPr id="6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F9B9E"/>
                </a:solidFill>
                <a:latin typeface="Inter"/>
                <a:ea typeface="Inter"/>
              </a:rPr>
              <a:t>Use a visual carrier when the audience needs to see a pattern before reading the caveat.</a:t>
            </a:r>
            <a:endParaRPr lang="en-US"/>
          </a:p>
        </p:txBody>
      </p:sp>
      <p:sp>
        <p:nvSpPr>
          <p:cNvPr id="7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F9B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dense-visual-bars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14400" y="3028950"/>
          <a:ext xmlns:a="http://schemas.openxmlformats.org/drawingml/2006/main" cx="5334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a6db068f33448d6"/>
          </a:graphicData>
        </a:graphic>
      </p:graphicFrame>
      <p:graphicFrame>
        <p:nvGraphicFramePr>
          <p:cNvPr id="9" name="dense-visual-lin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6667500" y="3028950"/>
          <a:ext xmlns:a="http://schemas.openxmlformats.org/drawingml/2006/main" cx="3810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348fb9fa5f744dd"/>
          </a:graphicData>
        </a:graphic>
      </p:graphicFrame>
      <p:sp>
        <p:nvSpPr>
          <p:cNvPr id="10" name="visual-note"/>
          <p:cNvSpPr/>
          <p:nvPr/>
        </p:nvSpPr>
        <p:spPr>
          <a:xfrm xmlns:a="http://schemas.openxmlformats.org/drawingml/2006/main">
            <a:off x="11049000" y="3333750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F9B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visual-note-label"/>
          <p:cNvSpPr txBox="1"/>
          <p:nvPr/>
        </p:nvSpPr>
        <p:spPr>
          <a:xfrm xmlns:a="http://schemas.openxmlformats.org/drawingml/2006/main">
            <a:off x="11430000" y="3695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278E8"/>
                </a:solidFill>
                <a:latin typeface="Inter"/>
                <a:ea typeface="Inter"/>
              </a:rPr>
              <a:t>CARRIER</a:t>
            </a:r>
            <a:endParaRPr lang="en-US"/>
          </a:p>
        </p:txBody>
      </p:sp>
      <p:sp>
        <p:nvSpPr>
          <p:cNvPr id="12" name="visual-note-text"/>
          <p:cNvSpPr txBox="1"/>
          <p:nvPr/>
        </p:nvSpPr>
        <p:spPr>
          <a:xfrm xmlns:a="http://schemas.openxmlformats.org/drawingml/2006/main">
            <a:off x="11430000" y="4171950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8313A"/>
                </a:solidFill>
                <a:latin typeface="Inter"/>
                <a:ea typeface="Inter"/>
              </a:rPr>
              <a:t>Pattern before caveat</a:t>
            </a:r>
            <a:endParaRPr lang="en-US"/>
          </a:p>
        </p:txBody>
      </p:sp>
      <p:sp>
        <p:nvSpPr>
          <p:cNvPr id="13" name="visual-note-foot"/>
          <p:cNvSpPr txBox="1"/>
          <p:nvPr/>
        </p:nvSpPr>
        <p:spPr>
          <a:xfrm xmlns:a="http://schemas.openxmlformats.org/drawingml/2006/main">
            <a:off x="11430000" y="52197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F9B9E"/>
                </a:solidFill>
                <a:latin typeface="Inter"/>
                <a:ea typeface="Inter"/>
              </a:rPr>
              <a:t>Read the mark, unit, and basis.</a:t>
            </a:r>
            <a:endParaRPr lang="en-US"/>
          </a:p>
        </p:txBody>
      </p:sp>
      <p:sp>
        <p:nvSpPr>
          <p:cNvPr id="1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F9B9E"/>
                </a:solidFill>
                <a:latin typeface="Inter"/>
                <a:ea typeface="Inter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1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F9B9E"/>
                </a:solidFill>
                <a:latin typeface="Inter"/>
                <a:ea typeface="Inter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CFA"/>
          </a:solidFill>
          <a:ln xmlns:a="http://schemas.openxmlformats.org/drawingml/2006/main" w="0">
            <a:solidFill>
              <a:srgbClr val="FCFCF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OFT PROOF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278E8"/>
                </a:solidFill>
                <a:latin typeface="Inter"/>
                <a:ea typeface="Inter"/>
              </a:rPr>
              <a:t>SOFT PROOF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313A"/>
                </a:solidFill>
                <a:latin typeface="Inter"/>
                <a:ea typeface="Inter"/>
              </a:rPr>
              <a:t>A cleared gate is a decision, not a universal claim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F9B9E"/>
                </a:solidFill>
                <a:latin typeface="Inter"/>
                <a:ea typeface="Inter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F9B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278E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F9B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13A"/>
                </a:solidFill>
                <a:latin typeface="Inter"/>
                <a:ea typeface="Inter"/>
              </a:rPr>
              <a:t>Claim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13A"/>
                </a:solidFill>
                <a:latin typeface="Inter"/>
                <a:ea typeface="Inter"/>
              </a:rPr>
              <a:t>The mechanism moved the measured outcome.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8313A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F9B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13A"/>
                </a:solidFill>
                <a:latin typeface="Inter"/>
                <a:ea typeface="Inter"/>
              </a:rPr>
              <a:t>Boundary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13A"/>
                </a:solidFill>
                <a:latin typeface="Inter"/>
                <a:ea typeface="Inter"/>
              </a:rPr>
              <a:t>The sample does not establish persistence.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278E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13A"/>
                </a:solidFill>
                <a:latin typeface="Inter"/>
                <a:ea typeface="Inter"/>
              </a:rPr>
              <a:t>Next test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13A"/>
                </a:solidFill>
                <a:latin typeface="Inter"/>
                <a:ea typeface="Inter"/>
              </a:rPr>
              <a:t>Replicate across a new region.</a:t>
            </a:r>
            <a:endParaRPr lang="en-US"/>
          </a:p>
        </p:txBody>
      </p:sp>
      <p:sp>
        <p:nvSpPr>
          <p:cNvPr id="20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8E8"/>
          </a:solidFill>
          <a:ln xmlns:a="http://schemas.openxmlformats.org/drawingml/2006/main" w="0">
            <a:solidFill>
              <a:srgbClr val="2278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Inter"/>
                <a:ea typeface="Inter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Inter"/>
                <a:ea typeface="Inter"/>
              </a:rPr>
              <a:t>Replicate the test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Inter"/>
                <a:ea typeface="Inter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F9B9E"/>
                </a:solidFill>
                <a:latin typeface="Inter"/>
                <a:ea typeface="Inter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F9B9E"/>
                </a:solidFill>
                <a:latin typeface="Inter"/>
                <a:ea typeface="Inter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