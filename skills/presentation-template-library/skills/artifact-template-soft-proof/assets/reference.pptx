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90111f0125d45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13A"/>
                </a:solidFill>
                <a:latin typeface="Inter"/>
                <a:ea typeface="Inter"/>
              </a:rPr>
              <a:t>Soft Proof: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278E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13A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831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78E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78E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78E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278E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2278E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9B9E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map-label"/>
          <p:cNvSpPr txBox="1"/>
          <p:nvPr/>
        </p:nvSpPr>
        <p:spPr>
          <a:xfrm xmlns:a="http://schemas.openxmlformats.org/drawingml/2006/main">
            <a:off x="1066800" y="31432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278E8"/>
                </a:solidFill>
                <a:latin typeface="Inter"/>
                <a:ea typeface="Inter"/>
              </a:rPr>
              <a:t>DIRECT-LABELLED DISTRIBUTION</a:t>
            </a:r>
            <a:endParaRPr lang="en-US"/>
          </a:p>
        </p:txBody>
      </p:sp>
      <p:sp>
        <p:nvSpPr>
          <p:cNvPr id="9" name="map-field"/>
          <p:cNvSpPr/>
          <p:nvPr/>
        </p:nvSpPr>
        <p:spPr>
          <a:xfrm xmlns:a="http://schemas.openxmlformats.org/drawingml/2006/main">
            <a:off x="1066800" y="3524250"/>
            <a:ext cx="75247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EC"/>
          </a:solidFill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map-region-0"/>
          <p:cNvSpPr/>
          <p:nvPr/>
        </p:nvSpPr>
        <p:spPr>
          <a:xfrm xmlns:a="http://schemas.openxmlformats.org/drawingml/2006/main">
            <a:off x="1619250" y="4324350"/>
            <a:ext cx="1428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A98">
              <a:alpha val="48000"/>
            </a:srgbClr>
          </a:solidFill>
          <a:ln xmlns:a="http://schemas.openxmlformats.org/drawingml/2006/main" w="2540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map-region-1"/>
          <p:cNvSpPr/>
          <p:nvPr/>
        </p:nvSpPr>
        <p:spPr>
          <a:xfrm xmlns:a="http://schemas.openxmlformats.org/drawingml/2006/main">
            <a:off x="3295650" y="3962400"/>
            <a:ext cx="1790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>
              <a:alpha val="76000"/>
            </a:srgbClr>
          </a:solidFill>
          <a:ln xmlns:a="http://schemas.openxmlformats.org/drawingml/2006/main" w="2540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map-region-2"/>
          <p:cNvSpPr/>
          <p:nvPr/>
        </p:nvSpPr>
        <p:spPr>
          <a:xfrm xmlns:a="http://schemas.openxmlformats.org/drawingml/2006/main">
            <a:off x="5295900" y="4457700"/>
            <a:ext cx="1200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A98">
              <a:alpha val="48000"/>
            </a:srgbClr>
          </a:solidFill>
          <a:ln xmlns:a="http://schemas.openxmlformats.org/drawingml/2006/main" w="2540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map-region-3"/>
          <p:cNvSpPr/>
          <p:nvPr/>
        </p:nvSpPr>
        <p:spPr>
          <a:xfrm xmlns:a="http://schemas.openxmlformats.org/drawingml/2006/main">
            <a:off x="6705600" y="3848100"/>
            <a:ext cx="1238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>
              <a:alpha val="76000"/>
            </a:srgbClr>
          </a:solidFill>
          <a:ln xmlns:a="http://schemas.openxmlformats.org/drawingml/2006/main" w="2540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map-region-4"/>
          <p:cNvSpPr/>
          <p:nvPr/>
        </p:nvSpPr>
        <p:spPr>
          <a:xfrm xmlns:a="http://schemas.openxmlformats.org/drawingml/2006/main">
            <a:off x="2590800" y="5219700"/>
            <a:ext cx="1943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9B9E">
              <a:alpha val="48000"/>
            </a:srgbClr>
          </a:solidFill>
          <a:ln xmlns:a="http://schemas.openxmlformats.org/drawingml/2006/main" w="2540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ap-region-5"/>
          <p:cNvSpPr/>
          <p:nvPr/>
        </p:nvSpPr>
        <p:spPr>
          <a:xfrm xmlns:a="http://schemas.openxmlformats.org/drawingml/2006/main">
            <a:off x="4895850" y="5334000"/>
            <a:ext cx="1447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A98">
              <a:alpha val="76000"/>
            </a:srgbClr>
          </a:solidFill>
          <a:ln xmlns:a="http://schemas.openxmlformats.org/drawingml/2006/main" w="2540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map-leader-0"/>
          <p:cNvSpPr/>
          <p:nvPr/>
        </p:nvSpPr>
        <p:spPr>
          <a:xfrm xmlns:a="http://schemas.openxmlformats.org/drawingml/2006/main">
            <a:off x="1943100" y="43624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831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map-label-0"/>
          <p:cNvSpPr txBox="1"/>
          <p:nvPr/>
        </p:nvSpPr>
        <p:spPr>
          <a:xfrm xmlns:a="http://schemas.openxmlformats.org/drawingml/2006/main">
            <a:off x="2190750" y="4095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313A"/>
                </a:solidFill>
                <a:latin typeface="Inter"/>
                <a:ea typeface="Inter"/>
              </a:rPr>
              <a:t>North · 42%</a:t>
            </a:r>
            <a:endParaRPr lang="en-US"/>
          </a:p>
        </p:txBody>
      </p:sp>
      <p:sp>
        <p:nvSpPr>
          <p:cNvPr id="18" name="map-leader-1"/>
          <p:cNvSpPr/>
          <p:nvPr/>
        </p:nvSpPr>
        <p:spPr>
          <a:xfrm xmlns:a="http://schemas.openxmlformats.org/drawingml/2006/main">
            <a:off x="3676650" y="39814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831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map-label-1"/>
          <p:cNvSpPr txBox="1"/>
          <p:nvPr/>
        </p:nvSpPr>
        <p:spPr>
          <a:xfrm xmlns:a="http://schemas.openxmlformats.org/drawingml/2006/main">
            <a:off x="3924300" y="3714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313A"/>
                </a:solidFill>
                <a:latin typeface="Inter"/>
                <a:ea typeface="Inter"/>
              </a:rPr>
              <a:t>Central · 68%</a:t>
            </a:r>
            <a:endParaRPr lang="en-US"/>
          </a:p>
        </p:txBody>
      </p:sp>
      <p:sp>
        <p:nvSpPr>
          <p:cNvPr id="20" name="map-leader-2"/>
          <p:cNvSpPr/>
          <p:nvPr/>
        </p:nvSpPr>
        <p:spPr>
          <a:xfrm xmlns:a="http://schemas.openxmlformats.org/drawingml/2006/main">
            <a:off x="6934200" y="388620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831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ap-label-2"/>
          <p:cNvSpPr txBox="1"/>
          <p:nvPr/>
        </p:nvSpPr>
        <p:spPr>
          <a:xfrm xmlns:a="http://schemas.openxmlformats.org/drawingml/2006/main">
            <a:off x="7181850" y="3619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313A"/>
                </a:solidFill>
                <a:latin typeface="Inter"/>
                <a:ea typeface="Inter"/>
              </a:rPr>
              <a:t>East · 55%</a:t>
            </a:r>
            <a:endParaRPr lang="en-US"/>
          </a:p>
        </p:txBody>
      </p:sp>
      <p:sp>
        <p:nvSpPr>
          <p:cNvPr id="22" name="map-leader-3"/>
          <p:cNvSpPr/>
          <p:nvPr/>
        </p:nvSpPr>
        <p:spPr>
          <a:xfrm xmlns:a="http://schemas.openxmlformats.org/drawingml/2006/main">
            <a:off x="2952750" y="63436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831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map-label-3"/>
          <p:cNvSpPr txBox="1"/>
          <p:nvPr/>
        </p:nvSpPr>
        <p:spPr>
          <a:xfrm xmlns:a="http://schemas.openxmlformats.org/drawingml/2006/main">
            <a:off x="3200400" y="60769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313A"/>
                </a:solidFill>
                <a:latin typeface="Inter"/>
                <a:ea typeface="Inter"/>
              </a:rPr>
              <a:t>South · 31%</a:t>
            </a:r>
            <a:endParaRPr lang="en-US"/>
          </a:p>
        </p:txBody>
      </p:sp>
      <p:sp>
        <p:nvSpPr>
          <p:cNvPr id="24" name="map-read-label"/>
          <p:cNvSpPr txBox="1"/>
          <p:nvPr/>
        </p:nvSpPr>
        <p:spPr>
          <a:xfrm xmlns:a="http://schemas.openxmlformats.org/drawingml/2006/main">
            <a:off x="9906000" y="3333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278E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5" name="map-read-title"/>
          <p:cNvSpPr txBox="1"/>
          <p:nvPr/>
        </p:nvSpPr>
        <p:spPr>
          <a:xfrm xmlns:a="http://schemas.openxmlformats.org/drawingml/2006/main">
            <a:off x="9906000" y="3829050"/>
            <a:ext cx="342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13A"/>
                </a:solidFill>
                <a:latin typeface="Inter"/>
                <a:ea typeface="Inter"/>
              </a:rPr>
              <a:t>The geography changes the decision.</a:t>
            </a:r>
            <a:endParaRPr lang="en-US"/>
          </a:p>
        </p:txBody>
      </p:sp>
      <p:sp>
        <p:nvSpPr>
          <p:cNvPr id="26" name="map-read-body"/>
          <p:cNvSpPr txBox="1"/>
          <p:nvPr/>
        </p:nvSpPr>
        <p:spPr>
          <a:xfrm xmlns:a="http://schemas.openxmlformats.org/drawingml/2006/main">
            <a:off x="9906000" y="49530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F9B9E"/>
                </a:solidFill>
                <a:latin typeface="Inter"/>
                <a:ea typeface="Inter"/>
              </a:rPr>
              <a:t>Use a map only when position, distribution, or concentration carries the argument. Direct labels stay next to the region they qualify.</a:t>
            </a:r>
            <a:endParaRPr lang="en-US"/>
          </a:p>
        </p:txBody>
      </p:sp>
      <p:sp>
        <p:nvSpPr>
          <p:cNvPr id="27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13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academic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Method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Control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Pilot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Read-through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Sample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Balanced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Window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3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Pre-registered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Measure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Baseline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Outcome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Comparable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Limit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No generalization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278E8"/>
                </a:solidFill>
                <a:latin typeface="Inter"/>
                <a:ea typeface="Inter"/>
              </a:rPr>
              <a:t>METHOD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13A"/>
                </a:solidFill>
                <a:latin typeface="Inter"/>
                <a:ea typeface="Inter"/>
              </a:rPr>
              <a:t>The boundary travels with the result.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F9B9E"/>
                </a:solidFill>
                <a:latin typeface="Inter"/>
                <a:ea typeface="Inter"/>
              </a:rPr>
              <a:t>Keep the method, window and limitation adjacent to the outcome so the reader can audit the claim.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map-label"/>
          <p:cNvSpPr txBox="1"/>
          <p:nvPr/>
        </p:nvSpPr>
        <p:spPr>
          <a:xfrm xmlns:a="http://schemas.openxmlformats.org/drawingml/2006/main">
            <a:off x="1066800" y="31432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278E8"/>
                </a:solidFill>
                <a:latin typeface="Inter"/>
                <a:ea typeface="Inter"/>
              </a:rPr>
              <a:t>DIRECT-LABELLED DISTRIBUTION</a:t>
            </a:r>
            <a:endParaRPr lang="en-US"/>
          </a:p>
        </p:txBody>
      </p:sp>
      <p:sp>
        <p:nvSpPr>
          <p:cNvPr id="9" name="map-field"/>
          <p:cNvSpPr/>
          <p:nvPr/>
        </p:nvSpPr>
        <p:spPr>
          <a:xfrm xmlns:a="http://schemas.openxmlformats.org/drawingml/2006/main">
            <a:off x="1066800" y="3524250"/>
            <a:ext cx="75247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EC"/>
          </a:solidFill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map-region-0"/>
          <p:cNvSpPr/>
          <p:nvPr/>
        </p:nvSpPr>
        <p:spPr>
          <a:xfrm xmlns:a="http://schemas.openxmlformats.org/drawingml/2006/main">
            <a:off x="1619250" y="4324350"/>
            <a:ext cx="1428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A98">
              <a:alpha val="48000"/>
            </a:srgbClr>
          </a:solidFill>
          <a:ln xmlns:a="http://schemas.openxmlformats.org/drawingml/2006/main" w="2540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map-region-1"/>
          <p:cNvSpPr/>
          <p:nvPr/>
        </p:nvSpPr>
        <p:spPr>
          <a:xfrm xmlns:a="http://schemas.openxmlformats.org/drawingml/2006/main">
            <a:off x="3295650" y="3962400"/>
            <a:ext cx="1790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>
              <a:alpha val="76000"/>
            </a:srgbClr>
          </a:solidFill>
          <a:ln xmlns:a="http://schemas.openxmlformats.org/drawingml/2006/main" w="2540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map-region-2"/>
          <p:cNvSpPr/>
          <p:nvPr/>
        </p:nvSpPr>
        <p:spPr>
          <a:xfrm xmlns:a="http://schemas.openxmlformats.org/drawingml/2006/main">
            <a:off x="5295900" y="4457700"/>
            <a:ext cx="1200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A98">
              <a:alpha val="48000"/>
            </a:srgbClr>
          </a:solidFill>
          <a:ln xmlns:a="http://schemas.openxmlformats.org/drawingml/2006/main" w="2540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map-region-3"/>
          <p:cNvSpPr/>
          <p:nvPr/>
        </p:nvSpPr>
        <p:spPr>
          <a:xfrm xmlns:a="http://schemas.openxmlformats.org/drawingml/2006/main">
            <a:off x="6705600" y="3848100"/>
            <a:ext cx="1238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>
              <a:alpha val="76000"/>
            </a:srgbClr>
          </a:solidFill>
          <a:ln xmlns:a="http://schemas.openxmlformats.org/drawingml/2006/main" w="2540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map-region-4"/>
          <p:cNvSpPr/>
          <p:nvPr/>
        </p:nvSpPr>
        <p:spPr>
          <a:xfrm xmlns:a="http://schemas.openxmlformats.org/drawingml/2006/main">
            <a:off x="2590800" y="5219700"/>
            <a:ext cx="1943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9B9E">
              <a:alpha val="48000"/>
            </a:srgbClr>
          </a:solidFill>
          <a:ln xmlns:a="http://schemas.openxmlformats.org/drawingml/2006/main" w="2540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ap-region-5"/>
          <p:cNvSpPr/>
          <p:nvPr/>
        </p:nvSpPr>
        <p:spPr>
          <a:xfrm xmlns:a="http://schemas.openxmlformats.org/drawingml/2006/main">
            <a:off x="4895850" y="5334000"/>
            <a:ext cx="1447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A98">
              <a:alpha val="76000"/>
            </a:srgbClr>
          </a:solidFill>
          <a:ln xmlns:a="http://schemas.openxmlformats.org/drawingml/2006/main" w="2540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map-leader-0"/>
          <p:cNvSpPr/>
          <p:nvPr/>
        </p:nvSpPr>
        <p:spPr>
          <a:xfrm xmlns:a="http://schemas.openxmlformats.org/drawingml/2006/main">
            <a:off x="1943100" y="43624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831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map-label-0"/>
          <p:cNvSpPr txBox="1"/>
          <p:nvPr/>
        </p:nvSpPr>
        <p:spPr>
          <a:xfrm xmlns:a="http://schemas.openxmlformats.org/drawingml/2006/main">
            <a:off x="2190750" y="4095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313A"/>
                </a:solidFill>
                <a:latin typeface="Inter"/>
                <a:ea typeface="Inter"/>
              </a:rPr>
              <a:t>North · 42%</a:t>
            </a:r>
            <a:endParaRPr lang="en-US"/>
          </a:p>
        </p:txBody>
      </p:sp>
      <p:sp>
        <p:nvSpPr>
          <p:cNvPr id="18" name="map-leader-1"/>
          <p:cNvSpPr/>
          <p:nvPr/>
        </p:nvSpPr>
        <p:spPr>
          <a:xfrm xmlns:a="http://schemas.openxmlformats.org/drawingml/2006/main">
            <a:off x="3676650" y="39814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831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map-label-1"/>
          <p:cNvSpPr txBox="1"/>
          <p:nvPr/>
        </p:nvSpPr>
        <p:spPr>
          <a:xfrm xmlns:a="http://schemas.openxmlformats.org/drawingml/2006/main">
            <a:off x="3924300" y="3714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313A"/>
                </a:solidFill>
                <a:latin typeface="Inter"/>
                <a:ea typeface="Inter"/>
              </a:rPr>
              <a:t>Central · 68%</a:t>
            </a:r>
            <a:endParaRPr lang="en-US"/>
          </a:p>
        </p:txBody>
      </p:sp>
      <p:sp>
        <p:nvSpPr>
          <p:cNvPr id="20" name="map-leader-2"/>
          <p:cNvSpPr/>
          <p:nvPr/>
        </p:nvSpPr>
        <p:spPr>
          <a:xfrm xmlns:a="http://schemas.openxmlformats.org/drawingml/2006/main">
            <a:off x="6934200" y="388620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831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ap-label-2"/>
          <p:cNvSpPr txBox="1"/>
          <p:nvPr/>
        </p:nvSpPr>
        <p:spPr>
          <a:xfrm xmlns:a="http://schemas.openxmlformats.org/drawingml/2006/main">
            <a:off x="7181850" y="3619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313A"/>
                </a:solidFill>
                <a:latin typeface="Inter"/>
                <a:ea typeface="Inter"/>
              </a:rPr>
              <a:t>East · 55%</a:t>
            </a:r>
            <a:endParaRPr lang="en-US"/>
          </a:p>
        </p:txBody>
      </p:sp>
      <p:sp>
        <p:nvSpPr>
          <p:cNvPr id="22" name="map-leader-3"/>
          <p:cNvSpPr/>
          <p:nvPr/>
        </p:nvSpPr>
        <p:spPr>
          <a:xfrm xmlns:a="http://schemas.openxmlformats.org/drawingml/2006/main">
            <a:off x="2952750" y="63436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831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map-label-3"/>
          <p:cNvSpPr txBox="1"/>
          <p:nvPr/>
        </p:nvSpPr>
        <p:spPr>
          <a:xfrm xmlns:a="http://schemas.openxmlformats.org/drawingml/2006/main">
            <a:off x="3200400" y="60769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313A"/>
                </a:solidFill>
                <a:latin typeface="Inter"/>
                <a:ea typeface="Inter"/>
              </a:rPr>
              <a:t>South · 31%</a:t>
            </a:r>
            <a:endParaRPr lang="en-US"/>
          </a:p>
        </p:txBody>
      </p:sp>
      <p:sp>
        <p:nvSpPr>
          <p:cNvPr id="24" name="map-read-label"/>
          <p:cNvSpPr txBox="1"/>
          <p:nvPr/>
        </p:nvSpPr>
        <p:spPr>
          <a:xfrm xmlns:a="http://schemas.openxmlformats.org/drawingml/2006/main">
            <a:off x="9906000" y="3333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278E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5" name="map-read-title"/>
          <p:cNvSpPr txBox="1"/>
          <p:nvPr/>
        </p:nvSpPr>
        <p:spPr>
          <a:xfrm xmlns:a="http://schemas.openxmlformats.org/drawingml/2006/main">
            <a:off x="9906000" y="3829050"/>
            <a:ext cx="342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13A"/>
                </a:solidFill>
                <a:latin typeface="Inter"/>
                <a:ea typeface="Inter"/>
              </a:rPr>
              <a:t>The geography changes the decision.</a:t>
            </a:r>
            <a:endParaRPr lang="en-US"/>
          </a:p>
        </p:txBody>
      </p:sp>
      <p:sp>
        <p:nvSpPr>
          <p:cNvPr id="26" name="map-read-body"/>
          <p:cNvSpPr txBox="1"/>
          <p:nvPr/>
        </p:nvSpPr>
        <p:spPr>
          <a:xfrm xmlns:a="http://schemas.openxmlformats.org/drawingml/2006/main">
            <a:off x="9906000" y="49530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F9B9E"/>
                </a:solidFill>
                <a:latin typeface="Inter"/>
                <a:ea typeface="Inter"/>
              </a:rPr>
              <a:t>Use a map only when position, distribution, or concentration carries the argument. Direct labels stay next to the region they qualify.</a:t>
            </a:r>
            <a:endParaRPr lang="en-US"/>
          </a:p>
        </p:txBody>
      </p:sp>
      <p:sp>
        <p:nvSpPr>
          <p:cNvPr id="27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278E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29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13A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0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9B9E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78E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13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78E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