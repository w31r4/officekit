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295ad262454c2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IdMaster1"/>
  </p:sldMasterIdLst>
  <p:sldIdLst>
    <p:sldId xmlns:r="http://schemas.openxmlformats.org/officeDocument/2006/relationships" id="256" r:id="rIdSlide1"/>
    <p:sldId xmlns:r="http://schemas.openxmlformats.org/officeDocument/2006/relationships" id="257" r:id="rIdSlide2"/>
    <p:sldId xmlns:r="http://schemas.openxmlformats.org/officeDocument/2006/relationships" id="258" r:id="rIdSlide3"/>
    <p:sldId xmlns:r="http://schemas.openxmlformats.org/officeDocument/2006/relationships" id="259" r:id="rIdSlide4"/>
    <p:sldId xmlns:r="http://schemas.openxmlformats.org/officeDocument/2006/relationships" id="260" r:id="rIdSlide5"/>
    <p:sldId xmlns:r="http://schemas.openxmlformats.org/officeDocument/2006/relationships" id="261" r:id="rIdSlide6"/>
  </p:sldIdLst>
  <p:sldSz cx="15240000" cy="8572500"/>
  <p:notesSz cx="6858000" cy="9144000"/>
  <p:defaultTextStyle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Relationship Type="http://schemas.openxmlformats.org/officeDocument/2006/relationships/slide" Target="/ppt/slides/slide1.xml" Id="rIdSlide1" /><Relationship Type="http://schemas.openxmlformats.org/officeDocument/2006/relationships/slide" Target="/ppt/slides/slide2.xml" Id="rIdSlide2" /><Relationship Type="http://schemas.openxmlformats.org/officeDocument/2006/relationships/slide" Target="/ppt/slides/slide3.xml" Id="rIdSlide3" /><Relationship Type="http://schemas.openxmlformats.org/officeDocument/2006/relationships/slide" Target="/ppt/slides/slide4.xml" Id="rIdSlide4" /><Relationship Type="http://schemas.openxmlformats.org/officeDocument/2006/relationships/slide" Target="/ppt/slides/slide5.xml" Id="rIdSlide5" /><Relationship Type="http://schemas.openxmlformats.org/officeDocument/2006/relationships/slide" Target="/ppt/slides/slide6.xml" Id="rIdSlide6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1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1" /><Relationship Type="http://schemas.openxmlformats.org/officeDocument/2006/relationships/slideLayout" Target="/ppt/slideLayouts/slideLayout1.xml" Id="rIdLayout1" /></Relationships>
</file>

<file path=ppt/slideMasters/slideMaster1.xml><?xml version="1.0" encoding="utf-8"?>
<p:sldMaster xmlns:p="http://schemas.openxmlformats.org/presentationml/2006/main">
  <p:cSld name="Default Master">
    <p:bg>
      <p:bgPr>
        <a:solidFill xmlns:a="http://schemas.openxmlformats.org/drawingml/2006/main">
          <a:srgbClr val="FFFFFF"/>
        </a:solidFill>
        <a:effectLst xmlns:a="http://schemas.openxmlformats.org/drawingml/2006/main"/>
      </p:bgPr>
    </p:bg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Layout1"/>
  </p:sldLayoutIdLst>
  <p:txStyles>
    <p:titleStyle/>
    <p:bodyStyle/>
    <p:otherStyle/>
  </p:txStyles>
</p:sldMaster>
</file>

<file path=ppt/slideMasters/theme/theme1.xml><?xml version="1.0" encoding="utf-8"?>
<a:theme xmlns:a="http://schemas.openxmlformats.org/drawingml/2006/main" name="Office Clean Room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1.xml" Id="Re8de204671e842fb" /><Relationship Type="http://schemas.openxmlformats.org/officeDocument/2006/relationships/chart" Target="/ppt/slides/charts/chart2.xml" Id="R76fb843ea047466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Relationship Type="http://schemas.openxmlformats.org/officeDocument/2006/relationships/chart" Target="/ppt/slides/charts/chart3.xml" Id="Re4a44d1bd0084d57" /><Relationship Type="http://schemas.openxmlformats.org/officeDocument/2006/relationships/chart" Target="/ppt/slides/charts/chart4.xml" Id="R22c3ddf4d9894e8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Layout1" /></Relationships>
</file>

<file path=ppt/slides/charts/chart1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Primary signal · observed versus reference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278E8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ser>
          <c:idx val="1"/>
          <c:order val="1"/>
          <c:tx>
            <c:v>Reference</c:v>
          </c:tx>
          <c:spPr>
            <a:solidFill>
              <a:srgbClr val="8F9B9E"/>
            </a:solidFill>
          </c:spP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legend>
      <c:legendPos val="r"/>
      <c:layout/>
    </c:legend>
    <c:plotVisOnly val="1"/>
  </c:chart>
</c:chartSpace>
</file>

<file path=ppt/slides/charts/chart2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Driver trend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Driver</c:v>
          </c:tx>
          <c:spPr>
            <a:solidFill>
              <a:srgbClr val="B64A98"/>
            </a:solidFill>
            <a:ln w="38100">
              <a:solidFill>
                <a:srgbClr val="B64A9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Q1</c:v>
              </c:pt>
              <c:pt idx="1">
                <c:v>Q2</c:v>
              </c:pt>
              <c:pt idx="2">
                <c:v>Q3</c:v>
              </c:pt>
              <c:pt idx="3">
                <c:v>Q4</c:v>
              </c:pt>
              <c:pt idx="4">
                <c:v>Q5</c:v>
              </c:pt>
              <c:pt idx="5">
                <c:v>Q6</c:v>
              </c:pt>
            </c:strLit>
          </c:cat>
          <c:val>
            <c:numLit>
              <c:formatCode>General</c:formatCode>
              <c:ptCount val="6"/>
              <c:pt idx="0">
                <c:v>22</c:v>
              </c:pt>
              <c:pt idx="1">
                <c:v>28</c:v>
              </c:pt>
              <c:pt idx="2">
                <c:v>34</c:v>
              </c:pt>
              <c:pt idx="3">
                <c:v>39</c:v>
              </c:pt>
              <c:pt idx="4">
                <c:v>45</c:v>
              </c:pt>
              <c:pt idx="5">
                <c:v>51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3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Observed signal</a:t>
            </a:r>
          </a:p>
        </c:rich>
      </c:tx>
      <c:layout/>
    </c:title>
    <c:plotArea>
      <c:layout/>
      <c:barChart>
        <c:barDir val="col"/>
        <c:grouping val="clustered"/>
        <c:ser>
          <c:idx val="0"/>
          <c:order val="0"/>
          <c:tx>
            <c:v>Observed</c:v>
          </c:tx>
          <c:spPr>
            <a:solidFill>
              <a:srgbClr val="2278E8"/>
            </a:solidFill>
          </c:spP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38</c:v>
              </c:pt>
              <c:pt idx="1">
                <c:v>46</c:v>
              </c:pt>
              <c:pt idx="2">
                <c:v>43</c:v>
              </c:pt>
              <c:pt idx="3">
                <c:v>58</c:v>
              </c:pt>
              <c:pt idx="4">
                <c:v>68</c:v>
              </c:pt>
              <c:pt idx="5">
                <c:v>74</c:v>
              </c:pt>
            </c:numLit>
          </c:val>
        </c:ser>
        <c:axId val="1"/>
        <c:axId val="2"/>
      </c:bar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charts/chart4.xml><?xml version="1.0" encoding="utf-8"?>
<c:chartSpace xmlns:c="http://schemas.openxmlformats.org/drawingml/2006/chart" xmlns:a="http://schemas.openxmlformats.org/drawingml/2006/main">
  <c:chart>
    <c:title>
      <c:tx>
        <c:rich>
          <a:bodyPr/>
          <a:lstStyle/>
          <a:p>
            <a:r>
              <a:t>Context</a:t>
            </a:r>
          </a:p>
        </c:rich>
      </c:tx>
      <c:layout/>
    </c:title>
    <c:plotArea>
      <c:layout/>
      <c:lineChart>
        <c:grouping val="standard"/>
        <c:ser>
          <c:idx val="0"/>
          <c:order val="0"/>
          <c:tx>
            <c:v>Context</c:v>
          </c:tx>
          <c:spPr>
            <a:solidFill>
              <a:srgbClr val="B64A98"/>
            </a:solidFill>
            <a:ln w="38100">
              <a:solidFill>
                <a:srgbClr val="B64A98"/>
              </a:solidFill>
              <a:prstDash val="solid"/>
            </a:ln>
          </c:spPr>
          <c:marker>
            <c:symbol val="circle"/>
            <c:size val="6"/>
          </c:marker>
          <c:cat>
            <c:strLit>
              <c:ptCount val="6"/>
              <c:pt idx="0">
                <c:v>A</c:v>
              </c:pt>
              <c:pt idx="1">
                <c:v>B</c:v>
              </c:pt>
              <c:pt idx="2">
                <c:v>C</c:v>
              </c:pt>
              <c:pt idx="3">
                <c:v>D</c:v>
              </c:pt>
              <c:pt idx="4">
                <c:v>E</c:v>
              </c:pt>
              <c:pt idx="5">
                <c:v>F</c:v>
              </c:pt>
            </c:strLit>
          </c:cat>
          <c:val>
            <c:numLit>
              <c:formatCode>General</c:formatCode>
              <c:ptCount val="6"/>
              <c:pt idx="0">
                <c:v>34</c:v>
              </c:pt>
              <c:pt idx="1">
                <c:v>39</c:v>
              </c:pt>
              <c:pt idx="2">
                <c:v>41</c:v>
              </c:pt>
              <c:pt idx="3">
                <c:v>45</c:v>
              </c:pt>
              <c:pt idx="4">
                <c:v>49</c:v>
              </c:pt>
              <c:pt idx="5">
                <c:v>52</c:v>
              </c:pt>
            </c:numLit>
          </c:val>
        </c:ser>
        <c:axId val="1"/>
        <c:axId val="2"/>
      </c:lineChart>
      <c:catAx>
        <c:axId val="1"/>
        <c:scaling>
          <c:orientation val="minMax"/>
        </c:scaling>
        <c:axPos val="b"/>
        <c:crossAx val="2"/>
      </c:catAx>
      <c:valAx>
        <c:axId val="2"/>
        <c:scaling>
          <c:orientation val="minMax"/>
        </c:scaling>
        <c:axPos val="l"/>
        <c:crossAx val="1"/>
      </c:valAx>
    </c:plotArea>
    <c:plotVisOnly val="1"/>
  </c:chart>
</c:chartSpace>
</file>

<file path=ppt/slides/slide1.xml><?xml version="1.0" encoding="utf-8"?>
<p:sld xmlns:p="http://schemas.openxmlformats.org/presentationml/2006/main">
  <p:cSld name="Opening claim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solidFill>
              <a:srgbClr val="FC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eyebrow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78E8"/>
                </a:solidFill>
                <a:latin typeface="Inter"/>
                <a:ea typeface="Inter"/>
              </a:rPr>
              <a:t>ACADEMIC · OFFICEKIT CALIBRATION</a:t>
            </a:r>
            <a:endParaRPr lang="en-US"/>
          </a:p>
        </p:txBody>
      </p:sp>
      <p:sp>
        <p:nvSpPr>
          <p:cNvPr id="5" name="cover-title"/>
          <p:cNvSpPr txBox="1"/>
          <p:nvPr/>
        </p:nvSpPr>
        <p:spPr>
          <a:xfrm xmlns:a="http://schemas.openxmlformats.org/drawingml/2006/main">
            <a:off x="914400" y="1571625"/>
            <a:ext cx="8382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600" b="1">
                <a:solidFill>
                  <a:srgbClr val="18313A"/>
                </a:solidFill>
                <a:latin typeface="Inter"/>
                <a:ea typeface="Inter"/>
              </a:rPr>
              <a:t>Soft Proof: a claim worth testing</a:t>
            </a:r>
            <a:endParaRPr lang="en-US"/>
          </a:p>
        </p:txBody>
      </p:sp>
      <p:sp>
        <p:nvSpPr>
          <p:cNvPr id="6" name="cover-subtitle"/>
          <p:cNvSpPr txBox="1"/>
          <p:nvPr/>
        </p:nvSpPr>
        <p:spPr>
          <a:xfrm xmlns:a="http://schemas.openxmlformats.org/drawingml/2006/main">
            <a:off x="952500" y="28575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>
                <a:solidFill>
                  <a:srgbClr val="2278E8"/>
                </a:solidFill>
                <a:latin typeface="Inter"/>
                <a:ea typeface="Inter"/>
              </a:rPr>
              <a:t>A clean-room reference for evidence, direction, and a decision.</a:t>
            </a:r>
            <a:endParaRPr lang="en-US"/>
          </a:p>
        </p:txBody>
      </p:sp>
      <p:sp>
        <p:nvSpPr>
          <p:cNvPr id="7" name="cover-rule"/>
          <p:cNvSpPr/>
          <p:nvPr/>
        </p:nvSpPr>
        <p:spPr>
          <a:xfrm xmlns:a="http://schemas.openxmlformats.org/drawingml/2006/main">
            <a:off x="914400" y="3524250"/>
            <a:ext cx="7658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over-basis"/>
          <p:cNvSpPr txBox="1"/>
          <p:nvPr/>
        </p:nvSpPr>
        <p:spPr>
          <a:xfrm xmlns:a="http://schemas.openxmlformats.org/drawingml/2006/main">
            <a:off x="952500" y="3762375"/>
            <a:ext cx="781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One visual language · four page roles · native editable objects</a:t>
            </a:r>
            <a:endParaRPr lang="en-US"/>
          </a:p>
        </p:txBody>
      </p:sp>
      <p:sp>
        <p:nvSpPr>
          <p:cNvPr id="9" name="cover-thesis"/>
          <p:cNvSpPr txBox="1"/>
          <p:nvPr/>
        </p:nvSpPr>
        <p:spPr>
          <a:xfrm xmlns:a="http://schemas.openxmlformats.org/drawingml/2006/main">
            <a:off x="952500" y="4810125"/>
            <a:ext cx="6667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313A"/>
                </a:solidFill>
                <a:latin typeface="Inter"/>
                <a:ea typeface="Inter"/>
              </a:rPr>
              <a:t>A falsifiable claim is a design decision.</a:t>
            </a:r>
            <a:endParaRPr lang="en-US"/>
          </a:p>
        </p:txBody>
      </p:sp>
      <p:sp>
        <p:nvSpPr>
          <p:cNvPr id="10" name="cover-source"/>
          <p:cNvSpPr txBox="1"/>
          <p:nvPr/>
        </p:nvSpPr>
        <p:spPr>
          <a:xfrm xmlns:a="http://schemas.openxmlformats.org/drawingml/2006/main">
            <a:off x="952500" y="731520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OfficeKit original clean-room calibration · fictional content · 2026-08-29</a:t>
            </a:r>
            <a:endParaRPr lang="en-US"/>
          </a:p>
        </p:txBody>
      </p:sp>
      <p:sp>
        <p:nvSpPr>
          <p:cNvPr id="11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1 / 6</a:t>
            </a:r>
            <a:endParaRPr lang="en-US"/>
          </a:p>
        </p:txBody>
      </p:sp>
      <p:sp>
        <p:nvSpPr>
          <p:cNvPr id="12" name="anchor-field"/>
          <p:cNvSpPr/>
          <p:nvPr/>
        </p:nvSpPr>
        <p:spPr>
          <a:xfrm xmlns:a="http://schemas.openxmlformats.org/drawingml/2006/main">
            <a:off x="11620500" y="1790700"/>
            <a:ext cx="20955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254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3" name="anchor-grid-0-0"/>
          <p:cNvSpPr/>
          <p:nvPr/>
        </p:nvSpPr>
        <p:spPr>
          <a:xfrm xmlns:a="http://schemas.openxmlformats.org/drawingml/2006/main">
            <a:off x="119253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nchor-grid-0-1"/>
          <p:cNvSpPr/>
          <p:nvPr/>
        </p:nvSpPr>
        <p:spPr>
          <a:xfrm xmlns:a="http://schemas.openxmlformats.org/drawingml/2006/main">
            <a:off x="124206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anchor-grid-0-2"/>
          <p:cNvSpPr/>
          <p:nvPr/>
        </p:nvSpPr>
        <p:spPr>
          <a:xfrm xmlns:a="http://schemas.openxmlformats.org/drawingml/2006/main">
            <a:off x="12915900" y="21526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6" name="anchor-grid-1-0"/>
          <p:cNvSpPr/>
          <p:nvPr/>
        </p:nvSpPr>
        <p:spPr>
          <a:xfrm xmlns:a="http://schemas.openxmlformats.org/drawingml/2006/main">
            <a:off x="119253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7" name="anchor-grid-1-1"/>
          <p:cNvSpPr/>
          <p:nvPr/>
        </p:nvSpPr>
        <p:spPr>
          <a:xfrm xmlns:a="http://schemas.openxmlformats.org/drawingml/2006/main">
            <a:off x="124206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nchor-grid-1-2"/>
          <p:cNvSpPr/>
          <p:nvPr/>
        </p:nvSpPr>
        <p:spPr>
          <a:xfrm xmlns:a="http://schemas.openxmlformats.org/drawingml/2006/main">
            <a:off x="12915900" y="26860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9" name="anchor-grid-2-0"/>
          <p:cNvSpPr/>
          <p:nvPr/>
        </p:nvSpPr>
        <p:spPr>
          <a:xfrm xmlns:a="http://schemas.openxmlformats.org/drawingml/2006/main">
            <a:off x="119253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0" name="anchor-grid-2-1"/>
          <p:cNvSpPr/>
          <p:nvPr/>
        </p:nvSpPr>
        <p:spPr>
          <a:xfrm xmlns:a="http://schemas.openxmlformats.org/drawingml/2006/main">
            <a:off x="124206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anchor-grid-2-2"/>
          <p:cNvSpPr/>
          <p:nvPr/>
        </p:nvSpPr>
        <p:spPr>
          <a:xfrm xmlns:a="http://schemas.openxmlformats.org/drawingml/2006/main">
            <a:off x="12915900" y="3219450"/>
            <a:ext cx="266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127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2" name="anchor-axis"/>
          <p:cNvSpPr/>
          <p:nvPr/>
        </p:nvSpPr>
        <p:spPr>
          <a:xfrm xmlns:a="http://schemas.openxmlformats.org/drawingml/2006/main">
            <a:off x="12668250" y="1638300"/>
            <a:ext cx="0" cy="2743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0800">
            <a:solidFill>
              <a:srgbClr val="18313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2.xml><?xml version="1.0" encoding="utf-8"?>
<p:sld xmlns:p="http://schemas.openxmlformats.org/presentationml/2006/main">
  <p:cSld name="Argument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solidFill>
              <a:srgbClr val="FC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argument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OFT PROOF · ARGUMENT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78E8"/>
                </a:solidFill>
                <a:latin typeface="Inter"/>
                <a:ea typeface="Inter"/>
              </a:rPr>
              <a:t>SOFT PROOF · ARGUMENT</a:t>
            </a:r>
            <a:endParaRPr lang="en-US"/>
          </a:p>
        </p:txBody>
      </p:sp>
      <p:sp>
        <p:nvSpPr>
          <p:cNvPr id="5" name="argument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13A"/>
                </a:solidFill>
                <a:latin typeface="Inter"/>
                <a:ea typeface="Inter"/>
              </a:rPr>
              <a:t>The method keeps mechanism separate from drift</a:t>
            </a:r>
            <a:endParaRPr lang="en-US"/>
          </a:p>
        </p:txBody>
      </p:sp>
      <p:sp>
        <p:nvSpPr>
          <p:cNvPr id="6" name="argument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9B9E"/>
                </a:solidFill>
                <a:latin typeface="Inter"/>
                <a:ea typeface="Inter"/>
              </a:rPr>
              <a:t>Question → method → result → limitation, without marketing language.</a:t>
            </a:r>
            <a:endParaRPr lang="en-US"/>
          </a:p>
        </p:txBody>
      </p:sp>
      <p:sp>
        <p:nvSpPr>
          <p:cNvPr id="7" name="argument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academic-number-0"/>
          <p:cNvSpPr txBox="1"/>
          <p:nvPr/>
        </p:nvSpPr>
        <p:spPr>
          <a:xfrm xmlns:a="http://schemas.openxmlformats.org/drawingml/2006/main">
            <a:off x="1104900" y="3238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278E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academic-rule-0"/>
          <p:cNvSpPr/>
          <p:nvPr/>
        </p:nvSpPr>
        <p:spPr>
          <a:xfrm xmlns:a="http://schemas.openxmlformats.org/drawingml/2006/main">
            <a:off x="2000250" y="3390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academic-label-0"/>
          <p:cNvSpPr txBox="1"/>
          <p:nvPr/>
        </p:nvSpPr>
        <p:spPr>
          <a:xfrm xmlns:a="http://schemas.openxmlformats.org/drawingml/2006/main">
            <a:off x="21145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13A"/>
                </a:solidFill>
                <a:latin typeface="Inter"/>
                <a:ea typeface="Inter"/>
              </a:rPr>
              <a:t>Question</a:t>
            </a:r>
            <a:endParaRPr lang="en-US"/>
          </a:p>
        </p:txBody>
      </p:sp>
      <p:sp>
        <p:nvSpPr>
          <p:cNvPr id="11" name="academic-text-0"/>
          <p:cNvSpPr txBox="1"/>
          <p:nvPr/>
        </p:nvSpPr>
        <p:spPr>
          <a:xfrm xmlns:a="http://schemas.openxmlformats.org/drawingml/2006/main">
            <a:off x="4095750" y="3238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Can the intervention move the outcome?</a:t>
            </a:r>
            <a:endParaRPr lang="en-US"/>
          </a:p>
        </p:txBody>
      </p:sp>
      <p:sp>
        <p:nvSpPr>
          <p:cNvPr id="12" name="academic-number-1"/>
          <p:cNvSpPr txBox="1"/>
          <p:nvPr/>
        </p:nvSpPr>
        <p:spPr>
          <a:xfrm xmlns:a="http://schemas.openxmlformats.org/drawingml/2006/main">
            <a:off x="1104900" y="41910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278E8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academic-rule-1"/>
          <p:cNvSpPr/>
          <p:nvPr/>
        </p:nvSpPr>
        <p:spPr>
          <a:xfrm xmlns:a="http://schemas.openxmlformats.org/drawingml/2006/main">
            <a:off x="2000250" y="43434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academic-label-1"/>
          <p:cNvSpPr txBox="1"/>
          <p:nvPr/>
        </p:nvSpPr>
        <p:spPr>
          <a:xfrm xmlns:a="http://schemas.openxmlformats.org/drawingml/2006/main">
            <a:off x="2114550" y="41529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13A"/>
                </a:solidFill>
                <a:latin typeface="Inter"/>
                <a:ea typeface="Inter"/>
              </a:rPr>
              <a:t>Method</a:t>
            </a:r>
            <a:endParaRPr lang="en-US"/>
          </a:p>
        </p:txBody>
      </p:sp>
      <p:sp>
        <p:nvSpPr>
          <p:cNvPr id="15" name="academic-text-1"/>
          <p:cNvSpPr txBox="1"/>
          <p:nvPr/>
        </p:nvSpPr>
        <p:spPr>
          <a:xfrm xmlns:a="http://schemas.openxmlformats.org/drawingml/2006/main">
            <a:off x="4095750" y="41910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Two groups, one rule, registered before launch.</a:t>
            </a:r>
            <a:endParaRPr lang="en-US"/>
          </a:p>
        </p:txBody>
      </p:sp>
      <p:sp>
        <p:nvSpPr>
          <p:cNvPr id="16" name="academic-number-2"/>
          <p:cNvSpPr txBox="1"/>
          <p:nvPr/>
        </p:nvSpPr>
        <p:spPr>
          <a:xfrm xmlns:a="http://schemas.openxmlformats.org/drawingml/2006/main">
            <a:off x="1104900" y="5143500"/>
            <a:ext cx="685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00" b="1">
                <a:solidFill>
                  <a:srgbClr val="2278E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academic-rule-2"/>
          <p:cNvSpPr/>
          <p:nvPr/>
        </p:nvSpPr>
        <p:spPr>
          <a:xfrm xmlns:a="http://schemas.openxmlformats.org/drawingml/2006/main">
            <a:off x="2000250" y="52959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academic-label-2"/>
          <p:cNvSpPr txBox="1"/>
          <p:nvPr/>
        </p:nvSpPr>
        <p:spPr>
          <a:xfrm xmlns:a="http://schemas.openxmlformats.org/drawingml/2006/main">
            <a:off x="2114550" y="5105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13A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9" name="academic-text-2"/>
          <p:cNvSpPr txBox="1"/>
          <p:nvPr/>
        </p:nvSpPr>
        <p:spPr>
          <a:xfrm xmlns:a="http://schemas.openxmlformats.org/drawingml/2006/main">
            <a:off x="4095750" y="5143500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The result applies to this window and sample.</a:t>
            </a:r>
            <a:endParaRPr lang="en-US"/>
          </a:p>
        </p:txBody>
      </p:sp>
      <p:sp>
        <p:nvSpPr>
          <p:cNvPr id="20" name="method-panel"/>
          <p:cNvSpPr/>
          <p:nvPr/>
        </p:nvSpPr>
        <p:spPr>
          <a:xfrm xmlns:a="http://schemas.openxmlformats.org/drawingml/2006/main">
            <a:off x="10287000" y="3238500"/>
            <a:ext cx="3619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method-label"/>
          <p:cNvSpPr txBox="1"/>
          <p:nvPr/>
        </p:nvSpPr>
        <p:spPr>
          <a:xfrm xmlns:a="http://schemas.openxmlformats.org/drawingml/2006/main">
            <a:off x="10668000" y="3571875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278E8"/>
                </a:solidFill>
                <a:latin typeface="Inter"/>
                <a:ea typeface="Inter"/>
              </a:rPr>
              <a:t>REGISTERED RULE</a:t>
            </a:r>
            <a:endParaRPr lang="en-US"/>
          </a:p>
        </p:txBody>
      </p:sp>
      <p:sp>
        <p:nvSpPr>
          <p:cNvPr id="22" name="method-value"/>
          <p:cNvSpPr txBox="1"/>
          <p:nvPr/>
        </p:nvSpPr>
        <p:spPr>
          <a:xfrm xmlns:a="http://schemas.openxmlformats.org/drawingml/2006/main">
            <a:off x="10668000" y="40481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3750" b="1">
                <a:solidFill>
                  <a:srgbClr val="2278E8"/>
                </a:solidFill>
                <a:latin typeface="Inter"/>
                <a:ea typeface="Inter"/>
              </a:rPr>
              <a:t>≥ 2 pp</a:t>
            </a:r>
            <a:endParaRPr lang="en-US"/>
          </a:p>
        </p:txBody>
      </p:sp>
      <p:sp>
        <p:nvSpPr>
          <p:cNvPr id="23" name="method-foot"/>
          <p:cNvSpPr txBox="1"/>
          <p:nvPr/>
        </p:nvSpPr>
        <p:spPr>
          <a:xfrm xmlns:a="http://schemas.openxmlformats.org/drawingml/2006/main">
            <a:off x="10668000" y="4762500"/>
            <a:ext cx="276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9B9E"/>
                </a:solidFill>
                <a:latin typeface="Inter"/>
                <a:ea typeface="Inter"/>
              </a:rPr>
              <a:t>confidence interval excludes zero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1050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Source: illustrative calibration brief · every claim is fictional and bounded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105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2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3.xml><?xml version="1.0" encoding="utf-8"?>
<p:sld xmlns:p="http://schemas.openxmlformats.org/presentationml/2006/main">
  <p:cSld name="Evidenc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solidFill>
              <a:srgbClr val="FC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evidenc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OFT PROOF · EVIDENC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78E8"/>
                </a:solidFill>
                <a:latin typeface="Inter"/>
                <a:ea typeface="Inter"/>
              </a:rPr>
              <a:t>SOFT PROOF · EVIDENCE</a:t>
            </a:r>
            <a:endParaRPr lang="en-US"/>
          </a:p>
        </p:txBody>
      </p:sp>
      <p:sp>
        <p:nvSpPr>
          <p:cNvPr id="5" name="evidenc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13A"/>
                </a:solidFill>
                <a:latin typeface="Inter"/>
                <a:ea typeface="Inter"/>
              </a:rPr>
              <a:t>The result clears the rule; uncertainty remains visible</a:t>
            </a:r>
            <a:endParaRPr lang="en-US"/>
          </a:p>
        </p:txBody>
      </p:sp>
      <p:sp>
        <p:nvSpPr>
          <p:cNvPr id="6" name="evidenc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9B9E"/>
                </a:solidFill>
                <a:latin typeface="Inter"/>
                <a:ea typeface="Inter"/>
              </a:rPr>
              <a:t>Illustrative measure · mean of 24 observations · 95% CI shown in the read-through.</a:t>
            </a:r>
            <a:endParaRPr lang="en-US"/>
          </a:p>
        </p:txBody>
      </p:sp>
      <p:sp>
        <p:nvSpPr>
          <p:cNvPr id="7" name="evidenc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prim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048000"/>
          <a:ext xmlns:a="http://schemas.openxmlformats.org/drawingml/2006/main" cx="628650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8de204671e842fb"/>
          </a:graphicData>
        </a:graphic>
      </p:graphicFrame>
      <p:graphicFrame>
        <p:nvGraphicFramePr>
          <p:cNvPr id="9" name="dense-secondary-chart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7658100" y="3048000"/>
          <a:ext xmlns:a="http://schemas.openxmlformats.org/drawingml/2006/main" cx="3143250" cy="2952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6fb843ea047466b"/>
          </a:graphicData>
        </a:graphic>
      </p:graphicFrame>
      <p:sp>
        <p:nvSpPr>
          <p:cNvPr id="10" name="dense-read-rule"/>
          <p:cNvSpPr/>
          <p:nvPr/>
        </p:nvSpPr>
        <p:spPr>
          <a:xfrm xmlns:a="http://schemas.openxmlformats.org/drawingml/2006/main">
            <a:off x="11315700" y="3314700"/>
            <a:ext cx="26860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dense-read-label"/>
          <p:cNvSpPr txBox="1"/>
          <p:nvPr/>
        </p:nvSpPr>
        <p:spPr>
          <a:xfrm xmlns:a="http://schemas.openxmlformats.org/drawingml/2006/main">
            <a:off x="11315700" y="354330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 b="1">
                <a:solidFill>
                  <a:srgbClr val="2278E8"/>
                </a:solidFill>
                <a:latin typeface="Inter"/>
                <a:ea typeface="Inter"/>
              </a:rPr>
              <a:t>READ-THROUGH</a:t>
            </a:r>
            <a:endParaRPr lang="en-US"/>
          </a:p>
        </p:txBody>
      </p:sp>
      <p:sp>
        <p:nvSpPr>
          <p:cNvPr id="12" name="dense-read-title"/>
          <p:cNvSpPr txBox="1"/>
          <p:nvPr/>
        </p:nvSpPr>
        <p:spPr>
          <a:xfrm xmlns:a="http://schemas.openxmlformats.org/drawingml/2006/main">
            <a:off x="11315700" y="40005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725" b="1">
                <a:solidFill>
                  <a:srgbClr val="18313A"/>
                </a:solidFill>
                <a:latin typeface="Inter"/>
                <a:ea typeface="Inter"/>
              </a:rPr>
              <a:t>The pattern is bounded by the method.</a:t>
            </a:r>
            <a:endParaRPr lang="en-US"/>
          </a:p>
        </p:txBody>
      </p:sp>
      <p:sp>
        <p:nvSpPr>
          <p:cNvPr id="13" name="dense-read-body"/>
          <p:cNvSpPr txBox="1"/>
          <p:nvPr/>
        </p:nvSpPr>
        <p:spPr>
          <a:xfrm xmlns:a="http://schemas.openxmlformats.org/drawingml/2006/main">
            <a:off x="11315700" y="4953000"/>
            <a:ext cx="2667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9B9E"/>
                </a:solidFill>
                <a:latin typeface="Inter"/>
                <a:ea typeface="Inter"/>
              </a:rPr>
              <a:t>Read the curve, then check the sample and limitation.</a:t>
            </a:r>
            <a:endParaRPr lang="en-US"/>
          </a:p>
        </p:txBody>
      </p:sp>
      <p:sp>
        <p:nvSpPr>
          <p:cNvPr id="14" name="evidence-band"/>
          <p:cNvSpPr/>
          <p:nvPr/>
        </p:nvSpPr>
        <p:spPr>
          <a:xfrm xmlns:a="http://schemas.openxmlformats.org/drawingml/2006/main">
            <a:off x="914400" y="6877050"/>
            <a:ext cx="134112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0">
            <a:solidFill>
              <a:srgbClr val="F3F5F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5" name="evidence-band-text"/>
          <p:cNvSpPr txBox="1"/>
          <p:nvPr/>
        </p:nvSpPr>
        <p:spPr>
          <a:xfrm xmlns:a="http://schemas.openxmlformats.org/drawingml/2006/main">
            <a:off x="1143000" y="7058025"/>
            <a:ext cx="1238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 b="1">
                <a:solidFill>
                  <a:srgbClr val="18313A"/>
                </a:solidFill>
                <a:latin typeface="Inter"/>
                <a:ea typeface="Inter"/>
              </a:rPr>
              <a:t>EVIDENCE  ·  Keep the unit, time window, and limitation adjacent to the number.</a:t>
            </a:r>
            <a:endParaRPr lang="en-US"/>
          </a:p>
        </p:txBody>
      </p:sp>
      <p:sp>
        <p:nvSpPr>
          <p:cNvPr id="16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Source: illustrative calibration brief · values are fictional</a:t>
            </a:r>
            <a:endParaRPr lang="en-US"/>
          </a:p>
        </p:txBody>
      </p:sp>
      <p:sp>
        <p:nvSpPr>
          <p:cNvPr id="17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3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4.xml><?xml version="1.0" encoding="utf-8"?>
<p:sld xmlns:p="http://schemas.openxmlformats.org/presentationml/2006/main">
  <p:cSld name="Detail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solidFill>
              <a:srgbClr val="FC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detai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OFT PROOF · DETAIL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78E8"/>
                </a:solidFill>
                <a:latin typeface="Inter"/>
                <a:ea typeface="Inter"/>
              </a:rPr>
              <a:t>SOFT PROOF · DETAIL</a:t>
            </a:r>
            <a:endParaRPr lang="en-US"/>
          </a:p>
        </p:txBody>
      </p:sp>
      <p:sp>
        <p:nvSpPr>
          <p:cNvPr id="5" name="detai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13A"/>
                </a:solidFill>
                <a:latin typeface="Inter"/>
                <a:ea typeface="Inter"/>
              </a:rPr>
              <a:t>The table keeps the result honest</a:t>
            </a:r>
            <a:endParaRPr lang="en-US"/>
          </a:p>
        </p:txBody>
      </p:sp>
      <p:sp>
        <p:nvSpPr>
          <p:cNvPr id="6" name="detail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9B9E"/>
                </a:solidFill>
                <a:latin typeface="Inter"/>
                <a:ea typeface="Inter"/>
              </a:rPr>
              <a:t>Structured comparison · method, window, measure and boundary remain adjacent.</a:t>
            </a:r>
            <a:endParaRPr lang="en-US"/>
          </a:p>
        </p:txBody>
      </p:sp>
      <p:sp>
        <p:nvSpPr>
          <p:cNvPr id="7" name="detai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academic-evidence-tabl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90600" y="3162300"/>
          <a:ext xmlns:a="http://schemas.openxmlformats.org/drawingml/2006/main" cx="8001000" cy="289560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000250"/>
                <a:gridCol w="2000250"/>
                <a:gridCol w="2000250"/>
                <a:gridCol w="2000250"/>
              </a:tblGrid>
              <a:tr h="579120"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Method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Control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Pilot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1">
                          <a:solidFill>
                            <a:srgbClr val="000000"/>
                          </a:solidFill>
                        </a:rPr>
                        <a:t>Read-through</a:t>
                      </a:r>
                      <a:endParaRPr lang="en-US" sz="1350"/>
                    </a:p>
                  </a:txBody>
                  <a:tcPr>
                    <a:solidFill>
                      <a:srgbClr val="EDEDED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Sample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24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Balanced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Window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3 weeks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4 weeks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Pre-registered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Measure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Baseline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Outcome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Comparable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Limit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Local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Local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350" b="0">
                          <a:solidFill>
                            <a:srgbClr val="0F172A"/>
                          </a:solidFill>
                        </a:rPr>
                        <a:t>No generalization</a:t>
                      </a:r>
                      <a:endParaRPr lang="en-US" sz="1350"/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able-note-label"/>
          <p:cNvSpPr txBox="1"/>
          <p:nvPr/>
        </p:nvSpPr>
        <p:spPr>
          <a:xfrm xmlns:a="http://schemas.openxmlformats.org/drawingml/2006/main">
            <a:off x="9810750" y="33147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278E8"/>
                </a:solidFill>
                <a:latin typeface="Inter"/>
                <a:ea typeface="Inter"/>
              </a:rPr>
              <a:t>METHOD READ-THROUGH</a:t>
            </a:r>
            <a:endParaRPr lang="en-US"/>
          </a:p>
        </p:txBody>
      </p:sp>
      <p:sp>
        <p:nvSpPr>
          <p:cNvPr id="10" name="table-note-title"/>
          <p:cNvSpPr txBox="1"/>
          <p:nvPr/>
        </p:nvSpPr>
        <p:spPr>
          <a:xfrm xmlns:a="http://schemas.openxmlformats.org/drawingml/2006/main">
            <a:off x="9810750" y="3790950"/>
            <a:ext cx="3619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313A"/>
                </a:solidFill>
                <a:latin typeface="Inter"/>
                <a:ea typeface="Inter"/>
              </a:rPr>
              <a:t>The boundary travels with the result.</a:t>
            </a:r>
            <a:endParaRPr lang="en-US"/>
          </a:p>
        </p:txBody>
      </p:sp>
      <p:sp>
        <p:nvSpPr>
          <p:cNvPr id="11" name="table-note-rule"/>
          <p:cNvSpPr/>
          <p:nvPr/>
        </p:nvSpPr>
        <p:spPr>
          <a:xfrm xmlns:a="http://schemas.openxmlformats.org/drawingml/2006/main">
            <a:off x="9810750" y="5010150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2" name="table-note-body"/>
          <p:cNvSpPr txBox="1"/>
          <p:nvPr/>
        </p:nvSpPr>
        <p:spPr>
          <a:xfrm xmlns:a="http://schemas.openxmlformats.org/drawingml/2006/main">
            <a:off x="9810750" y="5276850"/>
            <a:ext cx="352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75">
                <a:solidFill>
                  <a:srgbClr val="8F9B9E"/>
                </a:solidFill>
                <a:latin typeface="Inter"/>
                <a:ea typeface="Inter"/>
              </a:rPr>
              <a:t>Keep the method, window and limitation adjacent to the outcome so the reader can audit the claim.</a:t>
            </a:r>
            <a:endParaRPr lang="en-US"/>
          </a:p>
        </p:txBody>
      </p:sp>
      <p:sp>
        <p:nvSpPr>
          <p:cNvPr id="13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Source: illustrative calibration brief · labels and values are fictional</a:t>
            </a:r>
            <a:endParaRPr lang="en-US"/>
          </a:p>
        </p:txBody>
      </p:sp>
      <p:sp>
        <p:nvSpPr>
          <p:cNvPr id="14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4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5.xml><?xml version="1.0" encoding="utf-8"?>
<p:sld xmlns:p="http://schemas.openxmlformats.org/presentationml/2006/main">
  <p:cSld name="Visual carrier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solidFill>
              <a:srgbClr val="FC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visual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OFT PROOF · VISUAL CARRIER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78E8"/>
                </a:solidFill>
                <a:latin typeface="Inter"/>
                <a:ea typeface="Inter"/>
              </a:rPr>
              <a:t>SOFT PROOF · VISUAL CARRIER</a:t>
            </a:r>
            <a:endParaRPr lang="en-US"/>
          </a:p>
        </p:txBody>
      </p:sp>
      <p:sp>
        <p:nvSpPr>
          <p:cNvPr id="5" name="visual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13A"/>
                </a:solidFill>
                <a:latin typeface="Inter"/>
                <a:ea typeface="Inter"/>
              </a:rPr>
              <a:t>Evidence has a texture</a:t>
            </a:r>
            <a:endParaRPr lang="en-US"/>
          </a:p>
        </p:txBody>
      </p:sp>
      <p:sp>
        <p:nvSpPr>
          <p:cNvPr id="6" name="visual-body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9B9E"/>
                </a:solidFill>
                <a:latin typeface="Inter"/>
                <a:ea typeface="Inter"/>
              </a:rPr>
              <a:t>Use a visual carrier when the audience needs to see a pattern before reading the caveat.</a:t>
            </a:r>
            <a:endParaRPr lang="en-US"/>
          </a:p>
        </p:txBody>
      </p:sp>
      <p:sp>
        <p:nvSpPr>
          <p:cNvPr id="7" name="visual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graphicFrame>
        <p:nvGraphicFramePr>
          <p:cNvPr id="8" name="dense-visual-bars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914400" y="3028950"/>
          <a:ext xmlns:a="http://schemas.openxmlformats.org/drawingml/2006/main" cx="5334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a44d1bd0084d57"/>
          </a:graphicData>
        </a:graphic>
      </p:graphicFrame>
      <p:graphicFrame>
        <p:nvGraphicFramePr>
          <p:cNvPr id="9" name="dense-visual-line"/>
          <p:cNvGraphicFramePr>
            <a:graphicFrameLocks xmlns:a="http://schemas.openxmlformats.org/drawingml/2006/main" noGrp="1"/>
          </p:cNvGraphicFramePr>
          <p:nvPr/>
        </p:nvGraphicFramePr>
        <p:xfrm>
          <a:off xmlns:a="http://schemas.openxmlformats.org/drawingml/2006/main" x="6667500" y="3028950"/>
          <a:ext xmlns:a="http://schemas.openxmlformats.org/drawingml/2006/main" cx="38100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2c3ddf4d9894e8b"/>
          </a:graphicData>
        </a:graphic>
      </p:graphicFrame>
      <p:sp>
        <p:nvSpPr>
          <p:cNvPr id="10" name="visual-note"/>
          <p:cNvSpPr/>
          <p:nvPr/>
        </p:nvSpPr>
        <p:spPr>
          <a:xfrm xmlns:a="http://schemas.openxmlformats.org/drawingml/2006/main">
            <a:off x="11049000" y="3333750"/>
            <a:ext cx="3048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5F8"/>
          </a:solidFill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1" name="visual-note-label"/>
          <p:cNvSpPr txBox="1"/>
          <p:nvPr/>
        </p:nvSpPr>
        <p:spPr>
          <a:xfrm xmlns:a="http://schemas.openxmlformats.org/drawingml/2006/main">
            <a:off x="11430000" y="3695700"/>
            <a:ext cx="228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2278E8"/>
                </a:solidFill>
                <a:latin typeface="Inter"/>
                <a:ea typeface="Inter"/>
              </a:rPr>
              <a:t>CARRIER</a:t>
            </a:r>
            <a:endParaRPr lang="en-US"/>
          </a:p>
        </p:txBody>
      </p:sp>
      <p:sp>
        <p:nvSpPr>
          <p:cNvPr id="12" name="visual-note-text"/>
          <p:cNvSpPr txBox="1"/>
          <p:nvPr/>
        </p:nvSpPr>
        <p:spPr>
          <a:xfrm xmlns:a="http://schemas.openxmlformats.org/drawingml/2006/main">
            <a:off x="11430000" y="4171950"/>
            <a:ext cx="228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100" b="1">
                <a:solidFill>
                  <a:srgbClr val="18313A"/>
                </a:solidFill>
                <a:latin typeface="Inter"/>
                <a:ea typeface="Inter"/>
              </a:rPr>
              <a:t>Pattern before caveat</a:t>
            </a:r>
            <a:endParaRPr lang="en-US"/>
          </a:p>
        </p:txBody>
      </p:sp>
      <p:sp>
        <p:nvSpPr>
          <p:cNvPr id="13" name="visual-note-foot"/>
          <p:cNvSpPr txBox="1"/>
          <p:nvPr/>
        </p:nvSpPr>
        <p:spPr>
          <a:xfrm xmlns:a="http://schemas.openxmlformats.org/drawingml/2006/main">
            <a:off x="11430000" y="52197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>
                <a:solidFill>
                  <a:srgbClr val="8F9B9E"/>
                </a:solidFill>
                <a:latin typeface="Inter"/>
                <a:ea typeface="Inter"/>
              </a:rPr>
              <a:t>Read the mark, unit, and basis.</a:t>
            </a:r>
            <a:endParaRPr lang="en-US"/>
          </a:p>
        </p:txBody>
      </p:sp>
      <p:sp>
        <p:nvSpPr>
          <p:cNvPr id="1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OfficeKit original clean-room visual field · fictional content</a:t>
            </a:r>
            <a:endParaRPr lang="en-US"/>
          </a:p>
        </p:txBody>
      </p:sp>
      <p:sp>
        <p:nvSpPr>
          <p:cNvPr id="1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5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

<file path=ppt/slides/slide6.xml><?xml version="1.0" encoding="utf-8"?>
<p:sld xmlns:p="http://schemas.openxmlformats.org/presentationml/2006/main">
  <p:cSld name="Decision close">
    <p:spTree>
      <p:nvGrpSpPr>
        <p:cNvPr id="1" name=""/>
        <p:cNvGrpSpPr/>
        <p:nvPr/>
      </p:nvGrpSpPr>
      <p:grpSpPr>
        <a:xfrm xmlns:a="http://schemas.openxmlformats.org/drawingml/2006/main"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FCFA"/>
          </a:solidFill>
          <a:ln xmlns:a="http://schemas.openxmlformats.org/drawingml/2006/main" w="0">
            <a:solidFill>
              <a:srgbClr val="FCFCFA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3" name="close-top-rule"/>
          <p:cNvSpPr/>
          <p:nvPr/>
        </p:nvSpPr>
        <p:spPr>
          <a:xfrm xmlns:a="http://schemas.openxmlformats.org/drawingml/2006/main">
            <a:off x="838200" y="666750"/>
            <a:ext cx="13563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4" name="SOFT PROOF · CLOSE"/>
          <p:cNvSpPr txBox="1"/>
          <p:nvPr/>
        </p:nvSpPr>
        <p:spPr>
          <a:xfrm xmlns:a="http://schemas.openxmlformats.org/drawingml/2006/main">
            <a:off x="914400" y="8953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200" b="1">
                <a:solidFill>
                  <a:srgbClr val="2278E8"/>
                </a:solidFill>
                <a:latin typeface="Inter"/>
                <a:ea typeface="Inter"/>
              </a:rPr>
              <a:t>SOFT PROOF · CLOSE</a:t>
            </a:r>
            <a:endParaRPr lang="en-US"/>
          </a:p>
        </p:txBody>
      </p:sp>
      <p:sp>
        <p:nvSpPr>
          <p:cNvPr id="5" name="close-title"/>
          <p:cNvSpPr txBox="1"/>
          <p:nvPr/>
        </p:nvSpPr>
        <p:spPr>
          <a:xfrm xmlns:a="http://schemas.openxmlformats.org/drawingml/2006/main">
            <a:off x="914400" y="1314450"/>
            <a:ext cx="11811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2850" b="1">
                <a:solidFill>
                  <a:srgbClr val="18313A"/>
                </a:solidFill>
                <a:latin typeface="Inter"/>
                <a:ea typeface="Inter"/>
              </a:rPr>
              <a:t>A cleared gate is a decision, not a universal claim</a:t>
            </a:r>
            <a:endParaRPr lang="en-US"/>
          </a:p>
        </p:txBody>
      </p:sp>
      <p:sp>
        <p:nvSpPr>
          <p:cNvPr id="6" name="close-basis"/>
          <p:cNvSpPr txBox="1"/>
          <p:nvPr/>
        </p:nvSpPr>
        <p:spPr>
          <a:xfrm xmlns:a="http://schemas.openxmlformats.org/drawingml/2006/main">
            <a:off x="952500" y="19812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8F9B9E"/>
                </a:solidFill>
                <a:latin typeface="Inter"/>
                <a:ea typeface="Inter"/>
              </a:rPr>
              <a:t>A reference page must leave the reader with a bounded next move.</a:t>
            </a:r>
            <a:endParaRPr lang="en-US"/>
          </a:p>
        </p:txBody>
      </p:sp>
      <p:sp>
        <p:nvSpPr>
          <p:cNvPr id="7" name="close-rule"/>
          <p:cNvSpPr/>
          <p:nvPr/>
        </p:nvSpPr>
        <p:spPr>
          <a:xfrm xmlns:a="http://schemas.openxmlformats.org/drawingml/2006/main">
            <a:off x="914400" y="2457450"/>
            <a:ext cx="1341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8" name="close-number-0"/>
          <p:cNvSpPr txBox="1"/>
          <p:nvPr/>
        </p:nvSpPr>
        <p:spPr>
          <a:xfrm xmlns:a="http://schemas.openxmlformats.org/drawingml/2006/main">
            <a:off x="1104900" y="32194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278E8"/>
                </a:solidFill>
                <a:latin typeface="Inter"/>
                <a:ea typeface="Inter"/>
              </a:rPr>
              <a:t>01</a:t>
            </a:r>
            <a:endParaRPr lang="en-US"/>
          </a:p>
        </p:txBody>
      </p:sp>
      <p:sp>
        <p:nvSpPr>
          <p:cNvPr id="9" name="close-row-rule-0"/>
          <p:cNvSpPr/>
          <p:nvPr/>
        </p:nvSpPr>
        <p:spPr>
          <a:xfrm xmlns:a="http://schemas.openxmlformats.org/drawingml/2006/main">
            <a:off x="2000250" y="33718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0" name="close-label-0"/>
          <p:cNvSpPr txBox="1"/>
          <p:nvPr/>
        </p:nvSpPr>
        <p:spPr>
          <a:xfrm xmlns:a="http://schemas.openxmlformats.org/drawingml/2006/main">
            <a:off x="2114550" y="31813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13A"/>
                </a:solidFill>
                <a:latin typeface="Inter"/>
                <a:ea typeface="Inter"/>
              </a:rPr>
              <a:t>Claim</a:t>
            </a:r>
            <a:endParaRPr lang="en-US"/>
          </a:p>
        </p:txBody>
      </p:sp>
      <p:sp>
        <p:nvSpPr>
          <p:cNvPr id="11" name="close-text-0"/>
          <p:cNvSpPr txBox="1"/>
          <p:nvPr/>
        </p:nvSpPr>
        <p:spPr>
          <a:xfrm xmlns:a="http://schemas.openxmlformats.org/drawingml/2006/main">
            <a:off x="4495800" y="32194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The mechanism moved the measured outcome.</a:t>
            </a:r>
            <a:endParaRPr lang="en-US"/>
          </a:p>
        </p:txBody>
      </p:sp>
      <p:sp>
        <p:nvSpPr>
          <p:cNvPr id="12" name="close-number-1"/>
          <p:cNvSpPr txBox="1"/>
          <p:nvPr/>
        </p:nvSpPr>
        <p:spPr>
          <a:xfrm xmlns:a="http://schemas.openxmlformats.org/drawingml/2006/main">
            <a:off x="1104900" y="42672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18313A"/>
                </a:solidFill>
                <a:latin typeface="Inter"/>
                <a:ea typeface="Inter"/>
              </a:rPr>
              <a:t>02</a:t>
            </a:r>
            <a:endParaRPr lang="en-US"/>
          </a:p>
        </p:txBody>
      </p:sp>
      <p:sp>
        <p:nvSpPr>
          <p:cNvPr id="13" name="close-row-rule-1"/>
          <p:cNvSpPr/>
          <p:nvPr/>
        </p:nvSpPr>
        <p:spPr>
          <a:xfrm xmlns:a="http://schemas.openxmlformats.org/drawingml/2006/main">
            <a:off x="2000250" y="441960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8F9B9E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4" name="close-label-1"/>
          <p:cNvSpPr txBox="1"/>
          <p:nvPr/>
        </p:nvSpPr>
        <p:spPr>
          <a:xfrm xmlns:a="http://schemas.openxmlformats.org/drawingml/2006/main">
            <a:off x="2114550" y="42291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13A"/>
                </a:solidFill>
                <a:latin typeface="Inter"/>
                <a:ea typeface="Inter"/>
              </a:rPr>
              <a:t>Boundary</a:t>
            </a:r>
            <a:endParaRPr lang="en-US"/>
          </a:p>
        </p:txBody>
      </p:sp>
      <p:sp>
        <p:nvSpPr>
          <p:cNvPr id="15" name="close-text-1"/>
          <p:cNvSpPr txBox="1"/>
          <p:nvPr/>
        </p:nvSpPr>
        <p:spPr>
          <a:xfrm xmlns:a="http://schemas.openxmlformats.org/drawingml/2006/main">
            <a:off x="4495800" y="426720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The sample does not establish persistence.</a:t>
            </a:r>
            <a:endParaRPr lang="en-US"/>
          </a:p>
        </p:txBody>
      </p:sp>
      <p:sp>
        <p:nvSpPr>
          <p:cNvPr id="16" name="close-number-2"/>
          <p:cNvSpPr txBox="1"/>
          <p:nvPr/>
        </p:nvSpPr>
        <p:spPr>
          <a:xfrm xmlns:a="http://schemas.openxmlformats.org/drawingml/2006/main">
            <a:off x="1104900" y="53149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2278E8"/>
                </a:solidFill>
                <a:latin typeface="Inter"/>
                <a:ea typeface="Inter"/>
              </a:rPr>
              <a:t>03</a:t>
            </a:r>
            <a:endParaRPr lang="en-US"/>
          </a:p>
        </p:txBody>
      </p:sp>
      <p:sp>
        <p:nvSpPr>
          <p:cNvPr id="17" name="close-row-rule-2"/>
          <p:cNvSpPr/>
          <p:nvPr/>
        </p:nvSpPr>
        <p:spPr>
          <a:xfrm xmlns:a="http://schemas.openxmlformats.org/drawingml/2006/main">
            <a:off x="2000250" y="5467350"/>
            <a:ext cx="5810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18" name="close-label-2"/>
          <p:cNvSpPr txBox="1"/>
          <p:nvPr/>
        </p:nvSpPr>
        <p:spPr>
          <a:xfrm xmlns:a="http://schemas.openxmlformats.org/drawingml/2006/main">
            <a:off x="2114550" y="527685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650" b="1">
                <a:solidFill>
                  <a:srgbClr val="18313A"/>
                </a:solidFill>
                <a:latin typeface="Inter"/>
                <a:ea typeface="Inter"/>
              </a:rPr>
              <a:t>Next test</a:t>
            </a:r>
            <a:endParaRPr lang="en-US"/>
          </a:p>
        </p:txBody>
      </p:sp>
      <p:sp>
        <p:nvSpPr>
          <p:cNvPr id="19" name="close-text-2"/>
          <p:cNvSpPr txBox="1"/>
          <p:nvPr/>
        </p:nvSpPr>
        <p:spPr>
          <a:xfrm xmlns:a="http://schemas.openxmlformats.org/drawingml/2006/main">
            <a:off x="4495800" y="5314950"/>
            <a:ext cx="5715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350">
                <a:solidFill>
                  <a:srgbClr val="18313A"/>
                </a:solidFill>
                <a:latin typeface="Inter"/>
                <a:ea typeface="Inter"/>
              </a:rPr>
              <a:t>Replicate across a new region.</a:t>
            </a:r>
            <a:endParaRPr lang="en-US"/>
          </a:p>
        </p:txBody>
      </p:sp>
      <p:sp>
        <p:nvSpPr>
          <p:cNvPr id="20" name="next-panel"/>
          <p:cNvSpPr/>
          <p:nvPr/>
        </p:nvSpPr>
        <p:spPr>
          <a:xfrm xmlns:a="http://schemas.openxmlformats.org/drawingml/2006/main">
            <a:off x="10668000" y="3238500"/>
            <a:ext cx="3238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78E8"/>
          </a:solidFill>
          <a:ln xmlns:a="http://schemas.openxmlformats.org/drawingml/2006/main" w="0">
            <a:solidFill>
              <a:srgbClr val="2278E8"/>
            </a:solidFill>
            <a:prstDash val="solid"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/>
              <a:t/>
            </a:r>
            <a:endParaRPr lang="en-US"/>
          </a:p>
        </p:txBody>
      </p:sp>
      <p:sp>
        <p:nvSpPr>
          <p:cNvPr id="21" name="next-label"/>
          <p:cNvSpPr txBox="1"/>
          <p:nvPr/>
        </p:nvSpPr>
        <p:spPr>
          <a:xfrm xmlns:a="http://schemas.openxmlformats.org/drawingml/2006/main">
            <a:off x="11049000" y="35623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 b="1">
                <a:solidFill>
                  <a:srgbClr val="FFFFFF"/>
                </a:solidFill>
                <a:latin typeface="Inter"/>
                <a:ea typeface="Inter"/>
              </a:rPr>
              <a:t>NEXT MOVE</a:t>
            </a:r>
            <a:endParaRPr lang="en-US"/>
          </a:p>
        </p:txBody>
      </p:sp>
      <p:sp>
        <p:nvSpPr>
          <p:cNvPr id="22" name="next-text"/>
          <p:cNvSpPr txBox="1"/>
          <p:nvPr/>
        </p:nvSpPr>
        <p:spPr>
          <a:xfrm xmlns:a="http://schemas.openxmlformats.org/drawingml/2006/main">
            <a:off x="11049000" y="4038600"/>
            <a:ext cx="2476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875" b="1">
                <a:solidFill>
                  <a:srgbClr val="FFFFFF"/>
                </a:solidFill>
                <a:latin typeface="Inter"/>
                <a:ea typeface="Inter"/>
              </a:rPr>
              <a:t>Replicate the test</a:t>
            </a:r>
            <a:endParaRPr lang="en-US"/>
          </a:p>
        </p:txBody>
      </p:sp>
      <p:sp>
        <p:nvSpPr>
          <p:cNvPr id="23" name="next-foot"/>
          <p:cNvSpPr txBox="1"/>
          <p:nvPr/>
        </p:nvSpPr>
        <p:spPr>
          <a:xfrm xmlns:a="http://schemas.openxmlformats.org/drawingml/2006/main">
            <a:off x="11049000" y="5048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125">
                <a:solidFill>
                  <a:srgbClr val="FFFFFF"/>
                </a:solidFill>
                <a:latin typeface="Inter"/>
                <a:ea typeface="Inter"/>
              </a:rPr>
              <a:t>Owner · reviewer · date</a:t>
            </a:r>
            <a:endParaRPr lang="en-US"/>
          </a:p>
        </p:txBody>
      </p:sp>
      <p:sp>
        <p:nvSpPr>
          <p:cNvPr id="24" name="source"/>
          <p:cNvSpPr txBox="1"/>
          <p:nvPr/>
        </p:nvSpPr>
        <p:spPr>
          <a:xfrm xmlns:a="http://schemas.openxmlformats.org/drawingml/2006/main">
            <a:off x="914400" y="7829550"/>
            <a:ext cx="1095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OfficeKit original clean-room calibration · reference deck is editable and inspectable</a:t>
            </a:r>
            <a:endParaRPr lang="en-US"/>
          </a:p>
        </p:txBody>
      </p:sp>
      <p:sp>
        <p:nvSpPr>
          <p:cNvPr id="25" name="page-number"/>
          <p:cNvSpPr txBox="1"/>
          <p:nvPr/>
        </p:nvSpPr>
        <p:spPr>
          <a:xfrm xmlns:a="http://schemas.openxmlformats.org/drawingml/2006/main">
            <a:off x="13335000" y="78295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r"/>
            <a:r>
              <a:rPr lang="en-US" sz="1050">
                <a:solidFill>
                  <a:srgbClr val="8F9B9E"/>
                </a:solidFill>
                <a:latin typeface="Inter"/>
                <a:ea typeface="Inter"/>
              </a:rPr>
              <a:t>6 / 6</a:t>
            </a:r>
            <a:endParaRPr lang="en-US"/>
          </a:p>
        </p:txBody>
      </p:sp>
    </p:spTree>
  </p:cSld>
  <p:clrMapOvr>
    <a:masterClrMapping xmlns:a="http://schemas.openxmlformats.org/drawingml/2006/main"/>
  </p:clrMapOvr>
</p:sld>
</file>