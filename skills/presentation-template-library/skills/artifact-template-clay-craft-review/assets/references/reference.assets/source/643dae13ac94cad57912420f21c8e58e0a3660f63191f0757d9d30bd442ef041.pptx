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4e21417ac3cb4e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1"/>
  </p:sldMasterIdLst>
  <p:sldIdLst>
    <p:sldId xmlns:r="http://schemas.openxmlformats.org/officeDocument/2006/relationships" id="256" r:id="rIdSlide1"/>
    <p:sldId xmlns:r="http://schemas.openxmlformats.org/officeDocument/2006/relationships" id="257" r:id="rIdSlide2"/>
    <p:sldId xmlns:r="http://schemas.openxmlformats.org/officeDocument/2006/relationships" id="258" r:id="rIdSlide3"/>
    <p:sldId xmlns:r="http://schemas.openxmlformats.org/officeDocument/2006/relationships" id="259" r:id="rIdSlide4"/>
    <p:sldId xmlns:r="http://schemas.openxmlformats.org/officeDocument/2006/relationships" id="260" r:id="rIdSlide5"/>
    <p:sldId xmlns:r="http://schemas.openxmlformats.org/officeDocument/2006/relationships" id="261" r:id="rIdSlide6"/>
  </p:sldIdLst>
  <p:sldSz cx="15240000" cy="85725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rIdSlide1" /><Relationship Type="http://schemas.openxmlformats.org/officeDocument/2006/relationships/slide" Target="/ppt/slides/slide2.xml" Id="rIdSlide2" /><Relationship Type="http://schemas.openxmlformats.org/officeDocument/2006/relationships/slide" Target="/ppt/slides/slide3.xml" Id="rIdSlide3" /><Relationship Type="http://schemas.openxmlformats.org/officeDocument/2006/relationships/slide" Target="/ppt/slides/slide4.xml" Id="rIdSlide4" /><Relationship Type="http://schemas.openxmlformats.org/officeDocument/2006/relationships/slide" Target="/ppt/slides/slide5.xml" Id="rIdSlide5" /><Relationship Type="http://schemas.openxmlformats.org/officeDocument/2006/relationships/slide" Target="/ppt/slides/slide6.xml" Id="rIdSlide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1" /><Relationship Type="http://schemas.openxmlformats.org/officeDocument/2006/relationships/slideLayout" Target="/ppt/slideLayouts/slideLayout1.xml" Id="rIdLayout1" /></Relationships>
</file>

<file path=ppt/slideMasters/slideMaster1.xml><?xml version="1.0" encoding="utf-8"?>
<p:sldMaster xmlns:p="http://schemas.openxmlformats.org/presentationml/2006/main">
  <p:cSld name="Default Master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Office Clean Ro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.jpg" Id="rIdOfficeKitImagee4bd683f73b7a543_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chart" Target="/ppt/slides/charts/chart1.xml" Id="R5ae7d9d4ca3649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chart" Target="/ppt/slides/charts/chart2.xml" Id="R9da55692d3e549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charts/chart1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Observed signal by cohort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v>Observed</c:v>
          </c:tx>
          <c:spPr>
            <a:solidFill>
              <a:srgbClr val="C96B35"/>
            </a:solidFill>
          </c:spPr>
          <c:cat>
            <c:strLit>
              <c:ptCount val="5"/>
              <c:pt idx="0">
                <c:v>Baseline</c:v>
              </c:pt>
              <c:pt idx="1">
                <c:v>Phase 1</c:v>
              </c:pt>
              <c:pt idx="2">
                <c:v>Phase 2</c:v>
              </c:pt>
              <c:pt idx="3">
                <c:v>Phase 3</c:v>
              </c:pt>
              <c:pt idx="4">
                <c:v>Close</c:v>
              </c:pt>
            </c:strLit>
          </c:cat>
          <c:val>
            <c:numLit>
              <c:formatCode>General</c:formatCode>
              <c:ptCount val="5"/>
              <c:pt idx="0">
                <c:v>42</c:v>
              </c:pt>
              <c:pt idx="1">
                <c:v>51</c:v>
              </c:pt>
              <c:pt idx="2">
                <c:v>58</c:v>
              </c:pt>
              <c:pt idx="3">
                <c:v>64</c:v>
              </c:pt>
              <c:pt idx="4">
                <c:v>68</c:v>
              </c:pt>
            </c:numLit>
          </c:val>
        </c:ser>
        <c:ser>
          <c:idx val="1"/>
          <c:order val="1"/>
          <c:tx>
            <c:v>Reference</c:v>
          </c:tx>
          <c:spPr>
            <a:solidFill>
              <a:srgbClr val="9B8F86"/>
            </a:solidFill>
          </c:spPr>
          <c:cat>
            <c:strLit>
              <c:ptCount val="5"/>
              <c:pt idx="0">
                <c:v>Baseline</c:v>
              </c:pt>
              <c:pt idx="1">
                <c:v>Phase 1</c:v>
              </c:pt>
              <c:pt idx="2">
                <c:v>Phase 2</c:v>
              </c:pt>
              <c:pt idx="3">
                <c:v>Phase 3</c:v>
              </c:pt>
              <c:pt idx="4">
                <c:v>Close</c:v>
              </c:pt>
            </c:strLit>
          </c:cat>
          <c:val>
            <c:numLit>
              <c:formatCode>General</c:formatCode>
              <c:ptCount val="5"/>
              <c:pt idx="0">
                <c:v>40</c:v>
              </c:pt>
              <c:pt idx="1">
                <c:v>43</c:v>
              </c:pt>
              <c:pt idx="2">
                <c:v>45</c:v>
              </c:pt>
              <c:pt idx="3">
                <c:v>47</c:v>
              </c:pt>
              <c:pt idx="4">
                <c:v>48</c:v>
              </c:pt>
            </c:numLit>
          </c:val>
        </c:ser>
        <c:axId val="1"/>
        <c:axId val="2"/>
      </c:bar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legend>
      <c:legendPos val="r"/>
      <c:layout/>
    </c:legend>
    <c:plotVisOnly val="1"/>
  </c:chart>
</c:chartSpace>
</file>

<file path=ppt/slides/charts/chart2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Signal carried by the evidence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v>Observed</c:v>
          </c:tx>
          <c:spPr>
            <a:solidFill>
              <a:srgbClr val="C96B35"/>
            </a:solidFill>
          </c:spPr>
          <c:cat>
            <c:strLit>
              <c:ptCount val="5"/>
              <c:pt idx="0">
                <c:v>A</c:v>
              </c:pt>
              <c:pt idx="1">
                <c:v>B</c:v>
              </c:pt>
              <c:pt idx="2">
                <c:v>C</c:v>
              </c:pt>
              <c:pt idx="3">
                <c:v>D</c:v>
              </c:pt>
              <c:pt idx="4">
                <c:v>E</c:v>
              </c:pt>
            </c:strLit>
          </c:cat>
          <c:val>
            <c:numLit>
              <c:formatCode>General</c:formatCode>
              <c:ptCount val="5"/>
              <c:pt idx="0">
                <c:v>38</c:v>
              </c:pt>
              <c:pt idx="1">
                <c:v>46</c:v>
              </c:pt>
              <c:pt idx="2">
                <c:v>43</c:v>
              </c:pt>
              <c:pt idx="3">
                <c:v>58</c:v>
              </c:pt>
              <c:pt idx="4">
                <c:v>68</c:v>
              </c:pt>
            </c:numLit>
          </c:val>
        </c:ser>
        <c:ser>
          <c:idx val="1"/>
          <c:order val="1"/>
          <c:tx>
            <c:v>Reference</c:v>
          </c:tx>
          <c:spPr>
            <a:solidFill>
              <a:srgbClr val="9B8F86"/>
            </a:solidFill>
          </c:spPr>
          <c:cat>
            <c:strLit>
              <c:ptCount val="5"/>
              <c:pt idx="0">
                <c:v>A</c:v>
              </c:pt>
              <c:pt idx="1">
                <c:v>B</c:v>
              </c:pt>
              <c:pt idx="2">
                <c:v>C</c:v>
              </c:pt>
              <c:pt idx="3">
                <c:v>D</c:v>
              </c:pt>
              <c:pt idx="4">
                <c:v>E</c:v>
              </c:pt>
            </c:strLit>
          </c:cat>
          <c:val>
            <c:numLit>
              <c:formatCode>General</c:formatCode>
              <c:ptCount val="5"/>
              <c:pt idx="0">
                <c:v>32</c:v>
              </c:pt>
              <c:pt idx="1">
                <c:v>36</c:v>
              </c:pt>
              <c:pt idx="2">
                <c:v>40</c:v>
              </c:pt>
              <c:pt idx="3">
                <c:v>44</c:v>
              </c:pt>
              <c:pt idx="4">
                <c:v>49</c:v>
              </c:pt>
            </c:numLit>
          </c:val>
        </c:ser>
        <c:axId val="1"/>
        <c:axId val="2"/>
      </c:line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plotVisOnly val="1"/>
  </c:chart>
</c:chartSpace>
</file>

<file path=ppt/slides/slide1.xml><?xml version="1.0" encoding="utf-8"?>
<p:sld xmlns:p="http://schemas.openxmlformats.org/presentationml/2006/main">
  <p:cSld name="Opening claim">
    <p:bg>
      <p:bgPr>
        <a:blipFill xmlns:a="http://schemas.openxmlformats.org/drawingml/2006/main">
          <a:blip xmlns:r="http://schemas.openxmlformats.org/officeDocument/2006/relationships" r:embed="rIdOfficeKitImagee4bd683f73b7a543_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ver-paper-scrim"/>
          <p:cNvSpPr/>
          <p:nvPr/>
        </p:nvSpPr>
        <p:spPr>
          <a:xfrm xmlns:a="http://schemas.openxmlformats.org/drawingml/2006/main">
            <a:off x="0" y="0"/>
            <a:ext cx="9525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E0">
              <a:alpha val="100000"/>
            </a:srgbClr>
          </a:solidFill>
          <a:ln xmlns:a="http://schemas.openxmlformats.org/drawingml/2006/main" w="0">
            <a:solidFill>
              <a:srgbClr val="F4ECE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96B3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eyebrow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C96B35"/>
                </a:solidFill>
                <a:latin typeface="Arial"/>
                <a:ea typeface="Arial"/>
              </a:rPr>
              <a:t>WORK · OFFICEKIT CALIBRATION</a:t>
            </a:r>
            <a:endParaRPr lang="en-US"/>
          </a:p>
        </p:txBody>
      </p:sp>
      <p:sp>
        <p:nvSpPr>
          <p:cNvPr id="5" name="cover-title"/>
          <p:cNvSpPr txBox="1"/>
          <p:nvPr/>
        </p:nvSpPr>
        <p:spPr>
          <a:xfrm xmlns:a="http://schemas.openxmlformats.org/drawingml/2006/main">
            <a:off x="914400" y="1571625"/>
            <a:ext cx="838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3A2B25"/>
                </a:solidFill>
                <a:latin typeface="Arial"/>
                <a:ea typeface="Arial"/>
              </a:rPr>
              <a:t>Clay Craft Review: a claim worth testing</a:t>
            </a:r>
            <a:endParaRPr lang="en-US"/>
          </a:p>
        </p:txBody>
      </p:sp>
      <p:sp>
        <p:nvSpPr>
          <p:cNvPr id="6" name="cover-subtitle"/>
          <p:cNvSpPr txBox="1"/>
          <p:nvPr/>
        </p:nvSpPr>
        <p:spPr>
          <a:xfrm xmlns:a="http://schemas.openxmlformats.org/drawingml/2006/main">
            <a:off x="952500" y="28575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>
                <a:solidFill>
                  <a:srgbClr val="C96B35"/>
                </a:solidFill>
                <a:latin typeface="Arial"/>
                <a:ea typeface="Arial"/>
              </a:rPr>
              <a:t>A clean-room reference for evidence, direction, and a decision.</a:t>
            </a:r>
            <a:endParaRPr lang="en-US"/>
          </a:p>
        </p:txBody>
      </p:sp>
      <p:sp>
        <p:nvSpPr>
          <p:cNvPr id="7" name="cover-rule"/>
          <p:cNvSpPr/>
          <p:nvPr/>
        </p:nvSpPr>
        <p:spPr>
          <a:xfrm xmlns:a="http://schemas.openxmlformats.org/drawingml/2006/main">
            <a:off x="914400" y="3524250"/>
            <a:ext cx="765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B8F86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cover-basis"/>
          <p:cNvSpPr txBox="1"/>
          <p:nvPr/>
        </p:nvSpPr>
        <p:spPr>
          <a:xfrm xmlns:a="http://schemas.openxmlformats.org/drawingml/2006/main">
            <a:off x="952500" y="3762375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3A2B25"/>
                </a:solidFill>
                <a:latin typeface="Arial"/>
                <a:ea typeface="Arial"/>
              </a:rPr>
              <a:t>One visual language · four page roles · native editable objects</a:t>
            </a:r>
            <a:endParaRPr lang="en-US"/>
          </a:p>
        </p:txBody>
      </p:sp>
      <p:sp>
        <p:nvSpPr>
          <p:cNvPr id="9" name="cover-thesis"/>
          <p:cNvSpPr txBox="1"/>
          <p:nvPr/>
        </p:nvSpPr>
        <p:spPr>
          <a:xfrm xmlns:a="http://schemas.openxmlformats.org/drawingml/2006/main">
            <a:off x="952500" y="4810125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3A2B25"/>
                </a:solidFill>
                <a:latin typeface="Arial"/>
                <a:ea typeface="Arial"/>
              </a:rPr>
              <a:t>A visible operating signal creates a shared next action.</a:t>
            </a:r>
            <a:endParaRPr lang="en-US"/>
          </a:p>
        </p:txBody>
      </p:sp>
      <p:sp>
        <p:nvSpPr>
          <p:cNvPr id="10" name="cover-source"/>
          <p:cNvSpPr txBox="1"/>
          <p:nvPr/>
        </p:nvSpPr>
        <p:spPr>
          <a:xfrm xmlns:a="http://schemas.openxmlformats.org/drawingml/2006/main">
            <a:off x="952500" y="731520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B8F86"/>
                </a:solidFill>
                <a:latin typeface="Arial"/>
                <a:ea typeface="Arial"/>
              </a:rPr>
              <a:t>OfficeKit original clean-room calibration · fictional content · 2026-08-29</a:t>
            </a:r>
            <a:endParaRPr lang="en-US"/>
          </a:p>
        </p:txBody>
      </p:sp>
      <p:sp>
        <p:nvSpPr>
          <p:cNvPr id="11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B8F86"/>
                </a:solidFill>
                <a:latin typeface="Arial"/>
                <a:ea typeface="Arial"/>
              </a:rPr>
              <a:t>1 / 6</a:t>
            </a:r>
            <a:endParaRPr lang="en-US"/>
          </a:p>
        </p:txBody>
      </p:sp>
      <p:sp>
        <p:nvSpPr>
          <p:cNvPr id="12" name="anchor-field"/>
          <p:cNvSpPr/>
          <p:nvPr/>
        </p:nvSpPr>
        <p:spPr>
          <a:xfrm xmlns:a="http://schemas.openxmlformats.org/drawingml/2006/main">
            <a:off x="11620500" y="1790700"/>
            <a:ext cx="2095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25400">
            <a:solidFill>
              <a:srgbClr val="C96B3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anchor-grid-0-0"/>
          <p:cNvSpPr/>
          <p:nvPr/>
        </p:nvSpPr>
        <p:spPr>
          <a:xfrm xmlns:a="http://schemas.openxmlformats.org/drawingml/2006/main">
            <a:off x="11925300" y="21526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B35"/>
          </a:solidFill>
          <a:ln xmlns:a="http://schemas.openxmlformats.org/drawingml/2006/main" w="12700">
            <a:solidFill>
              <a:srgbClr val="C96B3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anchor-grid-0-1"/>
          <p:cNvSpPr/>
          <p:nvPr/>
        </p:nvSpPr>
        <p:spPr>
          <a:xfrm xmlns:a="http://schemas.openxmlformats.org/drawingml/2006/main">
            <a:off x="12420600" y="21526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B35"/>
          </a:solidFill>
          <a:ln xmlns:a="http://schemas.openxmlformats.org/drawingml/2006/main" w="12700">
            <a:solidFill>
              <a:srgbClr val="C96B3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anchor-grid-0-2"/>
          <p:cNvSpPr/>
          <p:nvPr/>
        </p:nvSpPr>
        <p:spPr>
          <a:xfrm xmlns:a="http://schemas.openxmlformats.org/drawingml/2006/main">
            <a:off x="12915900" y="21526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E0"/>
          </a:solidFill>
          <a:ln xmlns:a="http://schemas.openxmlformats.org/drawingml/2006/main" w="12700">
            <a:solidFill>
              <a:srgbClr val="C96B3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6" name="anchor-grid-1-0"/>
          <p:cNvSpPr/>
          <p:nvPr/>
        </p:nvSpPr>
        <p:spPr>
          <a:xfrm xmlns:a="http://schemas.openxmlformats.org/drawingml/2006/main">
            <a:off x="11925300" y="26860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B35"/>
          </a:solidFill>
          <a:ln xmlns:a="http://schemas.openxmlformats.org/drawingml/2006/main" w="12700">
            <a:solidFill>
              <a:srgbClr val="C96B3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7" name="anchor-grid-1-1"/>
          <p:cNvSpPr/>
          <p:nvPr/>
        </p:nvSpPr>
        <p:spPr>
          <a:xfrm xmlns:a="http://schemas.openxmlformats.org/drawingml/2006/main">
            <a:off x="12420600" y="26860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B35"/>
          </a:solidFill>
          <a:ln xmlns:a="http://schemas.openxmlformats.org/drawingml/2006/main" w="12700">
            <a:solidFill>
              <a:srgbClr val="C96B3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anchor-grid-1-2"/>
          <p:cNvSpPr/>
          <p:nvPr/>
        </p:nvSpPr>
        <p:spPr>
          <a:xfrm xmlns:a="http://schemas.openxmlformats.org/drawingml/2006/main">
            <a:off x="12915900" y="26860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E0"/>
          </a:solidFill>
          <a:ln xmlns:a="http://schemas.openxmlformats.org/drawingml/2006/main" w="12700">
            <a:solidFill>
              <a:srgbClr val="C96B3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anchor-grid-2-0"/>
          <p:cNvSpPr/>
          <p:nvPr/>
        </p:nvSpPr>
        <p:spPr>
          <a:xfrm xmlns:a="http://schemas.openxmlformats.org/drawingml/2006/main">
            <a:off x="11925300" y="3219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B35"/>
          </a:solidFill>
          <a:ln xmlns:a="http://schemas.openxmlformats.org/drawingml/2006/main" w="12700">
            <a:solidFill>
              <a:srgbClr val="C96B3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0" name="anchor-grid-2-1"/>
          <p:cNvSpPr/>
          <p:nvPr/>
        </p:nvSpPr>
        <p:spPr>
          <a:xfrm xmlns:a="http://schemas.openxmlformats.org/drawingml/2006/main">
            <a:off x="12420600" y="3219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B35"/>
          </a:solidFill>
          <a:ln xmlns:a="http://schemas.openxmlformats.org/drawingml/2006/main" w="12700">
            <a:solidFill>
              <a:srgbClr val="C96B3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anchor-grid-2-2"/>
          <p:cNvSpPr/>
          <p:nvPr/>
        </p:nvSpPr>
        <p:spPr>
          <a:xfrm xmlns:a="http://schemas.openxmlformats.org/drawingml/2006/main">
            <a:off x="12915900" y="3219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E0"/>
          </a:solidFill>
          <a:ln xmlns:a="http://schemas.openxmlformats.org/drawingml/2006/main" w="12700">
            <a:solidFill>
              <a:srgbClr val="C96B3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anchor-axis"/>
          <p:cNvSpPr/>
          <p:nvPr/>
        </p:nvSpPr>
        <p:spPr>
          <a:xfrm xmlns:a="http://schemas.openxmlformats.org/drawingml/2006/main">
            <a:off x="12668250" y="1638300"/>
            <a:ext cx="0" cy="2743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3A2B2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 name="Argum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E0"/>
          </a:solidFill>
          <a:ln xmlns:a="http://schemas.openxmlformats.org/drawingml/2006/main" w="0">
            <a:solidFill>
              <a:srgbClr val="F4ECE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argument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96B3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CLAY CRAFT REVIEW · ARGUMENT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C96B35"/>
                </a:solidFill>
                <a:latin typeface="Arial"/>
                <a:ea typeface="Arial"/>
              </a:rPr>
              <a:t>CLAY CRAFT REVIEW · ARGUMENT</a:t>
            </a:r>
            <a:endParaRPr lang="en-US"/>
          </a:p>
        </p:txBody>
      </p:sp>
      <p:sp>
        <p:nvSpPr>
          <p:cNvPr id="5" name="argument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3A2B25"/>
                </a:solidFill>
                <a:latin typeface="Arial"/>
                <a:ea typeface="Arial"/>
              </a:rPr>
              <a:t>One operating constraint should own the page</a:t>
            </a:r>
            <a:endParaRPr lang="en-US"/>
          </a:p>
        </p:txBody>
      </p:sp>
      <p:sp>
        <p:nvSpPr>
          <p:cNvPr id="6" name="argument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9B8F86"/>
                </a:solidFill>
                <a:latin typeface="Arial"/>
                <a:ea typeface="Arial"/>
              </a:rPr>
              <a:t>Status, cause, owner, and date make the next operational move visible.</a:t>
            </a:r>
            <a:endParaRPr lang="en-US"/>
          </a:p>
        </p:txBody>
      </p:sp>
      <p:sp>
        <p:nvSpPr>
          <p:cNvPr id="7" name="argument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B8F86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work-status"/>
          <p:cNvSpPr txBox="1"/>
          <p:nvPr/>
        </p:nvSpPr>
        <p:spPr>
          <a:xfrm xmlns:a="http://schemas.openxmlformats.org/drawingml/2006/main">
            <a:off x="1104900" y="3352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C96B35"/>
                </a:solidFill>
                <a:latin typeface="Arial"/>
                <a:ea typeface="Arial"/>
              </a:rPr>
              <a:t>OPERATING SIGNAL</a:t>
            </a:r>
            <a:endParaRPr lang="en-US"/>
          </a:p>
        </p:txBody>
      </p:sp>
      <p:sp>
        <p:nvSpPr>
          <p:cNvPr id="9" name="work-headline"/>
          <p:cNvSpPr txBox="1"/>
          <p:nvPr/>
        </p:nvSpPr>
        <p:spPr>
          <a:xfrm xmlns:a="http://schemas.openxmlformats.org/drawingml/2006/main">
            <a:off x="1104900" y="3790950"/>
            <a:ext cx="666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3A2B25"/>
                </a:solidFill>
                <a:latin typeface="Arial"/>
                <a:ea typeface="Arial"/>
              </a:rPr>
              <a:t>The queue is healthy; the handoff is not.</a:t>
            </a:r>
            <a:endParaRPr lang="en-US"/>
          </a:p>
        </p:txBody>
      </p:sp>
      <p:sp>
        <p:nvSpPr>
          <p:cNvPr id="10" name="work-body"/>
          <p:cNvSpPr txBox="1"/>
          <p:nvPr/>
        </p:nvSpPr>
        <p:spPr>
          <a:xfrm xmlns:a="http://schemas.openxmlformats.org/drawingml/2006/main">
            <a:off x="1104900" y="47625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75">
                <a:solidFill>
                  <a:srgbClr val="3A2B25"/>
                </a:solidFill>
                <a:latin typeface="Arial"/>
                <a:ea typeface="Arial"/>
              </a:rPr>
              <a:t>Three visible signals point to one owner and one date.</a:t>
            </a:r>
            <a:endParaRPr lang="en-US"/>
          </a:p>
        </p:txBody>
      </p:sp>
      <p:sp>
        <p:nvSpPr>
          <p:cNvPr id="11" name="work-rail"/>
          <p:cNvSpPr/>
          <p:nvPr/>
        </p:nvSpPr>
        <p:spPr>
          <a:xfrm xmlns:a="http://schemas.openxmlformats.org/drawingml/2006/main">
            <a:off x="10001250" y="333375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B8F86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2" name="work-num-0"/>
          <p:cNvSpPr txBox="1"/>
          <p:nvPr/>
        </p:nvSpPr>
        <p:spPr>
          <a:xfrm xmlns:a="http://schemas.openxmlformats.org/drawingml/2006/main">
            <a:off x="10477500" y="34480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C96B35"/>
                </a:solidFill>
                <a:latin typeface="Arial"/>
                <a:ea typeface="Arial"/>
              </a:rPr>
              <a:t>01</a:t>
            </a:r>
            <a:endParaRPr lang="en-US"/>
          </a:p>
        </p:txBody>
      </p:sp>
      <p:sp>
        <p:nvSpPr>
          <p:cNvPr id="13" name="work-label-0"/>
          <p:cNvSpPr txBox="1"/>
          <p:nvPr/>
        </p:nvSpPr>
        <p:spPr>
          <a:xfrm xmlns:a="http://schemas.openxmlformats.org/drawingml/2006/main">
            <a:off x="11144250" y="3448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3A2B25"/>
                </a:solidFill>
                <a:latin typeface="Arial"/>
                <a:ea typeface="Arial"/>
              </a:rPr>
              <a:t>Queue</a:t>
            </a:r>
            <a:endParaRPr lang="en-US"/>
          </a:p>
        </p:txBody>
      </p:sp>
      <p:sp>
        <p:nvSpPr>
          <p:cNvPr id="14" name="work-text-0"/>
          <p:cNvSpPr txBox="1"/>
          <p:nvPr/>
        </p:nvSpPr>
        <p:spPr>
          <a:xfrm xmlns:a="http://schemas.openxmlformats.org/drawingml/2006/main">
            <a:off x="12668250" y="3448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9B8F86"/>
                </a:solidFill>
                <a:latin typeface="Arial"/>
                <a:ea typeface="Arial"/>
              </a:rPr>
              <a:t>On target</a:t>
            </a:r>
            <a:endParaRPr lang="en-US"/>
          </a:p>
        </p:txBody>
      </p:sp>
      <p:sp>
        <p:nvSpPr>
          <p:cNvPr id="15" name="work-num-1"/>
          <p:cNvSpPr txBox="1"/>
          <p:nvPr/>
        </p:nvSpPr>
        <p:spPr>
          <a:xfrm xmlns:a="http://schemas.openxmlformats.org/drawingml/2006/main">
            <a:off x="10477500" y="42291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C96B35"/>
                </a:solidFill>
                <a:latin typeface="Arial"/>
                <a:ea typeface="Arial"/>
              </a:rPr>
              <a:t>02</a:t>
            </a:r>
            <a:endParaRPr lang="en-US"/>
          </a:p>
        </p:txBody>
      </p:sp>
      <p:sp>
        <p:nvSpPr>
          <p:cNvPr id="16" name="work-label-1"/>
          <p:cNvSpPr txBox="1"/>
          <p:nvPr/>
        </p:nvSpPr>
        <p:spPr>
          <a:xfrm xmlns:a="http://schemas.openxmlformats.org/drawingml/2006/main">
            <a:off x="11144250" y="4229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3A2B25"/>
                </a:solidFill>
                <a:latin typeface="Arial"/>
                <a:ea typeface="Arial"/>
              </a:rPr>
              <a:t>Handoff</a:t>
            </a:r>
            <a:endParaRPr lang="en-US"/>
          </a:p>
        </p:txBody>
      </p:sp>
      <p:sp>
        <p:nvSpPr>
          <p:cNvPr id="17" name="work-text-1"/>
          <p:cNvSpPr txBox="1"/>
          <p:nvPr/>
        </p:nvSpPr>
        <p:spPr>
          <a:xfrm xmlns:a="http://schemas.openxmlformats.org/drawingml/2006/main">
            <a:off x="12668250" y="4229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C96B35"/>
                </a:solidFill>
                <a:latin typeface="Arial"/>
                <a:ea typeface="Arial"/>
              </a:rPr>
              <a:t>At risk</a:t>
            </a:r>
            <a:endParaRPr lang="en-US"/>
          </a:p>
        </p:txBody>
      </p:sp>
      <p:sp>
        <p:nvSpPr>
          <p:cNvPr id="18" name="work-num-2"/>
          <p:cNvSpPr txBox="1"/>
          <p:nvPr/>
        </p:nvSpPr>
        <p:spPr>
          <a:xfrm xmlns:a="http://schemas.openxmlformats.org/drawingml/2006/main">
            <a:off x="10477500" y="50101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C96B35"/>
                </a:solidFill>
                <a:latin typeface="Arial"/>
                <a:ea typeface="Arial"/>
              </a:rPr>
              <a:t>03</a:t>
            </a:r>
            <a:endParaRPr lang="en-US"/>
          </a:p>
        </p:txBody>
      </p:sp>
      <p:sp>
        <p:nvSpPr>
          <p:cNvPr id="19" name="work-label-2"/>
          <p:cNvSpPr txBox="1"/>
          <p:nvPr/>
        </p:nvSpPr>
        <p:spPr>
          <a:xfrm xmlns:a="http://schemas.openxmlformats.org/drawingml/2006/main">
            <a:off x="11144250" y="50101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3A2B25"/>
                </a:solidFill>
                <a:latin typeface="Arial"/>
                <a:ea typeface="Arial"/>
              </a:rPr>
              <a:t>Owner</a:t>
            </a:r>
            <a:endParaRPr lang="en-US"/>
          </a:p>
        </p:txBody>
      </p:sp>
      <p:sp>
        <p:nvSpPr>
          <p:cNvPr id="20" name="work-text-2"/>
          <p:cNvSpPr txBox="1"/>
          <p:nvPr/>
        </p:nvSpPr>
        <p:spPr>
          <a:xfrm xmlns:a="http://schemas.openxmlformats.org/drawingml/2006/main">
            <a:off x="12668250" y="5010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9B8F86"/>
                </a:solidFill>
                <a:latin typeface="Arial"/>
                <a:ea typeface="Arial"/>
              </a:rPr>
              <a:t>Named</a:t>
            </a:r>
            <a:endParaRPr lang="en-US"/>
          </a:p>
        </p:txBody>
      </p:sp>
      <p:sp>
        <p:nvSpPr>
          <p:cNvPr id="21" name="source"/>
          <p:cNvSpPr txBox="1"/>
          <p:nvPr/>
        </p:nvSpPr>
        <p:spPr>
          <a:xfrm xmlns:a="http://schemas.openxmlformats.org/drawingml/2006/main">
            <a:off x="914400" y="78105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B8F86"/>
                </a:solidFill>
                <a:latin typeface="Arial"/>
                <a:ea typeface="Arial"/>
              </a:rPr>
              <a:t>Source: illustrative calibration brief · every claim is fictional and bounded</a:t>
            </a:r>
            <a:endParaRPr lang="en-US"/>
          </a:p>
        </p:txBody>
      </p:sp>
      <p:sp>
        <p:nvSpPr>
          <p:cNvPr id="22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B8F86"/>
                </a:solidFill>
                <a:latin typeface="Arial"/>
                <a:ea typeface="Arial"/>
              </a:rPr>
              <a:t>2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 name="Evidenc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E0"/>
          </a:solidFill>
          <a:ln xmlns:a="http://schemas.openxmlformats.org/drawingml/2006/main" w="0">
            <a:solidFill>
              <a:srgbClr val="F4ECE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evidenc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96B3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CLAY CRAFT REVIEW · EVIDENC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C96B35"/>
                </a:solidFill>
                <a:latin typeface="Arial"/>
                <a:ea typeface="Arial"/>
              </a:rPr>
              <a:t>CLAY CRAFT REVIEW · EVIDENCE</a:t>
            </a:r>
            <a:endParaRPr lang="en-US"/>
          </a:p>
        </p:txBody>
      </p:sp>
      <p:sp>
        <p:nvSpPr>
          <p:cNvPr id="5" name="evidence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3A2B25"/>
                </a:solidFill>
                <a:latin typeface="Arial"/>
                <a:ea typeface="Arial"/>
              </a:rPr>
              <a:t>The operating signal improves while the exception stays visible</a:t>
            </a:r>
            <a:endParaRPr lang="en-US"/>
          </a:p>
        </p:txBody>
      </p:sp>
      <p:sp>
        <p:nvSpPr>
          <p:cNvPr id="6" name="evidence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9B8F86"/>
                </a:solidFill>
                <a:latin typeface="Arial"/>
                <a:ea typeface="Arial"/>
              </a:rPr>
              <a:t>Illustrative operations ledger · current state, target, and exception share one frame.</a:t>
            </a:r>
            <a:endParaRPr lang="en-US"/>
          </a:p>
        </p:txBody>
      </p:sp>
      <p:sp>
        <p:nvSpPr>
          <p:cNvPr id="7" name="evidenc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B8F86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graphicFrame>
        <p:nvGraphicFramePr>
          <p:cNvPr id="8" name="evidence-chart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1047750" y="3048000"/>
          <a:ext xmlns:a="http://schemas.openxmlformats.org/drawingml/2006/main" cx="7905750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ae7d9d4ca364912"/>
          </a:graphicData>
        </a:graphic>
      </p:graphicFrame>
      <p:sp>
        <p:nvSpPr>
          <p:cNvPr id="9" name="metric"/>
          <p:cNvSpPr txBox="1"/>
          <p:nvPr/>
        </p:nvSpPr>
        <p:spPr>
          <a:xfrm xmlns:a="http://schemas.openxmlformats.org/drawingml/2006/main">
            <a:off x="9906000" y="3333750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4800" b="1">
                <a:solidFill>
                  <a:srgbClr val="C96B35"/>
                </a:solidFill>
                <a:latin typeface="Arial"/>
                <a:ea typeface="Arial"/>
              </a:rPr>
              <a:t>68</a:t>
            </a:r>
            <a:endParaRPr lang="en-US"/>
          </a:p>
        </p:txBody>
      </p:sp>
      <p:sp>
        <p:nvSpPr>
          <p:cNvPr id="10" name="metric-label"/>
          <p:cNvSpPr txBox="1"/>
          <p:nvPr/>
        </p:nvSpPr>
        <p:spPr>
          <a:xfrm xmlns:a="http://schemas.openxmlformats.org/drawingml/2006/main">
            <a:off x="9906000" y="4143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9B8F86"/>
                </a:solidFill>
                <a:latin typeface="Arial"/>
                <a:ea typeface="Arial"/>
              </a:rPr>
              <a:t>service attainment · current week</a:t>
            </a:r>
            <a:endParaRPr lang="en-US"/>
          </a:p>
        </p:txBody>
      </p:sp>
      <p:sp>
        <p:nvSpPr>
          <p:cNvPr id="11" name="rail-rule"/>
          <p:cNvSpPr/>
          <p:nvPr/>
        </p:nvSpPr>
        <p:spPr>
          <a:xfrm xmlns:a="http://schemas.openxmlformats.org/drawingml/2006/main">
            <a:off x="9906000" y="4810125"/>
            <a:ext cx="376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B8F86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2" name="read-through"/>
          <p:cNvSpPr txBox="1"/>
          <p:nvPr/>
        </p:nvSpPr>
        <p:spPr>
          <a:xfrm xmlns:a="http://schemas.openxmlformats.org/drawingml/2006/main">
            <a:off x="9906000" y="514350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3A2B25"/>
                </a:solidFill>
                <a:latin typeface="Arial"/>
                <a:ea typeface="Arial"/>
              </a:rPr>
              <a:t>The queue is healthy; the handoff needs a named owner before the next review.</a:t>
            </a:r>
            <a:endParaRPr lang="en-US"/>
          </a:p>
        </p:txBody>
      </p:sp>
      <p:sp>
        <p:nvSpPr>
          <p:cNvPr id="13" name="evidence-band"/>
          <p:cNvSpPr/>
          <p:nvPr/>
        </p:nvSpPr>
        <p:spPr>
          <a:xfrm xmlns:a="http://schemas.openxmlformats.org/drawingml/2006/main">
            <a:off x="914400" y="6877050"/>
            <a:ext cx="13411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evidence-band-text"/>
          <p:cNvSpPr txBox="1"/>
          <p:nvPr/>
        </p:nvSpPr>
        <p:spPr>
          <a:xfrm xmlns:a="http://schemas.openxmlformats.org/drawingml/2006/main">
            <a:off x="1143000" y="7058025"/>
            <a:ext cx="1238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 b="1">
                <a:solidFill>
                  <a:srgbClr val="3A2B25"/>
                </a:solidFill>
                <a:latin typeface="Arial"/>
                <a:ea typeface="Arial"/>
              </a:rPr>
              <a:t>EVIDENCE  ·  Keep the unit, time window, and limitation adjacent to the number.</a:t>
            </a:r>
            <a:endParaRPr lang="en-US"/>
          </a:p>
        </p:txBody>
      </p:sp>
      <p:sp>
        <p:nvSpPr>
          <p:cNvPr id="15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B8F86"/>
                </a:solidFill>
                <a:latin typeface="Arial"/>
                <a:ea typeface="Arial"/>
              </a:rPr>
              <a:t>Source: illustrative calibration brief · values are fictional</a:t>
            </a:r>
            <a:endParaRPr lang="en-US"/>
          </a:p>
        </p:txBody>
      </p:sp>
      <p:sp>
        <p:nvSpPr>
          <p:cNvPr id="16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B8F86"/>
                </a:solidFill>
                <a:latin typeface="Arial"/>
                <a:ea typeface="Arial"/>
              </a:rPr>
              <a:t>3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 name="Detail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E0"/>
          </a:solidFill>
          <a:ln xmlns:a="http://schemas.openxmlformats.org/drawingml/2006/main" w="0">
            <a:solidFill>
              <a:srgbClr val="F4ECE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detai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96B3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CLAY CRAFT REVIEW · DETAIL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C96B35"/>
                </a:solidFill>
                <a:latin typeface="Arial"/>
                <a:ea typeface="Arial"/>
              </a:rPr>
              <a:t>CLAY CRAFT REVIEW · DETAIL</a:t>
            </a:r>
            <a:endParaRPr lang="en-US"/>
          </a:p>
        </p:txBody>
      </p:sp>
      <p:sp>
        <p:nvSpPr>
          <p:cNvPr id="5" name="detail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3A2B25"/>
                </a:solidFill>
                <a:latin typeface="Arial"/>
                <a:ea typeface="Arial"/>
              </a:rPr>
              <a:t>The gap becomes useful when it has an owner</a:t>
            </a:r>
            <a:endParaRPr lang="en-US"/>
          </a:p>
        </p:txBody>
      </p:sp>
      <p:sp>
        <p:nvSpPr>
          <p:cNvPr id="6" name="detail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9B8F86"/>
                </a:solidFill>
                <a:latin typeface="Arial"/>
                <a:ea typeface="Arial"/>
              </a:rPr>
              <a:t>Target, current state and exception share a single operating frame.</a:t>
            </a:r>
            <a:endParaRPr lang="en-US"/>
          </a:p>
        </p:txBody>
      </p:sp>
      <p:sp>
        <p:nvSpPr>
          <p:cNvPr id="7" name="detai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B8F86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operating-label-0"/>
          <p:cNvSpPr txBox="1"/>
          <p:nvPr/>
        </p:nvSpPr>
        <p:spPr>
          <a:xfrm xmlns:a="http://schemas.openxmlformats.org/drawingml/2006/main">
            <a:off x="1104900" y="3333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9B8F86"/>
                </a:solidFill>
                <a:latin typeface="Arial"/>
                <a:ea typeface="Arial"/>
              </a:rPr>
              <a:t>NOW</a:t>
            </a:r>
            <a:endParaRPr lang="en-US"/>
          </a:p>
        </p:txBody>
      </p:sp>
      <p:sp>
        <p:nvSpPr>
          <p:cNvPr id="9" name="operating-bar-0"/>
          <p:cNvSpPr/>
          <p:nvPr/>
        </p:nvSpPr>
        <p:spPr>
          <a:xfrm xmlns:a="http://schemas.openxmlformats.org/drawingml/2006/main">
            <a:off x="1104900" y="38481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9B8F86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operating-fill-0"/>
          <p:cNvSpPr/>
          <p:nvPr/>
        </p:nvSpPr>
        <p:spPr>
          <a:xfrm xmlns:a="http://schemas.openxmlformats.org/drawingml/2006/main">
            <a:off x="1104900" y="3848100"/>
            <a:ext cx="11334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B35"/>
          </a:solidFill>
          <a:ln xmlns:a="http://schemas.openxmlformats.org/drawingml/2006/main" w="0">
            <a:solidFill>
              <a:srgbClr val="C96B3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operating-value-0"/>
          <p:cNvSpPr txBox="1"/>
          <p:nvPr/>
        </p:nvSpPr>
        <p:spPr>
          <a:xfrm xmlns:a="http://schemas.openxmlformats.org/drawingml/2006/main">
            <a:off x="1104900" y="44005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250" b="1">
                <a:solidFill>
                  <a:srgbClr val="3A2B25"/>
                </a:solidFill>
                <a:latin typeface="Arial"/>
                <a:ea typeface="Arial"/>
              </a:rPr>
              <a:t>54%</a:t>
            </a:r>
            <a:endParaRPr lang="en-US"/>
          </a:p>
        </p:txBody>
      </p:sp>
      <p:sp>
        <p:nvSpPr>
          <p:cNvPr id="12" name="operating-label-1"/>
          <p:cNvSpPr txBox="1"/>
          <p:nvPr/>
        </p:nvSpPr>
        <p:spPr>
          <a:xfrm xmlns:a="http://schemas.openxmlformats.org/drawingml/2006/main">
            <a:off x="3790950" y="3333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9B8F86"/>
                </a:solidFill>
                <a:latin typeface="Arial"/>
                <a:ea typeface="Arial"/>
              </a:rPr>
              <a:t>TARGET</a:t>
            </a:r>
            <a:endParaRPr lang="en-US"/>
          </a:p>
        </p:txBody>
      </p:sp>
      <p:sp>
        <p:nvSpPr>
          <p:cNvPr id="13" name="operating-bar-1"/>
          <p:cNvSpPr/>
          <p:nvPr/>
        </p:nvSpPr>
        <p:spPr>
          <a:xfrm xmlns:a="http://schemas.openxmlformats.org/drawingml/2006/main">
            <a:off x="3790950" y="38481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9B8F86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operating-fill-1"/>
          <p:cNvSpPr/>
          <p:nvPr/>
        </p:nvSpPr>
        <p:spPr>
          <a:xfrm xmlns:a="http://schemas.openxmlformats.org/drawingml/2006/main">
            <a:off x="3790950" y="3848100"/>
            <a:ext cx="1590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A0"/>
          </a:solidFill>
          <a:ln xmlns:a="http://schemas.openxmlformats.org/drawingml/2006/main" w="0">
            <a:solidFill>
              <a:srgbClr val="D89AA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operating-value-1"/>
          <p:cNvSpPr txBox="1"/>
          <p:nvPr/>
        </p:nvSpPr>
        <p:spPr>
          <a:xfrm xmlns:a="http://schemas.openxmlformats.org/drawingml/2006/main">
            <a:off x="3790950" y="44005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250" b="1">
                <a:solidFill>
                  <a:srgbClr val="3A2B25"/>
                </a:solidFill>
                <a:latin typeface="Arial"/>
                <a:ea typeface="Arial"/>
              </a:rPr>
              <a:t>76%</a:t>
            </a:r>
            <a:endParaRPr lang="en-US"/>
          </a:p>
        </p:txBody>
      </p:sp>
      <p:sp>
        <p:nvSpPr>
          <p:cNvPr id="16" name="operating-label-2"/>
          <p:cNvSpPr txBox="1"/>
          <p:nvPr/>
        </p:nvSpPr>
        <p:spPr>
          <a:xfrm xmlns:a="http://schemas.openxmlformats.org/drawingml/2006/main">
            <a:off x="6477000" y="3333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9B8F86"/>
                </a:solidFill>
                <a:latin typeface="Arial"/>
                <a:ea typeface="Arial"/>
              </a:rPr>
              <a:t>GAP</a:t>
            </a:r>
            <a:endParaRPr lang="en-US"/>
          </a:p>
        </p:txBody>
      </p:sp>
      <p:sp>
        <p:nvSpPr>
          <p:cNvPr id="17" name="operating-bar-2"/>
          <p:cNvSpPr/>
          <p:nvPr/>
        </p:nvSpPr>
        <p:spPr>
          <a:xfrm xmlns:a="http://schemas.openxmlformats.org/drawingml/2006/main">
            <a:off x="6477000" y="38481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9B8F86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operating-fill-2"/>
          <p:cNvSpPr/>
          <p:nvPr/>
        </p:nvSpPr>
        <p:spPr>
          <a:xfrm xmlns:a="http://schemas.openxmlformats.org/drawingml/2006/main">
            <a:off x="6477000" y="384810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2B25"/>
          </a:solidFill>
          <a:ln xmlns:a="http://schemas.openxmlformats.org/drawingml/2006/main" w="0">
            <a:solidFill>
              <a:srgbClr val="3A2B2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operating-value-2"/>
          <p:cNvSpPr txBox="1"/>
          <p:nvPr/>
        </p:nvSpPr>
        <p:spPr>
          <a:xfrm xmlns:a="http://schemas.openxmlformats.org/drawingml/2006/main">
            <a:off x="6477000" y="44005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250" b="1">
                <a:solidFill>
                  <a:srgbClr val="3A2B25"/>
                </a:solidFill>
                <a:latin typeface="Arial"/>
                <a:ea typeface="Arial"/>
              </a:rPr>
              <a:t>22%</a:t>
            </a:r>
            <a:endParaRPr lang="en-US"/>
          </a:p>
        </p:txBody>
      </p:sp>
      <p:sp>
        <p:nvSpPr>
          <p:cNvPr id="20" name="operating-axis"/>
          <p:cNvSpPr/>
          <p:nvPr/>
        </p:nvSpPr>
        <p:spPr>
          <a:xfrm xmlns:a="http://schemas.openxmlformats.org/drawingml/2006/main">
            <a:off x="1104900" y="5334000"/>
            <a:ext cx="7486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B8F86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operating-read"/>
          <p:cNvSpPr txBox="1"/>
          <p:nvPr/>
        </p:nvSpPr>
        <p:spPr>
          <a:xfrm xmlns:a="http://schemas.openxmlformats.org/drawingml/2006/main">
            <a:off x="1104900" y="5657850"/>
            <a:ext cx="752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3A2B25"/>
                </a:solidFill>
                <a:latin typeface="Arial"/>
                <a:ea typeface="Arial"/>
              </a:rPr>
              <a:t>Status is useful only when the next handoff is visible.</a:t>
            </a:r>
            <a:endParaRPr lang="en-US"/>
          </a:p>
        </p:txBody>
      </p:sp>
      <p:sp>
        <p:nvSpPr>
          <p:cNvPr id="22" name="operating-note-label"/>
          <p:cNvSpPr txBox="1"/>
          <p:nvPr/>
        </p:nvSpPr>
        <p:spPr>
          <a:xfrm xmlns:a="http://schemas.openxmlformats.org/drawingml/2006/main">
            <a:off x="10287000" y="3333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C96B35"/>
                </a:solidFill>
                <a:latin typeface="Arial"/>
                <a:ea typeface="Arial"/>
              </a:rPr>
              <a:t>EXCEPTION</a:t>
            </a:r>
            <a:endParaRPr lang="en-US"/>
          </a:p>
        </p:txBody>
      </p:sp>
      <p:sp>
        <p:nvSpPr>
          <p:cNvPr id="23" name="operating-note"/>
          <p:cNvSpPr txBox="1"/>
          <p:nvPr/>
        </p:nvSpPr>
        <p:spPr>
          <a:xfrm xmlns:a="http://schemas.openxmlformats.org/drawingml/2006/main">
            <a:off x="10287000" y="382905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3A2B25"/>
                </a:solidFill>
                <a:latin typeface="Arial"/>
                <a:ea typeface="Arial"/>
              </a:rPr>
              <a:t>The gap is not a decoration; it is the work.</a:t>
            </a:r>
            <a:endParaRPr lang="en-US"/>
          </a:p>
        </p:txBody>
      </p:sp>
      <p:sp>
        <p:nvSpPr>
          <p:cNvPr id="24" name="operating-note-foot"/>
          <p:cNvSpPr txBox="1"/>
          <p:nvPr/>
        </p:nvSpPr>
        <p:spPr>
          <a:xfrm xmlns:a="http://schemas.openxmlformats.org/drawingml/2006/main">
            <a:off x="10287000" y="50101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9B8F86"/>
                </a:solidFill>
                <a:latin typeface="Arial"/>
                <a:ea typeface="Arial"/>
              </a:rPr>
              <a:t>A healthy page names the owner and the next date.</a:t>
            </a:r>
            <a:endParaRPr lang="en-US"/>
          </a:p>
        </p:txBody>
      </p:sp>
      <p:sp>
        <p:nvSpPr>
          <p:cNvPr id="25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B8F86"/>
                </a:solidFill>
                <a:latin typeface="Arial"/>
                <a:ea typeface="Arial"/>
              </a:rPr>
              <a:t>Source: illustrative calibration brief · labels and values are fictional</a:t>
            </a:r>
            <a:endParaRPr lang="en-US"/>
          </a:p>
        </p:txBody>
      </p:sp>
      <p:sp>
        <p:nvSpPr>
          <p:cNvPr id="26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B8F86"/>
                </a:solidFill>
                <a:latin typeface="Arial"/>
                <a:ea typeface="Arial"/>
              </a:rPr>
              <a:t>4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 name="Visual carrier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E0"/>
          </a:solidFill>
          <a:ln xmlns:a="http://schemas.openxmlformats.org/drawingml/2006/main" w="0">
            <a:solidFill>
              <a:srgbClr val="F4ECE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visua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96B3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CLAY CRAFT REVIEW · VISUAL CARRIER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C96B35"/>
                </a:solidFill>
                <a:latin typeface="Arial"/>
                <a:ea typeface="Arial"/>
              </a:rPr>
              <a:t>CLAY CRAFT REVIEW · VISUAL CARRIER</a:t>
            </a:r>
            <a:endParaRPr lang="en-US"/>
          </a:p>
        </p:txBody>
      </p:sp>
      <p:sp>
        <p:nvSpPr>
          <p:cNvPr id="5" name="visual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3A2B25"/>
                </a:solidFill>
                <a:latin typeface="Arial"/>
                <a:ea typeface="Arial"/>
              </a:rPr>
              <a:t>Show the operating shape</a:t>
            </a:r>
            <a:endParaRPr lang="en-US"/>
          </a:p>
        </p:txBody>
      </p:sp>
      <p:sp>
        <p:nvSpPr>
          <p:cNvPr id="6" name="visual-body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9B8F86"/>
                </a:solidFill>
                <a:latin typeface="Arial"/>
                <a:ea typeface="Arial"/>
              </a:rPr>
              <a:t>An operating page should reveal the shape of the work, not decorate the status.</a:t>
            </a:r>
            <a:endParaRPr lang="en-US"/>
          </a:p>
        </p:txBody>
      </p:sp>
      <p:sp>
        <p:nvSpPr>
          <p:cNvPr id="7" name="visua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B8F86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graphicFrame>
        <p:nvGraphicFramePr>
          <p:cNvPr id="8" name="visual-field-chart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914400" y="3028950"/>
          <a:ext xmlns:a="http://schemas.openxmlformats.org/drawingml/2006/main" cx="7429500" cy="3695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da55692d3e549a6"/>
          </a:graphicData>
        </a:graphic>
      </p:graphicFrame>
      <p:sp>
        <p:nvSpPr>
          <p:cNvPr id="9" name="visual-note"/>
          <p:cNvSpPr/>
          <p:nvPr/>
        </p:nvSpPr>
        <p:spPr>
          <a:xfrm xmlns:a="http://schemas.openxmlformats.org/drawingml/2006/main">
            <a:off x="8858250" y="333375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9B8F86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visual-note-label"/>
          <p:cNvSpPr txBox="1"/>
          <p:nvPr/>
        </p:nvSpPr>
        <p:spPr>
          <a:xfrm xmlns:a="http://schemas.openxmlformats.org/drawingml/2006/main">
            <a:off x="9239250" y="3695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C96B35"/>
                </a:solidFill>
                <a:latin typeface="Arial"/>
                <a:ea typeface="Arial"/>
              </a:rPr>
              <a:t>CARRIER</a:t>
            </a:r>
            <a:endParaRPr lang="en-US"/>
          </a:p>
        </p:txBody>
      </p:sp>
      <p:sp>
        <p:nvSpPr>
          <p:cNvPr id="11" name="visual-note-text"/>
          <p:cNvSpPr txBox="1"/>
          <p:nvPr/>
        </p:nvSpPr>
        <p:spPr>
          <a:xfrm xmlns:a="http://schemas.openxmlformats.org/drawingml/2006/main">
            <a:off x="9239250" y="4171950"/>
            <a:ext cx="400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3A2B25"/>
                </a:solidFill>
                <a:latin typeface="Arial"/>
                <a:ea typeface="Arial"/>
              </a:rPr>
              <a:t>Exception before polish</a:t>
            </a:r>
            <a:endParaRPr lang="en-US"/>
          </a:p>
        </p:txBody>
      </p:sp>
      <p:sp>
        <p:nvSpPr>
          <p:cNvPr id="12" name="visual-note-foot"/>
          <p:cNvSpPr txBox="1"/>
          <p:nvPr/>
        </p:nvSpPr>
        <p:spPr>
          <a:xfrm xmlns:a="http://schemas.openxmlformats.org/drawingml/2006/main">
            <a:off x="9239250" y="52197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9B8F86"/>
                </a:solidFill>
                <a:latin typeface="Arial"/>
                <a:ea typeface="Arial"/>
              </a:rPr>
              <a:t>Crop, contrast and source role are reviewed before delivery.</a:t>
            </a:r>
            <a:endParaRPr lang="en-US"/>
          </a:p>
        </p:txBody>
      </p:sp>
      <p:sp>
        <p:nvSpPr>
          <p:cNvPr id="13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B8F86"/>
                </a:solidFill>
                <a:latin typeface="Arial"/>
                <a:ea typeface="Arial"/>
              </a:rPr>
              <a:t>OfficeKit original clean-room visual field · fictional content</a:t>
            </a:r>
            <a:endParaRPr lang="en-US"/>
          </a:p>
        </p:txBody>
      </p:sp>
      <p:sp>
        <p:nvSpPr>
          <p:cNvPr id="14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B8F86"/>
                </a:solidFill>
                <a:latin typeface="Arial"/>
                <a:ea typeface="Arial"/>
              </a:rPr>
              <a:t>5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 name="Decision clos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E0"/>
          </a:solidFill>
          <a:ln xmlns:a="http://schemas.openxmlformats.org/drawingml/2006/main" w="0">
            <a:solidFill>
              <a:srgbClr val="F4ECE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clos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96B3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CLAY CRAFT REVIEW · CLOS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C96B35"/>
                </a:solidFill>
                <a:latin typeface="Arial"/>
                <a:ea typeface="Arial"/>
              </a:rPr>
              <a:t>CLAY CRAFT REVIEW · CLOSE</a:t>
            </a:r>
            <a:endParaRPr lang="en-US"/>
          </a:p>
        </p:txBody>
      </p:sp>
      <p:sp>
        <p:nvSpPr>
          <p:cNvPr id="5" name="close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3A2B25"/>
                </a:solidFill>
                <a:latin typeface="Arial"/>
                <a:ea typeface="Arial"/>
              </a:rPr>
              <a:t>Make the owner and the next date impossible to miss</a:t>
            </a:r>
            <a:endParaRPr lang="en-US"/>
          </a:p>
        </p:txBody>
      </p:sp>
      <p:sp>
        <p:nvSpPr>
          <p:cNvPr id="6" name="close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9B8F86"/>
                </a:solidFill>
                <a:latin typeface="Arial"/>
                <a:ea typeface="Arial"/>
              </a:rPr>
              <a:t>A reference page must leave the reader with a bounded next move.</a:t>
            </a:r>
            <a:endParaRPr lang="en-US"/>
          </a:p>
        </p:txBody>
      </p:sp>
      <p:sp>
        <p:nvSpPr>
          <p:cNvPr id="7" name="clos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B8F86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close-number-0"/>
          <p:cNvSpPr txBox="1"/>
          <p:nvPr/>
        </p:nvSpPr>
        <p:spPr>
          <a:xfrm xmlns:a="http://schemas.openxmlformats.org/drawingml/2006/main">
            <a:off x="1104900" y="32194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C96B35"/>
                </a:solidFill>
                <a:latin typeface="Arial"/>
                <a:ea typeface="Arial"/>
              </a:rPr>
              <a:t>01</a:t>
            </a:r>
            <a:endParaRPr lang="en-US"/>
          </a:p>
        </p:txBody>
      </p:sp>
      <p:sp>
        <p:nvSpPr>
          <p:cNvPr id="9" name="close-row-rule-0"/>
          <p:cNvSpPr/>
          <p:nvPr/>
        </p:nvSpPr>
        <p:spPr>
          <a:xfrm xmlns:a="http://schemas.openxmlformats.org/drawingml/2006/main">
            <a:off x="2000250" y="33718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B8F86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close-label-0"/>
          <p:cNvSpPr txBox="1"/>
          <p:nvPr/>
        </p:nvSpPr>
        <p:spPr>
          <a:xfrm xmlns:a="http://schemas.openxmlformats.org/drawingml/2006/main">
            <a:off x="2114550" y="3181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3A2B25"/>
                </a:solidFill>
                <a:latin typeface="Arial"/>
                <a:ea typeface="Arial"/>
              </a:rPr>
              <a:t>Status</a:t>
            </a:r>
            <a:endParaRPr lang="en-US"/>
          </a:p>
        </p:txBody>
      </p:sp>
      <p:sp>
        <p:nvSpPr>
          <p:cNvPr id="11" name="close-text-0"/>
          <p:cNvSpPr txBox="1"/>
          <p:nvPr/>
        </p:nvSpPr>
        <p:spPr>
          <a:xfrm xmlns:a="http://schemas.openxmlformats.org/drawingml/2006/main">
            <a:off x="4495800" y="32194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3A2B25"/>
                </a:solidFill>
                <a:latin typeface="Arial"/>
                <a:ea typeface="Arial"/>
              </a:rPr>
              <a:t>The queue is on target.</a:t>
            </a:r>
            <a:endParaRPr lang="en-US"/>
          </a:p>
        </p:txBody>
      </p:sp>
      <p:sp>
        <p:nvSpPr>
          <p:cNvPr id="12" name="close-number-1"/>
          <p:cNvSpPr txBox="1"/>
          <p:nvPr/>
        </p:nvSpPr>
        <p:spPr>
          <a:xfrm xmlns:a="http://schemas.openxmlformats.org/drawingml/2006/main">
            <a:off x="1104900" y="4267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3A2B25"/>
                </a:solidFill>
                <a:latin typeface="Arial"/>
                <a:ea typeface="Arial"/>
              </a:rPr>
              <a:t>02</a:t>
            </a:r>
            <a:endParaRPr lang="en-US"/>
          </a:p>
        </p:txBody>
      </p:sp>
      <p:sp>
        <p:nvSpPr>
          <p:cNvPr id="13" name="close-row-rule-1"/>
          <p:cNvSpPr/>
          <p:nvPr/>
        </p:nvSpPr>
        <p:spPr>
          <a:xfrm xmlns:a="http://schemas.openxmlformats.org/drawingml/2006/main">
            <a:off x="2000250" y="44196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B8F86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close-label-1"/>
          <p:cNvSpPr txBox="1"/>
          <p:nvPr/>
        </p:nvSpPr>
        <p:spPr>
          <a:xfrm xmlns:a="http://schemas.openxmlformats.org/drawingml/2006/main">
            <a:off x="2114550" y="4229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3A2B25"/>
                </a:solidFill>
                <a:latin typeface="Arial"/>
                <a:ea typeface="Arial"/>
              </a:rPr>
              <a:t>Exception</a:t>
            </a:r>
            <a:endParaRPr lang="en-US"/>
          </a:p>
        </p:txBody>
      </p:sp>
      <p:sp>
        <p:nvSpPr>
          <p:cNvPr id="15" name="close-text-1"/>
          <p:cNvSpPr txBox="1"/>
          <p:nvPr/>
        </p:nvSpPr>
        <p:spPr>
          <a:xfrm xmlns:a="http://schemas.openxmlformats.org/drawingml/2006/main">
            <a:off x="4495800" y="42672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3A2B25"/>
                </a:solidFill>
                <a:latin typeface="Arial"/>
                <a:ea typeface="Arial"/>
              </a:rPr>
              <a:t>The handoff is the constraint.</a:t>
            </a:r>
            <a:endParaRPr lang="en-US"/>
          </a:p>
        </p:txBody>
      </p:sp>
      <p:sp>
        <p:nvSpPr>
          <p:cNvPr id="16" name="close-number-2"/>
          <p:cNvSpPr txBox="1"/>
          <p:nvPr/>
        </p:nvSpPr>
        <p:spPr>
          <a:xfrm xmlns:a="http://schemas.openxmlformats.org/drawingml/2006/main">
            <a:off x="1104900" y="5314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C96B35"/>
                </a:solidFill>
                <a:latin typeface="Arial"/>
                <a:ea typeface="Arial"/>
              </a:rPr>
              <a:t>03</a:t>
            </a:r>
            <a:endParaRPr lang="en-US"/>
          </a:p>
        </p:txBody>
      </p:sp>
      <p:sp>
        <p:nvSpPr>
          <p:cNvPr id="17" name="close-row-rule-2"/>
          <p:cNvSpPr/>
          <p:nvPr/>
        </p:nvSpPr>
        <p:spPr>
          <a:xfrm xmlns:a="http://schemas.openxmlformats.org/drawingml/2006/main">
            <a:off x="2000250" y="54673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C96B3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close-label-2"/>
          <p:cNvSpPr txBox="1"/>
          <p:nvPr/>
        </p:nvSpPr>
        <p:spPr>
          <a:xfrm xmlns:a="http://schemas.openxmlformats.org/drawingml/2006/main">
            <a:off x="2114550" y="527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3A2B25"/>
                </a:solidFill>
                <a:latin typeface="Arial"/>
                <a:ea typeface="Arial"/>
              </a:rPr>
              <a:t>Next</a:t>
            </a:r>
            <a:endParaRPr lang="en-US"/>
          </a:p>
        </p:txBody>
      </p:sp>
      <p:sp>
        <p:nvSpPr>
          <p:cNvPr id="19" name="close-text-2"/>
          <p:cNvSpPr txBox="1"/>
          <p:nvPr/>
        </p:nvSpPr>
        <p:spPr>
          <a:xfrm xmlns:a="http://schemas.openxmlformats.org/drawingml/2006/main">
            <a:off x="4495800" y="53149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3A2B25"/>
                </a:solidFill>
                <a:latin typeface="Arial"/>
                <a:ea typeface="Arial"/>
              </a:rPr>
              <a:t>Name the owner today.</a:t>
            </a:r>
            <a:endParaRPr lang="en-US"/>
          </a:p>
        </p:txBody>
      </p:sp>
      <p:sp>
        <p:nvSpPr>
          <p:cNvPr id="20" name="next-panel"/>
          <p:cNvSpPr/>
          <p:nvPr/>
        </p:nvSpPr>
        <p:spPr>
          <a:xfrm xmlns:a="http://schemas.openxmlformats.org/drawingml/2006/main">
            <a:off x="10668000" y="3238500"/>
            <a:ext cx="3238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B35"/>
          </a:solidFill>
          <a:ln xmlns:a="http://schemas.openxmlformats.org/drawingml/2006/main" w="0">
            <a:solidFill>
              <a:srgbClr val="C96B3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next-label"/>
          <p:cNvSpPr txBox="1"/>
          <p:nvPr/>
        </p:nvSpPr>
        <p:spPr>
          <a:xfrm xmlns:a="http://schemas.openxmlformats.org/drawingml/2006/main">
            <a:off x="11049000" y="3562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FFFFFF"/>
                </a:solidFill>
                <a:latin typeface="Arial"/>
                <a:ea typeface="Arial"/>
              </a:rPr>
              <a:t>NEXT MOVE</a:t>
            </a:r>
            <a:endParaRPr lang="en-US"/>
          </a:p>
        </p:txBody>
      </p:sp>
      <p:sp>
        <p:nvSpPr>
          <p:cNvPr id="22" name="next-text"/>
          <p:cNvSpPr txBox="1"/>
          <p:nvPr/>
        </p:nvSpPr>
        <p:spPr>
          <a:xfrm xmlns:a="http://schemas.openxmlformats.org/drawingml/2006/main">
            <a:off x="11049000" y="40386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FFFFFF"/>
                </a:solidFill>
                <a:latin typeface="Arial"/>
                <a:ea typeface="Arial"/>
              </a:rPr>
              <a:t>Assign the handoff</a:t>
            </a:r>
            <a:endParaRPr lang="en-US"/>
          </a:p>
        </p:txBody>
      </p:sp>
      <p:sp>
        <p:nvSpPr>
          <p:cNvPr id="23" name="next-foot"/>
          <p:cNvSpPr txBox="1"/>
          <p:nvPr/>
        </p:nvSpPr>
        <p:spPr>
          <a:xfrm xmlns:a="http://schemas.openxmlformats.org/drawingml/2006/main">
            <a:off x="11049000" y="5048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FFFFFF"/>
                </a:solidFill>
                <a:latin typeface="Arial"/>
                <a:ea typeface="Arial"/>
              </a:rPr>
              <a:t>Owner · reviewer · date</a:t>
            </a:r>
            <a:endParaRPr lang="en-US"/>
          </a:p>
        </p:txBody>
      </p:sp>
      <p:sp>
        <p:nvSpPr>
          <p:cNvPr id="24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B8F86"/>
                </a:solidFill>
                <a:latin typeface="Arial"/>
                <a:ea typeface="Arial"/>
              </a:rPr>
              <a:t>OfficeKit original clean-room calibration · reference deck is editable and inspectable</a:t>
            </a:r>
            <a:endParaRPr lang="en-US"/>
          </a:p>
        </p:txBody>
      </p:sp>
      <p:sp>
        <p:nvSpPr>
          <p:cNvPr id="25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B8F86"/>
                </a:solidFill>
                <a:latin typeface="Arial"/>
                <a:ea typeface="Arial"/>
              </a:rPr>
              <a:t>6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