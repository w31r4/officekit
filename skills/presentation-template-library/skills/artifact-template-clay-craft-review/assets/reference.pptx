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9fca2669ec74c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e4bd683f73b7a543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e433c83ef31049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2.xml" Id="Rd7b29ded817a4d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by cohort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C96B35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51</c:v>
              </c:pt>
              <c:pt idx="2">
                <c:v>58</c:v>
              </c:pt>
              <c:pt idx="3">
                <c:v>64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B8F86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43</c:v>
              </c:pt>
              <c:pt idx="2">
                <c:v>45</c:v>
              </c:pt>
              <c:pt idx="3">
                <c:v>47</c:v>
              </c:pt>
              <c:pt idx="4">
                <c:v>48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Signal carried by the evidence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Observed</c:v>
          </c:tx>
          <c:spPr>
            <a:solidFill>
              <a:srgbClr val="C96B35"/>
            </a:solidFill>
          </c:spPr>
          <c:cat>
            <c:strLit>
              <c:ptCount val="5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</c:strLit>
          </c:cat>
          <c:val>
            <c:numLit>
              <c:formatCode>General</c:formatCode>
              <c:ptCount val="5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B8F86"/>
            </a:solidFill>
          </c:spPr>
          <c:cat>
            <c:strLit>
              <c:ptCount val="5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</c:strLit>
          </c:cat>
          <c:val>
            <c:numLit>
              <c:formatCode>General</c:formatCode>
              <c:ptCount val="5"/>
              <c:pt idx="0">
                <c:v>32</c:v>
              </c:pt>
              <c:pt idx="1">
                <c:v>36</c:v>
              </c:pt>
              <c:pt idx="2">
                <c:v>40</c:v>
              </c:pt>
              <c:pt idx="3">
                <c:v>44</c:v>
              </c:pt>
              <c:pt idx="4">
                <c:v>49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artifact-template-clay-craft-review-cover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e4bd683f73b7a543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>
              <a:alpha val="100000"/>
            </a:srgbClr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WORK · OFFICEKIT CALIBRATION</a:t>
            </a:r>
            <a:endParaRPr lang="en-US"/>
          </a:p>
        </p:txBody>
      </p:sp>
      <p:sp>
        <p:nvSpPr>
          <p:cNvPr id="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3A2B25"/>
                </a:solidFill>
                <a:latin typeface="Arial"/>
                <a:ea typeface="Arial"/>
              </a:rPr>
              <a:t>Clay Craft Review: a claim worth testing</a:t>
            </a:r>
            <a:endParaRPr lang="en-US"/>
          </a:p>
        </p:txBody>
      </p:sp>
      <p:sp>
        <p:nvSpPr>
          <p:cNvPr id="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C96B35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A2B25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1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A2B25"/>
                </a:solidFill>
                <a:latin typeface="Arial"/>
                <a:ea typeface="Arial"/>
              </a:rPr>
              <a:t>A visible operating signal creates a shared next action.</a:t>
            </a:r>
            <a:endParaRPr lang="en-US"/>
          </a:p>
        </p:txBody>
      </p:sp>
      <p:sp>
        <p:nvSpPr>
          <p:cNvPr id="1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127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A2B2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One operating constraint should own the page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Status, cause, owner, and date make the next operational move visible.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work-status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96B35"/>
                </a:solidFill>
                <a:latin typeface="Arial"/>
                <a:ea typeface="Arial"/>
              </a:rPr>
              <a:t>OPERATING SIGNAL</a:t>
            </a:r>
            <a:endParaRPr lang="en-US"/>
          </a:p>
        </p:txBody>
      </p:sp>
      <p:sp>
        <p:nvSpPr>
          <p:cNvPr id="9" name="work-headline"/>
          <p:cNvSpPr txBox="1"/>
          <p:nvPr/>
        </p:nvSpPr>
        <p:spPr>
          <a:xfrm xmlns:a="http://schemas.openxmlformats.org/drawingml/2006/main">
            <a:off x="1104900" y="3790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3A2B25"/>
                </a:solidFill>
                <a:latin typeface="Arial"/>
                <a:ea typeface="Arial"/>
              </a:rPr>
              <a:t>The queue is healthy; the handoff is not.</a:t>
            </a:r>
            <a:endParaRPr lang="en-US"/>
          </a:p>
        </p:txBody>
      </p:sp>
      <p:sp>
        <p:nvSpPr>
          <p:cNvPr id="10" name="work-body"/>
          <p:cNvSpPr txBox="1"/>
          <p:nvPr/>
        </p:nvSpPr>
        <p:spPr>
          <a:xfrm xmlns:a="http://schemas.openxmlformats.org/drawingml/2006/main">
            <a:off x="1104900" y="4762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3A2B25"/>
                </a:solidFill>
                <a:latin typeface="Arial"/>
                <a:ea typeface="Arial"/>
              </a:rPr>
              <a:t>Three visible signals point to one owner and one date.</a:t>
            </a:r>
            <a:endParaRPr lang="en-US"/>
          </a:p>
        </p:txBody>
      </p:sp>
      <p:sp>
        <p:nvSpPr>
          <p:cNvPr id="11" name="work-rail"/>
          <p:cNvSpPr/>
          <p:nvPr/>
        </p:nvSpPr>
        <p:spPr>
          <a:xfrm xmlns:a="http://schemas.openxmlformats.org/drawingml/2006/main">
            <a:off x="10001250" y="3333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work-num-0"/>
          <p:cNvSpPr txBox="1"/>
          <p:nvPr/>
        </p:nvSpPr>
        <p:spPr>
          <a:xfrm xmlns:a="http://schemas.openxmlformats.org/drawingml/2006/main">
            <a:off x="1047750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C96B35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3" name="work-label-0"/>
          <p:cNvSpPr txBox="1"/>
          <p:nvPr/>
        </p:nvSpPr>
        <p:spPr>
          <a:xfrm xmlns:a="http://schemas.openxmlformats.org/drawingml/2006/main">
            <a:off x="1114425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3A2B25"/>
                </a:solidFill>
                <a:latin typeface="Arial"/>
                <a:ea typeface="Arial"/>
              </a:rPr>
              <a:t>Queue</a:t>
            </a:r>
            <a:endParaRPr lang="en-US"/>
          </a:p>
        </p:txBody>
      </p:sp>
      <p:sp>
        <p:nvSpPr>
          <p:cNvPr id="14" name="work-text-0"/>
          <p:cNvSpPr txBox="1"/>
          <p:nvPr/>
        </p:nvSpPr>
        <p:spPr>
          <a:xfrm xmlns:a="http://schemas.openxmlformats.org/drawingml/2006/main">
            <a:off x="12668250" y="3448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B8F86"/>
                </a:solidFill>
                <a:latin typeface="Arial"/>
                <a:ea typeface="Arial"/>
              </a:rPr>
              <a:t>On target</a:t>
            </a:r>
            <a:endParaRPr lang="en-US"/>
          </a:p>
        </p:txBody>
      </p:sp>
      <p:sp>
        <p:nvSpPr>
          <p:cNvPr id="15" name="work-num-1"/>
          <p:cNvSpPr txBox="1"/>
          <p:nvPr/>
        </p:nvSpPr>
        <p:spPr>
          <a:xfrm xmlns:a="http://schemas.openxmlformats.org/drawingml/2006/main">
            <a:off x="10477500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C96B35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work-label-1"/>
          <p:cNvSpPr txBox="1"/>
          <p:nvPr/>
        </p:nvSpPr>
        <p:spPr>
          <a:xfrm xmlns:a="http://schemas.openxmlformats.org/drawingml/2006/main">
            <a:off x="11144250" y="4229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3A2B25"/>
                </a:solidFill>
                <a:latin typeface="Arial"/>
                <a:ea typeface="Arial"/>
              </a:rPr>
              <a:t>Handoff</a:t>
            </a:r>
            <a:endParaRPr lang="en-US"/>
          </a:p>
        </p:txBody>
      </p:sp>
      <p:sp>
        <p:nvSpPr>
          <p:cNvPr id="17" name="work-text-1"/>
          <p:cNvSpPr txBox="1"/>
          <p:nvPr/>
        </p:nvSpPr>
        <p:spPr>
          <a:xfrm xmlns:a="http://schemas.openxmlformats.org/drawingml/2006/main">
            <a:off x="126682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C96B35"/>
                </a:solidFill>
                <a:latin typeface="Arial"/>
                <a:ea typeface="Arial"/>
              </a:rPr>
              <a:t>At risk</a:t>
            </a:r>
            <a:endParaRPr lang="en-US"/>
          </a:p>
        </p:txBody>
      </p:sp>
      <p:sp>
        <p:nvSpPr>
          <p:cNvPr id="18" name="work-num-2"/>
          <p:cNvSpPr txBox="1"/>
          <p:nvPr/>
        </p:nvSpPr>
        <p:spPr>
          <a:xfrm xmlns:a="http://schemas.openxmlformats.org/drawingml/2006/main">
            <a:off x="10477500" y="50101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C96B35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9" name="work-label-2"/>
          <p:cNvSpPr txBox="1"/>
          <p:nvPr/>
        </p:nvSpPr>
        <p:spPr>
          <a:xfrm xmlns:a="http://schemas.openxmlformats.org/drawingml/2006/main">
            <a:off x="111442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3A2B25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20" name="work-text-2"/>
          <p:cNvSpPr txBox="1"/>
          <p:nvPr/>
        </p:nvSpPr>
        <p:spPr>
          <a:xfrm xmlns:a="http://schemas.openxmlformats.org/drawingml/2006/main">
            <a:off x="1266825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B8F86"/>
                </a:solidFill>
                <a:latin typeface="Arial"/>
                <a:ea typeface="Arial"/>
              </a:rPr>
              <a:t>Named</a:t>
            </a:r>
            <a:endParaRPr lang="en-US"/>
          </a:p>
        </p:txBody>
      </p:sp>
      <p:sp>
        <p:nvSpPr>
          <p:cNvPr id="21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The operating signal improves while the exception stays visible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Illustrative operations ledger · current state, target, and exception share one frame.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33c83ef3104923"/>
          </a:graphicData>
        </a:graphic>
      </p:graphicFrame>
      <p:sp>
        <p:nvSpPr>
          <p:cNvPr id="9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C96B35"/>
                </a:solidFill>
                <a:latin typeface="Arial"/>
                <a:ea typeface="Arial"/>
              </a:rPr>
              <a:t>68</a:t>
            </a:r>
            <a:endParaRPr lang="en-US"/>
          </a:p>
        </p:txBody>
      </p:sp>
      <p:sp>
        <p:nvSpPr>
          <p:cNvPr id="10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service attainment · current week</a:t>
            </a:r>
            <a:endParaRPr lang="en-US"/>
          </a:p>
        </p:txBody>
      </p:sp>
      <p:sp>
        <p:nvSpPr>
          <p:cNvPr id="11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3A2B25"/>
                </a:solidFill>
                <a:latin typeface="Arial"/>
                <a:ea typeface="Arial"/>
              </a:rPr>
              <a:t>The queue is healthy; the handoff needs a named owner before the next review.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3A2B25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The gap becomes useful when it has an owner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Target, current state and exception share a single operating frame.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operating-label-0"/>
          <p:cNvSpPr txBox="1"/>
          <p:nvPr/>
        </p:nvSpPr>
        <p:spPr>
          <a:xfrm xmlns:a="http://schemas.openxmlformats.org/drawingml/2006/main">
            <a:off x="11049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B8F86"/>
                </a:solidFill>
                <a:latin typeface="Arial"/>
                <a:ea typeface="Arial"/>
              </a:rPr>
              <a:t>NOW</a:t>
            </a:r>
            <a:endParaRPr lang="en-US"/>
          </a:p>
        </p:txBody>
      </p:sp>
      <p:sp>
        <p:nvSpPr>
          <p:cNvPr id="9" name="operating-bar-0"/>
          <p:cNvSpPr/>
          <p:nvPr/>
        </p:nvSpPr>
        <p:spPr>
          <a:xfrm xmlns:a="http://schemas.openxmlformats.org/drawingml/2006/main">
            <a:off x="11049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operating-fill-0"/>
          <p:cNvSpPr/>
          <p:nvPr/>
        </p:nvSpPr>
        <p:spPr>
          <a:xfrm xmlns:a="http://schemas.openxmlformats.org/drawingml/2006/main">
            <a:off x="1104900" y="384810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operating-value-0"/>
          <p:cNvSpPr txBox="1"/>
          <p:nvPr/>
        </p:nvSpPr>
        <p:spPr>
          <a:xfrm xmlns:a="http://schemas.openxmlformats.org/drawingml/2006/main">
            <a:off x="11049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3A2B25"/>
                </a:solidFill>
                <a:latin typeface="Arial"/>
                <a:ea typeface="Arial"/>
              </a:rPr>
              <a:t>54%</a:t>
            </a:r>
            <a:endParaRPr lang="en-US"/>
          </a:p>
        </p:txBody>
      </p:sp>
      <p:sp>
        <p:nvSpPr>
          <p:cNvPr id="12" name="operating-label-1"/>
          <p:cNvSpPr txBox="1"/>
          <p:nvPr/>
        </p:nvSpPr>
        <p:spPr>
          <a:xfrm xmlns:a="http://schemas.openxmlformats.org/drawingml/2006/main">
            <a:off x="379095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B8F86"/>
                </a:solidFill>
                <a:latin typeface="Arial"/>
                <a:ea typeface="Arial"/>
              </a:rPr>
              <a:t>TARGET</a:t>
            </a:r>
            <a:endParaRPr lang="en-US"/>
          </a:p>
        </p:txBody>
      </p:sp>
      <p:sp>
        <p:nvSpPr>
          <p:cNvPr id="13" name="operating-bar-1"/>
          <p:cNvSpPr/>
          <p:nvPr/>
        </p:nvSpPr>
        <p:spPr>
          <a:xfrm xmlns:a="http://schemas.openxmlformats.org/drawingml/2006/main">
            <a:off x="379095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operating-fill-1"/>
          <p:cNvSpPr/>
          <p:nvPr/>
        </p:nvSpPr>
        <p:spPr>
          <a:xfrm xmlns:a="http://schemas.openxmlformats.org/drawingml/2006/main">
            <a:off x="3790950" y="3848100"/>
            <a:ext cx="1590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A0"/>
          </a:solidFill>
          <a:ln xmlns:a="http://schemas.openxmlformats.org/drawingml/2006/main" w="0">
            <a:solidFill>
              <a:srgbClr val="D89A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operating-value-1"/>
          <p:cNvSpPr txBox="1"/>
          <p:nvPr/>
        </p:nvSpPr>
        <p:spPr>
          <a:xfrm xmlns:a="http://schemas.openxmlformats.org/drawingml/2006/main">
            <a:off x="379095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3A2B25"/>
                </a:solidFill>
                <a:latin typeface="Arial"/>
                <a:ea typeface="Arial"/>
              </a:rPr>
              <a:t>76%</a:t>
            </a:r>
            <a:endParaRPr lang="en-US"/>
          </a:p>
        </p:txBody>
      </p:sp>
      <p:sp>
        <p:nvSpPr>
          <p:cNvPr id="16" name="operating-label-2"/>
          <p:cNvSpPr txBox="1"/>
          <p:nvPr/>
        </p:nvSpPr>
        <p:spPr>
          <a:xfrm xmlns:a="http://schemas.openxmlformats.org/drawingml/2006/main">
            <a:off x="64770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B8F86"/>
                </a:solidFill>
                <a:latin typeface="Arial"/>
                <a:ea typeface="Arial"/>
              </a:rPr>
              <a:t>GAP</a:t>
            </a:r>
            <a:endParaRPr lang="en-US"/>
          </a:p>
        </p:txBody>
      </p:sp>
      <p:sp>
        <p:nvSpPr>
          <p:cNvPr id="17" name="operating-bar-2"/>
          <p:cNvSpPr/>
          <p:nvPr/>
        </p:nvSpPr>
        <p:spPr>
          <a:xfrm xmlns:a="http://schemas.openxmlformats.org/drawingml/2006/main">
            <a:off x="64770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operating-fill-2"/>
          <p:cNvSpPr/>
          <p:nvPr/>
        </p:nvSpPr>
        <p:spPr>
          <a:xfrm xmlns:a="http://schemas.openxmlformats.org/drawingml/2006/main">
            <a:off x="6477000" y="38481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25"/>
          </a:solidFill>
          <a:ln xmlns:a="http://schemas.openxmlformats.org/drawingml/2006/main" w="0">
            <a:solidFill>
              <a:srgbClr val="3A2B2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operating-value-2"/>
          <p:cNvSpPr txBox="1"/>
          <p:nvPr/>
        </p:nvSpPr>
        <p:spPr>
          <a:xfrm xmlns:a="http://schemas.openxmlformats.org/drawingml/2006/main">
            <a:off x="64770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3A2B25"/>
                </a:solidFill>
                <a:latin typeface="Arial"/>
                <a:ea typeface="Arial"/>
              </a:rPr>
              <a:t>22%</a:t>
            </a:r>
            <a:endParaRPr lang="en-US"/>
          </a:p>
        </p:txBody>
      </p:sp>
      <p:sp>
        <p:nvSpPr>
          <p:cNvPr id="20" name="operating-axis"/>
          <p:cNvSpPr/>
          <p:nvPr/>
        </p:nvSpPr>
        <p:spPr>
          <a:xfrm xmlns:a="http://schemas.openxmlformats.org/drawingml/2006/main">
            <a:off x="1104900" y="53340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operating-read"/>
          <p:cNvSpPr txBox="1"/>
          <p:nvPr/>
        </p:nvSpPr>
        <p:spPr>
          <a:xfrm xmlns:a="http://schemas.openxmlformats.org/drawingml/2006/main">
            <a:off x="1104900" y="5657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A2B25"/>
                </a:solidFill>
                <a:latin typeface="Arial"/>
                <a:ea typeface="Arial"/>
              </a:rPr>
              <a:t>Status is useful only when the next handoff is visible.</a:t>
            </a:r>
            <a:endParaRPr lang="en-US"/>
          </a:p>
        </p:txBody>
      </p:sp>
      <p:sp>
        <p:nvSpPr>
          <p:cNvPr id="22" name="operating-note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96B35"/>
                </a:solidFill>
                <a:latin typeface="Arial"/>
                <a:ea typeface="Arial"/>
              </a:rPr>
              <a:t>EXCEPTION</a:t>
            </a:r>
            <a:endParaRPr lang="en-US"/>
          </a:p>
        </p:txBody>
      </p:sp>
      <p:sp>
        <p:nvSpPr>
          <p:cNvPr id="23" name="operating-note"/>
          <p:cNvSpPr txBox="1"/>
          <p:nvPr/>
        </p:nvSpPr>
        <p:spPr>
          <a:xfrm xmlns:a="http://schemas.openxmlformats.org/drawingml/2006/main">
            <a:off x="10287000" y="3829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3A2B25"/>
                </a:solidFill>
                <a:latin typeface="Arial"/>
                <a:ea typeface="Arial"/>
              </a:rPr>
              <a:t>The gap is not a decoration; it is the work.</a:t>
            </a:r>
            <a:endParaRPr lang="en-US"/>
          </a:p>
        </p:txBody>
      </p:sp>
      <p:sp>
        <p:nvSpPr>
          <p:cNvPr id="24" name="operating-note-foot"/>
          <p:cNvSpPr txBox="1"/>
          <p:nvPr/>
        </p:nvSpPr>
        <p:spPr>
          <a:xfrm xmlns:a="http://schemas.openxmlformats.org/drawingml/2006/main">
            <a:off x="10287000" y="5010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B8F86"/>
                </a:solidFill>
                <a:latin typeface="Arial"/>
                <a:ea typeface="Arial"/>
              </a:rPr>
              <a:t>A healthy page names the owner and the next date.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Show the operating shape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An operating page should reveal the shape of the work, not decorate the status.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visual-field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7429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b29ded817a4d75"/>
          </a:graphicData>
        </a:graphic>
      </p:graphicFrame>
      <p:sp>
        <p:nvSpPr>
          <p:cNvPr id="9" name="visual-note"/>
          <p:cNvSpPr/>
          <p:nvPr/>
        </p:nvSpPr>
        <p:spPr>
          <a:xfrm xmlns:a="http://schemas.openxmlformats.org/drawingml/2006/main">
            <a:off x="8858250" y="3333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note-label"/>
          <p:cNvSpPr txBox="1"/>
          <p:nvPr/>
        </p:nvSpPr>
        <p:spPr>
          <a:xfrm xmlns:a="http://schemas.openxmlformats.org/drawingml/2006/main">
            <a:off x="9239250" y="3695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96B35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11" name="visual-note-text"/>
          <p:cNvSpPr txBox="1"/>
          <p:nvPr/>
        </p:nvSpPr>
        <p:spPr>
          <a:xfrm xmlns:a="http://schemas.openxmlformats.org/drawingml/2006/main">
            <a:off x="9239250" y="41719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3A2B25"/>
                </a:solidFill>
                <a:latin typeface="Arial"/>
                <a:ea typeface="Arial"/>
              </a:rPr>
              <a:t>Exception before polish</a:t>
            </a:r>
            <a:endParaRPr lang="en-US"/>
          </a:p>
        </p:txBody>
      </p:sp>
      <p:sp>
        <p:nvSpPr>
          <p:cNvPr id="12" name="visual-note-foot"/>
          <p:cNvSpPr txBox="1"/>
          <p:nvPr/>
        </p:nvSpPr>
        <p:spPr>
          <a:xfrm xmlns:a="http://schemas.openxmlformats.org/drawingml/2006/main">
            <a:off x="92392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B8F86"/>
                </a:solidFill>
                <a:latin typeface="Arial"/>
                <a:ea typeface="Arial"/>
              </a:rPr>
              <a:t>Crop, contrast and source role are reviewed before delivery.</a:t>
            </a:r>
            <a:endParaRPr lang="en-US"/>
          </a:p>
        </p:txBody>
      </p:sp>
      <p:sp>
        <p:nvSpPr>
          <p:cNvPr id="1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0"/>
          </a:solidFill>
          <a:ln xmlns:a="http://schemas.openxmlformats.org/drawingml/2006/main" w="0">
            <a:solidFill>
              <a:srgbClr val="F4ECE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AY CRAFT REVIEW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6B35"/>
                </a:solidFill>
                <a:latin typeface="Arial"/>
                <a:ea typeface="Arial"/>
              </a:rPr>
              <a:t>CLAY CRAFT REVIEW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3A2B25"/>
                </a:solidFill>
                <a:latin typeface="Arial"/>
                <a:ea typeface="Arial"/>
              </a:rPr>
              <a:t>Make the owner and the next date impossible to miss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B8F86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C96B35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3A2B25"/>
                </a:solidFill>
                <a:latin typeface="Arial"/>
                <a:ea typeface="Arial"/>
              </a:rPr>
              <a:t>Status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A2B25"/>
                </a:solidFill>
                <a:latin typeface="Arial"/>
                <a:ea typeface="Arial"/>
              </a:rPr>
              <a:t>The queue is on target.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A2B25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B8F8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3A2B25"/>
                </a:solidFill>
                <a:latin typeface="Arial"/>
                <a:ea typeface="Arial"/>
              </a:rPr>
              <a:t>Exception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A2B25"/>
                </a:solidFill>
                <a:latin typeface="Arial"/>
                <a:ea typeface="Arial"/>
              </a:rPr>
              <a:t>The handoff is the constraint.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C96B35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3A2B25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A2B25"/>
                </a:solidFill>
                <a:latin typeface="Arial"/>
                <a:ea typeface="Arial"/>
              </a:rPr>
              <a:t>Name the owner today.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5"/>
          </a:solidFill>
          <a:ln xmlns:a="http://schemas.openxmlformats.org/drawingml/2006/main" w="0">
            <a:solidFill>
              <a:srgbClr val="C96B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Assign the handoff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B8F86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