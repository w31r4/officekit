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670eda39b1547a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b4e39f1eccfa545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cb4e39f1eccfa54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>
              <a:alpha val="100000"/>
            </a:srgbClr>
          </a:solidFill>
          <a:ln xmlns:a="http://schemas.openxmlformats.org/drawingml/2006/main" w="0">
            <a:solidFill>
              <a:srgbClr val="F4EC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96B35"/>
                </a:solidFill>
                <a:latin typeface="Arial"/>
                <a:ea typeface="Arial"/>
              </a:rPr>
              <a:t>WORK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3A2B25"/>
                </a:solidFill>
                <a:latin typeface="Arial"/>
                <a:ea typeface="Arial"/>
              </a:rPr>
              <a:t>Clay Craft Review: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C96B35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A2B25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A2B25"/>
                </a:solidFill>
                <a:latin typeface="Arial"/>
                <a:ea typeface="Arial"/>
              </a:rPr>
              <a:t>A visible operating signal creates a shared next action.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3A2B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0">
            <a:solidFill>
              <a:srgbClr val="F4EC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LAY CRAFT REVIEW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96B35"/>
                </a:solidFill>
                <a:latin typeface="Arial"/>
                <a:ea typeface="Arial"/>
              </a:rPr>
              <a:t>CLAY CRAFT REVIEW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3A2B25"/>
                </a:solidFill>
                <a:latin typeface="Arial"/>
                <a:ea typeface="Arial"/>
              </a:rPr>
              <a:t>One operating constraint should own the page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B8F86"/>
                </a:solidFill>
                <a:latin typeface="Arial"/>
                <a:ea typeface="Arial"/>
              </a:rPr>
              <a:t>Status, cause, owner, and date make the next operational move visible.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96B35"/>
                </a:solidFill>
                <a:latin typeface="Arial"/>
                <a:ea typeface="Arial"/>
              </a:rPr>
              <a:t>OPERATING SIGNAL</a:t>
            </a:r>
            <a:endParaRPr lang="en-US"/>
          </a:p>
        </p:txBody>
      </p:sp>
      <p:sp>
        <p:nvSpPr>
          <p:cNvPr id="9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3A2B25"/>
                </a:solidFill>
                <a:latin typeface="Arial"/>
                <a:ea typeface="Arial"/>
              </a:rPr>
              <a:t>The queue is healthy; the handoff is not.</a:t>
            </a:r>
            <a:endParaRPr lang="en-US"/>
          </a:p>
        </p:txBody>
      </p:sp>
      <p:sp>
        <p:nvSpPr>
          <p:cNvPr id="10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3A2B25"/>
                </a:solidFill>
                <a:latin typeface="Arial"/>
                <a:ea typeface="Arial"/>
              </a:rPr>
              <a:t>Three visible signals point to one owner and one date.</a:t>
            </a:r>
            <a:endParaRPr lang="en-US"/>
          </a:p>
        </p:txBody>
      </p:sp>
      <p:sp>
        <p:nvSpPr>
          <p:cNvPr id="11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C96B35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3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3A2B25"/>
                </a:solidFill>
                <a:latin typeface="Arial"/>
                <a:ea typeface="Arial"/>
              </a:rPr>
              <a:t>Queue</a:t>
            </a:r>
            <a:endParaRPr lang="en-US"/>
          </a:p>
        </p:txBody>
      </p:sp>
      <p:sp>
        <p:nvSpPr>
          <p:cNvPr id="14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B8F86"/>
                </a:solidFill>
                <a:latin typeface="Arial"/>
                <a:ea typeface="Arial"/>
              </a:rPr>
              <a:t>On target</a:t>
            </a:r>
            <a:endParaRPr lang="en-US"/>
          </a:p>
        </p:txBody>
      </p:sp>
      <p:sp>
        <p:nvSpPr>
          <p:cNvPr id="15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C96B35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3A2B25"/>
                </a:solidFill>
                <a:latin typeface="Arial"/>
                <a:ea typeface="Arial"/>
              </a:rPr>
              <a:t>Handoff</a:t>
            </a:r>
            <a:endParaRPr lang="en-US"/>
          </a:p>
        </p:txBody>
      </p:sp>
      <p:sp>
        <p:nvSpPr>
          <p:cNvPr id="17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C96B35"/>
                </a:solidFill>
                <a:latin typeface="Arial"/>
                <a:ea typeface="Arial"/>
              </a:rPr>
              <a:t>At risk</a:t>
            </a:r>
            <a:endParaRPr lang="en-US"/>
          </a:p>
        </p:txBody>
      </p:sp>
      <p:sp>
        <p:nvSpPr>
          <p:cNvPr id="18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C96B35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3A2B25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0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B8F86"/>
                </a:solidFill>
                <a:latin typeface="Arial"/>
                <a:ea typeface="Arial"/>
              </a:rPr>
              <a:t>Named</a:t>
            </a:r>
            <a:endParaRPr lang="en-US"/>
          </a:p>
        </p:txBody>
      </p:sp>
      <p:sp>
        <p:nvSpPr>
          <p:cNvPr id="2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0">
            <a:solidFill>
              <a:srgbClr val="F4EC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LAY CRAFT REVIEW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96B35"/>
                </a:solidFill>
                <a:latin typeface="Arial"/>
                <a:ea typeface="Arial"/>
              </a:rPr>
              <a:t>CLAY CRAFT REVIEW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3A2B25"/>
                </a:solidFill>
                <a:latin typeface="Arial"/>
                <a:ea typeface="Arial"/>
              </a:rPr>
              <a:t>The operating signal improves while the exception stays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B8F86"/>
                </a:solidFill>
                <a:latin typeface="Arial"/>
                <a:ea typeface="Arial"/>
              </a:rPr>
              <a:t>Illustrative operations ledger · current state, target, and exception share one frame.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timeline-label"/>
          <p:cNvSpPr txBox="1"/>
          <p:nvPr/>
        </p:nvSpPr>
        <p:spPr>
          <a:xfrm xmlns:a="http://schemas.openxmlformats.org/drawingml/2006/main">
            <a:off x="1066800" y="3238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96B35"/>
                </a:solidFill>
                <a:latin typeface="Arial"/>
                <a:ea typeface="Arial"/>
              </a:rPr>
              <a:t>EVOLUTION / TRANSITION</a:t>
            </a:r>
            <a:endParaRPr lang="en-US"/>
          </a:p>
        </p:txBody>
      </p:sp>
      <p:sp>
        <p:nvSpPr>
          <p:cNvPr id="9" name="timeline-axis"/>
          <p:cNvSpPr/>
          <p:nvPr/>
        </p:nvSpPr>
        <p:spPr>
          <a:xfrm xmlns:a="http://schemas.openxmlformats.org/drawingml/2006/main">
            <a:off x="1219200" y="4762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timeline-node-0"/>
          <p:cNvSpPr/>
          <p:nvPr/>
        </p:nvSpPr>
        <p:spPr>
          <a:xfrm xmlns:a="http://schemas.openxmlformats.org/drawingml/2006/main">
            <a:off x="1066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25400">
            <a:solidFill>
              <a:srgbClr val="3A2B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timeline-number-0"/>
          <p:cNvSpPr txBox="1"/>
          <p:nvPr/>
        </p:nvSpPr>
        <p:spPr>
          <a:xfrm xmlns:a="http://schemas.openxmlformats.org/drawingml/2006/main">
            <a:off x="952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C96B35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2" name="timeline-label-0"/>
          <p:cNvSpPr txBox="1"/>
          <p:nvPr/>
        </p:nvSpPr>
        <p:spPr>
          <a:xfrm xmlns:a="http://schemas.openxmlformats.org/drawingml/2006/main">
            <a:off x="533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3A2B25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3" name="timeline-text-0"/>
          <p:cNvSpPr txBox="1"/>
          <p:nvPr/>
        </p:nvSpPr>
        <p:spPr>
          <a:xfrm xmlns:a="http://schemas.openxmlformats.org/drawingml/2006/main">
            <a:off x="323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4" name="timeline-node-1"/>
          <p:cNvSpPr/>
          <p:nvPr/>
        </p:nvSpPr>
        <p:spPr>
          <a:xfrm xmlns:a="http://schemas.openxmlformats.org/drawingml/2006/main">
            <a:off x="36385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25400">
            <a:solidFill>
              <a:srgbClr val="3A2B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timeline-number-1"/>
          <p:cNvSpPr txBox="1"/>
          <p:nvPr/>
        </p:nvSpPr>
        <p:spPr>
          <a:xfrm xmlns:a="http://schemas.openxmlformats.org/drawingml/2006/main">
            <a:off x="35242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C96B35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timeline-label-1"/>
          <p:cNvSpPr txBox="1"/>
          <p:nvPr/>
        </p:nvSpPr>
        <p:spPr>
          <a:xfrm xmlns:a="http://schemas.openxmlformats.org/drawingml/2006/main">
            <a:off x="31051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3A2B25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timeline-text-1"/>
          <p:cNvSpPr txBox="1"/>
          <p:nvPr/>
        </p:nvSpPr>
        <p:spPr>
          <a:xfrm xmlns:a="http://schemas.openxmlformats.org/drawingml/2006/main">
            <a:off x="28956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timeline-node-2"/>
          <p:cNvSpPr/>
          <p:nvPr/>
        </p:nvSpPr>
        <p:spPr>
          <a:xfrm xmlns:a="http://schemas.openxmlformats.org/drawingml/2006/main">
            <a:off x="62103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25400">
            <a:solidFill>
              <a:srgbClr val="3A2B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timeline-number-2"/>
          <p:cNvSpPr txBox="1"/>
          <p:nvPr/>
        </p:nvSpPr>
        <p:spPr>
          <a:xfrm xmlns:a="http://schemas.openxmlformats.org/drawingml/2006/main">
            <a:off x="60960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C96B35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0" name="timeline-label-2"/>
          <p:cNvSpPr txBox="1"/>
          <p:nvPr/>
        </p:nvSpPr>
        <p:spPr>
          <a:xfrm xmlns:a="http://schemas.openxmlformats.org/drawingml/2006/main">
            <a:off x="56769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3A2B25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1" name="timeline-text-2"/>
          <p:cNvSpPr txBox="1"/>
          <p:nvPr/>
        </p:nvSpPr>
        <p:spPr>
          <a:xfrm xmlns:a="http://schemas.openxmlformats.org/drawingml/2006/main">
            <a:off x="54673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2" name="timeline-node-3"/>
          <p:cNvSpPr/>
          <p:nvPr/>
        </p:nvSpPr>
        <p:spPr>
          <a:xfrm xmlns:a="http://schemas.openxmlformats.org/drawingml/2006/main">
            <a:off x="87820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25400">
            <a:solidFill>
              <a:srgbClr val="3A2B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imeline-number-3"/>
          <p:cNvSpPr txBox="1"/>
          <p:nvPr/>
        </p:nvSpPr>
        <p:spPr>
          <a:xfrm xmlns:a="http://schemas.openxmlformats.org/drawingml/2006/main">
            <a:off x="86677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C96B35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4" name="timeline-label-3"/>
          <p:cNvSpPr txBox="1"/>
          <p:nvPr/>
        </p:nvSpPr>
        <p:spPr>
          <a:xfrm xmlns:a="http://schemas.openxmlformats.org/drawingml/2006/main">
            <a:off x="82486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3A2B25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25" name="timeline-text-3"/>
          <p:cNvSpPr txBox="1"/>
          <p:nvPr/>
        </p:nvSpPr>
        <p:spPr>
          <a:xfrm xmlns:a="http://schemas.openxmlformats.org/drawingml/2006/main">
            <a:off x="80391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6" name="timeline-node-4"/>
          <p:cNvSpPr/>
          <p:nvPr/>
        </p:nvSpPr>
        <p:spPr>
          <a:xfrm xmlns:a="http://schemas.openxmlformats.org/drawingml/2006/main">
            <a:off x="11353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254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timeline-number-4"/>
          <p:cNvSpPr txBox="1"/>
          <p:nvPr/>
        </p:nvSpPr>
        <p:spPr>
          <a:xfrm xmlns:a="http://schemas.openxmlformats.org/drawingml/2006/main">
            <a:off x="11239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C96B35"/>
                </a:solidFill>
                <a:latin typeface="Arial"/>
                <a:ea typeface="Arial"/>
              </a:rPr>
              <a:t>05</a:t>
            </a:r>
            <a:endParaRPr lang="en-US"/>
          </a:p>
        </p:txBody>
      </p:sp>
      <p:sp>
        <p:nvSpPr>
          <p:cNvPr id="28" name="timeline-label-4"/>
          <p:cNvSpPr txBox="1"/>
          <p:nvPr/>
        </p:nvSpPr>
        <p:spPr>
          <a:xfrm xmlns:a="http://schemas.openxmlformats.org/drawingml/2006/main">
            <a:off x="10820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3A2B25"/>
                </a:solidFill>
                <a:latin typeface="Arial"/>
                <a:ea typeface="Arial"/>
              </a:rPr>
              <a:t>Scale</a:t>
            </a:r>
            <a:endParaRPr lang="en-US"/>
          </a:p>
        </p:txBody>
      </p:sp>
      <p:sp>
        <p:nvSpPr>
          <p:cNvPr id="29" name="timeline-text-4"/>
          <p:cNvSpPr txBox="1"/>
          <p:nvPr/>
        </p:nvSpPr>
        <p:spPr>
          <a:xfrm xmlns:a="http://schemas.openxmlformats.org/drawingml/2006/main">
            <a:off x="10610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Repeat what held</a:t>
            </a:r>
            <a:endParaRPr lang="en-US"/>
          </a:p>
        </p:txBody>
      </p:sp>
      <p:sp>
        <p:nvSpPr>
          <p:cNvPr id="30" name="timeline-read-label"/>
          <p:cNvSpPr txBox="1"/>
          <p:nvPr/>
        </p:nvSpPr>
        <p:spPr>
          <a:xfrm xmlns:a="http://schemas.openxmlformats.org/drawingml/2006/main">
            <a:off x="1066800" y="6667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C96B35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31" name="timeline-read"/>
          <p:cNvSpPr txBox="1"/>
          <p:nvPr/>
        </p:nvSpPr>
        <p:spPr>
          <a:xfrm xmlns:a="http://schemas.openxmlformats.org/drawingml/2006/main">
            <a:off x="3333750" y="66294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 b="1">
                <a:solidFill>
                  <a:srgbClr val="3A2B25"/>
                </a:solidFill>
                <a:latin typeface="Arial"/>
                <a:ea typeface="Arial"/>
              </a:rPr>
              <a:t>A sequence is useful when each handoff changes what can happen next.</a:t>
            </a:r>
            <a:endParaRPr lang="en-US"/>
          </a:p>
        </p:txBody>
      </p:sp>
      <p:sp>
        <p:nvSpPr>
          <p:cNvPr id="32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3A2B25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0">
            <a:solidFill>
              <a:srgbClr val="F4EC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LAY CRAFT REVIEW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96B35"/>
                </a:solidFill>
                <a:latin typeface="Arial"/>
                <a:ea typeface="Arial"/>
              </a:rPr>
              <a:t>CLAY CRAFT REVIEW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3A2B25"/>
                </a:solidFill>
                <a:latin typeface="Arial"/>
                <a:ea typeface="Arial"/>
              </a:rPr>
              <a:t>The gap becomes useful when it has an owner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B8F86"/>
                </a:solidFill>
                <a:latin typeface="Arial"/>
                <a:ea typeface="Arial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B8F86"/>
                </a:solidFill>
                <a:latin typeface="Arial"/>
                <a:ea typeface="Arial"/>
              </a:rPr>
              <a:t>NOW</a:t>
            </a:r>
            <a:endParaRPr lang="en-US"/>
          </a:p>
        </p:txBody>
      </p:sp>
      <p:sp>
        <p:nvSpPr>
          <p:cNvPr id="9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3A2B25"/>
                </a:solidFill>
                <a:latin typeface="Arial"/>
                <a:ea typeface="Arial"/>
              </a:rPr>
              <a:t>54%</a:t>
            </a:r>
            <a:endParaRPr lang="en-US"/>
          </a:p>
        </p:txBody>
      </p:sp>
      <p:sp>
        <p:nvSpPr>
          <p:cNvPr id="12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B8F86"/>
                </a:solidFill>
                <a:latin typeface="Arial"/>
                <a:ea typeface="Arial"/>
              </a:rPr>
              <a:t>TARGET</a:t>
            </a:r>
            <a:endParaRPr lang="en-US"/>
          </a:p>
        </p:txBody>
      </p:sp>
      <p:sp>
        <p:nvSpPr>
          <p:cNvPr id="13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A0"/>
          </a:solidFill>
          <a:ln xmlns:a="http://schemas.openxmlformats.org/drawingml/2006/main" w="0">
            <a:solidFill>
              <a:srgbClr val="D89A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3A2B25"/>
                </a:solidFill>
                <a:latin typeface="Arial"/>
                <a:ea typeface="Arial"/>
              </a:rPr>
              <a:t>76%</a:t>
            </a:r>
            <a:endParaRPr lang="en-US"/>
          </a:p>
        </p:txBody>
      </p:sp>
      <p:sp>
        <p:nvSpPr>
          <p:cNvPr id="16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B8F86"/>
                </a:solidFill>
                <a:latin typeface="Arial"/>
                <a:ea typeface="Arial"/>
              </a:rPr>
              <a:t>GAP</a:t>
            </a:r>
            <a:endParaRPr lang="en-US"/>
          </a:p>
        </p:txBody>
      </p:sp>
      <p:sp>
        <p:nvSpPr>
          <p:cNvPr id="17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2B25"/>
          </a:solidFill>
          <a:ln xmlns:a="http://schemas.openxmlformats.org/drawingml/2006/main" w="0">
            <a:solidFill>
              <a:srgbClr val="3A2B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3A2B25"/>
                </a:solidFill>
                <a:latin typeface="Arial"/>
                <a:ea typeface="Arial"/>
              </a:rPr>
              <a:t>22%</a:t>
            </a:r>
            <a:endParaRPr lang="en-US"/>
          </a:p>
        </p:txBody>
      </p:sp>
      <p:sp>
        <p:nvSpPr>
          <p:cNvPr id="20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A2B25"/>
                </a:solidFill>
                <a:latin typeface="Arial"/>
                <a:ea typeface="Arial"/>
              </a:rPr>
              <a:t>Status is useful only when the next handoff is visible.</a:t>
            </a:r>
            <a:endParaRPr lang="en-US"/>
          </a:p>
        </p:txBody>
      </p:sp>
      <p:sp>
        <p:nvSpPr>
          <p:cNvPr id="22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96B35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23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3A2B25"/>
                </a:solidFill>
                <a:latin typeface="Arial"/>
                <a:ea typeface="Arial"/>
              </a:rPr>
              <a:t>The gap is not a decoration; it is the work.</a:t>
            </a:r>
            <a:endParaRPr lang="en-US"/>
          </a:p>
        </p:txBody>
      </p:sp>
      <p:sp>
        <p:nvSpPr>
          <p:cNvPr id="24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B8F86"/>
                </a:solidFill>
                <a:latin typeface="Arial"/>
                <a:ea typeface="Arial"/>
              </a:rPr>
              <a:t>A healthy page names the owner and the next date.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0">
            <a:solidFill>
              <a:srgbClr val="F4EC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LAY CRAFT REVIEW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96B35"/>
                </a:solidFill>
                <a:latin typeface="Arial"/>
                <a:ea typeface="Arial"/>
              </a:rPr>
              <a:t>CLAY CRAFT REVIEW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3A2B25"/>
                </a:solidFill>
                <a:latin typeface="Arial"/>
                <a:ea typeface="Arial"/>
              </a:rPr>
              <a:t>Show the operating shape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B8F86"/>
                </a:solidFill>
                <a:latin typeface="Arial"/>
                <a:ea typeface="Arial"/>
              </a:rPr>
              <a:t>An operating page should reveal the shape of the work, not decorate the status.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38100">
            <a:solidFill>
              <a:srgbClr val="3A2B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C96B35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3A2B25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B8F86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38100">
            <a:solidFill>
              <a:srgbClr val="3A2B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C96B35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3A2B25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B8F86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38100">
            <a:solidFill>
              <a:srgbClr val="3A2B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C96B35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3A2B25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B8F86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381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3A2B25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B8F86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96B35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3A2B25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B8F86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96B35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3A2B25"/>
                </a:solidFill>
                <a:latin typeface="Arial"/>
                <a:ea typeface="Arial"/>
              </a:rPr>
              <a:t>Exception before polish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B8F86"/>
                </a:solidFill>
                <a:latin typeface="Arial"/>
                <a:ea typeface="Arial"/>
              </a:rPr>
              <a:t>Crop, contrast and source role are reviewed before delivery.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0">
            <a:solidFill>
              <a:srgbClr val="F4EC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LAY CRAFT REVIEW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96B35"/>
                </a:solidFill>
                <a:latin typeface="Arial"/>
                <a:ea typeface="Arial"/>
              </a:rPr>
              <a:t>CLAY CRAFT REVIEW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3A2B25"/>
                </a:solidFill>
                <a:latin typeface="Arial"/>
                <a:ea typeface="Arial"/>
              </a:rPr>
              <a:t>Make the owner and the next date impossible to miss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B8F86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C96B35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3A2B25"/>
                </a:solidFill>
                <a:latin typeface="Arial"/>
                <a:ea typeface="Arial"/>
              </a:rPr>
              <a:t>Status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A2B25"/>
                </a:solidFill>
                <a:latin typeface="Arial"/>
                <a:ea typeface="Arial"/>
              </a:rPr>
              <a:t>The queue is on target.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A2B25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3A2B25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A2B25"/>
                </a:solidFill>
                <a:latin typeface="Arial"/>
                <a:ea typeface="Arial"/>
              </a:rPr>
              <a:t>The handoff is the constraint.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C96B35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3A2B25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A2B25"/>
                </a:solidFill>
                <a:latin typeface="Arial"/>
                <a:ea typeface="Arial"/>
              </a:rPr>
              <a:t>Name the owner today.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