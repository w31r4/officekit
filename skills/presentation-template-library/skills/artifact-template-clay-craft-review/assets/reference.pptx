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83628370300487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59ee3aa5202fd02f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baabf7568410483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2.xml" Id="Rf71a9b1abbfd43c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C96B35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B8F86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Signal carried by the evidence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Observed</c:v>
          </c:tx>
          <c:spPr>
            <a:solidFill>
              <a:srgbClr val="C96B35"/>
            </a:solidFill>
          </c:spPr>
          <c:cat>
            <c:strLit>
              <c:ptCount val="5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</c:strLit>
          </c:cat>
          <c:val>
            <c:numLit>
              <c:formatCode>General</c:formatCode>
              <c:ptCount val="5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B8F86"/>
            </a:solidFill>
          </c:spPr>
          <c:cat>
            <c:strLit>
              <c:ptCount val="5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</c:strLit>
          </c:cat>
          <c:val>
            <c:numLit>
              <c:formatCode>General</c:formatCode>
              <c:ptCount val="5"/>
              <c:pt idx="0">
                <c:v>32</c:v>
              </c:pt>
              <c:pt idx="1">
                <c:v>36</c:v>
              </c:pt>
              <c:pt idx="2">
                <c:v>40</c:v>
              </c:pt>
              <c:pt idx="3">
                <c:v>44</c:v>
              </c:pt>
              <c:pt idx="4">
                <c:v>49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clay-craft-review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>
              <a:alpha val="100000"/>
            </a:srgbClr>
          </a:solidFill>
          <a:ln xmlns:a="http://schemas.openxmlformats.org/drawingml/2006/main" w="0">
            <a:solidFill>
              <a:srgbClr val="F4EC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96B35"/>
                </a:solidFill>
                <a:latin typeface="Arial"/>
                <a:ea typeface="Arial"/>
              </a:rPr>
              <a:t>WORK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3A2B25"/>
                </a:solidFill>
                <a:latin typeface="Arial"/>
                <a:ea typeface="Arial"/>
              </a:rPr>
              <a:t>Clay Craft Review: a claim worth testing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C96B35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A2B25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A2B25"/>
                </a:solidFill>
                <a:latin typeface="Arial"/>
                <a:ea typeface="Arial"/>
              </a:rPr>
              <a:t>A visible operating signal creates a shared next action.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127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3A2B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0">
            <a:solidFill>
              <a:srgbClr val="F4EC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LAY CRAFT REVIEW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96B35"/>
                </a:solidFill>
                <a:latin typeface="Arial"/>
                <a:ea typeface="Arial"/>
              </a:rPr>
              <a:t>CLAY CRAFT REVIEW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3A2B25"/>
                </a:solidFill>
                <a:latin typeface="Arial"/>
                <a:ea typeface="Arial"/>
              </a:rPr>
              <a:t>One operating constraint should own the page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B8F86"/>
                </a:solidFill>
                <a:latin typeface="Arial"/>
                <a:ea typeface="Arial"/>
              </a:rPr>
              <a:t>Status, cause, owner, and date make the next operational move visible.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96B35"/>
                </a:solidFill>
                <a:latin typeface="Arial"/>
                <a:ea typeface="Arial"/>
              </a:rPr>
              <a:t>OPERATING SIGNAL</a:t>
            </a:r>
            <a:endParaRPr lang="en-US"/>
          </a:p>
        </p:txBody>
      </p:sp>
      <p:sp>
        <p:nvSpPr>
          <p:cNvPr id="9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3A2B25"/>
                </a:solidFill>
                <a:latin typeface="Arial"/>
                <a:ea typeface="Arial"/>
              </a:rPr>
              <a:t>The queue is healthy; the handoff is not.</a:t>
            </a:r>
            <a:endParaRPr lang="en-US"/>
          </a:p>
        </p:txBody>
      </p:sp>
      <p:sp>
        <p:nvSpPr>
          <p:cNvPr id="10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3A2B25"/>
                </a:solidFill>
                <a:latin typeface="Arial"/>
                <a:ea typeface="Arial"/>
              </a:rPr>
              <a:t>Three visible signals point to one owner and one date.</a:t>
            </a:r>
            <a:endParaRPr lang="en-US"/>
          </a:p>
        </p:txBody>
      </p:sp>
      <p:sp>
        <p:nvSpPr>
          <p:cNvPr id="11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C96B35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3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3A2B25"/>
                </a:solidFill>
                <a:latin typeface="Arial"/>
                <a:ea typeface="Arial"/>
              </a:rPr>
              <a:t>Queue</a:t>
            </a:r>
            <a:endParaRPr lang="en-US"/>
          </a:p>
        </p:txBody>
      </p:sp>
      <p:sp>
        <p:nvSpPr>
          <p:cNvPr id="14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B8F86"/>
                </a:solidFill>
                <a:latin typeface="Arial"/>
                <a:ea typeface="Arial"/>
              </a:rPr>
              <a:t>On target</a:t>
            </a:r>
            <a:endParaRPr lang="en-US"/>
          </a:p>
        </p:txBody>
      </p:sp>
      <p:sp>
        <p:nvSpPr>
          <p:cNvPr id="15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C96B35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3A2B25"/>
                </a:solidFill>
                <a:latin typeface="Arial"/>
                <a:ea typeface="Arial"/>
              </a:rPr>
              <a:t>Handoff</a:t>
            </a:r>
            <a:endParaRPr lang="en-US"/>
          </a:p>
        </p:txBody>
      </p:sp>
      <p:sp>
        <p:nvSpPr>
          <p:cNvPr id="17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C96B35"/>
                </a:solidFill>
                <a:latin typeface="Arial"/>
                <a:ea typeface="Arial"/>
              </a:rPr>
              <a:t>At risk</a:t>
            </a:r>
            <a:endParaRPr lang="en-US"/>
          </a:p>
        </p:txBody>
      </p:sp>
      <p:sp>
        <p:nvSpPr>
          <p:cNvPr id="18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C96B35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3A2B25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0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B8F86"/>
                </a:solidFill>
                <a:latin typeface="Arial"/>
                <a:ea typeface="Arial"/>
              </a:rPr>
              <a:t>Named</a:t>
            </a:r>
            <a:endParaRPr lang="en-US"/>
          </a:p>
        </p:txBody>
      </p:sp>
      <p:sp>
        <p:nvSpPr>
          <p:cNvPr id="2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0">
            <a:solidFill>
              <a:srgbClr val="F4EC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LAY CRAFT REVIEW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96B35"/>
                </a:solidFill>
                <a:latin typeface="Arial"/>
                <a:ea typeface="Arial"/>
              </a:rPr>
              <a:t>CLAY CRAFT REVIEW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3A2B25"/>
                </a:solidFill>
                <a:latin typeface="Arial"/>
                <a:ea typeface="Arial"/>
              </a:rPr>
              <a:t>The operating signal improves while the exception stays visible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B8F86"/>
                </a:solidFill>
                <a:latin typeface="Arial"/>
                <a:ea typeface="Arial"/>
              </a:rPr>
              <a:t>Illustrative operations ledger · current state, target, and exception share one frame.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aabf75684104837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C96B35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B8F86"/>
                </a:solidFill>
                <a:latin typeface="Arial"/>
                <a:ea typeface="Arial"/>
              </a:rPr>
              <a:t>service attainment · current week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3A2B25"/>
                </a:solidFill>
                <a:latin typeface="Arial"/>
                <a:ea typeface="Arial"/>
              </a:rPr>
              <a:t>The queue is healthy; the handoff needs a named owner before the next review.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3A2B25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0">
            <a:solidFill>
              <a:srgbClr val="F4EC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LAY CRAFT REVIEW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96B35"/>
                </a:solidFill>
                <a:latin typeface="Arial"/>
                <a:ea typeface="Arial"/>
              </a:rPr>
              <a:t>CLAY CRAFT REVIEW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3A2B25"/>
                </a:solidFill>
                <a:latin typeface="Arial"/>
                <a:ea typeface="Arial"/>
              </a:rPr>
              <a:t>The gap becomes useful when it has an owner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B8F86"/>
                </a:solidFill>
                <a:latin typeface="Arial"/>
                <a:ea typeface="Arial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B8F86"/>
                </a:solidFill>
                <a:latin typeface="Arial"/>
                <a:ea typeface="Arial"/>
              </a:rPr>
              <a:t>NOW</a:t>
            </a:r>
            <a:endParaRPr lang="en-US"/>
          </a:p>
        </p:txBody>
      </p:sp>
      <p:sp>
        <p:nvSpPr>
          <p:cNvPr id="9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3A2B25"/>
                </a:solidFill>
                <a:latin typeface="Arial"/>
                <a:ea typeface="Arial"/>
              </a:rPr>
              <a:t>54%</a:t>
            </a:r>
            <a:endParaRPr lang="en-US"/>
          </a:p>
        </p:txBody>
      </p:sp>
      <p:sp>
        <p:nvSpPr>
          <p:cNvPr id="12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B8F86"/>
                </a:solidFill>
                <a:latin typeface="Arial"/>
                <a:ea typeface="Arial"/>
              </a:rPr>
              <a:t>TARGET</a:t>
            </a:r>
            <a:endParaRPr lang="en-US"/>
          </a:p>
        </p:txBody>
      </p:sp>
      <p:sp>
        <p:nvSpPr>
          <p:cNvPr id="13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A0"/>
          </a:solidFill>
          <a:ln xmlns:a="http://schemas.openxmlformats.org/drawingml/2006/main" w="0">
            <a:solidFill>
              <a:srgbClr val="D89A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3A2B25"/>
                </a:solidFill>
                <a:latin typeface="Arial"/>
                <a:ea typeface="Arial"/>
              </a:rPr>
              <a:t>76%</a:t>
            </a:r>
            <a:endParaRPr lang="en-US"/>
          </a:p>
        </p:txBody>
      </p:sp>
      <p:sp>
        <p:nvSpPr>
          <p:cNvPr id="16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B8F86"/>
                </a:solidFill>
                <a:latin typeface="Arial"/>
                <a:ea typeface="Arial"/>
              </a:rPr>
              <a:t>GAP</a:t>
            </a:r>
            <a:endParaRPr lang="en-US"/>
          </a:p>
        </p:txBody>
      </p:sp>
      <p:sp>
        <p:nvSpPr>
          <p:cNvPr id="17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2B25"/>
          </a:solidFill>
          <a:ln xmlns:a="http://schemas.openxmlformats.org/drawingml/2006/main" w="0">
            <a:solidFill>
              <a:srgbClr val="3A2B2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3A2B25"/>
                </a:solidFill>
                <a:latin typeface="Arial"/>
                <a:ea typeface="Arial"/>
              </a:rPr>
              <a:t>22%</a:t>
            </a:r>
            <a:endParaRPr lang="en-US"/>
          </a:p>
        </p:txBody>
      </p:sp>
      <p:sp>
        <p:nvSpPr>
          <p:cNvPr id="20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3A2B25"/>
                </a:solidFill>
                <a:latin typeface="Arial"/>
                <a:ea typeface="Arial"/>
              </a:rPr>
              <a:t>Status is useful only when the next handoff is visible.</a:t>
            </a:r>
            <a:endParaRPr lang="en-US"/>
          </a:p>
        </p:txBody>
      </p:sp>
      <p:sp>
        <p:nvSpPr>
          <p:cNvPr id="22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96B35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23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3A2B25"/>
                </a:solidFill>
                <a:latin typeface="Arial"/>
                <a:ea typeface="Arial"/>
              </a:rPr>
              <a:t>The gap is not a decoration; it is the work.</a:t>
            </a:r>
            <a:endParaRPr lang="en-US"/>
          </a:p>
        </p:txBody>
      </p:sp>
      <p:sp>
        <p:nvSpPr>
          <p:cNvPr id="24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B8F86"/>
                </a:solidFill>
                <a:latin typeface="Arial"/>
                <a:ea typeface="Arial"/>
              </a:rPr>
              <a:t>A healthy page names the owner and the next date.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0">
            <a:solidFill>
              <a:srgbClr val="F4EC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LAY CRAFT REVIEW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96B35"/>
                </a:solidFill>
                <a:latin typeface="Arial"/>
                <a:ea typeface="Arial"/>
              </a:rPr>
              <a:t>CLAY CRAFT REVIEW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3A2B25"/>
                </a:solidFill>
                <a:latin typeface="Arial"/>
                <a:ea typeface="Arial"/>
              </a:rPr>
              <a:t>Show the operating shape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B8F86"/>
                </a:solidFill>
                <a:latin typeface="Arial"/>
                <a:ea typeface="Arial"/>
              </a:rPr>
              <a:t>An operating page should reveal the shape of the work, not decorate the status.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visual-field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7429500" cy="3695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71a9b1abbfd43c5"/>
          </a:graphicData>
        </a:graphic>
      </p:graphicFrame>
      <p:sp>
        <p:nvSpPr>
          <p:cNvPr id="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C96B35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1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3A2B25"/>
                </a:solidFill>
                <a:latin typeface="Arial"/>
                <a:ea typeface="Arial"/>
              </a:rPr>
              <a:t>Exception before polish</a:t>
            </a:r>
            <a:endParaRPr lang="en-US"/>
          </a:p>
        </p:txBody>
      </p:sp>
      <p:sp>
        <p:nvSpPr>
          <p:cNvPr id="1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B8F86"/>
                </a:solidFill>
                <a:latin typeface="Arial"/>
                <a:ea typeface="Arial"/>
              </a:rPr>
              <a:t>Crop, contrast and source role are reviewed before delivery.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CE0"/>
          </a:solidFill>
          <a:ln xmlns:a="http://schemas.openxmlformats.org/drawingml/2006/main" w="0">
            <a:solidFill>
              <a:srgbClr val="F4ECE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LAY CRAFT REVIEW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C96B35"/>
                </a:solidFill>
                <a:latin typeface="Arial"/>
                <a:ea typeface="Arial"/>
              </a:rPr>
              <a:t>CLAY CRAFT REVIEW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3A2B25"/>
                </a:solidFill>
                <a:latin typeface="Arial"/>
                <a:ea typeface="Arial"/>
              </a:rPr>
              <a:t>Make the owner and the next date impossible to miss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9B8F86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C96B35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3A2B25"/>
                </a:solidFill>
                <a:latin typeface="Arial"/>
                <a:ea typeface="Arial"/>
              </a:rPr>
              <a:t>Status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A2B25"/>
                </a:solidFill>
                <a:latin typeface="Arial"/>
                <a:ea typeface="Arial"/>
              </a:rPr>
              <a:t>The queue is on target.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3A2B25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B8F86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3A2B25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A2B25"/>
                </a:solidFill>
                <a:latin typeface="Arial"/>
                <a:ea typeface="Arial"/>
              </a:rPr>
              <a:t>The handoff is the constraint.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C96B35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3A2B25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3A2B25"/>
                </a:solidFill>
                <a:latin typeface="Arial"/>
                <a:ea typeface="Arial"/>
              </a:rPr>
              <a:t>Name the owner today.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6B35"/>
          </a:solidFill>
          <a:ln xmlns:a="http://schemas.openxmlformats.org/drawingml/2006/main" w="0">
            <a:solidFill>
              <a:srgbClr val="C96B3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B8F86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