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1c816bdd5fa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aa87b760504740d3" /><Relationship Type="http://schemas.openxmlformats.org/officeDocument/2006/relationships/chart" Target="/ppt/slides/charts/chart2.xml" Id="R375bccd274a9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9f040922b5434263" /><Relationship Type="http://schemas.openxmlformats.org/officeDocument/2006/relationships/chart" Target="/ppt/slides/charts/chart4.xml" Id="R1eb2403b5302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58B88B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38884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A5E26D"/>
            </a:solidFill>
            <a:ln w="38100">
              <a:solidFill>
                <a:srgbClr val="A5E26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58B88B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A5E26D"/>
            </a:solidFill>
            <a:ln w="38100">
              <a:solidFill>
                <a:srgbClr val="A5E26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EEF4EE"/>
                </a:solidFill>
                <a:latin typeface="Arial"/>
                <a:ea typeface="Arial"/>
              </a:rPr>
              <a:t>Moss Transformation: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58B88B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EF4EE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OSS TRANSFORMATION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MOSS TRANSFORMATION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EEF4EE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38884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58B88B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20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EEF4EE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21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58B88B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23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EEF4EE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24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58B88B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25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26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EF4EE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29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30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8884"/>
          </a:solidFill>
          <a:ln xmlns:a="http://schemas.openxmlformats.org/drawingml/2006/main" w="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EF4EE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33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34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5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8884"/>
          </a:solidFill>
          <a:ln xmlns:a="http://schemas.openxmlformats.org/drawingml/2006/main" w="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EEF4EE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37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8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39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202124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40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02124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4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4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OSS TRANSFORMATION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MOSS TRANSFORMATION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EEF4EE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38884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87b760504740d3"/>
          </a:graphicData>
        </a:graphic>
      </p:graphicFrame>
      <p:graphicFrame>
        <p:nvGraphicFramePr>
          <p:cNvPr id="2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5bccd274a94236"/>
          </a:graphicData>
        </a:graphic>
      </p:graphicFrame>
      <p:sp>
        <p:nvSpPr>
          <p:cNvPr id="2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58B88B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EEF4EE"/>
                </a:solidFill>
                <a:latin typeface="Arial"/>
                <a:ea typeface="Arial"/>
              </a:rPr>
              <a:t>The comparison narrows the move.</a:t>
            </a:r>
            <a:endParaRPr lang="en-US"/>
          </a:p>
        </p:txBody>
      </p:sp>
      <p:sp>
        <p:nvSpPr>
          <p:cNvPr id="2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38884"/>
                </a:solidFill>
                <a:latin typeface="Arial"/>
                <a:ea typeface="Arial"/>
              </a:rPr>
              <a:t>Locate the constraint; choose the lever.</a:t>
            </a:r>
            <a:endParaRPr lang="en-US"/>
          </a:p>
        </p:txBody>
      </p:sp>
      <p:sp>
        <p:nvSpPr>
          <p:cNvPr id="2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EEF4EE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OSS TRANSFORMATION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MOSS TRANSFORMATION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EEF4EE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38884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decision-number-0"/>
          <p:cNvSpPr txBox="1"/>
          <p:nvPr/>
        </p:nvSpPr>
        <p:spPr>
          <a:xfrm xmlns:a="http://schemas.openxmlformats.org/drawingml/2006/main">
            <a:off x="11049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58B88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0" name="decision-rule-0"/>
          <p:cNvSpPr/>
          <p:nvPr/>
        </p:nvSpPr>
        <p:spPr>
          <a:xfrm xmlns:a="http://schemas.openxmlformats.org/drawingml/2006/main">
            <a:off x="2000250" y="35337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decision-label-0"/>
          <p:cNvSpPr txBox="1"/>
          <p:nvPr/>
        </p:nvSpPr>
        <p:spPr>
          <a:xfrm xmlns:a="http://schemas.openxmlformats.org/drawingml/2006/main">
            <a:off x="2209800" y="3324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EEF4EE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22" name="decision-text-0"/>
          <p:cNvSpPr txBox="1"/>
          <p:nvPr/>
        </p:nvSpPr>
        <p:spPr>
          <a:xfrm xmlns:a="http://schemas.openxmlformats.org/drawingml/2006/main">
            <a:off x="4476750" y="3371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Demand is stable</a:t>
            </a:r>
            <a:endParaRPr lang="en-US"/>
          </a:p>
        </p:txBody>
      </p:sp>
      <p:sp>
        <p:nvSpPr>
          <p:cNvPr id="23" name="decision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58B88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4" name="decision-rule-1"/>
          <p:cNvSpPr/>
          <p:nvPr/>
        </p:nvSpPr>
        <p:spPr>
          <a:xfrm xmlns:a="http://schemas.openxmlformats.org/drawingml/2006/main">
            <a:off x="2000250" y="44291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decision-label-1"/>
          <p:cNvSpPr txBox="1"/>
          <p:nvPr/>
        </p:nvSpPr>
        <p:spPr>
          <a:xfrm xmlns:a="http://schemas.openxmlformats.org/drawingml/2006/main">
            <a:off x="2209800" y="4219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EEF4EE"/>
                </a:solidFill>
                <a:latin typeface="Arial"/>
                <a:ea typeface="Arial"/>
              </a:rPr>
              <a:t>Constraint</a:t>
            </a:r>
            <a:endParaRPr lang="en-US"/>
          </a:p>
        </p:txBody>
      </p:sp>
      <p:sp>
        <p:nvSpPr>
          <p:cNvPr id="26" name="decision-text-1"/>
          <p:cNvSpPr txBox="1"/>
          <p:nvPr/>
        </p:nvSpPr>
        <p:spPr>
          <a:xfrm xmlns:a="http://schemas.openxmlformats.org/drawingml/2006/main">
            <a:off x="4476750" y="426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Concentration drives variance</a:t>
            </a:r>
            <a:endParaRPr lang="en-US"/>
          </a:p>
        </p:txBody>
      </p:sp>
      <p:sp>
        <p:nvSpPr>
          <p:cNvPr id="27" name="decision-number-2"/>
          <p:cNvSpPr txBox="1"/>
          <p:nvPr/>
        </p:nvSpPr>
        <p:spPr>
          <a:xfrm xmlns:a="http://schemas.openxmlformats.org/drawingml/2006/main">
            <a:off x="1104900" y="5162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58B88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8" name="decision-rule-2"/>
          <p:cNvSpPr/>
          <p:nvPr/>
        </p:nvSpPr>
        <p:spPr>
          <a:xfrm xmlns:a="http://schemas.openxmlformats.org/drawingml/2006/main">
            <a:off x="2000250" y="53244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decision-label-2"/>
          <p:cNvSpPr txBox="1"/>
          <p:nvPr/>
        </p:nvSpPr>
        <p:spPr>
          <a:xfrm xmlns:a="http://schemas.openxmlformats.org/drawingml/2006/main">
            <a:off x="2209800" y="5114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EEF4EE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30" name="decision-text-2"/>
          <p:cNvSpPr txBox="1"/>
          <p:nvPr/>
        </p:nvSpPr>
        <p:spPr>
          <a:xfrm xmlns:a="http://schemas.openxmlformats.org/drawingml/2006/main">
            <a:off x="4476750" y="5162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Protect the strongest channel</a:t>
            </a:r>
            <a:endParaRPr lang="en-US"/>
          </a:p>
        </p:txBody>
      </p:sp>
      <p:sp>
        <p:nvSpPr>
          <p:cNvPr id="31" name="decision-summary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58B88B"/>
                </a:solidFill>
                <a:latin typeface="Arial"/>
                <a:ea typeface="Arial"/>
              </a:rPr>
              <a:t>DECISION LOGIC</a:t>
            </a:r>
            <a:endParaRPr lang="en-US"/>
          </a:p>
        </p:txBody>
      </p:sp>
      <p:sp>
        <p:nvSpPr>
          <p:cNvPr id="32" name="decision-summary"/>
          <p:cNvSpPr txBox="1"/>
          <p:nvPr/>
        </p:nvSpPr>
        <p:spPr>
          <a:xfrm xmlns:a="http://schemas.openxmlformats.org/drawingml/2006/main">
            <a:off x="10287000" y="38100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EEF4EE"/>
                </a:solidFill>
                <a:latin typeface="Arial"/>
                <a:ea typeface="Arial"/>
              </a:rPr>
              <a:t>A page earns density when each line changes the choice.</a:t>
            </a:r>
            <a:endParaRPr lang="en-US"/>
          </a:p>
        </p:txBody>
      </p:sp>
      <p:sp>
        <p:nvSpPr>
          <p:cNvPr id="33" name="decision-callout"/>
          <p:cNvSpPr/>
          <p:nvPr/>
        </p:nvSpPr>
        <p:spPr>
          <a:xfrm xmlns:a="http://schemas.openxmlformats.org/drawingml/2006/main">
            <a:off x="10287000" y="52197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4" name="decision-callout-text"/>
          <p:cNvSpPr txBox="1"/>
          <p:nvPr/>
        </p:nvSpPr>
        <p:spPr>
          <a:xfrm xmlns:a="http://schemas.openxmlformats.org/drawingml/2006/main">
            <a:off x="10572750" y="5476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Arial"/>
                <a:ea typeface="Arial"/>
              </a:rPr>
              <a:t>ONE LEVER · ONE OWNER · ONE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OSS TRANSFORMATION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MOSS TRANSFORMATION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EEF4EE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38884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040922b5434263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b2403b530247bc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58B88B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EEF4EE"/>
                </a:solidFill>
                <a:latin typeface="Arial"/>
                <a:ea typeface="Arial"/>
              </a:rPr>
              <a:t>Choice before inventory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38884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2"/>
          </a:solidFill>
          <a:ln xmlns:a="http://schemas.openxmlformats.org/drawingml/2006/main" w="0">
            <a:solidFill>
              <a:srgbClr val="202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38884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solidFill>
              <a:srgbClr val="EEF4E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202124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OSS TRANSFORMATION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B88B"/>
                </a:solidFill>
                <a:latin typeface="Arial"/>
                <a:ea typeface="Arial"/>
              </a:rPr>
              <a:t>MOSS TRANSFORMATION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EEF4EE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38884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58B88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EEF4EE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EF4EE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3888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EEF4EE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58B88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EEF4EE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EEF4EE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88B"/>
          </a:solidFill>
          <a:ln xmlns:a="http://schemas.openxmlformats.org/drawingml/2006/main" w="0">
            <a:solidFill>
              <a:srgbClr val="58B88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124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202124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38884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