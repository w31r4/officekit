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a4bc8dd92564b4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EEF4EE"/>
                </a:solidFill>
                <a:latin typeface="Arial"/>
                <a:ea typeface="Arial"/>
              </a:rPr>
              <a:t>Moss Transformation: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58B88B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EEF4E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2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2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EEF4E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2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2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2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2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3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3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3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38884"/>
          </a:solidFill>
          <a:ln xmlns:a="http://schemas.openxmlformats.org/drawingml/2006/main" w="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EEF4E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3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3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202124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4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2124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4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4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timeline-label"/>
          <p:cNvSpPr txBox="1"/>
          <p:nvPr/>
        </p:nvSpPr>
        <p:spPr>
          <a:xfrm xmlns:a="http://schemas.openxmlformats.org/drawingml/2006/main">
            <a:off x="1066800" y="32385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EVOLUTION / TRANSITION</a:t>
            </a:r>
            <a:endParaRPr lang="en-US"/>
          </a:p>
        </p:txBody>
      </p:sp>
      <p:sp>
        <p:nvSpPr>
          <p:cNvPr id="20" name="timeline-axis"/>
          <p:cNvSpPr/>
          <p:nvPr/>
        </p:nvSpPr>
        <p:spPr>
          <a:xfrm xmlns:a="http://schemas.openxmlformats.org/drawingml/2006/main">
            <a:off x="121920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timeline-node-0"/>
          <p:cNvSpPr/>
          <p:nvPr/>
        </p:nvSpPr>
        <p:spPr>
          <a:xfrm xmlns:a="http://schemas.openxmlformats.org/drawingml/2006/main">
            <a:off x="1066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2540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timeline-number-0"/>
          <p:cNvSpPr txBox="1"/>
          <p:nvPr/>
        </p:nvSpPr>
        <p:spPr>
          <a:xfrm xmlns:a="http://schemas.openxmlformats.org/drawingml/2006/main">
            <a:off x="952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3" name="timeline-label-0"/>
          <p:cNvSpPr txBox="1"/>
          <p:nvPr/>
        </p:nvSpPr>
        <p:spPr>
          <a:xfrm xmlns:a="http://schemas.openxmlformats.org/drawingml/2006/main">
            <a:off x="533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EEF4EE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24" name="timeline-text-0"/>
          <p:cNvSpPr txBox="1"/>
          <p:nvPr/>
        </p:nvSpPr>
        <p:spPr>
          <a:xfrm xmlns:a="http://schemas.openxmlformats.org/drawingml/2006/main">
            <a:off x="323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25" name="timeline-node-1"/>
          <p:cNvSpPr/>
          <p:nvPr/>
        </p:nvSpPr>
        <p:spPr>
          <a:xfrm xmlns:a="http://schemas.openxmlformats.org/drawingml/2006/main">
            <a:off x="36385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2540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timeline-number-1"/>
          <p:cNvSpPr txBox="1"/>
          <p:nvPr/>
        </p:nvSpPr>
        <p:spPr>
          <a:xfrm xmlns:a="http://schemas.openxmlformats.org/drawingml/2006/main">
            <a:off x="35242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58B88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7" name="timeline-label-1"/>
          <p:cNvSpPr txBox="1"/>
          <p:nvPr/>
        </p:nvSpPr>
        <p:spPr>
          <a:xfrm xmlns:a="http://schemas.openxmlformats.org/drawingml/2006/main">
            <a:off x="31051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EEF4EE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28" name="timeline-text-1"/>
          <p:cNvSpPr txBox="1"/>
          <p:nvPr/>
        </p:nvSpPr>
        <p:spPr>
          <a:xfrm xmlns:a="http://schemas.openxmlformats.org/drawingml/2006/main">
            <a:off x="28956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29" name="timeline-node-2"/>
          <p:cNvSpPr/>
          <p:nvPr/>
        </p:nvSpPr>
        <p:spPr>
          <a:xfrm xmlns:a="http://schemas.openxmlformats.org/drawingml/2006/main">
            <a:off x="62103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2540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timeline-number-2"/>
          <p:cNvSpPr txBox="1"/>
          <p:nvPr/>
        </p:nvSpPr>
        <p:spPr>
          <a:xfrm xmlns:a="http://schemas.openxmlformats.org/drawingml/2006/main">
            <a:off x="60960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1" name="timeline-label-2"/>
          <p:cNvSpPr txBox="1"/>
          <p:nvPr/>
        </p:nvSpPr>
        <p:spPr>
          <a:xfrm xmlns:a="http://schemas.openxmlformats.org/drawingml/2006/main">
            <a:off x="56769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EEF4EE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32" name="timeline-text-2"/>
          <p:cNvSpPr txBox="1"/>
          <p:nvPr/>
        </p:nvSpPr>
        <p:spPr>
          <a:xfrm xmlns:a="http://schemas.openxmlformats.org/drawingml/2006/main">
            <a:off x="54673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33" name="timeline-node-3"/>
          <p:cNvSpPr/>
          <p:nvPr/>
        </p:nvSpPr>
        <p:spPr>
          <a:xfrm xmlns:a="http://schemas.openxmlformats.org/drawingml/2006/main">
            <a:off x="878205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2540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timeline-number-3"/>
          <p:cNvSpPr txBox="1"/>
          <p:nvPr/>
        </p:nvSpPr>
        <p:spPr>
          <a:xfrm xmlns:a="http://schemas.openxmlformats.org/drawingml/2006/main">
            <a:off x="866775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58B88B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5" name="timeline-label-3"/>
          <p:cNvSpPr txBox="1"/>
          <p:nvPr/>
        </p:nvSpPr>
        <p:spPr>
          <a:xfrm xmlns:a="http://schemas.openxmlformats.org/drawingml/2006/main">
            <a:off x="824865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EEF4E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6" name="timeline-text-3"/>
          <p:cNvSpPr txBox="1"/>
          <p:nvPr/>
        </p:nvSpPr>
        <p:spPr>
          <a:xfrm xmlns:a="http://schemas.openxmlformats.org/drawingml/2006/main">
            <a:off x="803910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37" name="timeline-node-4"/>
          <p:cNvSpPr/>
          <p:nvPr/>
        </p:nvSpPr>
        <p:spPr>
          <a:xfrm xmlns:a="http://schemas.openxmlformats.org/drawingml/2006/main">
            <a:off x="11353800" y="46101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254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8" name="timeline-number-4"/>
          <p:cNvSpPr txBox="1"/>
          <p:nvPr/>
        </p:nvSpPr>
        <p:spPr>
          <a:xfrm xmlns:a="http://schemas.openxmlformats.org/drawingml/2006/main">
            <a:off x="11239500" y="4076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58B88B"/>
                </a:solidFill>
                <a:latin typeface="Arial"/>
                <a:ea typeface="Arial"/>
              </a:rPr>
              <a:t>05</a:t>
            </a:r>
            <a:endParaRPr lang="en-US"/>
          </a:p>
        </p:txBody>
      </p:sp>
      <p:sp>
        <p:nvSpPr>
          <p:cNvPr id="39" name="timeline-label-4"/>
          <p:cNvSpPr txBox="1"/>
          <p:nvPr/>
        </p:nvSpPr>
        <p:spPr>
          <a:xfrm xmlns:a="http://schemas.openxmlformats.org/drawingml/2006/main">
            <a:off x="10820400" y="508635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350" b="1">
                <a:solidFill>
                  <a:srgbClr val="EEF4EE"/>
                </a:solidFill>
                <a:latin typeface="Arial"/>
                <a:ea typeface="Arial"/>
              </a:rPr>
              <a:t>Scale</a:t>
            </a:r>
            <a:endParaRPr lang="en-US"/>
          </a:p>
        </p:txBody>
      </p:sp>
      <p:sp>
        <p:nvSpPr>
          <p:cNvPr id="40" name="timeline-text-4"/>
          <p:cNvSpPr txBox="1"/>
          <p:nvPr/>
        </p:nvSpPr>
        <p:spPr>
          <a:xfrm xmlns:a="http://schemas.openxmlformats.org/drawingml/2006/main">
            <a:off x="10610850" y="5391150"/>
            <a:ext cx="1790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Repeat what held</a:t>
            </a:r>
            <a:endParaRPr lang="en-US"/>
          </a:p>
        </p:txBody>
      </p:sp>
      <p:sp>
        <p:nvSpPr>
          <p:cNvPr id="41" name="timeline-read-label"/>
          <p:cNvSpPr txBox="1"/>
          <p:nvPr/>
        </p:nvSpPr>
        <p:spPr>
          <a:xfrm xmlns:a="http://schemas.openxmlformats.org/drawingml/2006/main">
            <a:off x="1066800" y="6667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58B88B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42" name="timeline-read"/>
          <p:cNvSpPr txBox="1"/>
          <p:nvPr/>
        </p:nvSpPr>
        <p:spPr>
          <a:xfrm xmlns:a="http://schemas.openxmlformats.org/drawingml/2006/main">
            <a:off x="3333750" y="66294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 b="1">
                <a:solidFill>
                  <a:srgbClr val="EEF4EE"/>
                </a:solidFill>
                <a:latin typeface="Arial"/>
                <a:ea typeface="Arial"/>
              </a:rPr>
              <a:t>A sequence is useful when each handoff changes what can happen next.</a:t>
            </a:r>
            <a:endParaRPr lang="en-US"/>
          </a:p>
        </p:txBody>
      </p:sp>
      <p:sp>
        <p:nvSpPr>
          <p:cNvPr id="4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EF4E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4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4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2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2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2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EEF4E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3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3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3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3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3810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38884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3810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58B88B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38884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3810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38884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02124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38884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EEF4EE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38884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58B88B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EEF4EE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38884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522"/>
          </a:solidFill>
          <a:ln xmlns:a="http://schemas.openxmlformats.org/drawingml/2006/main" w="0">
            <a:solidFill>
              <a:srgbClr val="20252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38884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EE"/>
          </a:solidFill>
          <a:ln xmlns:a="http://schemas.openxmlformats.org/drawingml/2006/main" w="0">
            <a:solidFill>
              <a:srgbClr val="EEF4E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OSS TRANSFORMATION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58B88B"/>
                </a:solidFill>
                <a:latin typeface="Arial"/>
                <a:ea typeface="Arial"/>
              </a:rPr>
              <a:t>MOSS TRANSFORMATION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EEF4EE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38884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EF4E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3888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58B88B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EEF4E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EEF4E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B88B"/>
          </a:solidFill>
          <a:ln xmlns:a="http://schemas.openxmlformats.org/drawingml/2006/main" w="0">
            <a:solidFill>
              <a:srgbClr val="58B88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38884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