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715b81525807440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e061de0e0a924b1e" /><Relationship Type="http://schemas.openxmlformats.org/officeDocument/2006/relationships/chart" Target="/ppt/slides/charts/chart2.xml" Id="Red9e4a6709b447c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3.xml" Id="Rcac82c6e64514e45" /><Relationship Type="http://schemas.openxmlformats.org/officeDocument/2006/relationships/chart" Target="/ppt/slides/charts/chart4.xml" Id="Rdba97b790c70405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58B88B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38884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A5E26D"/>
            </a:solidFill>
            <a:ln w="38100">
              <a:solidFill>
                <a:srgbClr val="A5E26D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3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58B88B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4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A5E26D"/>
            </a:solidFill>
            <a:ln w="38100">
              <a:solidFill>
                <a:srgbClr val="A5E26D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522"/>
          </a:solidFill>
          <a:ln xmlns:a="http://schemas.openxmlformats.org/drawingml/2006/main" w="0">
            <a:solidFill>
              <a:srgbClr val="202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E"/>
          </a:solidFill>
          <a:ln xmlns:a="http://schemas.openxmlformats.org/drawingml/2006/main" w="0">
            <a:solidFill>
              <a:srgbClr val="EEF4E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58B88B"/>
                </a:solidFill>
                <a:latin typeface="Arial"/>
                <a:ea typeface="Arial"/>
              </a:rPr>
              <a:t>CONSULTING · OFFICEKIT CALIBRATION</a:t>
            </a:r>
            <a:endParaRPr lang="en-US"/>
          </a:p>
        </p:txBody>
      </p:sp>
      <p:sp>
        <p:nvSpPr>
          <p:cNvPr id="1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EEF4EE"/>
                </a:solidFill>
                <a:latin typeface="Arial"/>
                <a:ea typeface="Arial"/>
              </a:rPr>
              <a:t>Moss Transformation: a claim worth testing</a:t>
            </a:r>
            <a:endParaRPr lang="en-US"/>
          </a:p>
        </p:txBody>
      </p:sp>
      <p:sp>
        <p:nvSpPr>
          <p:cNvPr id="1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58B88B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EEF4EE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EF4EE"/>
                </a:solidFill>
                <a:latin typeface="Arial"/>
                <a:ea typeface="Arial"/>
              </a:rPr>
              <a:t>The synthesis matters more than the inventory.</a:t>
            </a:r>
            <a:endParaRPr lang="en-US"/>
          </a:p>
        </p:txBody>
      </p:sp>
      <p:sp>
        <p:nvSpPr>
          <p:cNvPr id="2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23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522"/>
          </a:solidFill>
          <a:ln xmlns:a="http://schemas.openxmlformats.org/drawingml/2006/main" w="0">
            <a:solidFill>
              <a:srgbClr val="202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E"/>
          </a:solidFill>
          <a:ln xmlns:a="http://schemas.openxmlformats.org/drawingml/2006/main" w="0">
            <a:solidFill>
              <a:srgbClr val="EEF4E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OSS TRANSFORMATION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58B88B"/>
                </a:solidFill>
                <a:latin typeface="Arial"/>
                <a:ea typeface="Arial"/>
              </a:rPr>
              <a:t>MOSS TRANSFORMATION · ARGUMENT</a:t>
            </a:r>
            <a:endParaRPr lang="en-US"/>
          </a:p>
        </p:txBody>
      </p:sp>
      <p:sp>
        <p:nvSpPr>
          <p:cNvPr id="16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EEF4EE"/>
                </a:solidFill>
                <a:latin typeface="Arial"/>
                <a:ea typeface="Arial"/>
              </a:rPr>
              <a:t>One finding should reorganize the decision</a:t>
            </a:r>
            <a:endParaRPr lang="en-US"/>
          </a:p>
        </p:txBody>
      </p:sp>
      <p:sp>
        <p:nvSpPr>
          <p:cNvPr id="17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38884"/>
                </a:solidFill>
                <a:latin typeface="Arial"/>
                <a:ea typeface="Arial"/>
              </a:rPr>
              <a:t>Finding, implication, recommendation: evidence stays adjacent to the synthesis.</a:t>
            </a:r>
            <a:endParaRPr lang="en-US"/>
          </a:p>
        </p:txBody>
      </p:sp>
      <p:sp>
        <p:nvSpPr>
          <p:cNvPr id="18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finding"/>
          <p:cNvSpPr txBox="1"/>
          <p:nvPr/>
        </p:nvSpPr>
        <p:spPr>
          <a:xfrm xmlns:a="http://schemas.openxmlformats.org/drawingml/2006/main">
            <a:off x="1104900" y="3314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58B88B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20" name="finding-text"/>
          <p:cNvSpPr txBox="1"/>
          <p:nvPr/>
        </p:nvSpPr>
        <p:spPr>
          <a:xfrm xmlns:a="http://schemas.openxmlformats.org/drawingml/2006/main">
            <a:off x="1104900" y="369570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EEF4EE"/>
                </a:solidFill>
                <a:latin typeface="Arial"/>
                <a:ea typeface="Arial"/>
              </a:rPr>
              <a:t>The constraint is concentration, not demand.</a:t>
            </a:r>
            <a:endParaRPr lang="en-US"/>
          </a:p>
        </p:txBody>
      </p:sp>
      <p:sp>
        <p:nvSpPr>
          <p:cNvPr id="21" name="finding-rule"/>
          <p:cNvSpPr/>
          <p:nvPr/>
        </p:nvSpPr>
        <p:spPr>
          <a:xfrm xmlns:a="http://schemas.openxmlformats.org/drawingml/2006/main">
            <a:off x="1104900" y="4552950"/>
            <a:ext cx="670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implication"/>
          <p:cNvSpPr txBox="1"/>
          <p:nvPr/>
        </p:nvSpPr>
        <p:spPr>
          <a:xfrm xmlns:a="http://schemas.openxmlformats.org/drawingml/2006/main">
            <a:off x="11049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58B88B"/>
                </a:solidFill>
                <a:latin typeface="Arial"/>
                <a:ea typeface="Arial"/>
              </a:rPr>
              <a:t>IMPLICATION</a:t>
            </a:r>
            <a:endParaRPr lang="en-US"/>
          </a:p>
        </p:txBody>
      </p:sp>
      <p:sp>
        <p:nvSpPr>
          <p:cNvPr id="23" name="implication-text"/>
          <p:cNvSpPr txBox="1"/>
          <p:nvPr/>
        </p:nvSpPr>
        <p:spPr>
          <a:xfrm xmlns:a="http://schemas.openxmlformats.org/drawingml/2006/main">
            <a:off x="1104900" y="5334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EEF4EE"/>
                </a:solidFill>
                <a:latin typeface="Arial"/>
                <a:ea typeface="Arial"/>
              </a:rPr>
              <a:t>Protect the strongest channel before adding volume.</a:t>
            </a:r>
            <a:endParaRPr lang="en-US"/>
          </a:p>
        </p:txBody>
      </p:sp>
      <p:sp>
        <p:nvSpPr>
          <p:cNvPr id="24" name="pressure-label"/>
          <p:cNvSpPr txBox="1"/>
          <p:nvPr/>
        </p:nvSpPr>
        <p:spPr>
          <a:xfrm xmlns:a="http://schemas.openxmlformats.org/drawingml/2006/main">
            <a:off x="1104900" y="6153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58B88B"/>
                </a:solidFill>
                <a:latin typeface="Arial"/>
                <a:ea typeface="Arial"/>
              </a:rPr>
              <a:t>PRESSURE PROFILE · CURRENT CASE</a:t>
            </a:r>
            <a:endParaRPr lang="en-US"/>
          </a:p>
        </p:txBody>
      </p:sp>
      <p:sp>
        <p:nvSpPr>
          <p:cNvPr id="25" name="pressure-name-0"/>
          <p:cNvSpPr txBox="1"/>
          <p:nvPr/>
        </p:nvSpPr>
        <p:spPr>
          <a:xfrm xmlns:a="http://schemas.openxmlformats.org/drawingml/2006/main">
            <a:off x="1104900" y="65151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Concentration</a:t>
            </a:r>
            <a:endParaRPr lang="en-US"/>
          </a:p>
        </p:txBody>
      </p:sp>
      <p:sp>
        <p:nvSpPr>
          <p:cNvPr id="26" name="pressure-track-0"/>
          <p:cNvSpPr/>
          <p:nvPr/>
        </p:nvSpPr>
        <p:spPr>
          <a:xfrm xmlns:a="http://schemas.openxmlformats.org/drawingml/2006/main">
            <a:off x="3028950" y="65341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pressure-fill-0"/>
          <p:cNvSpPr/>
          <p:nvPr/>
        </p:nvSpPr>
        <p:spPr>
          <a:xfrm xmlns:a="http://schemas.openxmlformats.org/drawingml/2006/main">
            <a:off x="3028950" y="6534150"/>
            <a:ext cx="35909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pressure-value-0"/>
          <p:cNvSpPr txBox="1"/>
          <p:nvPr/>
        </p:nvSpPr>
        <p:spPr>
          <a:xfrm xmlns:a="http://schemas.openxmlformats.org/drawingml/2006/main">
            <a:off x="7600950" y="64865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EEF4EE"/>
                </a:solidFill>
                <a:latin typeface="Arial"/>
                <a:ea typeface="Arial"/>
              </a:rPr>
              <a:t>82%</a:t>
            </a:r>
            <a:endParaRPr lang="en-US"/>
          </a:p>
        </p:txBody>
      </p:sp>
      <p:sp>
        <p:nvSpPr>
          <p:cNvPr id="29" name="pressure-name-1"/>
          <p:cNvSpPr txBox="1"/>
          <p:nvPr/>
        </p:nvSpPr>
        <p:spPr>
          <a:xfrm xmlns:a="http://schemas.openxmlformats.org/drawingml/2006/main">
            <a:off x="1104900" y="6838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Price power</a:t>
            </a:r>
            <a:endParaRPr lang="en-US"/>
          </a:p>
        </p:txBody>
      </p:sp>
      <p:sp>
        <p:nvSpPr>
          <p:cNvPr id="30" name="pressure-track-1"/>
          <p:cNvSpPr/>
          <p:nvPr/>
        </p:nvSpPr>
        <p:spPr>
          <a:xfrm xmlns:a="http://schemas.openxmlformats.org/drawingml/2006/main">
            <a:off x="3028950" y="685800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pressure-fill-1"/>
          <p:cNvSpPr/>
          <p:nvPr/>
        </p:nvSpPr>
        <p:spPr>
          <a:xfrm xmlns:a="http://schemas.openxmlformats.org/drawingml/2006/main">
            <a:off x="3028950" y="6858000"/>
            <a:ext cx="2457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8884"/>
          </a:solidFill>
          <a:ln xmlns:a="http://schemas.openxmlformats.org/drawingml/2006/main" w="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pressure-value-1"/>
          <p:cNvSpPr txBox="1"/>
          <p:nvPr/>
        </p:nvSpPr>
        <p:spPr>
          <a:xfrm xmlns:a="http://schemas.openxmlformats.org/drawingml/2006/main">
            <a:off x="7600950" y="6810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EEF4EE"/>
                </a:solidFill>
                <a:latin typeface="Arial"/>
                <a:ea typeface="Arial"/>
              </a:rPr>
              <a:t>56%</a:t>
            </a:r>
            <a:endParaRPr lang="en-US"/>
          </a:p>
        </p:txBody>
      </p:sp>
      <p:sp>
        <p:nvSpPr>
          <p:cNvPr id="33" name="pressure-name-2"/>
          <p:cNvSpPr txBox="1"/>
          <p:nvPr/>
        </p:nvSpPr>
        <p:spPr>
          <a:xfrm xmlns:a="http://schemas.openxmlformats.org/drawingml/2006/main">
            <a:off x="1104900" y="7162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Operating friction</a:t>
            </a:r>
            <a:endParaRPr lang="en-US"/>
          </a:p>
        </p:txBody>
      </p:sp>
      <p:sp>
        <p:nvSpPr>
          <p:cNvPr id="34" name="pressure-track-2"/>
          <p:cNvSpPr/>
          <p:nvPr/>
        </p:nvSpPr>
        <p:spPr>
          <a:xfrm xmlns:a="http://schemas.openxmlformats.org/drawingml/2006/main">
            <a:off x="3028950" y="71818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5" name="pressure-fill-2"/>
          <p:cNvSpPr/>
          <p:nvPr/>
        </p:nvSpPr>
        <p:spPr>
          <a:xfrm xmlns:a="http://schemas.openxmlformats.org/drawingml/2006/main">
            <a:off x="3028950" y="71818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8884"/>
          </a:solidFill>
          <a:ln xmlns:a="http://schemas.openxmlformats.org/drawingml/2006/main" w="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6" name="pressure-value-2"/>
          <p:cNvSpPr txBox="1"/>
          <p:nvPr/>
        </p:nvSpPr>
        <p:spPr>
          <a:xfrm xmlns:a="http://schemas.openxmlformats.org/drawingml/2006/main">
            <a:off x="7600950" y="71342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EEF4EE"/>
                </a:solidFill>
                <a:latin typeface="Arial"/>
                <a:ea typeface="Arial"/>
              </a:rPr>
              <a:t>34%</a:t>
            </a:r>
            <a:endParaRPr lang="en-US"/>
          </a:p>
        </p:txBody>
      </p:sp>
      <p:sp>
        <p:nvSpPr>
          <p:cNvPr id="37" name="recommendation"/>
          <p:cNvSpPr/>
          <p:nvPr/>
        </p:nvSpPr>
        <p:spPr>
          <a:xfrm xmlns:a="http://schemas.openxmlformats.org/drawingml/2006/main">
            <a:off x="9906000" y="323850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8" name="recommendation-label"/>
          <p:cNvSpPr txBox="1"/>
          <p:nvPr/>
        </p:nvSpPr>
        <p:spPr>
          <a:xfrm xmlns:a="http://schemas.openxmlformats.org/drawingml/2006/main">
            <a:off x="10287000" y="36004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2124"/>
                </a:solidFill>
                <a:latin typeface="Arial"/>
                <a:ea typeface="Arial"/>
              </a:rPr>
              <a:t>RECOMMENDATION</a:t>
            </a:r>
            <a:endParaRPr lang="en-US"/>
          </a:p>
        </p:txBody>
      </p:sp>
      <p:sp>
        <p:nvSpPr>
          <p:cNvPr id="39" name="recommendation-text"/>
          <p:cNvSpPr txBox="1"/>
          <p:nvPr/>
        </p:nvSpPr>
        <p:spPr>
          <a:xfrm xmlns:a="http://schemas.openxmlformats.org/drawingml/2006/main">
            <a:off x="10287000" y="409575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325" b="1">
                <a:solidFill>
                  <a:srgbClr val="202124"/>
                </a:solidFill>
                <a:latin typeface="Arial"/>
                <a:ea typeface="Arial"/>
              </a:rPr>
              <a:t>One constrained move</a:t>
            </a:r>
            <a:endParaRPr lang="en-US"/>
          </a:p>
        </p:txBody>
      </p:sp>
      <p:sp>
        <p:nvSpPr>
          <p:cNvPr id="40" name="recommendation-foot"/>
          <p:cNvSpPr txBox="1"/>
          <p:nvPr/>
        </p:nvSpPr>
        <p:spPr>
          <a:xfrm xmlns:a="http://schemas.openxmlformats.org/drawingml/2006/main">
            <a:off x="10287000" y="5067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202124"/>
                </a:solidFill>
                <a:latin typeface="Arial"/>
                <a:ea typeface="Arial"/>
              </a:rPr>
              <a:t>subject to the next evidence gate</a:t>
            </a:r>
            <a:endParaRPr lang="en-US"/>
          </a:p>
        </p:txBody>
      </p:sp>
      <p:sp>
        <p:nvSpPr>
          <p:cNvPr id="41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4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522"/>
          </a:solidFill>
          <a:ln xmlns:a="http://schemas.openxmlformats.org/drawingml/2006/main" w="0">
            <a:solidFill>
              <a:srgbClr val="202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E"/>
          </a:solidFill>
          <a:ln xmlns:a="http://schemas.openxmlformats.org/drawingml/2006/main" w="0">
            <a:solidFill>
              <a:srgbClr val="EEF4E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OSS TRANSFORMATION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58B88B"/>
                </a:solidFill>
                <a:latin typeface="Arial"/>
                <a:ea typeface="Arial"/>
              </a:rPr>
              <a:t>MOSS TRANSFORMATION · EVIDENCE</a:t>
            </a:r>
            <a:endParaRPr lang="en-US"/>
          </a:p>
        </p:txBody>
      </p:sp>
      <p:sp>
        <p:nvSpPr>
          <p:cNvPr id="16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EEF4EE"/>
                </a:solidFill>
                <a:latin typeface="Arial"/>
                <a:ea typeface="Arial"/>
              </a:rPr>
              <a:t>The evidence narrows the decision to one lever</a:t>
            </a:r>
            <a:endParaRPr lang="en-US"/>
          </a:p>
        </p:txBody>
      </p:sp>
      <p:sp>
        <p:nvSpPr>
          <p:cNvPr id="17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38884"/>
                </a:solidFill>
                <a:latin typeface="Arial"/>
                <a:ea typeface="Arial"/>
              </a:rPr>
              <a:t>Comparable cases · same basis · direct labels instead of a legend-only chart.</a:t>
            </a:r>
            <a:endParaRPr lang="en-US"/>
          </a:p>
        </p:txBody>
      </p:sp>
      <p:sp>
        <p:nvSpPr>
          <p:cNvPr id="1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061de0e0a924b1e"/>
          </a:graphicData>
        </a:graphic>
      </p:graphicFrame>
      <p:graphicFrame>
        <p:nvGraphicFramePr>
          <p:cNvPr id="20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d9e4a6709b447c4"/>
          </a:graphicData>
        </a:graphic>
      </p:graphicFrame>
      <p:sp>
        <p:nvSpPr>
          <p:cNvPr id="21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58B88B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3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EEF4EE"/>
                </a:solidFill>
                <a:latin typeface="Arial"/>
                <a:ea typeface="Arial"/>
              </a:rPr>
              <a:t>The comparison narrows the move.</a:t>
            </a:r>
            <a:endParaRPr lang="en-US"/>
          </a:p>
        </p:txBody>
      </p:sp>
      <p:sp>
        <p:nvSpPr>
          <p:cNvPr id="24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38884"/>
                </a:solidFill>
                <a:latin typeface="Arial"/>
                <a:ea typeface="Arial"/>
              </a:rPr>
              <a:t>Locate the constraint; choose the lever.</a:t>
            </a:r>
            <a:endParaRPr lang="en-US"/>
          </a:p>
        </p:txBody>
      </p:sp>
      <p:sp>
        <p:nvSpPr>
          <p:cNvPr id="25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EEF4EE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7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8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522"/>
          </a:solidFill>
          <a:ln xmlns:a="http://schemas.openxmlformats.org/drawingml/2006/main" w="0">
            <a:solidFill>
              <a:srgbClr val="202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E"/>
          </a:solidFill>
          <a:ln xmlns:a="http://schemas.openxmlformats.org/drawingml/2006/main" w="0">
            <a:solidFill>
              <a:srgbClr val="EEF4E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OSS TRANSFORMATION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58B88B"/>
                </a:solidFill>
                <a:latin typeface="Arial"/>
                <a:ea typeface="Arial"/>
              </a:rPr>
              <a:t>MOSS TRANSFORMATION · DETAIL</a:t>
            </a:r>
            <a:endParaRPr lang="en-US"/>
          </a:p>
        </p:txBody>
      </p:sp>
      <p:sp>
        <p:nvSpPr>
          <p:cNvPr id="16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EEF4EE"/>
                </a:solidFill>
                <a:latin typeface="Arial"/>
                <a:ea typeface="Arial"/>
              </a:rPr>
              <a:t>A decision page needs a visible sequence</a:t>
            </a:r>
            <a:endParaRPr lang="en-US"/>
          </a:p>
        </p:txBody>
      </p:sp>
      <p:sp>
        <p:nvSpPr>
          <p:cNvPr id="17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38884"/>
                </a:solidFill>
                <a:latin typeface="Arial"/>
                <a:ea typeface="Arial"/>
              </a:rPr>
              <a:t>Finding → constraint → move · each line changes the choice.</a:t>
            </a:r>
            <a:endParaRPr lang="en-US"/>
          </a:p>
        </p:txBody>
      </p:sp>
      <p:sp>
        <p:nvSpPr>
          <p:cNvPr id="18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decision-number-0"/>
          <p:cNvSpPr txBox="1"/>
          <p:nvPr/>
        </p:nvSpPr>
        <p:spPr>
          <a:xfrm xmlns:a="http://schemas.openxmlformats.org/drawingml/2006/main">
            <a:off x="1104900" y="33718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58B88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0" name="decision-rule-0"/>
          <p:cNvSpPr/>
          <p:nvPr/>
        </p:nvSpPr>
        <p:spPr>
          <a:xfrm xmlns:a="http://schemas.openxmlformats.org/drawingml/2006/main">
            <a:off x="2000250" y="3533775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decision-label-0"/>
          <p:cNvSpPr txBox="1"/>
          <p:nvPr/>
        </p:nvSpPr>
        <p:spPr>
          <a:xfrm xmlns:a="http://schemas.openxmlformats.org/drawingml/2006/main">
            <a:off x="2209800" y="33242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EEF4EE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22" name="decision-text-0"/>
          <p:cNvSpPr txBox="1"/>
          <p:nvPr/>
        </p:nvSpPr>
        <p:spPr>
          <a:xfrm xmlns:a="http://schemas.openxmlformats.org/drawingml/2006/main">
            <a:off x="4476750" y="33718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EEF4EE"/>
                </a:solidFill>
                <a:latin typeface="Arial"/>
                <a:ea typeface="Arial"/>
              </a:rPr>
              <a:t>Demand is stable</a:t>
            </a:r>
            <a:endParaRPr lang="en-US"/>
          </a:p>
        </p:txBody>
      </p:sp>
      <p:sp>
        <p:nvSpPr>
          <p:cNvPr id="23" name="decision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58B88B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4" name="decision-rule-1"/>
          <p:cNvSpPr/>
          <p:nvPr/>
        </p:nvSpPr>
        <p:spPr>
          <a:xfrm xmlns:a="http://schemas.openxmlformats.org/drawingml/2006/main">
            <a:off x="2000250" y="4429125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decision-label-1"/>
          <p:cNvSpPr txBox="1"/>
          <p:nvPr/>
        </p:nvSpPr>
        <p:spPr>
          <a:xfrm xmlns:a="http://schemas.openxmlformats.org/drawingml/2006/main">
            <a:off x="2209800" y="42195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EEF4EE"/>
                </a:solidFill>
                <a:latin typeface="Arial"/>
                <a:ea typeface="Arial"/>
              </a:rPr>
              <a:t>Constraint</a:t>
            </a:r>
            <a:endParaRPr lang="en-US"/>
          </a:p>
        </p:txBody>
      </p:sp>
      <p:sp>
        <p:nvSpPr>
          <p:cNvPr id="26" name="decision-text-1"/>
          <p:cNvSpPr txBox="1"/>
          <p:nvPr/>
        </p:nvSpPr>
        <p:spPr>
          <a:xfrm xmlns:a="http://schemas.openxmlformats.org/drawingml/2006/main">
            <a:off x="4476750" y="42672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EEF4EE"/>
                </a:solidFill>
                <a:latin typeface="Arial"/>
                <a:ea typeface="Arial"/>
              </a:rPr>
              <a:t>Concentration drives variance</a:t>
            </a:r>
            <a:endParaRPr lang="en-US"/>
          </a:p>
        </p:txBody>
      </p:sp>
      <p:sp>
        <p:nvSpPr>
          <p:cNvPr id="27" name="decision-number-2"/>
          <p:cNvSpPr txBox="1"/>
          <p:nvPr/>
        </p:nvSpPr>
        <p:spPr>
          <a:xfrm xmlns:a="http://schemas.openxmlformats.org/drawingml/2006/main">
            <a:off x="1104900" y="51625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58B88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8" name="decision-rule-2"/>
          <p:cNvSpPr/>
          <p:nvPr/>
        </p:nvSpPr>
        <p:spPr>
          <a:xfrm xmlns:a="http://schemas.openxmlformats.org/drawingml/2006/main">
            <a:off x="2000250" y="5324475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decision-label-2"/>
          <p:cNvSpPr txBox="1"/>
          <p:nvPr/>
        </p:nvSpPr>
        <p:spPr>
          <a:xfrm xmlns:a="http://schemas.openxmlformats.org/drawingml/2006/main">
            <a:off x="2209800" y="51149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EEF4EE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30" name="decision-text-2"/>
          <p:cNvSpPr txBox="1"/>
          <p:nvPr/>
        </p:nvSpPr>
        <p:spPr>
          <a:xfrm xmlns:a="http://schemas.openxmlformats.org/drawingml/2006/main">
            <a:off x="4476750" y="51625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EEF4EE"/>
                </a:solidFill>
                <a:latin typeface="Arial"/>
                <a:ea typeface="Arial"/>
              </a:rPr>
              <a:t>Protect the strongest channel</a:t>
            </a:r>
            <a:endParaRPr lang="en-US"/>
          </a:p>
        </p:txBody>
      </p:sp>
      <p:sp>
        <p:nvSpPr>
          <p:cNvPr id="31" name="decision-summary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58B88B"/>
                </a:solidFill>
                <a:latin typeface="Arial"/>
                <a:ea typeface="Arial"/>
              </a:rPr>
              <a:t>DECISION LOGIC</a:t>
            </a:r>
            <a:endParaRPr lang="en-US"/>
          </a:p>
        </p:txBody>
      </p:sp>
      <p:sp>
        <p:nvSpPr>
          <p:cNvPr id="32" name="decision-summary"/>
          <p:cNvSpPr txBox="1"/>
          <p:nvPr/>
        </p:nvSpPr>
        <p:spPr>
          <a:xfrm xmlns:a="http://schemas.openxmlformats.org/drawingml/2006/main">
            <a:off x="10287000" y="3810000"/>
            <a:ext cx="323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EEF4EE"/>
                </a:solidFill>
                <a:latin typeface="Arial"/>
                <a:ea typeface="Arial"/>
              </a:rPr>
              <a:t>A page earns density when each line changes the choice.</a:t>
            </a:r>
            <a:endParaRPr lang="en-US"/>
          </a:p>
        </p:txBody>
      </p:sp>
      <p:sp>
        <p:nvSpPr>
          <p:cNvPr id="33" name="decision-callout"/>
          <p:cNvSpPr/>
          <p:nvPr/>
        </p:nvSpPr>
        <p:spPr>
          <a:xfrm xmlns:a="http://schemas.openxmlformats.org/drawingml/2006/main">
            <a:off x="10287000" y="5219700"/>
            <a:ext cx="3238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4" name="decision-callout-text"/>
          <p:cNvSpPr txBox="1"/>
          <p:nvPr/>
        </p:nvSpPr>
        <p:spPr>
          <a:xfrm xmlns:a="http://schemas.openxmlformats.org/drawingml/2006/main">
            <a:off x="10572750" y="5476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2124"/>
                </a:solidFill>
                <a:latin typeface="Arial"/>
                <a:ea typeface="Arial"/>
              </a:rPr>
              <a:t>ONE LEVER · ONE OWNER · ONE DATE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E"/>
          </a:solidFill>
          <a:ln xmlns:a="http://schemas.openxmlformats.org/drawingml/2006/main" w="0">
            <a:solidFill>
              <a:srgbClr val="EEF4E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3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522"/>
          </a:solidFill>
          <a:ln xmlns:a="http://schemas.openxmlformats.org/drawingml/2006/main" w="0">
            <a:solidFill>
              <a:srgbClr val="202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OSS TRANSFORMATION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58B88B"/>
                </a:solidFill>
                <a:latin typeface="Arial"/>
                <a:ea typeface="Arial"/>
              </a:rPr>
              <a:t>MOSS TRANSFORMATION · VISUAL CARRIER</a:t>
            </a:r>
            <a:endParaRPr lang="en-US"/>
          </a:p>
        </p:txBody>
      </p:sp>
      <p:sp>
        <p:nvSpPr>
          <p:cNvPr id="16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EEF4EE"/>
                </a:solidFill>
                <a:latin typeface="Arial"/>
                <a:ea typeface="Arial"/>
              </a:rPr>
              <a:t>Make the choice legible</a:t>
            </a:r>
            <a:endParaRPr lang="en-US"/>
          </a:p>
        </p:txBody>
      </p:sp>
      <p:sp>
        <p:nvSpPr>
          <p:cNvPr id="17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38884"/>
                </a:solidFill>
                <a:latin typeface="Arial"/>
                <a:ea typeface="Arial"/>
              </a:rPr>
              <a:t>A single visual cue can make the recommendation easier to remember.</a:t>
            </a:r>
            <a:endParaRPr lang="en-US"/>
          </a:p>
        </p:txBody>
      </p:sp>
      <p:sp>
        <p:nvSpPr>
          <p:cNvPr id="18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ac82c6e64514e45"/>
          </a:graphicData>
        </a:graphic>
      </p:graphicFrame>
      <p:graphicFrame>
        <p:nvGraphicFramePr>
          <p:cNvPr id="20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ba97b790c704057"/>
          </a:graphicData>
        </a:graphic>
      </p:graphicFrame>
      <p:sp>
        <p:nvSpPr>
          <p:cNvPr id="21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58B88B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23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EEF4EE"/>
                </a:solidFill>
                <a:latin typeface="Arial"/>
                <a:ea typeface="Arial"/>
              </a:rPr>
              <a:t>Choice before inventory</a:t>
            </a:r>
            <a:endParaRPr lang="en-US"/>
          </a:p>
        </p:txBody>
      </p:sp>
      <p:sp>
        <p:nvSpPr>
          <p:cNvPr id="24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38884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522"/>
          </a:solidFill>
          <a:ln xmlns:a="http://schemas.openxmlformats.org/drawingml/2006/main" w="0">
            <a:solidFill>
              <a:srgbClr val="202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E"/>
          </a:solidFill>
          <a:ln xmlns:a="http://schemas.openxmlformats.org/drawingml/2006/main" w="0">
            <a:solidFill>
              <a:srgbClr val="EEF4E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OSS TRANSFORMATION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58B88B"/>
                </a:solidFill>
                <a:latin typeface="Arial"/>
                <a:ea typeface="Arial"/>
              </a:rPr>
              <a:t>MOSS TRANSFORMATION · CLOSE</a:t>
            </a:r>
            <a:endParaRPr lang="en-US"/>
          </a:p>
        </p:txBody>
      </p:sp>
      <p:sp>
        <p:nvSpPr>
          <p:cNvPr id="16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EEF4EE"/>
                </a:solidFill>
                <a:latin typeface="Arial"/>
                <a:ea typeface="Arial"/>
              </a:rPr>
              <a:t>The recommendation is narrow by design</a:t>
            </a:r>
            <a:endParaRPr lang="en-US"/>
          </a:p>
        </p:txBody>
      </p:sp>
      <p:sp>
        <p:nvSpPr>
          <p:cNvPr id="17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38884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18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58B88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EEF4EE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2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EEF4EE"/>
                </a:solidFill>
                <a:latin typeface="Arial"/>
                <a:ea typeface="Arial"/>
              </a:rPr>
              <a:t>Concentration drives the variance.</a:t>
            </a:r>
            <a:endParaRPr lang="en-US"/>
          </a:p>
        </p:txBody>
      </p:sp>
      <p:sp>
        <p:nvSpPr>
          <p:cNvPr id="2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EF4EE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EEF4EE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2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EEF4EE"/>
                </a:solidFill>
                <a:latin typeface="Arial"/>
                <a:ea typeface="Arial"/>
              </a:rPr>
              <a:t>Protect the strongest channel first.</a:t>
            </a:r>
            <a:endParaRPr lang="en-US"/>
          </a:p>
        </p:txBody>
      </p:sp>
      <p:sp>
        <p:nvSpPr>
          <p:cNvPr id="2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58B88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EEF4EE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3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EEF4EE"/>
                </a:solidFill>
                <a:latin typeface="Arial"/>
                <a:ea typeface="Arial"/>
              </a:rPr>
              <a:t>Return with a gated decision.</a:t>
            </a:r>
            <a:endParaRPr lang="en-US"/>
          </a:p>
        </p:txBody>
      </p:sp>
      <p:sp>
        <p:nvSpPr>
          <p:cNvPr id="3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2124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3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2124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3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202124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