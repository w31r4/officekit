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officeKit/program.ppj" ContentType="application/vnd.officekit.ppj+json"/>
  <Override PartName="/officeKit/program-map.json" ContentType="application/vnd.officekit.ppj-map+json"/>
  <Override PartName="/officeKit/assets/5bf6700ea6b7d63cf418ba286181687cf0a623c7fb78211eb5dc7163dce82e33.bin" ContentType="image/jpeg"/>
  <Override PartName="/officeKit/assets/fa4d5790b46eee73893efd42a92dce82c25bdeef417dc3f56423102bceb886ba.bin" ContentType="image/jpeg"/>
  <Override PartName="/officeKit/assets/bc712517c9cdb9ffa838ece603efbe2d9ffc2da0922cb4b3184934b16fd7575b.bin" ContentType="image/jpeg"/>
</Types>
</file>

<file path=_rels/.rels><?xml version="1.0" encoding="utf-8"?><Relationships xmlns="http://schemas.openxmlformats.org/package/2006/relationships"><Relationship Type="http://schemas.openxmlformats.org/officeDocument/2006/relationships/officeDocument" Target="/ppt/presentation.xml" Id="rIdOfficeKitPresentation" /><Relationship Id="rIdOfficeKitProgram" Type="https://schemas.officekit.dev/relationships/presentation-program" Target="officeKit/program.ppj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Office Clean Roo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Night Sig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5070A"/>
      </a:accent1>
      <a:accent2>
        <a:srgbClr val="0D1218"/>
      </a:accent2>
      <a:accent3>
        <a:srgbClr val="F6F8FA"/>
      </a:accent3>
      <a:accent4>
        <a:srgbClr val="A7B0BA"/>
      </a:accent4>
      <a:accent5>
        <a:srgbClr val="31C7D9"/>
      </a:accent5>
      <a:accent6>
        <a:srgbClr val="F1A51A"/>
      </a:accent6>
      <a:hlink>
        <a:srgbClr val="0000FF"/>
      </a:hlink>
      <a:folHlink>
        <a:srgbClr val="800080"/>
      </a:folHlink>
    </a:clrScheme>
    <a:fontScheme name="Night Sign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Night Sig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5bf6700ea6b7d63c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fa4d5790b46eee73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bc712517c9cdb9ff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cinematic cover">
    <p:bg>
      <p:bgPr>
        <a:solidFill xmlns:a="http://schemas.openxmlformats.org/drawingml/2006/main">
          <a:srgbClr val="05070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motion identity" descr="Night highway and city lights establishing the operating context."/>
          <p:cNvPicPr>
            <a:picLocks xmlns:a="http://schemas.openxmlformats.org/drawingml/2006/main" noGrp="1" noSelect="1" noRot="1" noChangeAspect="1" noMove="1" noResize="1" noEditPoints="1" noAdjustHandles="1" noChangeArrowheads="1" noChangeShapeType="1" noCrop="1"/>
          </p:cNvPicPr>
          <p:nvPr/>
        </p:nvPicPr>
        <p:blipFill>
          <a:blip xmlns:r="http://schemas.openxmlformats.org/officeDocument/2006/relationships" xmlns:a="http://schemas.openxmlformats.org/drawingml/2006/main" r:embed="rIdOfficeKitImage5bf6700ea6b7d63c_1"/>
          <a:srcRect xmlns:a="http://schemas.openxmlformats.org/drawingml/2006/main" l="22840" t="0" r="2284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04000" y="0"/>
            <a:ext cx="5588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opening-scrim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350000" y="0"/>
            <a:ext cx="2286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100000">
                <a:srgbClr val="05070A">
                  <a:alpha val="0"/>
                </a:srgbClr>
              </a:gs>
            </a:gsLst>
            <a:lin ang="0" scaled="0"/>
          </a:gra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opening-kicker" descr="Deck category"/>
          <p:cNvSpPr txBox="1"/>
          <p:nvPr/>
        </p:nvSpPr>
        <p:spPr>
          <a:xfrm xmlns:a="http://schemas.openxmlformats.org/drawingml/2006/main">
            <a:off x="711200" y="6096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50">
                <a:solidFill>
                  <a:srgbClr val="31C7D9"/>
                </a:solidFill>
                <a:latin typeface="Arial"/>
                <a:ea typeface="Arial"/>
              </a:rPr>
              <a:t>URBAN OPERATIONS · NIGHT CORRIDOR</a:t>
            </a:r>
            <a:endParaRPr lang="en-US"/>
          </a:p>
        </p:txBody>
      </p:sp>
      <p:sp>
        <p:nvSpPr>
          <p:cNvPr id="5" name="opening-title" descr="Presentation title"/>
          <p:cNvSpPr txBox="1"/>
          <p:nvPr/>
        </p:nvSpPr>
        <p:spPr>
          <a:xfrm xmlns:a="http://schemas.openxmlformats.org/drawingml/2006/main">
            <a:off x="711200" y="1803400"/>
            <a:ext cx="5461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F6F8FA"/>
                </a:solidFill>
                <a:latin typeface="Arial"/>
                <a:ea typeface="Arial"/>
              </a:rPr>
              <a:t>Night Shift
Signal System</a:t>
            </a:r>
            <a:endParaRPr lang="en-US"/>
          </a:p>
        </p:txBody>
      </p:sp>
      <p:sp>
        <p:nvSpPr>
          <p:cNvPr id="6" name="opening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711200" y="3987800"/>
            <a:ext cx="812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7" name="opening-subtitle" descr="Presentation proposition"/>
          <p:cNvSpPr txBox="1"/>
          <p:nvPr/>
        </p:nvSpPr>
        <p:spPr>
          <a:xfrm xmlns:a="http://schemas.openxmlformats.org/drawingml/2006/main">
            <a:off x="711200" y="42926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6F8FA"/>
                </a:solidFill>
                <a:latin typeface="Arial"/>
                <a:ea typeface="Arial"/>
              </a:rPr>
              <a:t>From fragmented night demand
to one observable dispatch window</a:t>
            </a:r>
            <a:endParaRPr lang="en-US"/>
          </a:p>
        </p:txBody>
      </p:sp>
      <p:sp>
        <p:nvSpPr>
          <p:cNvPr id="8" name="opening-meta" descr="Calibration boundary"/>
          <p:cNvSpPr txBox="1"/>
          <p:nvPr/>
        </p:nvSpPr>
        <p:spPr>
          <a:xfrm xmlns:a="http://schemas.openxmlformats.org/drawingml/2006/main">
            <a:off x="711200" y="5943600"/>
            <a:ext cx="444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4 calibration pages · synthetic data · 2026</a:t>
            </a:r>
            <a:endParaRPr lang="en-US"/>
          </a:p>
        </p:txBody>
      </p:sp>
      <p:sp>
        <p:nvSpPr>
          <p:cNvPr id="9" name="opening-credit" descr="Photo credit"/>
          <p:cNvSpPr txBox="1"/>
          <p:nvPr/>
        </p:nvSpPr>
        <p:spPr>
          <a:xfrm xmlns:a="http://schemas.openxmlformats.org/drawingml/2006/main">
            <a:off x="7086600" y="6477000"/>
            <a:ext cx="444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Photo · kennymatic · CC BY 2.0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image-backed evidence">
    <p:bg>
      <p:bgPr>
        <a:blipFill xmlns:a="http://schemas.openxmlformats.org/drawingml/2006/main">
          <a:blip xmlns:r="http://schemas.openxmlformats.org/officeDocument/2006/relationships" r:embed="rIdOfficeKitImagefa4d5790b46eee73_1">
            <a:alphaModFix amt="88000"/>
          </a:blip>
          <a:srcRect l="5556" t="0" r="5556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etwork-scrim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>
              <a:alpha val="56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network-kicker" descr="Evidence category"/>
          <p:cNvSpPr txBox="1"/>
          <p:nvPr/>
        </p:nvSpPr>
        <p:spPr>
          <a:xfrm xmlns:a="http://schemas.openxmlformats.org/drawingml/2006/main">
            <a:off x="711200" y="508000"/>
            <a:ext cx="482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50">
                <a:solidFill>
                  <a:srgbClr val="31C7D9"/>
                </a:solidFill>
                <a:latin typeface="Arial"/>
                <a:ea typeface="Arial"/>
              </a:rPr>
              <a:t>SIGNAL SCALE · SYNTHETIC NIGHT DEMAND</a:t>
            </a:r>
            <a:endParaRPr lang="en-US"/>
          </a:p>
        </p:txBody>
      </p:sp>
      <p:sp>
        <p:nvSpPr>
          <p:cNvPr id="4" name="network-title" descr="Evidence conclusion"/>
          <p:cNvSpPr txBox="1"/>
          <p:nvPr/>
        </p:nvSpPr>
        <p:spPr>
          <a:xfrm xmlns:a="http://schemas.openxmlformats.org/drawingml/2006/main">
            <a:off x="711200" y="1041400"/>
            <a:ext cx="7874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700">
                <a:solidFill>
                  <a:srgbClr val="F6F8FA"/>
                </a:solidFill>
                <a:latin typeface="Arial"/>
                <a:ea typeface="Arial"/>
              </a:rPr>
              <a:t>68% of night requests cluster
along twelve connected corridors</a:t>
            </a:r>
            <a:endParaRPr lang="en-US"/>
          </a:p>
        </p:txBody>
      </p:sp>
      <p:sp>
        <p:nvSpPr>
          <p:cNvPr id="5" name="network-metric" descr="Synthetic clustered demand share"/>
          <p:cNvSpPr txBox="1"/>
          <p:nvPr/>
        </p:nvSpPr>
        <p:spPr>
          <a:xfrm xmlns:a="http://schemas.openxmlformats.org/drawingml/2006/main">
            <a:off x="711200" y="312420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6F8FA"/>
                </a:solidFill>
                <a:latin typeface="Arial"/>
                <a:ea typeface="Arial"/>
              </a:rPr>
              <a:t>68%</a:t>
            </a:r>
            <a:endParaRPr lang="en-US"/>
          </a:p>
        </p:txBody>
      </p:sp>
      <p:sp>
        <p:nvSpPr>
          <p:cNvPr id="6" name="network-label" descr="Metric definition"/>
          <p:cNvSpPr txBox="1"/>
          <p:nvPr/>
        </p:nvSpPr>
        <p:spPr>
          <a:xfrm xmlns:a="http://schemas.openxmlformats.org/drawingml/2006/main">
            <a:off x="736600" y="4089400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ILLUSTRATIVE REQUEST SHARE
20:00—02:00</a:t>
            </a:r>
            <a:endParaRPr lang="en-US"/>
          </a:p>
        </p:txBody>
      </p:sp>
      <p:cxnSp>
        <p:nvCxnSpPr>
          <p:cNvPr id="7" name="network-route" descr="Signal route from demand to dispatch"/>
          <p:cNvCxnSpPr/>
          <p:nvPr/>
        </p:nvCxnSpPr>
        <p:spPr>
          <a:xfrm xmlns:a="http://schemas.openxmlformats.org/drawingml/2006/main" flipH="0" flipV="0">
            <a:off x="4419600" y="3530600"/>
            <a:ext cx="6223000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rnd">
            <a:solidFill>
              <a:srgbClr val="31C7D9"/>
            </a:solidFill>
            <a:round/>
            <a:tailEnd type="triangle"/>
          </a:ln>
        </p:spPr>
      </p:cxnSp>
      <p:sp>
        <p:nvSpPr>
          <p:cNvPr id="8" name="network-step-1" descr="Demand node"/>
          <p:cNvSpPr txBox="1"/>
          <p:nvPr/>
        </p:nvSpPr>
        <p:spPr>
          <a:xfrm xmlns:a="http://schemas.openxmlformats.org/drawingml/2006/main">
            <a:off x="4419600" y="3708400"/>
            <a:ext cx="165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DEMAND
12 corridors</a:t>
            </a:r>
            <a:endParaRPr lang="en-US"/>
          </a:p>
        </p:txBody>
      </p:sp>
      <p:sp>
        <p:nvSpPr>
          <p:cNvPr id="9" name="network-step-2" descr="Detection node"/>
          <p:cNvSpPr txBox="1"/>
          <p:nvPr/>
        </p:nvSpPr>
        <p:spPr>
          <a:xfrm xmlns:a="http://schemas.openxmlformats.org/drawingml/2006/main">
            <a:off x="6959600" y="3708400"/>
            <a:ext cx="165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DETECTION
4-minute window</a:t>
            </a:r>
            <a:endParaRPr lang="en-US"/>
          </a:p>
        </p:txBody>
      </p:sp>
      <p:sp>
        <p:nvSpPr>
          <p:cNvPr id="10" name="network-step-3" descr="Dispatch node"/>
          <p:cNvSpPr txBox="1"/>
          <p:nvPr/>
        </p:nvSpPr>
        <p:spPr>
          <a:xfrm xmlns:a="http://schemas.openxmlformats.org/drawingml/2006/main">
            <a:off x="9423400" y="37084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DISPATCH
2 control zones</a:t>
            </a:r>
            <a:endParaRPr lang="en-US"/>
          </a:p>
        </p:txBody>
      </p:sp>
      <p:sp>
        <p:nvSpPr>
          <p:cNvPr id="11" name="network-source" descr="Evidence and image source"/>
          <p:cNvSpPr txBox="1"/>
          <p:nvPr/>
        </p:nvSpPr>
        <p:spPr>
          <a:xfrm xmlns:a="http://schemas.openxmlformats.org/drawingml/2006/main">
            <a:off x="711200" y="6375400"/>
            <a:ext cx="965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Source · Synthetic calibration model · image: NASA GSFC / NOAA NGDC · public domain</a:t>
            </a:r>
            <a:endParaRPr lang="en-US"/>
          </a:p>
        </p:txBody>
      </p:sp>
      <p:sp>
        <p:nvSpPr>
          <p:cNvPr id="12" name="network-folio" descr="Page number"/>
          <p:cNvSpPr txBox="1"/>
          <p:nvPr/>
        </p:nvSpPr>
        <p:spPr>
          <a:xfrm xmlns:a="http://schemas.openxmlformats.org/drawingml/2006/main">
            <a:off x="11150600" y="63754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02 / 04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operating mechanism">
    <p:bg>
      <p:bgPr>
        <a:solidFill xmlns:a="http://schemas.openxmlformats.org/drawingml/2006/main">
          <a:srgbClr val="0D121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operating context" descr="Historical mission control used as contextual operating-system imagery."/>
          <p:cNvPicPr>
            <a:picLocks xmlns:a="http://schemas.openxmlformats.org/drawingml/2006/main" noGrp="1" noSelect="1" noRot="1" noChangeAspect="1" noMove="1" noResize="1" noEditPoints="1" noAdjustHandles="1" noChangeArrowheads="1" noChangeShapeType="1" noCrop="1"/>
          </p:cNvPicPr>
          <p:nvPr/>
        </p:nvPicPr>
        <p:blipFill>
          <a:blip xmlns:r="http://schemas.openxmlformats.org/officeDocument/2006/relationships" xmlns:a="http://schemas.openxmlformats.org/drawingml/2006/main" r:embed="rIdOfficeKitImagebc712517c9cdb9ff_1">
            <a:alphaModFix amt="82000"/>
          </a:blip>
          <a:srcRect xmlns:a="http://schemas.openxmlformats.org/drawingml/2006/main" l="15143" t="0" r="15143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65024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ntrol-scrim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0" y="0"/>
            <a:ext cx="650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>
              <a:alpha val="38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rol-kicker" descr="Mechanism category"/>
          <p:cNvSpPr txBox="1"/>
          <p:nvPr/>
        </p:nvSpPr>
        <p:spPr>
          <a:xfrm xmlns:a="http://schemas.openxmlformats.org/drawingml/2006/main">
            <a:off x="6959600" y="533400"/>
            <a:ext cx="431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50">
                <a:solidFill>
                  <a:srgbClr val="31C7D9"/>
                </a:solidFill>
                <a:latin typeface="Arial"/>
                <a:ea typeface="Arial"/>
              </a:rPr>
              <a:t>CONTROL WINDOW · RESPONSE CHAIN</a:t>
            </a:r>
            <a:endParaRPr lang="en-US"/>
          </a:p>
        </p:txBody>
      </p:sp>
      <p:sp>
        <p:nvSpPr>
          <p:cNvPr id="5" name="control-title" descr="Mechanism conclusion"/>
          <p:cNvSpPr txBox="1"/>
          <p:nvPr/>
        </p:nvSpPr>
        <p:spPr>
          <a:xfrm xmlns:a="http://schemas.openxmlformats.org/drawingml/2006/main">
            <a:off x="6959600" y="1041400"/>
            <a:ext cx="4445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700">
                <a:solidFill>
                  <a:srgbClr val="F6F8FA"/>
                </a:solidFill>
                <a:latin typeface="Arial"/>
                <a:ea typeface="Arial"/>
              </a:rPr>
              <a:t>Every handoff stays
inside fourteen minutes</a:t>
            </a:r>
            <a:endParaRPr lang="en-US"/>
          </a:p>
        </p:txBody>
      </p:sp>
      <p:cxnSp>
        <p:nvCxnSpPr>
          <p:cNvPr id="6" name="control-baselin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88200" y="3937000"/>
            <a:ext cx="3835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 cap="rnd">
            <a:solidFill>
              <a:srgbClr val="27313A"/>
            </a:solidFill>
            <a:round/>
          </a:ln>
        </p:spPr>
      </p:cxnSp>
      <p:sp>
        <p:nvSpPr>
          <p:cNvPr id="7" name="control-detect" descr="Detect stage duration: 3 minutes 40 seconds"/>
          <p:cNvSpPr/>
          <p:nvPr/>
        </p:nvSpPr>
        <p:spPr>
          <a:xfrm xmlns:a="http://schemas.openxmlformats.org/drawingml/2006/main">
            <a:off x="7188200" y="3124200"/>
            <a:ext cx="7112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8" name="control-decide" descr="Decide stage duration: 7 minutes 10 seconds"/>
          <p:cNvSpPr/>
          <p:nvPr/>
        </p:nvSpPr>
        <p:spPr>
          <a:xfrm xmlns:a="http://schemas.openxmlformats.org/drawingml/2006/main">
            <a:off x="8610600" y="2628900"/>
            <a:ext cx="71120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control-recover" descr="Recover stage total window: 14 minutes 20 seconds"/>
          <p:cNvSpPr/>
          <p:nvPr/>
        </p:nvSpPr>
        <p:spPr>
          <a:xfrm xmlns:a="http://schemas.openxmlformats.org/drawingml/2006/main">
            <a:off x="10033000" y="2082800"/>
            <a:ext cx="711200" cy="18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5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" name="control-detect-label" descr="Detect label"/>
          <p:cNvSpPr txBox="1"/>
          <p:nvPr/>
        </p:nvSpPr>
        <p:spPr>
          <a:xfrm xmlns:a="http://schemas.openxmlformats.org/drawingml/2006/main">
            <a:off x="7035800" y="4114800"/>
            <a:ext cx="104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DETECT
03:40</a:t>
            </a:r>
            <a:endParaRPr lang="en-US"/>
          </a:p>
        </p:txBody>
      </p:sp>
      <p:sp>
        <p:nvSpPr>
          <p:cNvPr id="11" name="control-decide-label" descr="Decide label"/>
          <p:cNvSpPr txBox="1"/>
          <p:nvPr/>
        </p:nvSpPr>
        <p:spPr>
          <a:xfrm xmlns:a="http://schemas.openxmlformats.org/drawingml/2006/main">
            <a:off x="8458200" y="4114800"/>
            <a:ext cx="104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DECIDE
07:10</a:t>
            </a:r>
            <a:endParaRPr lang="en-US"/>
          </a:p>
        </p:txBody>
      </p:sp>
      <p:sp>
        <p:nvSpPr>
          <p:cNvPr id="12" name="control-recover-label" descr="Recover label"/>
          <p:cNvSpPr txBox="1"/>
          <p:nvPr/>
        </p:nvSpPr>
        <p:spPr>
          <a:xfrm xmlns:a="http://schemas.openxmlformats.org/drawingml/2006/main">
            <a:off x="9804400" y="4114800"/>
            <a:ext cx="129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RECOVER
14:20</a:t>
            </a:r>
            <a:endParaRPr lang="en-US"/>
          </a:p>
        </p:txBody>
      </p:sp>
      <p:sp>
        <p:nvSpPr>
          <p:cNvPr id="13" name="control-read" descr="Operating interpretation"/>
          <p:cNvSpPr txBox="1"/>
          <p:nvPr/>
        </p:nvSpPr>
        <p:spPr>
          <a:xfrm xmlns:a="http://schemas.openxmlformats.org/drawingml/2006/main">
            <a:off x="6959600" y="5207000"/>
            <a:ext cx="4318000" cy="7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7B0BA"/>
                </a:solidFill>
                <a:latin typeface="Arial"/>
                <a:ea typeface="Arial"/>
              </a:rPr>
              <a:t>The pilot fails if any stage loses its timestamp, owner, or decision basis.</a:t>
            </a:r>
            <a:endParaRPr lang="en-US"/>
          </a:p>
        </p:txBody>
      </p:sp>
      <p:sp>
        <p:nvSpPr>
          <p:cNvPr id="14" name="control-credit" descr="Photo credit"/>
          <p:cNvSpPr txBox="1"/>
          <p:nvPr/>
        </p:nvSpPr>
        <p:spPr>
          <a:xfrm xmlns:a="http://schemas.openxmlformats.org/drawingml/2006/main">
            <a:off x="3556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Photo · Apollo 13 Mission Control · NASA · public domain · contextual only</a:t>
            </a:r>
            <a:endParaRPr lang="en-US"/>
          </a:p>
        </p:txBody>
      </p:sp>
      <p:sp>
        <p:nvSpPr>
          <p:cNvPr id="15" name="control-folio" descr="Page number"/>
          <p:cNvSpPr txBox="1"/>
          <p:nvPr/>
        </p:nvSpPr>
        <p:spPr>
          <a:xfrm xmlns:a="http://schemas.openxmlformats.org/drawingml/2006/main">
            <a:off x="11150600" y="64770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03 / 04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closing decision">
    <p:bg>
      <p:bgPr>
        <a:solidFill xmlns:a="http://schemas.openxmlformats.org/drawingml/2006/main">
          <a:srgbClr val="05070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ecision-kicker" descr="Decision category"/>
          <p:cNvSpPr txBox="1"/>
          <p:nvPr/>
        </p:nvSpPr>
        <p:spPr>
          <a:xfrm xmlns:a="http://schemas.openxmlformats.org/drawingml/2006/main">
            <a:off x="711200" y="558800"/>
            <a:ext cx="5334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50">
                <a:solidFill>
                  <a:srgbClr val="31C7D9"/>
                </a:solidFill>
                <a:latin typeface="Arial"/>
                <a:ea typeface="Arial"/>
              </a:rPr>
              <a:t>PILOT DECISION · OBSERVABILITY BEFORE SCALE</a:t>
            </a:r>
            <a:endParaRPr lang="en-US"/>
          </a:p>
        </p:txBody>
      </p:sp>
      <p:sp>
        <p:nvSpPr>
          <p:cNvPr id="3" name="decision-title" descr="Closing decision"/>
          <p:cNvSpPr txBox="1"/>
          <p:nvPr/>
        </p:nvSpPr>
        <p:spPr>
          <a:xfrm xmlns:a="http://schemas.openxmlformats.org/drawingml/2006/main">
            <a:off x="711200" y="1219200"/>
            <a:ext cx="96520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F6F8FA"/>
                </a:solidFill>
                <a:latin typeface="Arial"/>
                <a:ea typeface="Arial"/>
              </a:rPr>
              <a:t>Open two corridors.
Scale only after every signal survives.</a:t>
            </a:r>
            <a:endParaRPr lang="en-US"/>
          </a:p>
        </p:txBody>
      </p:sp>
      <p:sp>
        <p:nvSpPr>
          <p:cNvPr id="4" name="decision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711200" y="3048000"/>
            <a:ext cx="10769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5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decision-approve-label" descr="Immediate decision label"/>
          <p:cNvSpPr txBox="1"/>
          <p:nvPr/>
        </p:nvSpPr>
        <p:spPr>
          <a:xfrm xmlns:a="http://schemas.openxmlformats.org/drawingml/2006/main">
            <a:off x="711200" y="3657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APPROVE NOW</a:t>
            </a:r>
            <a:endParaRPr lang="en-US"/>
          </a:p>
        </p:txBody>
      </p:sp>
      <p:sp>
        <p:nvSpPr>
          <p:cNvPr id="6" name="decision-approve" descr="Immediate pilot scope"/>
          <p:cNvSpPr txBox="1"/>
          <p:nvPr/>
        </p:nvSpPr>
        <p:spPr>
          <a:xfrm xmlns:a="http://schemas.openxmlformats.org/drawingml/2006/main">
            <a:off x="711200" y="41402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6F8FA"/>
                </a:solidFill>
                <a:latin typeface="Arial"/>
                <a:ea typeface="Arial"/>
              </a:rPr>
              <a:t>Two corridors
One shared event ledger
Four-week observation window</a:t>
            </a:r>
            <a:endParaRPr lang="en-US"/>
          </a:p>
        </p:txBody>
      </p:sp>
      <p:sp>
        <p:nvSpPr>
          <p:cNvPr id="7" name="decision-gates-label" descr="Scale gate label"/>
          <p:cNvSpPr txBox="1"/>
          <p:nvPr/>
        </p:nvSpPr>
        <p:spPr>
          <a:xfrm xmlns:a="http://schemas.openxmlformats.org/drawingml/2006/main">
            <a:off x="6705600" y="3657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50" b="1" spc="70">
                <a:solidFill>
                  <a:srgbClr val="F6F8FA"/>
                </a:solidFill>
                <a:latin typeface="Arial"/>
                <a:ea typeface="Arial"/>
              </a:rPr>
              <a:t>SCALE GATES</a:t>
            </a:r>
            <a:endParaRPr lang="en-US"/>
          </a:p>
        </p:txBody>
      </p:sp>
      <p:sp>
        <p:nvSpPr>
          <p:cNvPr id="8" name="decision-gates" descr="Scale conditions"/>
          <p:cNvSpPr txBox="1"/>
          <p:nvPr/>
        </p:nvSpPr>
        <p:spPr>
          <a:xfrm xmlns:a="http://schemas.openxmlformats.org/drawingml/2006/main">
            <a:off x="6705600" y="41402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6F8FA"/>
                </a:solidFill>
                <a:latin typeface="Arial"/>
                <a:ea typeface="Arial"/>
              </a:rPr>
              <a:t>≥95% event capture
&lt;15 min end-to-end response
No unresolved handoff ownership</a:t>
            </a:r>
            <a:endParaRPr lang="en-US"/>
          </a:p>
        </p:txBody>
      </p:sp>
      <p:sp>
        <p:nvSpPr>
          <p:cNvPr id="9" name="decision-source" descr="Evidence boundary"/>
          <p:cNvSpPr txBox="1"/>
          <p:nvPr/>
        </p:nvSpPr>
        <p:spPr>
          <a:xfrm xmlns:a="http://schemas.openxmlformats.org/drawingml/2006/main">
            <a:off x="711200" y="6350000"/>
            <a:ext cx="889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Source · Synthetic OfficeKit calibration brief · values are illustrative</a:t>
            </a:r>
            <a:endParaRPr lang="en-US"/>
          </a:p>
        </p:txBody>
      </p:sp>
      <p:sp>
        <p:nvSpPr>
          <p:cNvPr id="10" name="decision-folio" descr="Page number"/>
          <p:cNvSpPr txBox="1"/>
          <p:nvPr/>
        </p:nvSpPr>
        <p:spPr>
          <a:xfrm xmlns:a="http://schemas.openxmlformats.org/drawingml/2006/main">
            <a:off x="11150600" y="63500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A7B0BA"/>
                </a:solidFill>
                <a:latin typeface="Arial"/>
                <a:ea typeface="Arial"/>
              </a:rPr>
              <a:t>04 / 04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officeKit/_rels/program.ppj.rels><?xml version="1.0" encoding="utf-8" standalone="yes"?><Relationships xmlns="http://schemas.openxmlformats.org/package/2006/relationships"><Relationship Id="rIdOfficeKitProgramMap" Type="https://schemas.officekit.dev/relationships/presentation-program-map" Target="program-map.json" /><Relationship Id="rIdOfficeKitAsset0001" Type="https://schemas.officekit.dev/relationships/presentation-program-asset" Target="assets/5bf6700ea6b7d63cf418ba286181687cf0a623c7fb78211eb5dc7163dce82e33.bin" /><Relationship Id="rIdOfficeKitAsset0002" Type="https://schemas.officekit.dev/relationships/presentation-program-asset" Target="assets/bc712517c9cdb9ffa838ece603efbe2d9ffc2da0922cb4b3184934b16fd7575b.bin" /><Relationship Id="rIdOfficeKitAsset0003" Type="https://schemas.officekit.dev/relationships/presentation-program-asset" Target="assets/fa4d5790b46eee73893efd42a92dce82c25bdeef417dc3f56423102bceb886ba.bin" /></Relationships>
</file>