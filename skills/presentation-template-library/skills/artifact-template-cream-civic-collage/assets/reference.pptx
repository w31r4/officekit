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png" ContentType="image/pn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2404c13046f647a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png" Id="rIdOfficeKitImaged76941c9023026e2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1.xml" Id="Rd2ffd22e0810446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 by cohort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F0523B"/>
            </a:solidFill>
          </c:spP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42</c:v>
              </c:pt>
              <c:pt idx="1">
                <c:v>51</c:v>
              </c:pt>
              <c:pt idx="2">
                <c:v>58</c:v>
              </c:pt>
              <c:pt idx="3">
                <c:v>64</c:v>
              </c:pt>
              <c:pt idx="4">
                <c:v>68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898376"/>
            </a:solidFill>
          </c:spP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40</c:v>
              </c:pt>
              <c:pt idx="1">
                <c:v>43</c:v>
              </c:pt>
              <c:pt idx="2">
                <c:v>45</c:v>
              </c:pt>
              <c:pt idx="3">
                <c:v>47</c:v>
              </c:pt>
              <c:pt idx="4">
                <c:v>48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6CE"/>
          </a:solidFill>
          <a:ln xmlns:a="http://schemas.openxmlformats.org/drawingml/2006/main" w="0">
            <a:solidFill>
              <a:srgbClr val="F2E6C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523B"/>
          </a:solidFill>
          <a:ln xmlns:a="http://schemas.openxmlformats.org/drawingml/2006/main" w="0">
            <a:solidFill>
              <a:srgbClr val="F0523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4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0523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F0523B"/>
                </a:solidFill>
                <a:latin typeface="Arial"/>
                <a:ea typeface="Arial"/>
              </a:rPr>
              <a:t>PROMOTION · OFFICEKIT CALIBRATION</a:t>
            </a:r>
            <a:endParaRPr lang="en-US"/>
          </a:p>
        </p:txBody>
      </p:sp>
      <p:sp>
        <p:nvSpPr>
          <p:cNvPr id="16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71717"/>
                </a:solidFill>
                <a:latin typeface="Arial"/>
                <a:ea typeface="Arial"/>
              </a:rPr>
              <a:t>Cream Civic Collage: a claim worth testing</a:t>
            </a:r>
            <a:endParaRPr lang="en-US"/>
          </a:p>
        </p:txBody>
      </p:sp>
      <p:sp>
        <p:nvSpPr>
          <p:cNvPr id="17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F0523B"/>
                </a:solidFill>
                <a:latin typeface="Arial"/>
                <a:ea typeface="Arial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18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37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1717"/>
                </a:solidFill>
                <a:latin typeface="Arial"/>
                <a:ea typeface="Arial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20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71717"/>
                </a:solidFill>
                <a:latin typeface="Arial"/>
                <a:ea typeface="Arial"/>
              </a:rPr>
              <a:t>A proposition earns attention when it gives a next move.</a:t>
            </a:r>
            <a:endParaRPr lang="en-US"/>
          </a:p>
        </p:txBody>
      </p:sp>
      <p:sp>
        <p:nvSpPr>
          <p:cNvPr id="21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376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22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376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  <p:sp>
        <p:nvSpPr>
          <p:cNvPr id="23" name="anchor-shape"/>
          <p:cNvSpPr/>
          <p:nvPr/>
        </p:nvSpPr>
        <p:spPr>
          <a:xfrm xmlns:a="http://schemas.openxmlformats.org/drawingml/2006/main">
            <a:off x="11430000" y="2000250"/>
            <a:ext cx="20955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523B"/>
          </a:solidFill>
          <a:ln xmlns:a="http://schemas.openxmlformats.org/drawingml/2006/main" w="0">
            <a:solidFill>
              <a:srgbClr val="F0523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anchor-shape-two"/>
          <p:cNvSpPr/>
          <p:nvPr/>
        </p:nvSpPr>
        <p:spPr>
          <a:xfrm xmlns:a="http://schemas.openxmlformats.org/drawingml/2006/main">
            <a:off x="12096750" y="2743200"/>
            <a:ext cx="2095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ED7"/>
          </a:solidFill>
          <a:ln xmlns:a="http://schemas.openxmlformats.org/drawingml/2006/main" w="0">
            <a:solidFill>
              <a:srgbClr val="2E5ED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6CE"/>
          </a:solidFill>
          <a:ln xmlns:a="http://schemas.openxmlformats.org/drawingml/2006/main" w="0">
            <a:solidFill>
              <a:srgbClr val="F2E6C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523B"/>
          </a:solidFill>
          <a:ln xmlns:a="http://schemas.openxmlformats.org/drawingml/2006/main" w="0">
            <a:solidFill>
              <a:srgbClr val="F0523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4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0523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CREAM CIVIC COLLAGE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F0523B"/>
                </a:solidFill>
                <a:latin typeface="Arial"/>
                <a:ea typeface="Arial"/>
              </a:rPr>
              <a:t>CREAM CIVIC COLLAGE · ARGUMENT</a:t>
            </a:r>
            <a:endParaRPr lang="en-US"/>
          </a:p>
        </p:txBody>
      </p:sp>
      <p:sp>
        <p:nvSpPr>
          <p:cNvPr id="16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1717"/>
                </a:solidFill>
                <a:latin typeface="Arial"/>
                <a:ea typeface="Arial"/>
              </a:rPr>
              <a:t>The proposition is the page's visual center</a:t>
            </a:r>
            <a:endParaRPr lang="en-US"/>
          </a:p>
        </p:txBody>
      </p:sp>
      <p:sp>
        <p:nvSpPr>
          <p:cNvPr id="17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376"/>
                </a:solidFill>
                <a:latin typeface="Arial"/>
                <a:ea typeface="Arial"/>
              </a:rPr>
              <a:t>Scale, crop, and color invite attention without hiding the evidence.</a:t>
            </a:r>
            <a:endParaRPr lang="en-US"/>
          </a:p>
        </p:txBody>
      </p:sp>
      <p:sp>
        <p:nvSpPr>
          <p:cNvPr id="18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37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promotion-kicker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0523B"/>
                </a:solidFill>
                <a:latin typeface="Arial"/>
                <a:ea typeface="Arial"/>
              </a:rPr>
              <a:t>ONE PROPOSITION</a:t>
            </a:r>
            <a:endParaRPr lang="en-US"/>
          </a:p>
        </p:txBody>
      </p:sp>
      <p:sp>
        <p:nvSpPr>
          <p:cNvPr id="20" name="promotion-headline"/>
          <p:cNvSpPr txBox="1"/>
          <p:nvPr/>
        </p:nvSpPr>
        <p:spPr>
          <a:xfrm xmlns:a="http://schemas.openxmlformats.org/drawingml/2006/main">
            <a:off x="1104900" y="379095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625" b="1">
                <a:solidFill>
                  <a:srgbClr val="171717"/>
                </a:solidFill>
                <a:latin typeface="Arial"/>
                <a:ea typeface="Arial"/>
              </a:rPr>
              <a:t>Make the next action visible.</a:t>
            </a:r>
            <a:endParaRPr lang="en-US"/>
          </a:p>
        </p:txBody>
      </p:sp>
      <p:sp>
        <p:nvSpPr>
          <p:cNvPr id="21" name="promotion-body"/>
          <p:cNvSpPr txBox="1"/>
          <p:nvPr/>
        </p:nvSpPr>
        <p:spPr>
          <a:xfrm xmlns:a="http://schemas.openxmlformats.org/drawingml/2006/main">
            <a:off x="1104900" y="47625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171717"/>
                </a:solidFill>
                <a:latin typeface="Arial"/>
                <a:ea typeface="Arial"/>
              </a:rPr>
              <a:t>A clear invitation earns attention when evidence and access arrive together.</a:t>
            </a:r>
            <a:endParaRPr lang="en-US"/>
          </a:p>
        </p:txBody>
      </p:sp>
      <p:pic>
        <p:nvPicPr>
          <p:cNvPr id="22" name="promotion-hero-frame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d76941c9023026e2_1"/>
          <a:srcRect xmlns:a="http://schemas.openxmlformats.org/drawingml/2006/main" l="6250" t="0" r="6250" b="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525000" y="3143250"/>
            <a:ext cx="4000500" cy="2571750"/>
          </a:xfrm>
          <a:prstGeom xmlns:a="http://schemas.openxmlformats.org/drawingml/2006/main" prst="rect">
            <a:avLst/>
          </a:prstGeom>
        </p:spPr>
      </p:pic>
      <p:sp>
        <p:nvSpPr>
          <p:cNvPr id="23" name="promotion-image-rule"/>
          <p:cNvSpPr/>
          <p:nvPr/>
        </p:nvSpPr>
        <p:spPr>
          <a:xfrm xmlns:a="http://schemas.openxmlformats.org/drawingml/2006/main">
            <a:off x="9525000" y="5905500"/>
            <a:ext cx="400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0523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promotion-image-label"/>
          <p:cNvSpPr txBox="1"/>
          <p:nvPr/>
        </p:nvSpPr>
        <p:spPr>
          <a:xfrm xmlns:a="http://schemas.openxmlformats.org/drawingml/2006/main">
            <a:off x="9525000" y="61531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F0523B"/>
                </a:solidFill>
                <a:latin typeface="Arial"/>
                <a:ea typeface="Arial"/>
              </a:rPr>
              <a:t>INVITE · PROVE · MOVE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376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376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6CE"/>
          </a:solidFill>
          <a:ln xmlns:a="http://schemas.openxmlformats.org/drawingml/2006/main" w="0">
            <a:solidFill>
              <a:srgbClr val="F2E6C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523B"/>
          </a:solidFill>
          <a:ln xmlns:a="http://schemas.openxmlformats.org/drawingml/2006/main" w="0">
            <a:solidFill>
              <a:srgbClr val="F0523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4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0523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CREAM CIVIC COLLAGE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F0523B"/>
                </a:solidFill>
                <a:latin typeface="Arial"/>
                <a:ea typeface="Arial"/>
              </a:rPr>
              <a:t>CREAM CIVIC COLLAGE · EVIDENCE</a:t>
            </a:r>
            <a:endParaRPr lang="en-US"/>
          </a:p>
        </p:txBody>
      </p:sp>
      <p:sp>
        <p:nvSpPr>
          <p:cNvPr id="16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1717"/>
                </a:solidFill>
                <a:latin typeface="Arial"/>
                <a:ea typeface="Arial"/>
              </a:rPr>
              <a:t>The signal grows when the invitation stays measurable</a:t>
            </a:r>
            <a:endParaRPr lang="en-US"/>
          </a:p>
        </p:txBody>
      </p:sp>
      <p:sp>
        <p:nvSpPr>
          <p:cNvPr id="17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376"/>
                </a:solidFill>
                <a:latin typeface="Arial"/>
                <a:ea typeface="Arial"/>
              </a:rPr>
              <a:t>Illustrative reach and response · source and measurement convention remain attached.</a:t>
            </a:r>
            <a:endParaRPr lang="en-US"/>
          </a:p>
        </p:txBody>
      </p:sp>
      <p:sp>
        <p:nvSpPr>
          <p:cNvPr id="18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37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19" name="evidence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1047750" y="3048000"/>
          <a:ext xmlns:a="http://schemas.openxmlformats.org/drawingml/2006/main" cx="790575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2ffd22e08104464"/>
          </a:graphicData>
        </a:graphic>
      </p:graphicFrame>
      <p:sp>
        <p:nvSpPr>
          <p:cNvPr id="20" name="metric"/>
          <p:cNvSpPr txBox="1"/>
          <p:nvPr/>
        </p:nvSpPr>
        <p:spPr>
          <a:xfrm xmlns:a="http://schemas.openxmlformats.org/drawingml/2006/main">
            <a:off x="9906000" y="3333750"/>
            <a:ext cx="266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4800" b="1">
                <a:solidFill>
                  <a:srgbClr val="F0523B"/>
                </a:solidFill>
                <a:latin typeface="Arial"/>
                <a:ea typeface="Arial"/>
              </a:rPr>
              <a:t>68</a:t>
            </a:r>
            <a:endParaRPr lang="en-US"/>
          </a:p>
        </p:txBody>
      </p:sp>
      <p:sp>
        <p:nvSpPr>
          <p:cNvPr id="21" name="metric-label"/>
          <p:cNvSpPr txBox="1"/>
          <p:nvPr/>
        </p:nvSpPr>
        <p:spPr>
          <a:xfrm xmlns:a="http://schemas.openxmlformats.org/drawingml/2006/main">
            <a:off x="9906000" y="414337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376"/>
                </a:solidFill>
                <a:latin typeface="Arial"/>
                <a:ea typeface="Arial"/>
              </a:rPr>
              <a:t>qualified response · campaign close</a:t>
            </a:r>
            <a:endParaRPr lang="en-US"/>
          </a:p>
        </p:txBody>
      </p:sp>
      <p:sp>
        <p:nvSpPr>
          <p:cNvPr id="22" name="rail-rule"/>
          <p:cNvSpPr/>
          <p:nvPr/>
        </p:nvSpPr>
        <p:spPr>
          <a:xfrm xmlns:a="http://schemas.openxmlformats.org/drawingml/2006/main">
            <a:off x="9906000" y="4810125"/>
            <a:ext cx="376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37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read-through"/>
          <p:cNvSpPr txBox="1"/>
          <p:nvPr/>
        </p:nvSpPr>
        <p:spPr>
          <a:xfrm xmlns:a="http://schemas.openxmlformats.org/drawingml/2006/main">
            <a:off x="9906000" y="514350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717"/>
                </a:solidFill>
                <a:latin typeface="Arial"/>
                <a:ea typeface="Arial"/>
              </a:rPr>
              <a:t>Reach is useful only when the audience can see and take the next step.</a:t>
            </a:r>
            <a:endParaRPr lang="en-US"/>
          </a:p>
        </p:txBody>
      </p:sp>
      <p:sp>
        <p:nvSpPr>
          <p:cNvPr id="24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71717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2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376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2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376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6CE"/>
          </a:solidFill>
          <a:ln xmlns:a="http://schemas.openxmlformats.org/drawingml/2006/main" w="0">
            <a:solidFill>
              <a:srgbClr val="F2E6C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523B"/>
          </a:solidFill>
          <a:ln xmlns:a="http://schemas.openxmlformats.org/drawingml/2006/main" w="0">
            <a:solidFill>
              <a:srgbClr val="F0523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4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0523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CREAM CIVIC COLLAGE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F0523B"/>
                </a:solidFill>
                <a:latin typeface="Arial"/>
                <a:ea typeface="Arial"/>
              </a:rPr>
              <a:t>CREAM CIVIC COLLAGE · DETAIL</a:t>
            </a:r>
            <a:endParaRPr lang="en-US"/>
          </a:p>
        </p:txBody>
      </p:sp>
      <p:sp>
        <p:nvSpPr>
          <p:cNvPr id="16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1717"/>
                </a:solidFill>
                <a:latin typeface="Arial"/>
                <a:ea typeface="Arial"/>
              </a:rPr>
              <a:t>The same idea can hold several views</a:t>
            </a:r>
            <a:endParaRPr lang="en-US"/>
          </a:p>
        </p:txBody>
      </p:sp>
      <p:sp>
        <p:nvSpPr>
          <p:cNvPr id="17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376"/>
                </a:solidFill>
                <a:latin typeface="Arial"/>
                <a:ea typeface="Arial"/>
              </a:rPr>
              <a:t>Unequal image frames · visual variety without decorative filler.</a:t>
            </a:r>
            <a:endParaRPr lang="en-US"/>
          </a:p>
        </p:txBody>
      </p:sp>
      <p:sp>
        <p:nvSpPr>
          <p:cNvPr id="18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37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process-axis"/>
          <p:cNvSpPr/>
          <p:nvPr/>
        </p:nvSpPr>
        <p:spPr>
          <a:xfrm xmlns:a="http://schemas.openxmlformats.org/drawingml/2006/main">
            <a:off x="1390650" y="4114800"/>
            <a:ext cx="883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37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process-node-0"/>
          <p:cNvSpPr/>
          <p:nvPr/>
        </p:nvSpPr>
        <p:spPr>
          <a:xfrm xmlns:a="http://schemas.openxmlformats.org/drawingml/2006/main">
            <a:off x="12192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E6CE"/>
          </a:solidFill>
          <a:ln xmlns:a="http://schemas.openxmlformats.org/drawingml/2006/main" w="3810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process-number-0"/>
          <p:cNvSpPr txBox="1"/>
          <p:nvPr/>
        </p:nvSpPr>
        <p:spPr>
          <a:xfrm xmlns:a="http://schemas.openxmlformats.org/drawingml/2006/main">
            <a:off x="12001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F0523B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22" name="process-label-0"/>
          <p:cNvSpPr txBox="1"/>
          <p:nvPr/>
        </p:nvSpPr>
        <p:spPr>
          <a:xfrm xmlns:a="http://schemas.openxmlformats.org/drawingml/2006/main">
            <a:off x="17145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1717"/>
                </a:solidFill>
                <a:latin typeface="Arial"/>
                <a:ea typeface="Arial"/>
              </a:rPr>
              <a:t>Frame</a:t>
            </a:r>
            <a:endParaRPr lang="en-US"/>
          </a:p>
        </p:txBody>
      </p:sp>
      <p:sp>
        <p:nvSpPr>
          <p:cNvPr id="23" name="process-text-0"/>
          <p:cNvSpPr txBox="1"/>
          <p:nvPr/>
        </p:nvSpPr>
        <p:spPr>
          <a:xfrm xmlns:a="http://schemas.openxmlformats.org/drawingml/2006/main">
            <a:off x="17145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98376"/>
                </a:solidFill>
                <a:latin typeface="Arial"/>
                <a:ea typeface="Arial"/>
              </a:rPr>
              <a:t>Name the question</a:t>
            </a:r>
            <a:endParaRPr lang="en-US"/>
          </a:p>
        </p:txBody>
      </p:sp>
      <p:sp>
        <p:nvSpPr>
          <p:cNvPr id="24" name="process-separator-0"/>
          <p:cNvSpPr/>
          <p:nvPr/>
        </p:nvSpPr>
        <p:spPr>
          <a:xfrm xmlns:a="http://schemas.openxmlformats.org/drawingml/2006/main">
            <a:off x="16764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37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ocess-node-1"/>
          <p:cNvSpPr/>
          <p:nvPr/>
        </p:nvSpPr>
        <p:spPr>
          <a:xfrm xmlns:a="http://schemas.openxmlformats.org/drawingml/2006/main">
            <a:off x="35242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E6CE"/>
          </a:solidFill>
          <a:ln xmlns:a="http://schemas.openxmlformats.org/drawingml/2006/main" w="3810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process-number-1"/>
          <p:cNvSpPr txBox="1"/>
          <p:nvPr/>
        </p:nvSpPr>
        <p:spPr>
          <a:xfrm xmlns:a="http://schemas.openxmlformats.org/drawingml/2006/main">
            <a:off x="35052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F0523B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27" name="process-label-1"/>
          <p:cNvSpPr txBox="1"/>
          <p:nvPr/>
        </p:nvSpPr>
        <p:spPr>
          <a:xfrm xmlns:a="http://schemas.openxmlformats.org/drawingml/2006/main">
            <a:off x="40195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1717"/>
                </a:solidFill>
                <a:latin typeface="Arial"/>
                <a:ea typeface="Arial"/>
              </a:rPr>
              <a:t>Test</a:t>
            </a:r>
            <a:endParaRPr lang="en-US"/>
          </a:p>
        </p:txBody>
      </p:sp>
      <p:sp>
        <p:nvSpPr>
          <p:cNvPr id="28" name="process-text-1"/>
          <p:cNvSpPr txBox="1"/>
          <p:nvPr/>
        </p:nvSpPr>
        <p:spPr>
          <a:xfrm xmlns:a="http://schemas.openxmlformats.org/drawingml/2006/main">
            <a:off x="40195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98376"/>
                </a:solidFill>
                <a:latin typeface="Arial"/>
                <a:ea typeface="Arial"/>
              </a:rPr>
              <a:t>Hold the rule</a:t>
            </a:r>
            <a:endParaRPr lang="en-US"/>
          </a:p>
        </p:txBody>
      </p:sp>
      <p:sp>
        <p:nvSpPr>
          <p:cNvPr id="29" name="process-separator-1"/>
          <p:cNvSpPr/>
          <p:nvPr/>
        </p:nvSpPr>
        <p:spPr>
          <a:xfrm xmlns:a="http://schemas.openxmlformats.org/drawingml/2006/main">
            <a:off x="398145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37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process-node-2"/>
          <p:cNvSpPr/>
          <p:nvPr/>
        </p:nvSpPr>
        <p:spPr>
          <a:xfrm xmlns:a="http://schemas.openxmlformats.org/drawingml/2006/main">
            <a:off x="58293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E6CE"/>
          </a:solidFill>
          <a:ln xmlns:a="http://schemas.openxmlformats.org/drawingml/2006/main" w="3810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1" name="process-number-2"/>
          <p:cNvSpPr txBox="1"/>
          <p:nvPr/>
        </p:nvSpPr>
        <p:spPr>
          <a:xfrm xmlns:a="http://schemas.openxmlformats.org/drawingml/2006/main">
            <a:off x="58102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F0523B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32" name="process-label-2"/>
          <p:cNvSpPr txBox="1"/>
          <p:nvPr/>
        </p:nvSpPr>
        <p:spPr>
          <a:xfrm xmlns:a="http://schemas.openxmlformats.org/drawingml/2006/main">
            <a:off x="63246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1717"/>
                </a:solidFill>
                <a:latin typeface="Arial"/>
                <a:ea typeface="Arial"/>
              </a:rPr>
              <a:t>Read</a:t>
            </a:r>
            <a:endParaRPr lang="en-US"/>
          </a:p>
        </p:txBody>
      </p:sp>
      <p:sp>
        <p:nvSpPr>
          <p:cNvPr id="33" name="process-text-2"/>
          <p:cNvSpPr txBox="1"/>
          <p:nvPr/>
        </p:nvSpPr>
        <p:spPr>
          <a:xfrm xmlns:a="http://schemas.openxmlformats.org/drawingml/2006/main">
            <a:off x="63246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98376"/>
                </a:solidFill>
                <a:latin typeface="Arial"/>
                <a:ea typeface="Arial"/>
              </a:rPr>
              <a:t>Separate signal</a:t>
            </a:r>
            <a:endParaRPr lang="en-US"/>
          </a:p>
        </p:txBody>
      </p:sp>
      <p:sp>
        <p:nvSpPr>
          <p:cNvPr id="34" name="process-separator-2"/>
          <p:cNvSpPr/>
          <p:nvPr/>
        </p:nvSpPr>
        <p:spPr>
          <a:xfrm xmlns:a="http://schemas.openxmlformats.org/drawingml/2006/main">
            <a:off x="62865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37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5" name="process-node-3"/>
          <p:cNvSpPr/>
          <p:nvPr/>
        </p:nvSpPr>
        <p:spPr>
          <a:xfrm xmlns:a="http://schemas.openxmlformats.org/drawingml/2006/main">
            <a:off x="81343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523B"/>
          </a:solidFill>
          <a:ln xmlns:a="http://schemas.openxmlformats.org/drawingml/2006/main" w="38100">
            <a:solidFill>
              <a:srgbClr val="F0523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6" name="process-number-3"/>
          <p:cNvSpPr txBox="1"/>
          <p:nvPr/>
        </p:nvSpPr>
        <p:spPr>
          <a:xfrm xmlns:a="http://schemas.openxmlformats.org/drawingml/2006/main">
            <a:off x="81153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F0523B"/>
                </a:solidFill>
                <a:latin typeface="Arial"/>
                <a:ea typeface="Arial"/>
              </a:rPr>
              <a:t>04</a:t>
            </a:r>
            <a:endParaRPr lang="en-US"/>
          </a:p>
        </p:txBody>
      </p:sp>
      <p:sp>
        <p:nvSpPr>
          <p:cNvPr id="37" name="process-label-3"/>
          <p:cNvSpPr txBox="1"/>
          <p:nvPr/>
        </p:nvSpPr>
        <p:spPr>
          <a:xfrm xmlns:a="http://schemas.openxmlformats.org/drawingml/2006/main">
            <a:off x="86296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1717"/>
                </a:solidFill>
                <a:latin typeface="Arial"/>
                <a:ea typeface="Arial"/>
              </a:rPr>
              <a:t>Decide</a:t>
            </a:r>
            <a:endParaRPr lang="en-US"/>
          </a:p>
        </p:txBody>
      </p:sp>
      <p:sp>
        <p:nvSpPr>
          <p:cNvPr id="38" name="process-text-3"/>
          <p:cNvSpPr txBox="1"/>
          <p:nvPr/>
        </p:nvSpPr>
        <p:spPr>
          <a:xfrm xmlns:a="http://schemas.openxmlformats.org/drawingml/2006/main">
            <a:off x="86296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98376"/>
                </a:solidFill>
                <a:latin typeface="Arial"/>
                <a:ea typeface="Arial"/>
              </a:rPr>
              <a:t>Set the next gate</a:t>
            </a:r>
            <a:endParaRPr lang="en-US"/>
          </a:p>
        </p:txBody>
      </p:sp>
      <p:sp>
        <p:nvSpPr>
          <p:cNvPr id="39" name="process-read-label"/>
          <p:cNvSpPr txBox="1"/>
          <p:nvPr/>
        </p:nvSpPr>
        <p:spPr>
          <a:xfrm xmlns:a="http://schemas.openxmlformats.org/drawingml/2006/main">
            <a:off x="10668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0523B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40" name="process-read-title"/>
          <p:cNvSpPr txBox="1"/>
          <p:nvPr/>
        </p:nvSpPr>
        <p:spPr>
          <a:xfrm xmlns:a="http://schemas.openxmlformats.org/drawingml/2006/main">
            <a:off x="10668000" y="381000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71717"/>
                </a:solidFill>
                <a:latin typeface="Arial"/>
                <a:ea typeface="Arial"/>
              </a:rPr>
              <a:t>The sequence is the evidence.</a:t>
            </a:r>
            <a:endParaRPr lang="en-US"/>
          </a:p>
        </p:txBody>
      </p:sp>
      <p:sp>
        <p:nvSpPr>
          <p:cNvPr id="41" name="process-read-body"/>
          <p:cNvSpPr txBox="1"/>
          <p:nvPr/>
        </p:nvSpPr>
        <p:spPr>
          <a:xfrm xmlns:a="http://schemas.openxmlformats.org/drawingml/2006/main">
            <a:off x="10668000" y="476250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98376"/>
                </a:solidFill>
                <a:latin typeface="Arial"/>
                <a:ea typeface="Arial"/>
              </a:rPr>
              <a:t>Keep each handoff adjacent to the condition that unlocks it; do not turn a real dependency into a decorative arrow.</a:t>
            </a:r>
            <a:endParaRPr lang="en-US"/>
          </a:p>
        </p:txBody>
      </p:sp>
      <p:sp>
        <p:nvSpPr>
          <p:cNvPr id="42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376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43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376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523B"/>
          </a:solidFill>
          <a:ln xmlns:a="http://schemas.openxmlformats.org/drawingml/2006/main" w="0">
            <a:solidFill>
              <a:srgbClr val="F0523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5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7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9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1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3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6CE"/>
          </a:solidFill>
          <a:ln xmlns:a="http://schemas.openxmlformats.org/drawingml/2006/main" w="0">
            <a:solidFill>
              <a:srgbClr val="F2E6C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0523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CREAM CIVIC COLLAGE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F0523B"/>
                </a:solidFill>
                <a:latin typeface="Arial"/>
                <a:ea typeface="Arial"/>
              </a:rPr>
              <a:t>CREAM CIVIC COLLAGE · VISUAL CARRIER</a:t>
            </a:r>
            <a:endParaRPr lang="en-US"/>
          </a:p>
        </p:txBody>
      </p:sp>
      <p:sp>
        <p:nvSpPr>
          <p:cNvPr id="16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1717"/>
                </a:solidFill>
                <a:latin typeface="Arial"/>
                <a:ea typeface="Arial"/>
              </a:rPr>
              <a:t>Let the subject do the work</a:t>
            </a:r>
            <a:endParaRPr lang="en-US"/>
          </a:p>
        </p:txBody>
      </p:sp>
      <p:sp>
        <p:nvSpPr>
          <p:cNvPr id="17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376"/>
                </a:solidFill>
                <a:latin typeface="Arial"/>
                <a:ea typeface="Arial"/>
              </a:rPr>
              <a:t>A strong crop gives the proposition a place to live.</a:t>
            </a:r>
            <a:endParaRPr lang="en-US"/>
          </a:p>
        </p:txBody>
      </p:sp>
      <p:sp>
        <p:nvSpPr>
          <p:cNvPr id="18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37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visual-process-rail"/>
          <p:cNvSpPr/>
          <p:nvPr/>
        </p:nvSpPr>
        <p:spPr>
          <a:xfrm xmlns:a="http://schemas.openxmlformats.org/drawingml/2006/main">
            <a:off x="1447800" y="3524250"/>
            <a:ext cx="0" cy="2647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37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visual-process-node-0"/>
          <p:cNvSpPr/>
          <p:nvPr/>
        </p:nvSpPr>
        <p:spPr>
          <a:xfrm xmlns:a="http://schemas.openxmlformats.org/drawingml/2006/main">
            <a:off x="1257300" y="33528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E6CE"/>
          </a:solidFill>
          <a:ln xmlns:a="http://schemas.openxmlformats.org/drawingml/2006/main" w="3810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visual-process-number-0"/>
          <p:cNvSpPr txBox="1"/>
          <p:nvPr/>
        </p:nvSpPr>
        <p:spPr>
          <a:xfrm xmlns:a="http://schemas.openxmlformats.org/drawingml/2006/main">
            <a:off x="1238250" y="34671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F0523B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22" name="visual-process-label-0"/>
          <p:cNvSpPr txBox="1"/>
          <p:nvPr/>
        </p:nvSpPr>
        <p:spPr>
          <a:xfrm xmlns:a="http://schemas.openxmlformats.org/drawingml/2006/main">
            <a:off x="1943100" y="33718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717"/>
                </a:solidFill>
                <a:latin typeface="Arial"/>
                <a:ea typeface="Arial"/>
              </a:rPr>
              <a:t>Observe</a:t>
            </a:r>
            <a:endParaRPr lang="en-US"/>
          </a:p>
        </p:txBody>
      </p:sp>
      <p:sp>
        <p:nvSpPr>
          <p:cNvPr id="23" name="visual-process-text-0"/>
          <p:cNvSpPr txBox="1"/>
          <p:nvPr/>
        </p:nvSpPr>
        <p:spPr>
          <a:xfrm xmlns:a="http://schemas.openxmlformats.org/drawingml/2006/main">
            <a:off x="3829050" y="34004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98376"/>
                </a:solidFill>
                <a:latin typeface="Arial"/>
                <a:ea typeface="Arial"/>
              </a:rPr>
              <a:t>Find the signal</a:t>
            </a:r>
            <a:endParaRPr lang="en-US"/>
          </a:p>
        </p:txBody>
      </p:sp>
      <p:sp>
        <p:nvSpPr>
          <p:cNvPr id="24" name="visual-process-node-1"/>
          <p:cNvSpPr/>
          <p:nvPr/>
        </p:nvSpPr>
        <p:spPr>
          <a:xfrm xmlns:a="http://schemas.openxmlformats.org/drawingml/2006/main">
            <a:off x="1257300" y="40957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E6CE"/>
          </a:solidFill>
          <a:ln xmlns:a="http://schemas.openxmlformats.org/drawingml/2006/main" w="3810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visual-process-number-1"/>
          <p:cNvSpPr txBox="1"/>
          <p:nvPr/>
        </p:nvSpPr>
        <p:spPr>
          <a:xfrm xmlns:a="http://schemas.openxmlformats.org/drawingml/2006/main">
            <a:off x="1238250" y="42100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F0523B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26" name="visual-process-label-1"/>
          <p:cNvSpPr txBox="1"/>
          <p:nvPr/>
        </p:nvSpPr>
        <p:spPr>
          <a:xfrm xmlns:a="http://schemas.openxmlformats.org/drawingml/2006/main">
            <a:off x="1943100" y="41148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717"/>
                </a:solidFill>
                <a:latin typeface="Arial"/>
                <a:ea typeface="Arial"/>
              </a:rPr>
              <a:t>Explain</a:t>
            </a:r>
            <a:endParaRPr lang="en-US"/>
          </a:p>
        </p:txBody>
      </p:sp>
      <p:sp>
        <p:nvSpPr>
          <p:cNvPr id="27" name="visual-process-text-1"/>
          <p:cNvSpPr txBox="1"/>
          <p:nvPr/>
        </p:nvSpPr>
        <p:spPr>
          <a:xfrm xmlns:a="http://schemas.openxmlformats.org/drawingml/2006/main">
            <a:off x="3829050" y="41433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98376"/>
                </a:solidFill>
                <a:latin typeface="Arial"/>
                <a:ea typeface="Arial"/>
              </a:rPr>
              <a:t>Name the mechanism</a:t>
            </a:r>
            <a:endParaRPr lang="en-US"/>
          </a:p>
        </p:txBody>
      </p:sp>
      <p:sp>
        <p:nvSpPr>
          <p:cNvPr id="28" name="visual-process-node-2"/>
          <p:cNvSpPr/>
          <p:nvPr/>
        </p:nvSpPr>
        <p:spPr>
          <a:xfrm xmlns:a="http://schemas.openxmlformats.org/drawingml/2006/main">
            <a:off x="1257300" y="48387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E6CE"/>
          </a:solidFill>
          <a:ln xmlns:a="http://schemas.openxmlformats.org/drawingml/2006/main" w="3810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visual-process-number-2"/>
          <p:cNvSpPr txBox="1"/>
          <p:nvPr/>
        </p:nvSpPr>
        <p:spPr>
          <a:xfrm xmlns:a="http://schemas.openxmlformats.org/drawingml/2006/main">
            <a:off x="1238250" y="49530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F0523B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30" name="visual-process-label-2"/>
          <p:cNvSpPr txBox="1"/>
          <p:nvPr/>
        </p:nvSpPr>
        <p:spPr>
          <a:xfrm xmlns:a="http://schemas.openxmlformats.org/drawingml/2006/main">
            <a:off x="1943100" y="4857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717"/>
                </a:solidFill>
                <a:latin typeface="Arial"/>
                <a:ea typeface="Arial"/>
              </a:rPr>
              <a:t>Choose</a:t>
            </a:r>
            <a:endParaRPr lang="en-US"/>
          </a:p>
        </p:txBody>
      </p:sp>
      <p:sp>
        <p:nvSpPr>
          <p:cNvPr id="31" name="visual-process-text-2"/>
          <p:cNvSpPr txBox="1"/>
          <p:nvPr/>
        </p:nvSpPr>
        <p:spPr>
          <a:xfrm xmlns:a="http://schemas.openxmlformats.org/drawingml/2006/main">
            <a:off x="3829050" y="48863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98376"/>
                </a:solidFill>
                <a:latin typeface="Arial"/>
                <a:ea typeface="Arial"/>
              </a:rPr>
              <a:t>Set the condition</a:t>
            </a:r>
            <a:endParaRPr lang="en-US"/>
          </a:p>
        </p:txBody>
      </p:sp>
      <p:sp>
        <p:nvSpPr>
          <p:cNvPr id="32" name="visual-process-node-3"/>
          <p:cNvSpPr/>
          <p:nvPr/>
        </p:nvSpPr>
        <p:spPr>
          <a:xfrm xmlns:a="http://schemas.openxmlformats.org/drawingml/2006/main">
            <a:off x="1257300" y="55816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523B"/>
          </a:solidFill>
          <a:ln xmlns:a="http://schemas.openxmlformats.org/drawingml/2006/main" w="38100">
            <a:solidFill>
              <a:srgbClr val="F0523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3" name="visual-process-number-3"/>
          <p:cNvSpPr txBox="1"/>
          <p:nvPr/>
        </p:nvSpPr>
        <p:spPr>
          <a:xfrm xmlns:a="http://schemas.openxmlformats.org/drawingml/2006/main">
            <a:off x="1238250" y="56959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FFFFFF"/>
                </a:solidFill>
                <a:latin typeface="Arial"/>
                <a:ea typeface="Arial"/>
              </a:rPr>
              <a:t>04</a:t>
            </a:r>
            <a:endParaRPr lang="en-US"/>
          </a:p>
        </p:txBody>
      </p:sp>
      <p:sp>
        <p:nvSpPr>
          <p:cNvPr id="34" name="visual-process-label-3"/>
          <p:cNvSpPr txBox="1"/>
          <p:nvPr/>
        </p:nvSpPr>
        <p:spPr>
          <a:xfrm xmlns:a="http://schemas.openxmlformats.org/drawingml/2006/main">
            <a:off x="1943100" y="5600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717"/>
                </a:solidFill>
                <a:latin typeface="Arial"/>
                <a:ea typeface="Arial"/>
              </a:rPr>
              <a:t>Act</a:t>
            </a:r>
            <a:endParaRPr lang="en-US"/>
          </a:p>
        </p:txBody>
      </p:sp>
      <p:sp>
        <p:nvSpPr>
          <p:cNvPr id="35" name="visual-process-text-3"/>
          <p:cNvSpPr txBox="1"/>
          <p:nvPr/>
        </p:nvSpPr>
        <p:spPr>
          <a:xfrm xmlns:a="http://schemas.openxmlformats.org/drawingml/2006/main">
            <a:off x="3829050" y="56292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98376"/>
                </a:solidFill>
                <a:latin typeface="Arial"/>
                <a:ea typeface="Arial"/>
              </a:rPr>
              <a:t>Return with proof</a:t>
            </a:r>
            <a:endParaRPr lang="en-US"/>
          </a:p>
        </p:txBody>
      </p:sp>
      <p:sp>
        <p:nvSpPr>
          <p:cNvPr id="36" name="visual-process-rule"/>
          <p:cNvSpPr/>
          <p:nvPr/>
        </p:nvSpPr>
        <p:spPr>
          <a:xfrm xmlns:a="http://schemas.openxmlformats.org/drawingml/2006/main">
            <a:off x="7239000" y="3486150"/>
            <a:ext cx="0" cy="2705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37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7" name="visual-process-note-label"/>
          <p:cNvSpPr txBox="1"/>
          <p:nvPr/>
        </p:nvSpPr>
        <p:spPr>
          <a:xfrm xmlns:a="http://schemas.openxmlformats.org/drawingml/2006/main">
            <a:off x="8001000" y="35623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0523B"/>
                </a:solidFill>
                <a:latin typeface="Arial"/>
                <a:ea typeface="Arial"/>
              </a:rPr>
              <a:t>PROCESS CARRIER</a:t>
            </a:r>
            <a:endParaRPr lang="en-US"/>
          </a:p>
        </p:txBody>
      </p:sp>
      <p:sp>
        <p:nvSpPr>
          <p:cNvPr id="38" name="visual-process-note-title"/>
          <p:cNvSpPr txBox="1"/>
          <p:nvPr/>
        </p:nvSpPr>
        <p:spPr>
          <a:xfrm xmlns:a="http://schemas.openxmlformats.org/drawingml/2006/main">
            <a:off x="8001000" y="4038600"/>
            <a:ext cx="438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71717"/>
                </a:solidFill>
                <a:latin typeface="Arial"/>
                <a:ea typeface="Arial"/>
              </a:rPr>
              <a:t>A relationship earns a line.</a:t>
            </a:r>
            <a:endParaRPr lang="en-US"/>
          </a:p>
        </p:txBody>
      </p:sp>
      <p:sp>
        <p:nvSpPr>
          <p:cNvPr id="39" name="visual-process-note-body"/>
          <p:cNvSpPr txBox="1"/>
          <p:nvPr/>
        </p:nvSpPr>
        <p:spPr>
          <a:xfrm xmlns:a="http://schemas.openxmlformats.org/drawingml/2006/main">
            <a:off x="8001000" y="5048250"/>
            <a:ext cx="457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98376"/>
                </a:solidFill>
                <a:latin typeface="Arial"/>
                <a:ea typeface="Arial"/>
              </a:rPr>
              <a:t>Use sequence, direction and conditions to make the mechanism visible. If the relationship is not real, remove the arrow.</a:t>
            </a:r>
            <a:endParaRPr lang="en-US"/>
          </a:p>
        </p:txBody>
      </p:sp>
      <p:sp>
        <p:nvSpPr>
          <p:cNvPr id="40" name="visual-note"/>
          <p:cNvSpPr/>
          <p:nvPr/>
        </p:nvSpPr>
        <p:spPr>
          <a:xfrm xmlns:a="http://schemas.openxmlformats.org/drawingml/2006/main">
            <a:off x="8858250" y="3333750"/>
            <a:ext cx="4762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9837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1" name="visual-note-label"/>
          <p:cNvSpPr txBox="1"/>
          <p:nvPr/>
        </p:nvSpPr>
        <p:spPr>
          <a:xfrm xmlns:a="http://schemas.openxmlformats.org/drawingml/2006/main">
            <a:off x="9239250" y="3695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0523B"/>
                </a:solidFill>
                <a:latin typeface="Arial"/>
                <a:ea typeface="Arial"/>
              </a:rPr>
              <a:t>CARRIER</a:t>
            </a:r>
            <a:endParaRPr lang="en-US"/>
          </a:p>
        </p:txBody>
      </p:sp>
      <p:sp>
        <p:nvSpPr>
          <p:cNvPr id="42" name="visual-note-text"/>
          <p:cNvSpPr txBox="1"/>
          <p:nvPr/>
        </p:nvSpPr>
        <p:spPr>
          <a:xfrm xmlns:a="http://schemas.openxmlformats.org/drawingml/2006/main">
            <a:off x="9239250" y="4171950"/>
            <a:ext cx="4000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71717"/>
                </a:solidFill>
                <a:latin typeface="Arial"/>
                <a:ea typeface="Arial"/>
              </a:rPr>
              <a:t>Subject before slogan</a:t>
            </a:r>
            <a:endParaRPr lang="en-US"/>
          </a:p>
        </p:txBody>
      </p:sp>
      <p:sp>
        <p:nvSpPr>
          <p:cNvPr id="43" name="visual-note-foot"/>
          <p:cNvSpPr txBox="1"/>
          <p:nvPr/>
        </p:nvSpPr>
        <p:spPr>
          <a:xfrm xmlns:a="http://schemas.openxmlformats.org/drawingml/2006/main">
            <a:off x="9239250" y="52197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98376"/>
                </a:solidFill>
                <a:latin typeface="Arial"/>
                <a:ea typeface="Arial"/>
              </a:rPr>
              <a:t>Crop, contrast and source role are reviewed before delivery.</a:t>
            </a:r>
            <a:endParaRPr lang="en-US"/>
          </a:p>
        </p:txBody>
      </p:sp>
      <p:sp>
        <p:nvSpPr>
          <p:cNvPr id="4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376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4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376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6CE"/>
          </a:solidFill>
          <a:ln xmlns:a="http://schemas.openxmlformats.org/drawingml/2006/main" w="0">
            <a:solidFill>
              <a:srgbClr val="F2E6C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523B"/>
          </a:solidFill>
          <a:ln xmlns:a="http://schemas.openxmlformats.org/drawingml/2006/main" w="0">
            <a:solidFill>
              <a:srgbClr val="F0523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4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0523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CREAM CIVIC COLLAGE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F0523B"/>
                </a:solidFill>
                <a:latin typeface="Arial"/>
                <a:ea typeface="Arial"/>
              </a:rPr>
              <a:t>CREAM CIVIC COLLAGE · CLOSE</a:t>
            </a:r>
            <a:endParaRPr lang="en-US"/>
          </a:p>
        </p:txBody>
      </p:sp>
      <p:sp>
        <p:nvSpPr>
          <p:cNvPr id="16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1717"/>
                </a:solidFill>
                <a:latin typeface="Arial"/>
                <a:ea typeface="Arial"/>
              </a:rPr>
              <a:t>Turn the shared invitation into an action plan</a:t>
            </a:r>
            <a:endParaRPr lang="en-US"/>
          </a:p>
        </p:txBody>
      </p:sp>
      <p:sp>
        <p:nvSpPr>
          <p:cNvPr id="17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376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18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37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0523B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20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37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717"/>
                </a:solidFill>
                <a:latin typeface="Arial"/>
                <a:ea typeface="Arial"/>
              </a:rPr>
              <a:t>Promise</a:t>
            </a:r>
            <a:endParaRPr lang="en-US"/>
          </a:p>
        </p:txBody>
      </p:sp>
      <p:sp>
        <p:nvSpPr>
          <p:cNvPr id="22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1717"/>
                </a:solidFill>
                <a:latin typeface="Arial"/>
                <a:ea typeface="Arial"/>
              </a:rPr>
              <a:t>The proposition is legible.</a:t>
            </a:r>
            <a:endParaRPr lang="en-US"/>
          </a:p>
        </p:txBody>
      </p:sp>
      <p:sp>
        <p:nvSpPr>
          <p:cNvPr id="23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71717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24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37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717"/>
                </a:solidFill>
                <a:latin typeface="Arial"/>
                <a:ea typeface="Arial"/>
              </a:rPr>
              <a:t>Proof</a:t>
            </a:r>
            <a:endParaRPr lang="en-US"/>
          </a:p>
        </p:txBody>
      </p:sp>
      <p:sp>
        <p:nvSpPr>
          <p:cNvPr id="26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1717"/>
                </a:solidFill>
                <a:latin typeface="Arial"/>
                <a:ea typeface="Arial"/>
              </a:rPr>
              <a:t>The response is measurable.</a:t>
            </a:r>
            <a:endParaRPr lang="en-US"/>
          </a:p>
        </p:txBody>
      </p:sp>
      <p:sp>
        <p:nvSpPr>
          <p:cNvPr id="27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0523B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28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F0523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717"/>
                </a:solidFill>
                <a:latin typeface="Arial"/>
                <a:ea typeface="Arial"/>
              </a:rPr>
              <a:t>Move</a:t>
            </a:r>
            <a:endParaRPr lang="en-US"/>
          </a:p>
        </p:txBody>
      </p:sp>
      <p:sp>
        <p:nvSpPr>
          <p:cNvPr id="30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1717"/>
                </a:solidFill>
                <a:latin typeface="Arial"/>
                <a:ea typeface="Arial"/>
              </a:rPr>
              <a:t>Give the audience one action.</a:t>
            </a:r>
            <a:endParaRPr lang="en-US"/>
          </a:p>
        </p:txBody>
      </p:sp>
      <p:sp>
        <p:nvSpPr>
          <p:cNvPr id="31" name="next-rule"/>
          <p:cNvSpPr/>
          <p:nvPr/>
        </p:nvSpPr>
        <p:spPr>
          <a:xfrm xmlns:a="http://schemas.openxmlformats.org/drawingml/2006/main">
            <a:off x="10668000" y="3714750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0523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2" name="next-label"/>
          <p:cNvSpPr txBox="1"/>
          <p:nvPr/>
        </p:nvSpPr>
        <p:spPr>
          <a:xfrm xmlns:a="http://schemas.openxmlformats.org/drawingml/2006/main">
            <a:off x="10668000" y="40386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0523B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33" name="next-text"/>
          <p:cNvSpPr txBox="1"/>
          <p:nvPr/>
        </p:nvSpPr>
        <p:spPr>
          <a:xfrm xmlns:a="http://schemas.openxmlformats.org/drawingml/2006/main">
            <a:off x="10668000" y="451485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71717"/>
                </a:solidFill>
                <a:latin typeface="Arial"/>
                <a:ea typeface="Arial"/>
              </a:rPr>
              <a:t>Publish the invitation</a:t>
            </a:r>
            <a:endParaRPr lang="en-US"/>
          </a:p>
        </p:txBody>
      </p:sp>
      <p:sp>
        <p:nvSpPr>
          <p:cNvPr id="34" name="next-foot"/>
          <p:cNvSpPr txBox="1"/>
          <p:nvPr/>
        </p:nvSpPr>
        <p:spPr>
          <a:xfrm xmlns:a="http://schemas.openxmlformats.org/drawingml/2006/main">
            <a:off x="10668000" y="5600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98376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3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376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3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376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