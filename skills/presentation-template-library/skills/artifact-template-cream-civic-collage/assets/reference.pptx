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d362144f11f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png" Id="rIdOfficeKitImaged76941c9023026e2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0a3b78ba2e16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F0523B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98376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0">
            <a:solidFill>
              <a:srgbClr val="F2E6C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0523B"/>
                </a:solidFill>
                <a:latin typeface="Arial"/>
                <a:ea typeface="Arial"/>
              </a:rPr>
              <a:t>PROMOTION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71717"/>
                </a:solidFill>
                <a:latin typeface="Arial"/>
                <a:ea typeface="Arial"/>
              </a:rPr>
              <a:t>Cream Civic Collage: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F0523B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717"/>
                </a:solidFill>
                <a:latin typeface="Arial"/>
                <a:ea typeface="Arial"/>
              </a:rPr>
              <a:t>A proposition earns attention when it gives a next move.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23" name="anchor-shape"/>
          <p:cNvSpPr/>
          <p:nvPr/>
        </p:nvSpPr>
        <p:spPr>
          <a:xfrm xmlns:a="http://schemas.openxmlformats.org/drawingml/2006/main">
            <a:off x="11430000" y="200025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shape-two"/>
          <p:cNvSpPr/>
          <p:nvPr/>
        </p:nvSpPr>
        <p:spPr>
          <a:xfrm xmlns:a="http://schemas.openxmlformats.org/drawingml/2006/main">
            <a:off x="12096750" y="27432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D7"/>
          </a:solidFill>
          <a:ln xmlns:a="http://schemas.openxmlformats.org/drawingml/2006/main" w="0">
            <a:solidFill>
              <a:srgbClr val="2E5ED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0">
            <a:solidFill>
              <a:srgbClr val="F2E6C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REAM CIVIC COLLAGE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0523B"/>
                </a:solidFill>
                <a:latin typeface="Arial"/>
                <a:ea typeface="Arial"/>
              </a:rPr>
              <a:t>CREAM CIVIC COLLAGE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Arial"/>
                <a:ea typeface="Arial"/>
              </a:rPr>
              <a:t>The proposition is the page's visual center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376"/>
                </a:solidFill>
                <a:latin typeface="Arial"/>
                <a:ea typeface="Arial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0523B"/>
                </a:solidFill>
                <a:latin typeface="Arial"/>
                <a:ea typeface="Arial"/>
              </a:rPr>
              <a:t>ONE PROPOSITION</a:t>
            </a:r>
            <a:endParaRPr lang="en-US"/>
          </a:p>
        </p:txBody>
      </p:sp>
      <p:sp>
        <p:nvSpPr>
          <p:cNvPr id="20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171717"/>
                </a:solidFill>
                <a:latin typeface="Arial"/>
                <a:ea typeface="Arial"/>
              </a:rPr>
              <a:t>Make the next action visible.</a:t>
            </a:r>
            <a:endParaRPr lang="en-US"/>
          </a:p>
        </p:txBody>
      </p:sp>
      <p:sp>
        <p:nvSpPr>
          <p:cNvPr id="21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71717"/>
                </a:solidFill>
                <a:latin typeface="Arial"/>
                <a:ea typeface="Arial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22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d76941c9023026e2_1"/>
          <a:srcRect xmlns:a="http://schemas.openxmlformats.org/drawingml/2006/main" l="6250" t="0" r="625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23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F0523B"/>
                </a:solidFill>
                <a:latin typeface="Arial"/>
                <a:ea typeface="Arial"/>
              </a:rPr>
              <a:t>INVITE · PROVE · MOVE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0">
            <a:solidFill>
              <a:srgbClr val="F2E6C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REAM CIVIC COLLAGE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0523B"/>
                </a:solidFill>
                <a:latin typeface="Arial"/>
                <a:ea typeface="Arial"/>
              </a:rPr>
              <a:t>CREAM CIVIC COLLAGE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Arial"/>
                <a:ea typeface="Arial"/>
              </a:rPr>
              <a:t>The signal grows when the invitation stays measurable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376"/>
                </a:solidFill>
                <a:latin typeface="Arial"/>
                <a:ea typeface="Arial"/>
              </a:rPr>
              <a:t>Illustrative reach and response · source and measurement convention remain attached.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3b78ba2e164808"/>
          </a:graphicData>
        </a:graphic>
      </p:graphicFrame>
      <p:sp>
        <p:nvSpPr>
          <p:cNvPr id="20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0523B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21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376"/>
                </a:solidFill>
                <a:latin typeface="Arial"/>
                <a:ea typeface="Arial"/>
              </a:rPr>
              <a:t>qualified response · campaign close</a:t>
            </a:r>
            <a:endParaRPr lang="en-US"/>
          </a:p>
        </p:txBody>
      </p:sp>
      <p:sp>
        <p:nvSpPr>
          <p:cNvPr id="22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Reach is useful only when the audience can see and take the next step.</a:t>
            </a:r>
            <a:endParaRPr lang="en-US"/>
          </a:p>
        </p:txBody>
      </p:sp>
      <p:sp>
        <p:nvSpPr>
          <p:cNvPr id="2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1717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0">
            <a:solidFill>
              <a:srgbClr val="F2E6C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REAM CIVIC COLLAGE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0523B"/>
                </a:solidFill>
                <a:latin typeface="Arial"/>
                <a:ea typeface="Arial"/>
              </a:rPr>
              <a:t>CREAM CIVIC COLLAGE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Arial"/>
                <a:ea typeface="Arial"/>
              </a:rPr>
              <a:t>The same idea can hold several views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376"/>
                </a:solidFill>
                <a:latin typeface="Arial"/>
                <a:ea typeface="Arial"/>
              </a:rPr>
              <a:t>Unequal image frames · visual variety without decorative filler.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F0523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2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23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376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24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F0523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7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28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376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29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F0523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32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33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376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34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5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F0523B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37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38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376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39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0523B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40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717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41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376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42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43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0">
            <a:solidFill>
              <a:srgbClr val="F2E6C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REAM CIVIC COLLAGE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0523B"/>
                </a:solidFill>
                <a:latin typeface="Arial"/>
                <a:ea typeface="Arial"/>
              </a:rPr>
              <a:t>CREAM CIVIC COLLAGE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Arial"/>
                <a:ea typeface="Arial"/>
              </a:rPr>
              <a:t>Let the subject do the work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376"/>
                </a:solidFill>
                <a:latin typeface="Arial"/>
                <a:ea typeface="Arial"/>
              </a:rPr>
              <a:t>A strong crop gives the proposition a place to live.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0523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2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23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376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24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0523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6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27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376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28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0523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30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31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376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32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34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35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376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36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7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0523B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38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1717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39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376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40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1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0523B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42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1717"/>
                </a:solidFill>
                <a:latin typeface="Arial"/>
                <a:ea typeface="Arial"/>
              </a:rPr>
              <a:t>Subject before slogan</a:t>
            </a:r>
            <a:endParaRPr lang="en-US"/>
          </a:p>
        </p:txBody>
      </p:sp>
      <p:sp>
        <p:nvSpPr>
          <p:cNvPr id="43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376"/>
                </a:solidFill>
                <a:latin typeface="Arial"/>
                <a:ea typeface="Arial"/>
              </a:rPr>
              <a:t>Crop, contrast and source role are reviewed before delivery.</a:t>
            </a:r>
            <a:endParaRPr lang="en-US"/>
          </a:p>
        </p:txBody>
      </p:sp>
      <p:sp>
        <p:nvSpPr>
          <p:cNvPr id="4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4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E"/>
          </a:solidFill>
          <a:ln xmlns:a="http://schemas.openxmlformats.org/drawingml/2006/main" w="0">
            <a:solidFill>
              <a:srgbClr val="F2E6C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B"/>
          </a:solidFill>
          <a:ln xmlns:a="http://schemas.openxmlformats.org/drawingml/2006/main" w="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8376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REAM CIVIC COLLAGE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0523B"/>
                </a:solidFill>
                <a:latin typeface="Arial"/>
                <a:ea typeface="Arial"/>
              </a:rPr>
              <a:t>CREAM CIVIC COLLAGE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Arial"/>
                <a:ea typeface="Arial"/>
              </a:rPr>
              <a:t>Turn the shared invitation into an action plan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376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0523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Promise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Arial"/>
                <a:ea typeface="Arial"/>
              </a:rPr>
              <a:t>The proposition is legible.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717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37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Proof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Arial"/>
                <a:ea typeface="Arial"/>
              </a:rPr>
              <a:t>The response is measurable.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0523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Arial"/>
                <a:ea typeface="Arial"/>
              </a:rPr>
              <a:t>Give the audience one action.</a:t>
            </a:r>
            <a:endParaRPr lang="en-US"/>
          </a:p>
        </p:txBody>
      </p:sp>
      <p:sp>
        <p:nvSpPr>
          <p:cNvPr id="31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23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0523B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717"/>
                </a:solidFill>
                <a:latin typeface="Arial"/>
                <a:ea typeface="Arial"/>
              </a:rPr>
              <a:t>Publish the invitation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376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376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