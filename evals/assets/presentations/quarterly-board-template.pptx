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authors.xml" ContentType="application/vnd.ms-powerpoint.authors+xml"/>
  <Override PartName="/ppt/comments/modernComment.xml" ContentType="application/vnd.ms-powerpoint.comments+xml"/>
  <Override PartName="/ppt/diagrams/brand-data.xml" ContentType="application/vnd.openxmlformats-officedocument.drawingml.diagramData+xml"/>
  <Override PartName="/ppt/diagrams/brand-layout.xml" ContentType="application/vnd.openxmlformats-officedocument.drawingml.diagramLayout+xml"/>
  <Override PartName="/ppt/diagrams/brand-style.xml" ContentType="application/vnd.openxmlformats-officedocument.drawingml.diagramStyle+xml"/>
  <Override PartName="/ppt/diagrams/brand-colors.xml" ContentType="application/vnd.openxmlformats-officedocument.drawingml.diagramColors+xml"/>
  <Override PartName="/ppt/embeddings/brand-finance.xlsx" ContentType="application/vnd.openxmlformats-officedocument.spreadsheetml.sheet"/>
  <Override PartName="/ppt/media/brand-finance-preview.png" ContentType="image/png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44d69644eb649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notesMasterIdLst>
    <p:notesMasterId xmlns:r="http://schemas.openxmlformats.org/officeDocument/2006/relationships" r:id="rIdNotesMaster1"/>
  </p:notes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  <p:sldId xmlns:r="http://schemas.openxmlformats.org/officeDocument/2006/relationships" id="262" r:id="rIdSlide7"/>
    <p:sldId xmlns:r="http://schemas.openxmlformats.org/officeDocument/2006/relationships" id="263" r:id="rIdSlide8"/>
  </p:sldIdLst>
  <p:sldSz cx="12192000" cy="6858000"/>
  <p:notesSz cx="6858000" cy="9144000"/>
  <p:custShowLst>
    <p:custShow name="Board route" id="41">
      <p:sldLst>
        <p:sld xmlns:r="http://schemas.openxmlformats.org/officeDocument/2006/relationships" r:id="rIdSlide2"/>
        <p:sld xmlns:r="http://schemas.openxmlformats.org/officeDocument/2006/relationships" r:id="rIdSlide5"/>
        <p:sld xmlns:r="http://schemas.openxmlformats.org/officeDocument/2006/relationships" r:id="rIdSlide7"/>
        <p:sld xmlns:r="http://schemas.openxmlformats.org/officeDocument/2006/relationships" r:id="rIdSlide8"/>
      </p:sldLst>
    </p:custShow>
  </p:custShowLst>
  <p:defaultTextStyle/>
</p:presentation>
</file>

<file path=ppt/authors.xml><?xml version="1.0" encoding="utf-8"?>
<p188:authorLst xmlns:p188="http://schemas.microsoft.com/office/powerpoint/2018/8/main">
  <p188:author id="{DE6DA279-05E6-4A32-8CA9-920B426C65EB}" name="Finance reviewer" initials="FR" userId="Finance reviewer" providerId="None"/>
</p188:authorLst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Relationship Type="http://schemas.openxmlformats.org/officeDocument/2006/relationships/slide" Target="/ppt/slides/slide7.xml" Id="rIdSlide7" /><Relationship Type="http://schemas.openxmlformats.org/officeDocument/2006/relationships/slide" Target="/ppt/slides/slide8.xml" Id="rIdSlide8" /><Relationship Type="http://schemas.openxmlformats.org/officeDocument/2006/relationships/notesMaster" Target="/ppt/notesMasters/notesMaster1.xml" Id="rIdNotesMaster1" /><Relationship Type="http://schemas.microsoft.com/office/2018/10/relationships/authors" Target="/ppt/authors.xml" Id="rIdModernCommentAuthors" /></Relationships>
</file>

<file path=ppt/comments/modernComment.xml><?xml version="1.0" encoding="utf-8"?>
<p188:cmLst xmlns:p188="http://schemas.microsoft.com/office/powerpoint/2018/8/main" xmlns:a="http://schemas.openxmlformats.org/drawingml/2006/main" xmlns:oac="http://schemas.microsoft.com/office/drawing/2013/main/command" xmlns:pc="http://schemas.microsoft.com/office/powerpoint/2013/main/command">
  <p188:cm id="{22222222-2222-4222-8222-222222222222}" authorId="{DE6DA279-05E6-4A32-8CA9-920B426C65EB}" status="active" created="2026-07-22T09:05:00.0000000+00:00">
    <oac:txMkLst>
      <pc:sldMkLst>
        <pc:docMk/>
        <pc:sldMk sldId="258"/>
      </pc:sldMkLst>
      <oac:spMk id="3"/>
      <oac:txMk cp="0" len="52"/>
    </oac:txMkLst>
    <p188:pos x="1200000" y="2100000"/>
    <p188:txBody>
      <a:bodyPr/>
      <a:lstStyle/>
      <a:p>
        <a:r>
          <a:t>The forecast evidence is attached.</a:t>
        </a:r>
      </a:p>
    </p188:txBody>
  </p188:cm>
</p188:cmLst>
</file>

<file path=ppt/diagrams/brand-colors.xml><?xml version="1.0" encoding="utf-8"?>
<dgm:colorsDef xmlns:dgm="http://schemas.openxmlformats.org/drawingml/2006/diagram" uniqueId="urn:office-kit:brand-colors">
  <dgm:title val="Brand colors"/>
  <dgm:desc val="Self-authored locked colors"/>
  <dgm:catLst/>
</dgm:colorsDef>
</file>

<file path=ppt/diagrams/brand-data.xml><?xml version="1.0" encoding="utf-8"?>
<dgm:dataModel xmlns:dgm="http://schemas.openxmlformats.org/drawingml/2006/diagram" xmlns:a="http://schemas.openxmlformats.org/drawingml/2006/main">
  <dgm:ptLst>
    <dgm:pt modelId="{A1111111-1111-4111-8111-111111111111}" type="doc">
      <dgm:t>
        <a:bodyPr/>
        <a:lstStyle/>
        <a:p>
          <a:r>
            <a:t>Align</a:t>
          </a:r>
        </a:p>
      </dgm:t>
    </dgm:pt>
    <dgm:pt modelId="{B2222222-2222-4222-8222-222222222222}" type="doc">
      <dgm:t>
        <a:bodyPr/>
        <a:lstStyle/>
        <a:p>
          <a:r>
            <a:t>Execute</a:t>
          </a:r>
        </a:p>
      </dgm:t>
    </dgm:pt>
    <dgm:pt modelId="{C3333333-3333-4333-8333-333333333333}" type="doc">
      <dgm:t>
        <a:bodyPr/>
        <a:lstStyle/>
        <a:p>
          <a:r>
            <a:t>Measure</a:t>
          </a:r>
        </a:p>
      </dgm:t>
    </dgm:pt>
  </dgm:ptLst>
  <dgm:cxnLst/>
  <dgm:bg/>
  <dgm:whole/>
</dgm:dataModel>
</file>

<file path=ppt/diagrams/brand-layout.xml><?xml version="1.0" encoding="utf-8"?>
<dgm:layoutDef xmlns:dgm="http://schemas.openxmlformats.org/drawingml/2006/diagram" uniqueId="urn:office-kit:brand-layout">
  <dgm:title val="Brand operating model"/>
  <dgm:desc val="Self-authored locked layout"/>
  <dgm:catLst/>
  <dgm:layoutNode name="root"/>
</dgm:layoutDef>
</file>

<file path=ppt/diagrams/brand-style.xml><?xml version="1.0" encoding="utf-8"?>
<dgm:styleDef xmlns:dgm="http://schemas.openxmlformats.org/drawingml/2006/diagram" uniqueId="urn:office-kit:brand-style">
  <dgm:title val="Brand style"/>
  <dgm:desc val="Self-authored locked style"/>
  <dgm:catLst/>
  <dgm:styleLbl name="brand"/>
</dgm:styleDef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/>
  <p:notesStyle/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NotesMaster1" /><Relationship Type="http://schemas.openxmlformats.org/officeDocument/2006/relationships/slide" Target="/ppt/slides/slide3.xml" Id="rIdSlid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otes Placeholder 1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Review the approved controls and retain the decision evidence.</a:t>
            </a:r>
            <a:endParaRPr lang="en-US"/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notesSlide" Target="/ppt/notesSlides/notesSlide1.xml" Id="rIdNotes1" /><Relationship Type="http://schemas.microsoft.com/office/2018/10/relationships/comments" Target="/ppt/comments/modernComment.xml" Id="rIdModernComments3" /></Relationships>
</file>

<file path=ppt/slides/_rels/slide4.xml.rels><?xml version="1.0" encoding="UTF-8" standalone="yes"?><Relationships xmlns="http://schemas.openxmlformats.org/package/2006/relationships"><Relationship Id="rIdBrandDiagramData" Type="http://schemas.openxmlformats.org/officeDocument/2006/relationships/diagramData" Target="../diagrams/brand-data.xml"/><Relationship Id="rIdBrandDiagramLayout" Type="http://schemas.openxmlformats.org/officeDocument/2006/relationships/diagramLayout" Target="../diagrams/brand-layout.xml"/><Relationship Id="rIdBrandDiagramStyle" Type="http://schemas.openxmlformats.org/officeDocument/2006/relationships/diagramQuickStyle" Target="../diagrams/brand-style.xml"/><Relationship Id="rIdBrandDiagramColors" Type="http://schemas.openxmlformats.org/officeDocument/2006/relationships/diagramColors" Target="../diagrams/brand-colors.xml"/><Relationship Id="rIdLayout1" Type="http://schemas.openxmlformats.org/officeDocument/2006/relationships/slideLayout" Target="/ppt/slideLayouts/slideLayout1.xml"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6.xml.rels><?xml version="1.0" encoding="UTF-8" standalone="yes"?><Relationships xmlns="http://schemas.openxmlformats.org/package/2006/relationships"><Relationship Id="rIdBrandFinanceWorkbook" Type="http://schemas.openxmlformats.org/officeDocument/2006/relationships/package" Target="../embeddings/brand-finance.xlsx"/><Relationship Id="rIdBrandFinancePreview" Type="http://schemas.openxmlformats.org/officeDocument/2006/relationships/image" Target="../media/brand-finance-preview.png"/><Relationship Id="rIdLayout1" Type="http://schemas.openxmlformats.org/officeDocument/2006/relationships/slideLayout" Target="/ppt/slideLayouts/slideLayout1.xml"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chart" Target="/ppt/slides/charts/chart1.xml" Id="R21b0ae4aa2b944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.png" Id="R64bfff8e70d64357" /></Relationships>
</file>

<file path=ppt/slides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Revenue by region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v>Revenue</c:v>
          </c:tx>
          <c:spPr>
            <a:solidFill>
              <a:srgbClr val="0E7490"/>
            </a:solidFill>
          </c:spPr>
          <c:cat>
            <c:strLit>
              <c:ptCount val="3"/>
              <c:pt idx="0">
                <c:v>North</c:v>
              </c:pt>
              <c:pt idx="1">
                <c:v>South</c:v>
              </c:pt>
              <c:pt idx="2">
                <c:v>West</c:v>
              </c:pt>
            </c:strLit>
          </c:cat>
          <c:val>
            <c:numLit>
              <c:formatCode>General</c:formatCode>
              <c:ptCount val="3"/>
              <c:pt idx="0">
                <c:v>42</c:v>
              </c:pt>
              <c:pt idx="1">
                <c:v>56</c:v>
              </c:pt>
              <c:pt idx="2">
                <c:v>63</c:v>
              </c:pt>
            </c:numLit>
          </c:val>
        </c:ser>
        <c:dLbls>
          <c:dLblPos val="t"/>
          <c:showVal val="1"/>
          <c:showCatName val="0"/>
        </c:dLbls>
        <c:axId val="1"/>
        <c:axId val="2"/>
      </c:barChart>
      <c:catAx>
        <c:axId val="1"/>
        <c:scaling>
          <c:orientation val="minMax"/>
        </c:scaling>
        <c:axPos val="b"/>
        <c:title>
          <c:tx>
            <c:rich>
              <a:bodyPr/>
              <a:lstStyle/>
              <a:p>
                <a:r>
                  <a:t>Region</a:t>
                </a:r>
              </a:p>
            </c:rich>
          </c:tx>
          <c:layout/>
        </c:title>
        <c:crossAx val="2"/>
      </c:catAx>
      <c:valAx>
        <c:axId val="2"/>
        <c:scaling>
          <c:orientation val="minMax"/>
          <c:max val="80"/>
          <c:min val="0"/>
        </c:scaling>
        <c:axPos val="l"/>
        <c:title>
          <c:tx>
            <c:rich>
              <a:bodyPr/>
              <a:lstStyle/>
              <a:p>
                <a:r>
                  <a:t>Revenue</a:t>
                </a:r>
              </a:p>
            </c:rich>
          </c:tx>
          <c:layout/>
        </c:title>
        <c:crossAx val="1"/>
        <c:majorUnit val="20"/>
      </c:valAx>
    </c:plotArea>
    <c:plotVisOnly val="1"/>
  </c:chart>
</c:chartSpace>
</file>

<file path=ppt/slides/slide1.xml><?xml version="1.0" encoding="utf-8"?>
<p:sld xmlns:p="http://schemas.openxmlformats.org/presentationml/2006/main">
  <p:cSld name="Board cover">
    <p:bg>
      <p:bgPr>
        <a:solidFill xmlns:a="http://schemas.openxmlformats.org/drawingml/2006/main">
          <a:srgbClr val="0F2742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ver-title"/>
          <p:cNvSpPr txBox="1"/>
          <p:nvPr/>
        </p:nvSpPr>
        <p:spPr>
          <a:xfrm xmlns:a="http://schemas.openxmlformats.org/drawingml/2006/main">
            <a:off x="685800" y="5524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FFFFFF"/>
                </a:solidFill>
              </a:rPr>
              <a:t>Northwind | Quarterly Board Review</a:t>
            </a:r>
            <a:endParaRPr lang="en-US"/>
          </a:p>
        </p:txBody>
      </p:sp>
      <p:sp>
        <p:nvSpPr>
          <p:cNvPr id="3" name="cover-subtitle"/>
          <p:cNvSpPr txBox="1"/>
          <p:nvPr/>
        </p:nvSpPr>
        <p:spPr>
          <a:xfrm xmlns:a="http://schemas.openxmlformats.org/drawingml/2006/main">
            <a:off x="685800" y="180975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>
                <a:solidFill>
                  <a:srgbClr val="BAE6FD"/>
                </a:solidFill>
              </a:rPr>
              <a:t>FY27 operating decision packet</a:t>
            </a:r>
            <a:endParaRPr lang="en-US"/>
          </a:p>
        </p:txBody>
      </p:sp>
      <p:sp>
        <p:nvSpPr>
          <p:cNvPr id="4" name="preservation-canary"/>
          <p:cNvSpPr txBox="1"/>
          <p:nvPr/>
        </p:nvSpPr>
        <p:spPr>
          <a:xfrm xmlns:a="http://schemas.openxmlformats.org/drawingml/2006/main">
            <a:off x="685800" y="59055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475569"/>
                </a:solidFill>
              </a:rPr>
              <a:t>Self-authored OfficeKit PromptBench source; do not overwrite.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Quarterly decision">
    <p:bg>
      <p:bgPr>
        <a:solidFill xmlns:a="http://schemas.openxmlformats.org/drawingml/2006/main">
          <a:srgbClr val="E0F2FE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oard-title-target"/>
          <p:cNvSpPr txBox="1"/>
          <p:nvPr/>
        </p:nvSpPr>
        <p:spPr>
          <a:xfrm xmlns:a="http://schemas.openxmlformats.org/drawingml/2006/main">
            <a:off x="685800" y="5524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0F172A"/>
                </a:solidFill>
              </a:rPr>
              <a:t>Quarterly Board Review — Pending</a:t>
            </a:r>
            <a:endParaRPr lang="en-US"/>
          </a:p>
        </p:txBody>
      </p:sp>
      <p:sp>
        <p:nvSpPr>
          <p:cNvPr id="3" name="title-supporting-copy"/>
          <p:cNvSpPr txBox="1"/>
          <p:nvPr/>
        </p:nvSpPr>
        <p:spPr>
          <a:xfrm xmlns:a="http://schemas.openxmlformats.org/drawingml/2006/main">
            <a:off x="685800" y="1809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334155"/>
                </a:solidFill>
              </a:rPr>
              <a:t>The requested local title edit is the only editable content on this slide.</a:t>
            </a:r>
            <a:endParaRPr lang="en-US"/>
          </a:p>
        </p:txBody>
      </p:sp>
      <p:sp>
        <p:nvSpPr>
          <p:cNvPr id="4" name="preservation-canary"/>
          <p:cNvSpPr txBox="1"/>
          <p:nvPr/>
        </p:nvSpPr>
        <p:spPr>
          <a:xfrm xmlns:a="http://schemas.openxmlformats.org/drawingml/2006/main">
            <a:off x="685800" y="59055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475569"/>
                </a:solidFill>
              </a:rPr>
              <a:t>All non-target brand and package objects remain unchanged.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Review evidence">
    <p:bg>
      <p:bgPr>
        <a:solidFill xmlns:a="http://schemas.openxmlformats.org/drawingml/2006/main">
          <a:srgbClr val="F1F5F9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otes-title"/>
          <p:cNvSpPr txBox="1"/>
          <p:nvPr/>
        </p:nvSpPr>
        <p:spPr>
          <a:xfrm xmlns:a="http://schemas.openxmlformats.org/drawingml/2006/main">
            <a:off x="685800" y="5524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1E293B"/>
                </a:solidFill>
              </a:rPr>
              <a:t>Review evidence</a:t>
            </a:r>
            <a:endParaRPr lang="en-US"/>
          </a:p>
        </p:txBody>
      </p:sp>
      <p:sp>
        <p:nvSpPr>
          <p:cNvPr id="3" name="Board evidence anchor"/>
          <p:cNvSpPr/>
          <p:nvPr/>
        </p:nvSpPr>
        <p:spPr>
          <a:xfrm xmlns:a="http://schemas.openxmlformats.org/drawingml/2006/main">
            <a:off x="685800" y="1905000"/>
            <a:ext cx="6477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2700">
            <a:solidFill>
              <a:srgbClr val="2563EB"/>
            </a:solidFill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>Confirm the final board evidence before circulation.</a:t>
            </a:r>
            <a:endParaRPr lang="en-US"/>
          </a:p>
        </p:txBody>
      </p:sp>
      <p:sp>
        <p:nvSpPr>
          <p:cNvPr id="4" name="preservation-canary"/>
          <p:cNvSpPr txBox="1"/>
          <p:nvPr/>
        </p:nvSpPr>
        <p:spPr>
          <a:xfrm xmlns:a="http://schemas.openxmlformats.org/drawingml/2006/main">
            <a:off x="685800" y="59055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475569"/>
                </a:solidFill>
              </a:rPr>
              <a:t>All non-target brand and package objects remain unchanged.</a:t>
            </a:r>
            <a:endParaRPr lang="en-US"/>
          </a:p>
        </p:txBody>
      </p:sp>
    </p:spTree>
  </p:cSld>
  <p:clrMapOvr>
    <a:masterClrMapping xmlns:a="http://schemas.openxmlformats.org/drawingml/2006/main"/>
  </p:clrMapOvr>
  <p:transition spd="med" advClick="1">
    <p:fade/>
  </p:transition>
</p:sld>
</file>

<file path=ppt/slides/slide4.xml><?xml version="1.0" encoding="utf-8"?>
<p:sld xmlns:p="http://schemas.openxmlformats.org/presentationml/2006/main">
  <p:cSld name="Operating model">
    <p:bg>
      <p:bgPr>
        <a:solidFill xmlns:a="http://schemas.openxmlformats.org/drawingml/2006/main">
          <a:srgbClr val="ECFDF5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smartart-title"/>
          <p:cNvSpPr txBox="1"/>
          <p:nvPr/>
        </p:nvSpPr>
        <p:spPr>
          <a:xfrm xmlns:a="http://schemas.openxmlformats.org/drawingml/2006/main">
            <a:off x="685800" y="5524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14532D"/>
                </a:solidFill>
              </a:rPr>
              <a:t>Operating model</a:t>
            </a:r>
            <a:endParaRPr lang="en-US"/>
          </a:p>
        </p:txBody>
      </p:sp>
      <p:sp>
        <p:nvSpPr>
          <p:cNvPr id="3" name="smartart-caption"/>
          <p:cNvSpPr txBox="1"/>
          <p:nvPr/>
        </p:nvSpPr>
        <p:spPr>
          <a:xfrm xmlns:a="http://schemas.openxmlformats.org/drawingml/2006/main">
            <a:off x="685800" y="18097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>Align → Execute → Measure</a:t>
            </a:r>
            <a:endParaRPr lang="en-US"/>
          </a:p>
        </p:txBody>
      </p:sp>
      <p:sp>
        <p:nvSpPr>
          <p:cNvPr id="4" name="preservation-canary"/>
          <p:cNvSpPr txBox="1"/>
          <p:nvPr/>
        </p:nvSpPr>
        <p:spPr>
          <a:xfrm xmlns:a="http://schemas.openxmlformats.org/drawingml/2006/main">
            <a:off x="685800" y="59055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475569"/>
                </a:solidFill>
              </a:rPr>
              <a:t>All non-target brand and package objects remain unchanged.</a:t>
            </a:r>
            <a:endParaRPr lang="en-US"/>
          </a:p>
        </p:txBody>
      </p:sp>
      <p:graphicFrame xmlns:a="http://schemas.openxmlformats.org/drawingml/2006/main" xmlns:r="http://schemas.openxmlformats.org/officeDocument/2006/relationships">
        <p:nvGraphicFramePr>
          <p:cNvPr id="220" name="Brand operating SmartArt"/>
          <p:cNvGraphicFramePr>
            <a:graphicFrameLocks noGrp="1"/>
          </p:cNvGraphicFramePr>
          <p:nvPr/>
        </p:nvGraphicFramePr>
        <p:xfrm>
          <a:off x="914400" y="1800000"/>
          <a:ext cx="5486400" cy="2743200"/>
        </p:xfrm>
        <a:graphic>
          <a:graphicData uri="http://schemas.openxmlformats.org/drawingml/2006/diagram">
            <dgm:relIds xmlns:dgm="http://schemas.openxmlformats.org/officeDocument/2006/diagram" r:dm="rIdBrandDiagramData" r:lo="rIdBrandDiagramLayout" r:qs="rIdBrandDiagramStyle" r:cs="rIdBrandDiagramColors"/>
          </a:graphicData>
        </a:graphic>
      </p:graphicFrame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Performance table">
    <p:bg>
      <p:bgPr>
        <a:solidFill xmlns:a="http://schemas.openxmlformats.org/drawingml/2006/main">
          <a:srgbClr val="FFF7ED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able-title"/>
          <p:cNvSpPr txBox="1"/>
          <p:nvPr/>
        </p:nvSpPr>
        <p:spPr>
          <a:xfrm xmlns:a="http://schemas.openxmlformats.org/drawingml/2006/main">
            <a:off x="685800" y="5524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7C2D12"/>
                </a:solidFill>
              </a:rPr>
              <a:t>Performance table</a:t>
            </a:r>
            <a:endParaRPr lang="en-US"/>
          </a:p>
        </p:txBody>
      </p:sp>
      <p:sp>
        <p:nvSpPr>
          <p:cNvPr id="3" name="preservation-canary"/>
          <p:cNvSpPr txBox="1"/>
          <p:nvPr/>
        </p:nvSpPr>
        <p:spPr>
          <a:xfrm xmlns:a="http://schemas.openxmlformats.org/drawingml/2006/main">
            <a:off x="685800" y="59055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475569"/>
                </a:solidFill>
              </a:rPr>
              <a:t>All non-target brand and package objects remain unchanged.</a:t>
            </a:r>
            <a:endParaRPr lang="en-US"/>
          </a:p>
        </p:txBody>
      </p:sp>
      <p:graphicFrame>
        <p:nvGraphicFramePr>
          <p:cNvPr id="4" name="board-metrics-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685800" y="1714500"/>
          <a:ext xmlns:a="http://schemas.openxmlformats.org/drawingml/2006/main" cx="74295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57375"/>
                <a:gridCol w="1857375"/>
                <a:gridCol w="1857375"/>
                <a:gridCol w="1857375"/>
              </a:tblGrid>
              <a:tr h="714375"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Metric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Q1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Q2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Q3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Revenue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120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130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140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Margin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42%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44%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46%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Risk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Amber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Amber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Green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Finance evidence">
    <p:bg>
      <p:bgPr>
        <a:solidFill xmlns:a="http://schemas.openxmlformats.org/drawingml/2006/main">
          <a:srgbClr val="FDF4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ole-title"/>
          <p:cNvSpPr txBox="1"/>
          <p:nvPr/>
        </p:nvSpPr>
        <p:spPr>
          <a:xfrm xmlns:a="http://schemas.openxmlformats.org/drawingml/2006/main">
            <a:off x="685800" y="5524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701A75"/>
                </a:solidFill>
              </a:rPr>
              <a:t>Finance evidence</a:t>
            </a:r>
            <a:endParaRPr lang="en-US"/>
          </a:p>
        </p:txBody>
      </p:sp>
      <p:sp>
        <p:nvSpPr>
          <p:cNvPr id="3" name="ole-caption"/>
          <p:cNvSpPr txBox="1"/>
          <p:nvPr/>
        </p:nvSpPr>
        <p:spPr>
          <a:xfrm xmlns:a="http://schemas.openxmlformats.org/drawingml/2006/main">
            <a:off x="685800" y="514350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>Embedded finance workbook is source-owned and must remain opaque.</a:t>
            </a:r>
            <a:endParaRPr lang="en-US"/>
          </a:p>
        </p:txBody>
      </p:sp>
      <p:sp>
        <p:nvSpPr>
          <p:cNvPr id="4" name="preservation-canary"/>
          <p:cNvSpPr txBox="1"/>
          <p:nvPr/>
        </p:nvSpPr>
        <p:spPr>
          <a:xfrm xmlns:a="http://schemas.openxmlformats.org/drawingml/2006/main">
            <a:off x="685800" y="59055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475569"/>
                </a:solidFill>
              </a:rPr>
              <a:t>All non-target brand and package objects remain unchanged.</a:t>
            </a:r>
            <a:endParaRPr lang="en-US"/>
          </a:p>
        </p:txBody>
      </p:sp>
      <p:graphicFrame xmlns:a="http://schemas.openxmlformats.org/drawingml/2006/main" xmlns:r="http://schemas.openxmlformats.org/officeDocument/2006/relationships">
        <p:nvGraphicFramePr>
          <p:cNvPr id="180" name="Embedded finance workbook"/>
          <p:cNvGraphicFramePr>
            <a:graphicFrameLocks noGrp="1"/>
          </p:cNvGraphicFramePr>
          <p:nvPr/>
        </p:nvGraphicFramePr>
        <p:xfrm>
          <a:off x="914400" y="1800000"/>
          <a:ext cx="3657600" cy="1828800"/>
        </p:xfrm>
        <a:graphic>
          <a:graphicData uri="http://schemas.openxmlformats.org/presentationml/2006/ole">
            <p:oleObj showAsIcon="1" r:id="rIdBrandFinanceWorkbook" imgW="965200" imgH="609600" progId="Excel.Sheet.12">
              <p:embed/>
              <p:pic>
                <p:nvPicPr>
                  <p:cNvPr id="0" name=""/>
                  <p:cNvPicPr/>
                  <p:nvPr/>
                </p:nvPicPr>
                <p:blipFill>
                  <a:blip r:embed="rIdBrandFinancePreview"/>
                  <a:stretch>
                    <a:fillRect/>
                  </a:stretch>
                </p:blipFill>
                <p:spPr>
                  <a:xfrm>
                    <a:off x="914400" y="1800000"/>
                    <a:ext cx="3657600" cy="18288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 xmlns:a="http://schemas.openxmlformats.org/drawingml/2006/main"/>
  </p:clrMapOvr>
</p:sld>
</file>

<file path=ppt/slides/slide7.xml><?xml version="1.0" encoding="utf-8"?>
<p:sld xmlns:p="http://schemas.openxmlformats.org/presentationml/2006/main">
  <p:cSld name="Revenue chart">
    <p:bg>
      <p:bgPr>
        <a:solidFill xmlns:a="http://schemas.openxmlformats.org/drawingml/2006/main">
          <a:srgbClr val="EFF6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hart-slide-title"/>
          <p:cNvSpPr txBox="1"/>
          <p:nvPr/>
        </p:nvSpPr>
        <p:spPr>
          <a:xfrm xmlns:a="http://schemas.openxmlformats.org/drawingml/2006/main">
            <a:off x="685800" y="5524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1E3A8A"/>
                </a:solidFill>
              </a:rPr>
              <a:t>Revenue chart</a:t>
            </a:r>
            <a:endParaRPr lang="en-US"/>
          </a:p>
        </p:txBody>
      </p:sp>
      <p:sp>
        <p:nvSpPr>
          <p:cNvPr id="3" name="preservation-canary"/>
          <p:cNvSpPr txBox="1"/>
          <p:nvPr/>
        </p:nvSpPr>
        <p:spPr>
          <a:xfrm xmlns:a="http://schemas.openxmlformats.org/drawingml/2006/main">
            <a:off x="685800" y="59055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475569"/>
                </a:solidFill>
              </a:rPr>
              <a:t>All non-target brand and package objects remain unchanged.</a:t>
            </a:r>
            <a:endParaRPr lang="en-US"/>
          </a:p>
        </p:txBody>
      </p:sp>
      <p:graphicFrame>
        <p:nvGraphicFramePr>
          <p:cNvPr id="4" name="board-revenue-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685800" y="1600200"/>
          <a:ext xmlns:a="http://schemas.openxmlformats.org/drawingml/2006/main" cx="8763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1b0ae4aa2b94401"/>
          </a:graphicData>
        </a:graphic>
      </p:graphicFrame>
    </p:spTree>
  </p:cSld>
  <p:clrMapOvr>
    <a:masterClrMapping xmlns:a="http://schemas.openxmlformats.org/drawingml/2006/main"/>
  </p:clrMapOvr>
</p:sld>
</file>

<file path=ppt/slides/slide8.xml><?xml version="1.0" encoding="utf-8"?>
<p:sld xmlns:p="http://schemas.openxmlformats.org/presentationml/2006/main">
  <p:cSld name="Product launch">
    <p:bg>
      <p:bgPr>
        <a:solidFill xmlns:a="http://schemas.openxmlformats.org/drawingml/2006/main">
          <a:srgbClr val="F8FA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image-slide-title"/>
          <p:cNvSpPr txBox="1"/>
          <p:nvPr/>
        </p:nvSpPr>
        <p:spPr>
          <a:xfrm xmlns:a="http://schemas.openxmlformats.org/drawingml/2006/main">
            <a:off x="685800" y="5524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0F172A"/>
                </a:solidFill>
              </a:rPr>
              <a:t>Product launch</a:t>
            </a:r>
            <a:endParaRPr lang="en-US"/>
          </a:p>
        </p:txBody>
      </p:sp>
      <p:sp>
        <p:nvSpPr>
          <p:cNvPr id="3" name="image-caption"/>
          <p:cNvSpPr txBox="1"/>
          <p:nvPr/>
        </p:nvSpPr>
        <p:spPr>
          <a:xfrm xmlns:a="http://schemas.openxmlformats.org/drawingml/2006/main">
            <a:off x="5715000" y="2076450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334155"/>
                </a:solidFill>
              </a:rPr>
              <a:t>Replace the product image only. Preserve frame, alt text, and every other slide object.</a:t>
            </a:r>
            <a:endParaRPr lang="en-US"/>
          </a:p>
        </p:txBody>
      </p:sp>
      <p:sp>
        <p:nvSpPr>
          <p:cNvPr id="4" name="preservation-canary"/>
          <p:cNvSpPr txBox="1"/>
          <p:nvPr/>
        </p:nvSpPr>
        <p:spPr>
          <a:xfrm xmlns:a="http://schemas.openxmlformats.org/drawingml/2006/main">
            <a:off x="685800" y="59055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475569"/>
                </a:solidFill>
              </a:rPr>
              <a:t>All non-target brand and package objects remain unchanged.</a:t>
            </a:r>
            <a:endParaRPr lang="en-US"/>
          </a:p>
        </p:txBody>
      </p:sp>
      <p:pic>
        <p:nvPicPr>
          <p:cNvPr id="5" name="product-image-target" descr="Quarterly product launch image"/>
          <p:cNvPicPr/>
          <p:nvPr/>
        </p:nvPicPr>
        <p:blipFill>
          <a:blip xmlns:r="http://schemas.openxmlformats.org/officeDocument/2006/relationships" xmlns:a="http://schemas.openxmlformats.org/drawingml/2006/main" r:embed="R64bfff8e70d6435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04900" y="1695450"/>
            <a:ext cx="4000500" cy="2781300"/>
          </a:xfrm>
          <a:prstGeom xmlns:a="http://schemas.openxmlformats.org/drawingml/2006/main" prst="rect">
            <a:avLst/>
          </a:prstGeom>
        </p:spPr>
      </p:pic>
    </p:spTree>
  </p:cSld>
  <p:clrMapOvr>
    <a:masterClrMapping xmlns:a="http://schemas.openxmlformats.org/drawingml/2006/main"/>
  </p:clrMapOvr>
</p:sld>
</file>